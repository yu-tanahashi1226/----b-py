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1"/>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6"/>
    <p:sldId id="301" r:id="rId5"/>
    <p:sldId id="302" r:id="rId4"/>
    <p:sldId id="303" r:id="rId3"/>
    <p:sldId id="304" r:id="rId2"/>
    <p:sldId id="305" r:id="rId56"/>
    <p:sldId id="306" r:id="rId57"/>
    <p:sldId id="307" r:id="rId58"/>
    <p:sldId id="308" r:id="rId59"/>
    <p:sldId id="309" r:id="rId60"/>
    <p:sldId id="310" r:id="rId61"/>
    <p:sldId id="311" r:id="rId62"/>
    <p:sldId id="312" r:id="rId63"/>
    <p:sldId id="313" r:id="rId64"/>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308" autoAdjust="0"/>
    <p:restoredTop sz="96190" autoAdjust="0"/>
  </p:normalViewPr>
  <p:slideViewPr>
    <p:cSldViewPr snapToGrid="0">
      <p:cViewPr varScale="1">
        <p:scale>
          <a:sx n="122" d="100"/>
          <a:sy n="122" d="100"/>
        </p:scale>
        <p:origin x="132" y="96"/>
      </p:cViewPr>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49.xml"/><Relationship Id="rId3" Type="http://schemas.openxmlformats.org/officeDocument/2006/relationships/slide" Target="slides/slide48.xml"/><Relationship Id="rId4" Type="http://schemas.openxmlformats.org/officeDocument/2006/relationships/slide" Target="slides/slide47.xml"/><Relationship Id="rId5" Type="http://schemas.openxmlformats.org/officeDocument/2006/relationships/slide" Target="slides/slide46.xml"/><Relationship Id="rId6" Type="http://schemas.openxmlformats.org/officeDocument/2006/relationships/slide" Target="slides/slide45.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4C19F48-BC63-41C7-B5A1-B08830F156DF}" type="datetimeFigureOut">
              <a:rPr kumimoji="1" lang="ja-JP" altLang="en-US" smtClean="0"/>
              <a:t>2026/10/14</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93FCFF9-40F2-49C3-9179-20E27165ABA4}" type="slidenum">
              <a:rPr kumimoji="1" lang="ja-JP" altLang="en-US" smtClean="0"/>
              <a:t>‹#›</a:t>
            </a:fld>
            <a:endParaRPr kumimoji="1" lang="ja-JP" altLang="en-US"/>
          </a:p>
        </p:txBody>
      </p:sp>
    </p:spTree>
    <p:extLst>
      <p:ext uri="{BB962C8B-B14F-4D97-AF65-F5344CB8AC3E}">
        <p14:creationId xmlns:p14="http://schemas.microsoft.com/office/powerpoint/2010/main" val="196785765"/>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7.1.1 RNNによる文章生成の手順｜次の単語を予測する言語モデル</a:t>
            </a:r>
          </a:p>
          <a:p/>
          <a:p>
            <a:r>
              <a:t>話すポイント：</a:t>
            </a:r>
          </a:p>
          <a:p>
            <a:r>
              <a:t>7.1.1から説明を始める。左は時間方向に展開した言語モデル、右はTimeレイヤとしてまとめた表現であり、別々のモデルではない。学習では正解単語から損失を計算するが、生成ではSoftmaxによる確率分布を使う。</a:t>
            </a:r>
          </a:p>
          <a:p>
            <a:r>
              <a:t>これまでのモデル：Embedding → LSTM → Affineで</a:t>
            </a:r>
          </a:p>
          <a:p>
            <a:r>
              <a:t>次の単語のスコアを計算する。</a:t>
            </a:r>
          </a:p>
          <a:p>
            <a:r>
              <a:t>Timeレイヤ：時系列の処理をまとめたもの。</a:t>
            </a:r>
          </a:p>
          <a:p>
            <a:r>
              <a:t>同じ重みを各時刻で共有する。</a:t>
            </a:r>
          </a:p>
          <a:p>
            <a:r>
              <a:t>文章生成への変更：学習済みモデルの出力から、</a:t>
            </a:r>
          </a:p>
          <a:p>
            <a:r>
              <a:t>次の入力となる単語を選ぶ。</a:t>
            </a:r>
          </a:p>
          <a:p/>
          <a:p>
            <a:r>
              <a:t>出典：斎藤康毅『ゼロから作るDeep Learning ❷ ―自然言語処理編』オライリー・ジャパン、第7章；図7-1　言語モデルのレイヤ構成｜p.278（IMG_20261016_0002.pdf、PDF 1頁）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小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7.1.1 RNNによる文章生成の手順｜確率分布から、次の単語の候補を得る</a:t>
            </a:r>
          </a:p>
          <a:p/>
          <a:p>
            <a:r>
              <a:t>話すポイント：</a:t>
            </a:r>
          </a:p>
          <a:p>
            <a:r>
              <a:t>図の例は「you say goodbye and I say hello .」というコーパスを想定している。Iの後にどの単語が来るかを予測する。スコアをそのまま確率として使わず、Softmaxで正規化する。</a:t>
            </a:r>
          </a:p>
          <a:p>
            <a:r>
              <a:t>最初の入力：「I」の単語IDをモデルに入れる。</a:t>
            </a:r>
          </a:p>
          <a:p>
            <a:r>
              <a:t>Softmaxの出力：語彙中の各単語が次に現れる</a:t>
            </a:r>
          </a:p>
          <a:p>
            <a:r>
              <a:t>確率を表す。合計は1になる。</a:t>
            </a:r>
          </a:p>
          <a:p>
            <a:r>
              <a:t>選び方：確率が最大の単語を選ぶ方法と、</a:t>
            </a:r>
          </a:p>
          <a:p>
            <a:r>
              <a:t>確率に従って選ぶ方法がある。</a:t>
            </a:r>
          </a:p>
          <a:p/>
          <a:p>
            <a:r>
              <a:t>出典：斎藤康毅『ゼロから作るDeep Learning ❷ ―自然言語処理編』オライリー・ジャパン、第7章；図7-2　次の単語の確率分布｜p.279（IMG_20261016_0002.pdf、PDF 1頁）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小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7.1.1 RNNによる文章生成の手順｜サンプリングで単語を1つ選ぶ</a:t>
            </a:r>
          </a:p>
          <a:p/>
          <a:p>
            <a:r>
              <a:t>話すポイント：</a:t>
            </a:r>
          </a:p>
          <a:p>
            <a:r>
              <a:t>argmaxによる決定的な選択との違いを強調する。確率分布の中でsayが最も高くても、他の単語が選ばれる可能性がある。確率分布全体を利用して単語を選ぶ。</a:t>
            </a:r>
          </a:p>
          <a:p>
            <a:r>
              <a:t>確率的に選択：確率が高い単語ほど選ばれやすい。</a:t>
            </a:r>
          </a:p>
          <a:p>
            <a:r>
              <a:t>必ず選ばれるわけではない。</a:t>
            </a:r>
          </a:p>
          <a:p>
            <a:r>
              <a:t>図の例：次の単語として「say」が</a:t>
            </a:r>
          </a:p>
          <a:p>
            <a:r>
              <a:t>サンプリングされた。</a:t>
            </a:r>
          </a:p>
          <a:p>
            <a:r>
              <a:t>生成の多様性：同じ書き出しからでも、</a:t>
            </a:r>
          </a:p>
          <a:p>
            <a:r>
              <a:t>試行ごとに違う文を作れる。</a:t>
            </a:r>
          </a:p>
          <a:p/>
          <a:p>
            <a:r>
              <a:t>出典：斎藤康毅『ゼロから作るDeep Learning ❷ ―自然言語処理編』オライリー・ジャパン、第7章；図7-3　確率分布からサンプリング｜p.280（IMG_20261016_0003.pdf、PDF 1頁）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小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7.1.1 RNNによる文章生成の手順｜生成した単語を、次の入力にする</a:t>
            </a:r>
          </a:p>
          <a:p/>
          <a:p>
            <a:r>
              <a:t>話すポイント：</a:t>
            </a:r>
          </a:p>
          <a:p>
            <a:r>
              <a:t>この図ではIからsay、sayからhelloへ進む。生成のたびにLSTMを初期化してはいけない。ここで後述するRnnlmGenの実装は、文末で停止するのではなくsample_sizeに達するまで生成する。</a:t>
            </a:r>
          </a:p>
          <a:p>
            <a:r>
              <a:t>入力を更新：選んだ「say」を再びモデルに入れ、</a:t>
            </a:r>
          </a:p>
          <a:p>
            <a:r>
              <a:t>次の単語の確率を求める。</a:t>
            </a:r>
          </a:p>
          <a:p>
            <a:r>
              <a:t>状態を引き継ぐ：LSTMの状態が、これまでの</a:t>
            </a:r>
          </a:p>
          <a:p>
            <a:r>
              <a:t>単語の情報を保持する。</a:t>
            </a:r>
          </a:p>
          <a:p>
            <a:r>
              <a:t>生成を繰り返す：指定した語数、または文末記号</a:t>
            </a:r>
          </a:p>
          <a:p>
            <a:r>
              <a:t>まで繰り返す方法がある。</a:t>
            </a:r>
          </a:p>
          <a:p/>
          <a:p>
            <a:r>
              <a:t>出典：斎藤康毅『ゼロから作るDeep Learning ❷ ―自然言語処理編』オライリー・ジャパン、第7章；図7-4　次の単語を繰り返し生成｜p.281（IMG_20261016_0003.pdf、PDF 1頁）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小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7.1.2 文章生成の実装｜RnnlmGen：スコアから単語を選ぶ</a:t>
            </a:r>
          </a:p>
          <a:p/>
          <a:p>
            <a:r>
              <a:t>話すポイント：</a:t>
            </a:r>
          </a:p>
          <a:p>
            <a:r>
              <a:t>np.random.choiceのpにSoftmaxの出力を渡している箇所を指す。生成結果はまだ文章ではなく単語IDのリストである。whileの条件はword_idsの長さであり、開始単語もsample_sizeに含まれる。</a:t>
            </a:r>
          </a:p>
          <a:p>
            <a:r>
              <a:t>既存クラスを継承：Rnnlmにgenerateを追加する。</a:t>
            </a:r>
          </a:p>
          <a:p>
            <a:r>
              <a:t>最初はstart_idを入力する。</a:t>
            </a:r>
          </a:p>
          <a:p>
            <a:r>
              <a:t>入力の形状：単語1つでも配列は(1, 1)。</a:t>
            </a:r>
          </a:p>
          <a:p>
            <a:r>
              <a:t>ミニバッチ形式にそろえる。</a:t>
            </a:r>
          </a:p>
          <a:p>
            <a:r>
              <a:t>中心となる処理：predict → softmax → choiceを</a:t>
            </a:r>
          </a:p>
          <a:p>
            <a:r>
              <a:t>繰り返し、単語IDを集める。</a:t>
            </a:r>
          </a:p>
          <a:p/>
          <a:p>
            <a:r>
              <a:t>出典：斎藤康毅『ゼロから作るDeep Learning ❷ ―自然言語処理編』オライリー・ジャパン、第7章；RnnlmGen.generate（前半）｜p.282（IMG_20261016_0004.pdf、PDF 1頁）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小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7.1.2 文章生成の実装｜不要な単語を除き、生成結果を返す</a:t>
            </a:r>
          </a:p>
          <a:p/>
          <a:p>
            <a:r>
              <a:t>話すポイント：</a:t>
            </a:r>
          </a:p>
          <a:p>
            <a:r>
              <a:t>skip_idsがNoneなら全てのサンプルを採用する。PTBでは未知語を&lt;unk&gt;、数字をNなどに置き換えている。skip_idsに入った単語はリストへ追加されず、指定語数に達するまで処理が続く。</a:t>
            </a:r>
          </a:p>
          <a:p>
            <a:r>
              <a:t>skip_ids：生成に含めたくない単語の</a:t>
            </a:r>
          </a:p>
          <a:p>
            <a:r>
              <a:t>IDをリストで渡す。</a:t>
            </a:r>
          </a:p>
          <a:p>
            <a:r>
              <a:t>採用された場合：次の入力xを更新し、</a:t>
            </a:r>
          </a:p>
          <a:p>
            <a:r>
              <a:t>word_idsにIDを追加する。</a:t>
            </a:r>
          </a:p>
          <a:p>
            <a:r>
              <a:t>呼び出し方：generate(start_id, skip_ids,</a:t>
            </a:r>
          </a:p>
          <a:p>
            <a:r>
              <a:t>sample_size)で指定する。</a:t>
            </a:r>
          </a:p>
          <a:p/>
          <a:p>
            <a:r>
              <a:t>出典：斎藤康毅『ゼロから作るDeep Learning ❷ ―自然言語処理編』オライリー・ジャパン、第7章；RnnlmGen.generate（後半）｜p.283（IMG_20261016_0005.pdf、PDF 1頁）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小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7.1.2 文章生成の実装｜generate_text.py：IDを文章へ戻す</a:t>
            </a:r>
          </a:p>
          <a:p/>
          <a:p>
            <a:r>
              <a:t>話すポイント：</a:t>
            </a:r>
          </a:p>
          <a:p>
            <a:r>
              <a:t>掲載コードではload_paramsがコメントアウトされ、未学習モデルの例を示している。生成したIDをjoinでつなぎ、&lt;eos&gt;を改行へ置換する。前回の実行では学習済みRnnlm.pklを読み込み、100語の文章生成が完了している。</a:t>
            </a:r>
          </a:p>
          <a:p>
            <a:r>
              <a:t>開始単語を設定：word_to_idで「you」を</a:t>
            </a:r>
          </a:p>
          <a:p>
            <a:r>
              <a:t>開始IDに変換する。</a:t>
            </a:r>
          </a:p>
          <a:p>
            <a:r>
              <a:t>生成後の変換：id_to_wordで単語に戻し、</a:t>
            </a:r>
          </a:p>
          <a:p>
            <a:r>
              <a:t>空白区切りで連結する。</a:t>
            </a:r>
          </a:p>
          <a:p>
            <a:r>
              <a:t>学習済み重み：load_paramsの有無で、</a:t>
            </a:r>
          </a:p>
          <a:p>
            <a:r>
              <a:t>生成結果を比較できる。</a:t>
            </a:r>
          </a:p>
          <a:p/>
          <a:p>
            <a:r>
              <a:t>出典：斎藤康毅『ゼロから作るDeep Learning ❷ ―自然言語処理編』オライリー・ジャパン、第7章；generate_text.py｜p.284（IMG_20261016_0006.pdf、PDF 1頁）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小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7.1.2 文章生成の実装｜学習済みRNNLMで生成した文章</a:t>
            </a:r>
          </a:p>
          <a:p/>
          <a:p>
            <a:r>
              <a:t>話すポイント：</a:t>
            </a:r>
          </a:p>
          <a:p>
            <a:r>
              <a:t>画像は書籍に載っている生成例であり、今回の出力ではない。you’ll includeやgood problemsなどの組み合わせを確認する。全体として意味の通る文章であるとは限らない。</a:t>
            </a:r>
          </a:p>
          <a:p>
            <a:r>
              <a:t>学習前との違い：単語のランダムな羅列から、</a:t>
            </a:r>
          </a:p>
          <a:p>
            <a:r>
              <a:t>文らしい並びが現れる。</a:t>
            </a:r>
          </a:p>
          <a:p>
            <a:r>
              <a:t>見られる特徴：主語と動詞、形容詞と名詞などの</a:t>
            </a:r>
          </a:p>
          <a:p>
            <a:r>
              <a:t>組み合わせが一部自然になる。</a:t>
            </a:r>
          </a:p>
          <a:p>
            <a:r>
              <a:t>残る問題：文法や意味の不自然さもある。</a:t>
            </a:r>
          </a:p>
          <a:p>
            <a:r>
              <a:t>さらに良い言語モデルへ進む。</a:t>
            </a:r>
          </a:p>
          <a:p/>
          <a:p>
            <a:r>
              <a:t>出典：斎藤康毅『ゼロから作るDeep Learning ❷ ―自然言語処理編』オライリー・ジャパン、第7章；学習済みRNNLMの生成例（書籍）｜p.285（IMG_20261016_0007.pdf、PDF 1頁）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小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7.1.3 さらに良い文章へ｜BetterRnnlmによる文章生成</a:t>
            </a:r>
          </a:p>
          <a:p/>
          <a:p>
            <a:r>
              <a:t>話すポイント：</a:t>
            </a:r>
          </a:p>
          <a:p>
            <a:r>
              <a:t>この画像は教科書の生成例。前章のパープレキシティは約136から75へ改善したと説明されている。今回の環境ではBetterRnnlmの学習済み重みの公式配布先がHTTP 403で取得できず、この学習済みモデルによる生成は未実行。書籍の結果を今回の実測値として紹介しない。</a:t>
            </a:r>
          </a:p>
          <a:p>
            <a:r>
              <a:t>より良い言語モデル：前章で改良したBetterRnnlmを</a:t>
            </a:r>
          </a:p>
          <a:p>
            <a:r>
              <a:t>継承して生成機能を加える。</a:t>
            </a:r>
          </a:p>
          <a:p>
            <a:r>
              <a:t>書籍の生成例：主語・動詞・目的語などが、</a:t>
            </a:r>
          </a:p>
          <a:p>
            <a:r>
              <a:t>より自然につながっている。</a:t>
            </a:r>
          </a:p>
          <a:p>
            <a:r>
              <a:t>生成の品質：予測性能が上がると、</a:t>
            </a:r>
          </a:p>
          <a:p>
            <a:r>
              <a:t>自然な文章も期待できる。</a:t>
            </a:r>
          </a:p>
          <a:p/>
          <a:p>
            <a:r>
              <a:t>出典：斎藤康毅『ゼロから作るDeep Learning ❷ ―自然言語処理編』オライリー・ジャパン、第7章；BetterRnnlmの生成例（書籍）｜p.286（IMG_20261016_0008.pdf、PDF 1頁）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小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7.1.3 さらに良い文章へ｜書き出しを与えて、続きの文章を作る</a:t>
            </a:r>
          </a:p>
          <a:p/>
          <a:p>
            <a:r>
              <a:t>話すポイント：</a:t>
            </a:r>
          </a:p>
          <a:p>
            <a:r>
              <a:t>図は書籍の例「the meaning of life is not a good version of paintings.」。最初の単語列で状態を作り、そこからサンプリングを始める。得られた文に必ず意味があるとは限らない。今回のBetterRnnlmの実行結果ではない。</a:t>
            </a:r>
          </a:p>
          <a:p>
            <a:r>
              <a:t>与える語句：the meaning of lifeを、</a:t>
            </a:r>
          </a:p>
          <a:p>
            <a:r>
              <a:t>単語ごとに順番に入力する。</a:t>
            </a:r>
          </a:p>
          <a:p>
            <a:r>
              <a:t>文脈を蓄える：途中の出力を使わなくても、</a:t>
            </a:r>
          </a:p>
          <a:p>
            <a:r>
              <a:t>LSTMの状態に情報が残る。</a:t>
            </a:r>
          </a:p>
          <a:p>
            <a:r>
              <a:t>続きの生成：次に「is」を入力し、</a:t>
            </a:r>
          </a:p>
          <a:p>
            <a:r>
              <a:t>その後の語を生成していく。</a:t>
            </a:r>
          </a:p>
          <a:p/>
          <a:p>
            <a:r>
              <a:t>出典：斎藤康毅『ゼロから作るDeep Learning ❷ ―自然言語処理編』オライリー・ジャパン、第7章；指定した文の続きの生成例（書籍）｜p.287（IMG_20261016_0009.pdf、PDF 1頁）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小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7.2.1 seq2seqの原理｜EncoderとDecoderを組み合わせる</a:t>
            </a:r>
          </a:p>
          <a:p/>
          <a:p>
            <a:r>
              <a:t>話すポイント：</a:t>
            </a:r>
          </a:p>
          <a:p>
            <a:r>
              <a:t>seq2seqはsequence to sequenceの略で、Encoder–Decoderモデルとも呼ばれる。単純に文字コードを置き換える処理ではなく、学習によって系列の対応を獲得する。入力と出力の長さが同じである必要はない。</a:t>
            </a:r>
          </a:p>
          <a:p>
            <a:r>
              <a:t>Encoder：入力の時系列を読み、</a:t>
            </a:r>
          </a:p>
          <a:p>
            <a:r>
              <a:t>情報をベクトルにまとめる。</a:t>
            </a:r>
          </a:p>
          <a:p>
            <a:r>
              <a:t>Decoder：受け取った情報を使い、</a:t>
            </a:r>
          </a:p>
          <a:p>
            <a:r>
              <a:t>別の時系列を生成する。</a:t>
            </a:r>
          </a:p>
          <a:p>
            <a:r>
              <a:t>翻訳の例：「吾輩は猫である」を、</a:t>
            </a:r>
          </a:p>
          <a:p>
            <a:r>
              <a:t>「I am a cat」に変換する。</a:t>
            </a:r>
          </a:p>
          <a:p/>
          <a:p>
            <a:r>
              <a:t>出典：斎藤康毅『ゼロから作るDeep Learning ❷ ―自然言語処理編』オライリー・ジャパン、第7章；図7-5　EncoderとDecoderによる翻訳｜p.288（IMG_20261016_0010.pdf、PDF 1頁）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小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7.2.1 seq2seqの原理｜Encoder：入力文を順番に読み取る</a:t>
            </a:r>
          </a:p>
          <a:p/>
          <a:p>
            <a:r>
              <a:t>話すポイント：</a:t>
            </a:r>
          </a:p>
          <a:p>
            <a:r>
              <a:t>この図では日本語文を単語単位で入力する。LSTMには隠れ状態hとセルcがあるが、本章でDecoderに受け渡すのは最後の隠れ状態hだけである。</a:t>
            </a:r>
          </a:p>
          <a:p>
            <a:r>
              <a:t>Embedding：各単語IDを、対応する</a:t>
            </a:r>
          </a:p>
          <a:p>
            <a:r>
              <a:t>単語ベクトルに変換する。</a:t>
            </a:r>
          </a:p>
          <a:p>
            <a:r>
              <a:t>LSTM：入力を順番に処理し、</a:t>
            </a:r>
          </a:p>
          <a:p>
            <a:r>
              <a:t>隠れ状態を更新していく。</a:t>
            </a:r>
          </a:p>
          <a:p>
            <a:r>
              <a:t>最後の隠れ状態h：文を読み終えたときのhを、</a:t>
            </a:r>
          </a:p>
          <a:p>
            <a:r>
              <a:t>Decoderに渡す。</a:t>
            </a:r>
          </a:p>
          <a:p/>
          <a:p>
            <a:r>
              <a:t>出典：斎藤康毅『ゼロから作るDeep Learning ❷ ―自然言語処理編』オライリー・ジャパン、第7章；図7-6　Encoderを構成するレイヤ｜p.289（IMG_20261016_0011.pdf、PDF 1頁）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小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7.2.1 seq2seqの原理｜長さの異なる文章を、固定長のhへ</a:t>
            </a:r>
          </a:p>
          <a:p/>
          <a:p>
            <a:r>
              <a:t>話すポイント：</a:t>
            </a:r>
          </a:p>
          <a:p>
            <a:r>
              <a:t>図の3文はいずれも同じ次元のベクトルに変換される。固定長で情報を受け渡すのが、この基本的なseq2seqの特徴である。長い系列を1つのhにまとめるという制約は、次章のAttentionにつながる。</a:t>
            </a:r>
          </a:p>
          <a:p>
            <a:r>
              <a:t>可変長の入力：短い文でも長い文でも、</a:t>
            </a:r>
          </a:p>
          <a:p>
            <a:r>
              <a:t>Encoderで処理できる。</a:t>
            </a:r>
          </a:p>
          <a:p>
            <a:r>
              <a:t>固定長の出力：hの次元数は、文章の長さに</a:t>
            </a:r>
          </a:p>
          <a:p>
            <a:r>
              <a:t>かかわらず同じになる。</a:t>
            </a:r>
          </a:p>
          <a:p>
            <a:r>
              <a:t>情報の受け渡し：Decoderは、このhを手掛かりに</a:t>
            </a:r>
          </a:p>
          <a:p>
            <a:r>
              <a:t>出力する文章を作る。</a:t>
            </a:r>
          </a:p>
          <a:p/>
          <a:p>
            <a:r>
              <a:t>出典：斎藤康毅『ゼロから作るDeep Learning ❷ ―自然言語処理編』オライリー・ジャパン、第7章；図7-7　文章を固定長のベクトルへ｜p.289（IMG_20261016_0011.pdf、PDF 1頁）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小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7.2.1 seq2seqの原理｜Decoder：hを使って翻訳文を生成する</a:t>
            </a:r>
          </a:p>
          <a:p/>
          <a:p>
            <a:r>
              <a:t>話すポイント：</a:t>
            </a:r>
          </a:p>
          <a:p>
            <a:r>
              <a:t>文章生成用の言語モデルとの主な違いは、LSTMの初期状態がゼロではなくEncoderのhであること。入力文の情報に条件づけられた生成になる。加算データでは開始用の区切り文字にアンダースコアを使う。</a:t>
            </a:r>
          </a:p>
          <a:p>
            <a:r>
              <a:t>hを初期状態へ：Encoderの出力を、</a:t>
            </a:r>
          </a:p>
          <a:p>
            <a:r>
              <a:t>DecoderのLSTMに設定する。</a:t>
            </a:r>
          </a:p>
          <a:p>
            <a:r>
              <a:t>生成の流れ：開始記号 → I → am → a → cat</a:t>
            </a:r>
          </a:p>
          <a:p>
            <a:r>
              <a:t>と、前の出力を入力する。</a:t>
            </a:r>
          </a:p>
          <a:p>
            <a:r>
              <a:t>開始と終了：図では&lt;eos&gt;を区切り記号として</a:t>
            </a:r>
          </a:p>
          <a:p>
            <a:r>
              <a:t>生成開始・終了に利用する。</a:t>
            </a:r>
          </a:p>
          <a:p/>
          <a:p>
            <a:r>
              <a:t>出典：斎藤康毅『ゼロから作るDeep Learning ❷ ―自然言語処理編』オライリー・ジャパン、第7章；図7-8　Decoderを構成するレイヤ｜p.290（IMG_20261016_0012.pdf、PDF 1頁）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小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7.2.2 時系列データ変換用のトイ・プロブレム｜「足し算」を文字列の変換として学習する</a:t>
            </a:r>
          </a:p>
          <a:p/>
          <a:p>
            <a:r>
              <a:t>話すポイント：</a:t>
            </a:r>
          </a:p>
          <a:p>
            <a:r>
              <a:t>加算の演算子をプログラムとして組み込むのではなく、問題文と答えの組を教師データとして与える。正しく答えられるかを調べると、seq2seqの基本動作と改善効果を確認しやすい。</a:t>
            </a:r>
          </a:p>
          <a:p>
            <a:r>
              <a:t>入力と出力：「57+5」を入力し、</a:t>
            </a:r>
          </a:p>
          <a:p>
            <a:r>
              <a:t>「62」という文字列を出す。</a:t>
            </a:r>
          </a:p>
          <a:p>
            <a:r>
              <a:t>文字単位で扱う：数字や「+」を1文字ずつ</a:t>
            </a:r>
          </a:p>
          <a:p>
            <a:r>
              <a:t>IDに変換して入力する。</a:t>
            </a:r>
          </a:p>
          <a:p>
            <a:r>
              <a:t>学ぶ対象：加算の例を使って、</a:t>
            </a:r>
          </a:p>
          <a:p>
            <a:r>
              <a:t>文字列の対応を学習する。</a:t>
            </a:r>
          </a:p>
          <a:p/>
          <a:p>
            <a:r>
              <a:t>出典：斎藤康毅『ゼロから作るDeep Learning ❷ ―自然言語処理編』オライリー・ジャパン、第7章；図7-10　seq2seqに足し算を学習させる｜p.292（IMG_20261016_0013.pdf、PDF 1頁）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小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7.2.3 可変長の時系列データ｜パディングでミニバッチの長さをそろえる</a:t>
            </a:r>
          </a:p>
          <a:p/>
          <a:p>
            <a:r>
              <a:t>話すポイント：</a:t>
            </a:r>
          </a:p>
          <a:p>
            <a:r>
              <a:t>一般にはパディング部分を損失から除くマスク処理などが必要になる。本章の加算では簡単にするため空白を特別扱いせず、出力側も固定長として処理する。区切り文字は生成の開始を知らせるもので、本実装では終了用記号は使っていない。</a:t>
            </a:r>
          </a:p>
          <a:p>
            <a:r>
              <a:t>入力は7文字：0〜999の2数と「+」を扱う。</a:t>
            </a:r>
          </a:p>
          <a:p>
            <a:r>
              <a:t>不足分には空白文字を入れる。</a:t>
            </a:r>
          </a:p>
          <a:p>
            <a:r>
              <a:t>出力は5文字：開始の「_」と答えを並べ、</a:t>
            </a:r>
          </a:p>
          <a:p>
            <a:r>
              <a:t>空白で長さをそろえる。</a:t>
            </a:r>
          </a:p>
          <a:p>
            <a:r>
              <a:t>本章での扱い：空白文字も、通常の文字と</a:t>
            </a:r>
          </a:p>
          <a:p>
            <a:r>
              <a:t>同じように学習させる。</a:t>
            </a:r>
          </a:p>
          <a:p/>
          <a:p>
            <a:r>
              <a:t>出典：斎藤康毅『ゼロから作るDeep Learning ❷ ―自然言語処理編』オライリー・ジャパン、第7章；図7-11　空白文字によるパディング｜p.293（IMG_20261016_0014.pdf、PDF 1頁）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小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7.2.4 足し算データセット｜addition.txtの中身を確認する</a:t>
            </a:r>
          </a:p>
          <a:p/>
          <a:p>
            <a:r>
              <a:t>話すポイント：</a:t>
            </a:r>
          </a:p>
          <a:p>
            <a:r>
              <a:t>図の最初の例は16+75と_91。入力は7文字、出力は_を含めて5文字になるようパディングされる。50,000行の文字列をsequenceモジュールで読み込む。</a:t>
            </a:r>
          </a:p>
          <a:p>
            <a:r>
              <a:t>50,000問を用意：加算の問題文と答えが、</a:t>
            </a:r>
          </a:p>
          <a:p>
            <a:r>
              <a:t>1行ずつ記録されている。</a:t>
            </a:r>
          </a:p>
          <a:p>
            <a:r>
              <a:t>区切り文字「_」：左側が問題文、右側が答え。</a:t>
            </a:r>
          </a:p>
          <a:p>
            <a:r>
              <a:t>「_」は出力の開始にも使う。</a:t>
            </a:r>
          </a:p>
          <a:p>
            <a:r>
              <a:t>図の空白：空白文字をドットで示した表示。</a:t>
            </a:r>
          </a:p>
          <a:p>
            <a:r>
              <a:t>実際のデータには空白が入る。</a:t>
            </a:r>
          </a:p>
          <a:p/>
          <a:p>
            <a:r>
              <a:t>出典：斎藤康毅『ゼロから作るDeep Learning ❷ ―自然言語処理編』オライリー・ジャパン、第7章；図7-12　足し算の学習データ｜p.294（IMG_20261016_0015.pdf、PDF 1頁）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小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7.2.4 足し算データセット｜sequenceモジュールでデータを読み込む</a:t>
            </a:r>
          </a:p>
          <a:p/>
          <a:p>
            <a:r>
              <a:t>話すポイント：</a:t>
            </a:r>
          </a:p>
          <a:p>
            <a:r>
              <a:t>load_dataから(x_train,t_train),(x_test,t_test)を受け取る。char_to_idは文字からID、id_to_charはIDから文字へ変換する辞書。本実行でもseed1984で同じ分割を使用した。</a:t>
            </a:r>
          </a:p>
          <a:p>
            <a:r>
              <a:t>load_data：文字列を文字IDへ変換し、</a:t>
            </a:r>
          </a:p>
          <a:p>
            <a:r>
              <a:t>訓練用と評価用に分割する。</a:t>
            </a:r>
          </a:p>
          <a:p>
            <a:r>
              <a:t>seed=1984：シャッフルを再現するため、</a:t>
            </a:r>
          </a:p>
          <a:p>
            <a:r>
              <a:t>乱数シードを指定する。</a:t>
            </a:r>
          </a:p>
          <a:p>
            <a:r>
              <a:t>get_vocab：文字とIDの対応を、</a:t>
            </a:r>
          </a:p>
          <a:p>
            <a:r>
              <a:t>2つの辞書として受け取る。</a:t>
            </a:r>
          </a:p>
          <a:p/>
          <a:p>
            <a:r>
              <a:t>出典：斎藤康毅『ゼロから作るDeep Learning ❷ ―自然言語処理編』オライリー・ジャパン、第7章；show_addition_dataset.py：データの読み込み｜p.295（IMG_20261016_0016.pdf、PDF 1頁）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小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7.2.4 足し算データセット｜配列の形状と、文字IDの対応</a:t>
            </a:r>
          </a:p>
          <a:p/>
          <a:p>
            <a:r>
              <a:t>話すポイント：</a:t>
            </a:r>
          </a:p>
          <a:p>
            <a:r>
              <a:t>配列の要素は数そのものではなく文字ID。たとえば文字7のIDが7であるとは限らない。空白と区切り文字も語彙に含まれるため、語彙数は数字10種類、+、空白、_の計13種類となる。</a:t>
            </a:r>
          </a:p>
          <a:p>
            <a:r>
              <a:t>訓練データ：入力：(45,000, 7)</a:t>
            </a:r>
          </a:p>
          <a:p>
            <a:r>
              <a:t>出力：(45,000, 5)</a:t>
            </a:r>
          </a:p>
          <a:p>
            <a:r>
              <a:t>評価データ：入力：(5,000, 7)</a:t>
            </a:r>
          </a:p>
          <a:p>
            <a:r>
              <a:t>出力：(5,000, 5)</a:t>
            </a:r>
          </a:p>
          <a:p>
            <a:r>
              <a:t>IDから復元：辞書で文字へ戻すと、</a:t>
            </a:r>
          </a:p>
          <a:p>
            <a:r>
              <a:t>「71+118」と「_189」になる。</a:t>
            </a:r>
          </a:p>
          <a:p/>
          <a:p>
            <a:r>
              <a:t>出典：斎藤康毅『ゼロから作るDeep Learning ❷ ―自然言語処理編』オライリー・ジャパン、第7章；show_addition_dataset.py：形状と文字列｜p.295（IMG_20261016_0016.pdf、PDF 1頁）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小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7.3.1 Encoderクラス｜Encoderの入出力を決める</a:t>
            </a:r>
          </a:p>
          <a:p/>
          <a:p>
            <a:r>
              <a:t>話すポイント：</a:t>
            </a:r>
          </a:p>
          <a:p>
            <a:r>
              <a:t>Nはミニバッチサイズ、Tは入力の時刻数、Hは隠れ状態の次元。加算課題の入力の長さは7文字。hは文字列そのものではなく、モデルが学習した連続値の表現である。</a:t>
            </a:r>
          </a:p>
          <a:p>
            <a:r>
              <a:t>入力xs：パディング済みの問題文を、</a:t>
            </a:r>
          </a:p>
          <a:p>
            <a:r>
              <a:t>文字IDの配列として受け取る。</a:t>
            </a:r>
          </a:p>
          <a:p>
            <a:r>
              <a:t>出力h：文字列全体の情報を持つ、</a:t>
            </a:r>
          </a:p>
          <a:p>
            <a:r>
              <a:t>最後の隠れ状態を返す。</a:t>
            </a:r>
          </a:p>
          <a:p>
            <a:r>
              <a:t>形状の変化：(N, T)の文字列を、</a:t>
            </a:r>
          </a:p>
          <a:p>
            <a:r>
              <a:t>(N, H)のベクトルへ変換する。</a:t>
            </a:r>
          </a:p>
          <a:p/>
          <a:p>
            <a:r>
              <a:t>出典：斎藤康毅『ゼロから作るDeep Learning ❷ ―自然言語処理編』オライリー・ジャパン、第7章；図7-13　Encoderの入出力｜p.296（IMG_20261016_0017.pdf、PDF 1頁）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小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7.3.1 Encoderクラス｜EmbeddingとLSTMでEncoderを作る</a:t>
            </a:r>
          </a:p>
          <a:p/>
          <a:p>
            <a:r>
              <a:t>話すポイント：</a:t>
            </a:r>
          </a:p>
          <a:p>
            <a:r>
              <a:t>図の上方向に出ている各時刻の隠れ状態は、最後の時刻以外は直接Decoderへ渡さない。本章ではLSTMのセルcも受け渡さず、hだけでEncoderとDecoderを接続する。</a:t>
            </a:r>
          </a:p>
          <a:p>
            <a:r>
              <a:t>文字ベクトルへ：文字IDごとにEmbeddingを</a:t>
            </a:r>
          </a:p>
          <a:p>
            <a:r>
              <a:t>適用する。</a:t>
            </a:r>
          </a:p>
          <a:p>
            <a:r>
              <a:t>時間方向に処理：左から順にLSTMへ渡し、</a:t>
            </a:r>
          </a:p>
          <a:p>
            <a:r>
              <a:t>隠れ状態とセルを更新する。</a:t>
            </a:r>
          </a:p>
          <a:p>
            <a:r>
              <a:t>Decoderへの出力：最後の文字まで処理したhだけを</a:t>
            </a:r>
          </a:p>
          <a:p>
            <a:r>
              <a:t>次のモデルに受け渡す。</a:t>
            </a:r>
          </a:p>
          <a:p/>
          <a:p>
            <a:r>
              <a:t>出典：斎藤康毅『ゼロから作るDeep Learning ❷ ―自然言語処理編』オライリー・ジャパン、第7章；図7-14　Encoderのレイヤ構成｜p.297（IMG_20261016_0018.pdf、PDF 1頁）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小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7.3.1 Encoderクラス｜Timeレイヤで、時系列をまとめて処理する</a:t>
            </a:r>
          </a:p>
          <a:p/>
          <a:p>
            <a:r>
              <a:t>話すポイント：</a:t>
            </a:r>
          </a:p>
          <a:p>
            <a:r>
              <a:t>Timeレイヤは別の新しい計算ではなく、同じ処理を時系列に沿って実行するためのクラスである。TimeLSTMが返す全隠れ状態から最後の時刻だけを取り出す。</a:t>
            </a:r>
          </a:p>
          <a:p>
            <a:r>
              <a:t>Time Embedding：各時刻の文字IDを、</a:t>
            </a:r>
          </a:p>
          <a:p>
            <a:r>
              <a:t>ベクトルへ変換する。</a:t>
            </a:r>
          </a:p>
          <a:p>
            <a:r>
              <a:t>Time LSTM：全時刻の隠れ状態hsを出力する。</a:t>
            </a:r>
          </a:p>
          <a:p>
            <a:r>
              <a:t>形状は(N, T, H)となる。</a:t>
            </a:r>
          </a:p>
          <a:p>
            <a:r>
              <a:t>最後を取り出す：hs[:, -1, :]をhとして返す。</a:t>
            </a:r>
          </a:p>
          <a:p>
            <a:r>
              <a:t>途中のhsは逆伝播のために保持。</a:t>
            </a:r>
          </a:p>
          <a:p/>
          <a:p>
            <a:r>
              <a:t>出典：斎藤康毅『ゼロから作るDeep Learning ❷ ―自然言語処理編』オライリー・ジャパン、第7章；図7-15　TimeレイヤによるEncoder｜p.298（IMG_20261016_0019.pdf、PDF 1頁）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小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7.3.1 Encoderクラス｜Encoder.__init__：重みとレイヤを用意する</a:t>
            </a:r>
          </a:p>
          <a:p/>
          <a:p>
            <a:r>
              <a:t>話すポイント：</a:t>
            </a:r>
          </a:p>
          <a:p>
            <a:r>
              <a:t>LSTMの4Hは4つのゲートに対応する。今回の設定はV=13、D=16、H=128。前章の長い言語データと異なり、加算の問題同士は独立しているため、Encoderの状態を問題間で持ち越さない。</a:t>
            </a:r>
          </a:p>
          <a:p>
            <a:r>
              <a:t>V・D・H：語彙数・文字ベクトルの次元・</a:t>
            </a:r>
          </a:p>
          <a:p>
            <a:r>
              <a:t>隠れ状態の次元を指定する。</a:t>
            </a:r>
          </a:p>
          <a:p>
            <a:r>
              <a:t>stateful=False：問題文ごとに、LSTMの状態を</a:t>
            </a:r>
          </a:p>
          <a:p>
            <a:r>
              <a:t>初期化してから処理する。</a:t>
            </a:r>
          </a:p>
          <a:p>
            <a:r>
              <a:t>params / grads：学習で更新する重みと勾配を、</a:t>
            </a:r>
          </a:p>
          <a:p>
            <a:r>
              <a:t>レイヤから集めておく。</a:t>
            </a:r>
          </a:p>
          <a:p/>
          <a:p>
            <a:r>
              <a:t>出典：斎藤康毅『ゼロから作るDeep Learning ❷ ―自然言語処理編』オライリー・ジャパン、第7章；Encoder.__init__｜p.298（IMG_20261016_0019.pdf、PDF 1頁）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小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7.3.1 Encoderクラス｜Encoder.forward：最後のhを返す</a:t>
            </a:r>
          </a:p>
          <a:p/>
          <a:p>
            <a:r>
              <a:t>話すポイント：</a:t>
            </a:r>
          </a:p>
          <a:p>
            <a:r>
              <a:t>文字IDの入力(N,T)は、Embedding後(N,T,D)、LSTM後(N,T,H)となり、最後のhは(N,H)。self.hsを保存しておくと、逆伝播時に同じ形状の勾配配列を作れる。</a:t>
            </a:r>
          </a:p>
          <a:p>
            <a:r>
              <a:t>① 文字を埋め込む：self.embed.forward(xs)で、</a:t>
            </a:r>
          </a:p>
          <a:p>
            <a:r>
              <a:t>各文字をベクトルにする。</a:t>
            </a:r>
          </a:p>
          <a:p>
            <a:r>
              <a:t>② 全時刻を計算：self.lstm.forward(xs)で、</a:t>
            </a:r>
          </a:p>
          <a:p>
            <a:r>
              <a:t>時系列の隠れ状態を得る。</a:t>
            </a:r>
          </a:p>
          <a:p>
            <a:r>
              <a:t>③ 最後を選ぶ：hs[:, -1, :]を返す。</a:t>
            </a:r>
          </a:p>
          <a:p>
            <a:r>
              <a:t>self.hsには全時刻を保存する。</a:t>
            </a:r>
          </a:p>
          <a:p/>
          <a:p>
            <a:r>
              <a:t>出典：斎藤康毅『ゼロから作るDeep Learning ❷ ―自然言語処理編』オライリー・ジャパン、第7章；Encoder.forward｜p.299（IMG_20261016_0020.pdf、PDF 1頁）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小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7.3.1 Encoderクラス｜Encoder.backward：最後の時刻へ勾配を置く</a:t>
            </a:r>
          </a:p>
          <a:p/>
          <a:p>
            <a:r>
              <a:t>話すポイント：</a:t>
            </a:r>
          </a:p>
          <a:p>
            <a:r>
              <a:t>最後以外のdhsがゼロでも、LSTMの時間方向のつながりを通じて過去の時刻へ勾配が伝わる。Encoderの出力として使ったのが最後のhだけなので、その場所に上流のdhを設定する。</a:t>
            </a:r>
          </a:p>
          <a:p>
            <a:r>
              <a:t>Decoderからdh：最後の隠れ状態に対する</a:t>
            </a:r>
          </a:p>
          <a:p>
            <a:r>
              <a:t>勾配を受け取る。</a:t>
            </a:r>
          </a:p>
          <a:p>
            <a:r>
              <a:t>dhsを作る：まず全要素を0にし、</a:t>
            </a:r>
          </a:p>
          <a:p>
            <a:r>
              <a:t>最後の時刻だけdhを入れる。</a:t>
            </a:r>
          </a:p>
          <a:p>
            <a:r>
              <a:t>逆方向に伝える：Time LSTM → Time Embedding</a:t>
            </a:r>
          </a:p>
          <a:p>
            <a:r>
              <a:t>の順にbackwardを呼ぶ。</a:t>
            </a:r>
          </a:p>
          <a:p/>
          <a:p>
            <a:r>
              <a:t>出典：斎藤康毅『ゼロから作るDeep Learning ❷ ―自然言語処理編』オライリー・ジャパン、第7章；Encoder.backward｜p.299（IMG_20261016_0020.pdf、PDF 1頁）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小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7.3.2 Decoderクラス｜Decoderにhと開始文字を渡す</a:t>
            </a:r>
          </a:p>
          <a:p/>
          <a:p>
            <a:r>
              <a:t>話すポイント：</a:t>
            </a:r>
          </a:p>
          <a:p>
            <a:r>
              <a:t>57+5という入力から62という答えを得る。EncoderとDecoderはそれぞれ別のLSTMの重みを持ち、hを介して接続される。出力は_を除いた答えとパディングの4文字である。</a:t>
            </a:r>
          </a:p>
          <a:p>
            <a:r>
              <a:t>Encoderの役割：問題文を読み取り、</a:t>
            </a:r>
          </a:p>
          <a:p>
            <a:r>
              <a:t>隠れ状態hにまとめる。</a:t>
            </a:r>
          </a:p>
          <a:p>
            <a:r>
              <a:t>Decoderの役割：hを初期状態に設定し、</a:t>
            </a:r>
          </a:p>
          <a:p>
            <a:r>
              <a:t>答えの文字列を生成する。</a:t>
            </a:r>
          </a:p>
          <a:p>
            <a:r>
              <a:t>生成の開始：「_」を最初の入力として、</a:t>
            </a:r>
          </a:p>
          <a:p>
            <a:r>
              <a:t>答えを1文字ずつ出力する。</a:t>
            </a:r>
          </a:p>
          <a:p/>
          <a:p>
            <a:r>
              <a:t>出典：斎藤康毅『ゼロから作るDeep Learning ❷ ―自然言語処理編』オライリー・ジャパン、第7章；図7-16　EncoderとDecoder｜p.300（IMG_20261016_0021.pdf、PDF 1頁）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小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7.3.2 Decoderクラス｜学習時：正解を1文字ずらして与える</a:t>
            </a:r>
          </a:p>
          <a:p/>
          <a:p>
            <a:r>
              <a:t>話すポイント：</a:t>
            </a:r>
          </a:p>
          <a:p>
            <a:r>
              <a:t>空白が見えにくいため、説明時は_62の後ろにも空白があることを補足する。tsは5文字で、入力と正解はそれぞれ4文字。学習時は正解の前の文字を使うため、時間方向をまとめて計算できる。</a:t>
            </a:r>
          </a:p>
          <a:p>
            <a:r>
              <a:t>Decoderへの入力：正解列の先頭側を与える。</a:t>
            </a:r>
          </a:p>
          <a:p>
            <a:r>
              <a:t>例：「_62 」を入力する。</a:t>
            </a:r>
          </a:p>
          <a:p>
            <a:r>
              <a:t>予測の正解：1文字先の「62  」と照合する。</a:t>
            </a:r>
          </a:p>
          <a:p>
            <a:r>
              <a:t>各時刻の損失を計算する。</a:t>
            </a:r>
          </a:p>
          <a:p>
            <a:r>
              <a:t>Teacher forcing：学習時には、自分の予測ではなく</a:t>
            </a:r>
          </a:p>
          <a:p>
            <a:r>
              <a:t>正解の前の文字を入力する。</a:t>
            </a:r>
          </a:p>
          <a:p/>
          <a:p>
            <a:r>
              <a:t>出典：斎藤康毅『ゼロから作るDeep Learning ❷ ―自然言語処理編』オライリー・ジャパン、第7章；図7-17　Decoderのレイヤ構成（学習時）｜p.300（IMG_20261016_0021.pdf、PDF 1頁）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小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7.3.2 Decoderクラス｜生成時：予測した文字を次の入力にする</a:t>
            </a:r>
          </a:p>
          <a:p/>
          <a:p>
            <a:r>
              <a:t>話すポイント：</a:t>
            </a:r>
          </a:p>
          <a:p>
            <a:r>
              <a:t>7.1の文章生成では確率的に単語をサンプリングした。本章の加算では答えがほぼ一意であるため、生成時に最大スコアの文字を選んでいる。生成文字数はsample_sizeで指定する。</a:t>
            </a:r>
          </a:p>
          <a:p>
            <a:r>
              <a:t>最大スコアを選ぶ：各時刻でargmaxを取り、</a:t>
            </a:r>
          </a:p>
          <a:p>
            <a:r>
              <a:t>生成する文字IDを決める。</a:t>
            </a:r>
          </a:p>
          <a:p>
            <a:r>
              <a:t>自分の出力を使う：「_」→「6」→「2」→ 空白</a:t>
            </a:r>
          </a:p>
          <a:p>
            <a:r>
              <a:t>と1文字ずつ進める。</a:t>
            </a:r>
          </a:p>
          <a:p>
            <a:r>
              <a:t>Softmaxを省略：最大値の位置は変わらないため、</a:t>
            </a:r>
          </a:p>
          <a:p>
            <a:r>
              <a:t>スコアに直接argmaxを使う。</a:t>
            </a:r>
          </a:p>
          <a:p/>
          <a:p>
            <a:r>
              <a:t>出典：斎藤康毅『ゼロから作るDeep Learning ❷ ―自然言語処理編』オライリー・ジャパン、第7章；図7-18　Decoderの文字列生成｜p.302（IMG_20261016_0023.pdf、PDF 1頁）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小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7.3.2 Decoderクラス｜TimeレイヤでDecoderを構成する</a:t>
            </a:r>
          </a:p>
          <a:p/>
          <a:p>
            <a:r>
              <a:t>話すポイント：</a:t>
            </a:r>
          </a:p>
          <a:p>
            <a:r>
              <a:t>Decoderはスコアまでを返すようにしておくと、学習では損失計算、生成ではargmaxという使い分けができる。図のDecoderの枠にSoftmax with Lossが含まれていない点を確認する。</a:t>
            </a:r>
          </a:p>
          <a:p>
            <a:r>
              <a:t>3つのレイヤ：Time Embedding → Time LSTM</a:t>
            </a:r>
          </a:p>
          <a:p>
            <a:r>
              <a:t>→ Time Affineで構成する。</a:t>
            </a:r>
          </a:p>
          <a:p>
            <a:r>
              <a:t>hを受け取る：Encoderのhを、</a:t>
            </a:r>
          </a:p>
          <a:p>
            <a:r>
              <a:t>Time LSTMの初期状態に使う。</a:t>
            </a:r>
          </a:p>
          <a:p>
            <a:r>
              <a:t>損失計算の位置：Time Softmax with Lossは、</a:t>
            </a:r>
          </a:p>
          <a:p>
            <a:r>
              <a:t>外側のSeq2seqが担当する。</a:t>
            </a:r>
          </a:p>
          <a:p/>
          <a:p>
            <a:r>
              <a:t>出典：斎藤康毅『ゼロから作るDeep Learning ❷ ―自然言語処理編』オライリー・ジャパン、第7章；図7-19　Decoderクラスの構成｜p.303（IMG_20261016_0024.pdf、PDF 1頁）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小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7.3.2 Decoderクラス｜Decoder.__init__：状態を保持する設定</a:t>
            </a:r>
          </a:p>
          <a:p/>
          <a:p>
            <a:r>
              <a:t>話すポイント：</a:t>
            </a:r>
          </a:p>
          <a:p>
            <a:r>
              <a:t>stateful=Trueでも、問題が変わるときにはset_state(h)でEncoderの出力を設定する。生成時は1文字ずつforwardを呼ぶので、その間に状態が保存されることが必要である。paramsとgradsへの集約は次ページに続く。</a:t>
            </a:r>
          </a:p>
          <a:p>
            <a:r>
              <a:t>重みを初期化：Embedding・LSTMに加えて、</a:t>
            </a:r>
          </a:p>
          <a:p>
            <a:r>
              <a:t>文字スコア用のAffineを用意。</a:t>
            </a:r>
          </a:p>
          <a:p>
            <a:r>
              <a:t>stateful=True：設定したhから処理を始め、</a:t>
            </a:r>
          </a:p>
          <a:p>
            <a:r>
              <a:t>生成中は状態を引き継ぐ。</a:t>
            </a:r>
          </a:p>
          <a:p>
            <a:r>
              <a:t>Encoderとの違い：出力を語彙数Vへ変換する、</a:t>
            </a:r>
          </a:p>
          <a:p>
            <a:r>
              <a:t>Time Affineが必要になる。</a:t>
            </a:r>
          </a:p>
          <a:p/>
          <a:p>
            <a:r>
              <a:t>出典：斎藤康毅『ゼロから作るDeep Learning ❷ ―自然言語処理編』オライリー・ジャパン、第7章；Decoder.__init__｜pp.303–304（IMG_20261016_0024.pdf、PDF 1頁）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小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7.3.2 Decoderクラス｜Decoder.forward：初期状態をセットする</a:t>
            </a:r>
          </a:p>
          <a:p/>
          <a:p>
            <a:r>
              <a:t>話すポイント：</a:t>
            </a:r>
          </a:p>
          <a:p>
            <a:r>
              <a:t>forwardは学習時に使う。Decoderの時間長Tは、入力された正解列の先頭側の長さであり、この加算では4。出力スコアをSeq2seq側のTimeSoftmaxWithLossへ渡す。</a:t>
            </a:r>
          </a:p>
          <a:p>
            <a:r>
              <a:t>最初にset_state(h)：Encoderの出力を、</a:t>
            </a:r>
          </a:p>
          <a:p>
            <a:r>
              <a:t>DecoderのLSTMへ設定する。</a:t>
            </a:r>
          </a:p>
          <a:p>
            <a:r>
              <a:t>順伝播：Embedding → LSTM → Affine</a:t>
            </a:r>
          </a:p>
          <a:p>
            <a:r>
              <a:t>を順に呼び出す。</a:t>
            </a:r>
          </a:p>
          <a:p>
            <a:r>
              <a:t>戻り値score：各文字のスコアを返す。</a:t>
            </a:r>
          </a:p>
          <a:p>
            <a:r>
              <a:t>形状は(N, T, V)となる。</a:t>
            </a:r>
          </a:p>
          <a:p/>
          <a:p>
            <a:r>
              <a:t>出典：斎藤康毅『ゼロから作るDeep Learning ❷ ―自然言語処理編』オライリー・ジャパン、第7章；Decoder.forward｜p.304（IMG_20261016_0025.pdf、PDF 1頁）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小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7.3.2 Decoderクラス｜Decoder.backward：Encoderへdhを返す</a:t>
            </a:r>
          </a:p>
          <a:p/>
          <a:p>
            <a:r>
              <a:t>話すポイント：</a:t>
            </a:r>
          </a:p>
          <a:p>
            <a:r>
              <a:t>文字IDそのものへの勾配は最適化に使わない。Encoderに戻すべき勾配は、LSTMに設定した初期隠れ状態hに対するdhである。レイヤの重みに対する勾配はそれぞれのgradsに格納される。</a:t>
            </a:r>
          </a:p>
          <a:p>
            <a:r>
              <a:t>逆順にたどる：Affine → LSTM → Embedding</a:t>
            </a:r>
          </a:p>
          <a:p>
            <a:r>
              <a:t>の順に勾配を計算する。</a:t>
            </a:r>
          </a:p>
          <a:p>
            <a:r>
              <a:t>初期状態の勾配：self.lstm.dhには、</a:t>
            </a:r>
          </a:p>
          <a:p>
            <a:r>
              <a:t>最初に与えたhへの勾配が入る。</a:t>
            </a:r>
          </a:p>
          <a:p>
            <a:r>
              <a:t>Encoderへの接続：dhを戻り値にして、</a:t>
            </a:r>
          </a:p>
          <a:p>
            <a:r>
              <a:t>Encoderの逆伝播へ渡す。</a:t>
            </a:r>
          </a:p>
          <a:p/>
          <a:p>
            <a:r>
              <a:t>出典：斎藤康毅『ゼロから作るDeep Learning ❷ ―自然言語処理編』オライリー・ジャパン、第7章；Decoder.backward｜p.304（IMG_20261016_0025.pdf、PDF 1頁）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小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7.3.2 Decoderクラス｜Decoder.generate：文字を1つずつ出力する</a:t>
            </a:r>
          </a:p>
          <a:p/>
          <a:p>
            <a:r>
              <a:t>話すポイント：</a:t>
            </a:r>
          </a:p>
          <a:p>
            <a:r>
              <a:t>学習時のforwardとは異なり、正解の前の文字は使わない。生成した文字IDのリストを返す。sample_size回のループなので、加算課題では答えの長さに合わせて4文字を生成する。</a:t>
            </a:r>
          </a:p>
          <a:p>
            <a:r>
              <a:t>開始の準備：hを設定し、</a:t>
            </a:r>
          </a:p>
          <a:p>
            <a:r>
              <a:t>start_idを最初の入力にする。</a:t>
            </a:r>
          </a:p>
          <a:p>
            <a:r>
              <a:t>1文字の生成：Embedding → LSTM → Affine</a:t>
            </a:r>
          </a:p>
          <a:p>
            <a:r>
              <a:t>→ argmaxの順に進める。</a:t>
            </a:r>
          </a:p>
          <a:p>
            <a:r>
              <a:t>次の入力へ：選んだ文字IDを保存し、</a:t>
            </a:r>
          </a:p>
          <a:p>
            <a:r>
              <a:t>次の時刻の入力として使う。</a:t>
            </a:r>
          </a:p>
          <a:p/>
          <a:p>
            <a:r>
              <a:t>出典：斎藤康毅『ゼロから作るDeep Learning ❷ ―自然言語処理編』オライリー・ジャパン、第7章；Decoder.generate｜p.304（IMG_20261016_0025.pdf、PDF 1頁）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小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7.3.3 Seq2seqクラス｜Encoder・Decoder・損失をまとめる</a:t>
            </a:r>
          </a:p>
          <a:p/>
          <a:p>
            <a:r>
              <a:t>話すポイント：</a:t>
            </a:r>
          </a:p>
          <a:p>
            <a:r>
              <a:t>Seq2seqはBaseModelを継承する。重み更新を行うTrainerから見ると、EncoderとDecoderをまとめた1つのモデルとして扱える。Softmax with Lossに更新対象の重みはない。</a:t>
            </a:r>
          </a:p>
          <a:p>
            <a:r>
              <a:t>3つを準備：Encoder、Decoder、</a:t>
            </a:r>
          </a:p>
          <a:p>
            <a:r>
              <a:t>Time Softmax with Lossを持つ。</a:t>
            </a:r>
          </a:p>
          <a:p>
            <a:r>
              <a:t>パラメータの集約：両モデルのparamsとgradsを</a:t>
            </a:r>
          </a:p>
          <a:p>
            <a:r>
              <a:t>1つのリストにまとめる。</a:t>
            </a:r>
          </a:p>
          <a:p>
            <a:r>
              <a:t>学習の窓口：forwardとbackwardを通じて、</a:t>
            </a:r>
          </a:p>
          <a:p>
            <a:r>
              <a:t>モデル全体を学習させる。</a:t>
            </a:r>
          </a:p>
          <a:p/>
          <a:p>
            <a:r>
              <a:t>出典：斎藤康毅『ゼロから作るDeep Learning ❷ ―自然言語処理編』オライリー・ジャパン、第7章；Seq2seq.__init__｜p.305（IMG_20261016_0026.pdf、PDF 1頁）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小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7.3.3 Seq2seqクラス｜Seq2seq.forward：入力と正解をずらす</a:t>
            </a:r>
          </a:p>
          <a:p/>
          <a:p>
            <a:r>
              <a:t>話すポイント：</a:t>
            </a:r>
          </a:p>
          <a:p>
            <a:r>
              <a:t>たとえばtsが_189と空白なら、decoder_xsは_189、decoder_tsは189と空白。1文字ずらすことで、前の文字から次の文字を予測する教師データになる。正解列全体を同じ位置の予測と照合しない。</a:t>
            </a:r>
          </a:p>
          <a:p>
            <a:r>
              <a:t>正解列tsを分割：入力はts[:, :-1]、</a:t>
            </a:r>
          </a:p>
          <a:p>
            <a:r>
              <a:t>予測の正解はts[:, 1:]。</a:t>
            </a:r>
          </a:p>
          <a:p>
            <a:r>
              <a:t>hを介して接続：Encoder.forward(xs)のhを、</a:t>
            </a:r>
          </a:p>
          <a:p>
            <a:r>
              <a:t>Decoder.forwardへ渡す。</a:t>
            </a:r>
          </a:p>
          <a:p>
            <a:r>
              <a:t>lossを計算：文字スコアと正解を照合し、</a:t>
            </a:r>
          </a:p>
          <a:p>
            <a:r>
              <a:t>損失を返す。</a:t>
            </a:r>
          </a:p>
          <a:p/>
          <a:p>
            <a:r>
              <a:t>出典：斎藤康毅『ゼロから作るDeep Learning ❷ ―自然言語処理編』オライリー・ジャパン、第7章；Seq2seq.forward｜p.305（IMG_20261016_0026.pdf、PDF 1頁）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小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7.3.3 Seq2seqクラス｜Seq2seq.backwardとgenerate</a:t>
            </a:r>
          </a:p>
          <a:p/>
          <a:p>
            <a:r>
              <a:t>話すポイント：</a:t>
            </a:r>
          </a:p>
          <a:p>
            <a:r>
              <a:t>Seq2seqの役割は、各部品を正しい順番に接続すること。backwardではDecoderから受け取るdhをEncoderへ戻す。generateでは入力文xsから得たhを開始IDとともにDecoderへ渡す。</a:t>
            </a:r>
          </a:p>
          <a:p>
            <a:r>
              <a:t>逆伝播：損失 → Decoder → Encoderの</a:t>
            </a:r>
          </a:p>
          <a:p>
            <a:r>
              <a:t>順に勾配をつなぐ。</a:t>
            </a:r>
          </a:p>
          <a:p>
            <a:r>
              <a:t>生成：入力をEncoderでhに変換し、</a:t>
            </a:r>
          </a:p>
          <a:p>
            <a:r>
              <a:t>Decoder.generateへ渡す。</a:t>
            </a:r>
          </a:p>
          <a:p>
            <a:r>
              <a:t>実装の分担：各レイヤの計算は、</a:t>
            </a:r>
          </a:p>
          <a:p>
            <a:r>
              <a:t>EncoderとDecoderが担当する。</a:t>
            </a:r>
          </a:p>
          <a:p/>
          <a:p>
            <a:r>
              <a:t>出典：斎藤康毅『ゼロから作るDeep Learning ❷ ―自然言語処理編』オライリー・ジャパン、第7章；Seq2seq.backward｜p.305（IMG_20261016_0026.pdf、PDF 1頁）；Seq2seq.generate｜p.306（IMG_20261016_0027.pdf、PDF 1頁）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小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7.3.4 seq2seqの評価｜学習条件とモデルを設定する</a:t>
            </a:r>
          </a:p>
          <a:p/>
          <a:p>
            <a:r>
              <a:t>話すポイント：</a:t>
            </a:r>
          </a:p>
          <a:p>
            <a:r>
              <a:t>学習データ45,000件、評価データ5,000件という同じ加算課題で、通常版、Reverse、Peekyの改善効果を見る。今回の実行でも、ここに示した本のハイパーパラメータを使用した。</a:t>
            </a:r>
          </a:p>
          <a:p>
            <a:r>
              <a:t>モデルの大きさ：文字ベクトル16次元、</a:t>
            </a:r>
          </a:p>
          <a:p>
            <a:r>
              <a:t>隠れ状態128次元。</a:t>
            </a:r>
          </a:p>
          <a:p>
            <a:r>
              <a:t>学習条件：バッチサイズ128、25エポック。</a:t>
            </a:r>
          </a:p>
          <a:p>
            <a:r>
              <a:t>勾配クリッピングは5.0。</a:t>
            </a:r>
          </a:p>
          <a:p>
            <a:r>
              <a:t>重み更新：AdamとTrainerを使って、</a:t>
            </a:r>
          </a:p>
          <a:p>
            <a:r>
              <a:t>Seq2seqを学習する。</a:t>
            </a:r>
          </a:p>
          <a:p/>
          <a:p>
            <a:r>
              <a:t>出典：斎藤康毅『ゼロから作るDeep Learning ❷ ―自然言語処理編』オライリー・ジャパン、第7章；ハイパーパラメータとモデルの設定｜p.307（IMG_20261016_0028.pdf、PDF 1頁）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小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7.3.4 seq2seqの評価｜各エポック後に、答え全体で正誤を判定</a:t>
            </a:r>
          </a:p>
          <a:p/>
          <a:p>
            <a:r>
              <a:t>話すポイント：</a:t>
            </a:r>
          </a:p>
          <a:p>
            <a:r>
              <a:t>評価指標は文字ごとの正解率ではない。答えの4文字全体が一致したときに正解1件として数える。変数名がval accであっても、本章では独立した検証用データを別に用意せず、x_testを使っている。</a:t>
            </a:r>
          </a:p>
          <a:p>
            <a:r>
              <a:t>1エポック学習：Trainer.fitを呼び、</a:t>
            </a:r>
          </a:p>
          <a:p>
            <a:r>
              <a:t>訓練データで重みを更新する。</a:t>
            </a:r>
          </a:p>
          <a:p>
            <a:r>
              <a:t>評価で文字列生成：eval_seq2seqで、</a:t>
            </a:r>
          </a:p>
          <a:p>
            <a:r>
              <a:t>評価データの答えを生成する。</a:t>
            </a:r>
          </a:p>
          <a:p>
            <a:r>
              <a:t>完全一致率：1問の答え全体が一致した数を、</a:t>
            </a:r>
          </a:p>
          <a:p>
            <a:r>
              <a:t>評価データ数で割る。</a:t>
            </a:r>
          </a:p>
          <a:p/>
          <a:p>
            <a:r>
              <a:t>出典：斎藤康毅『ゼロから作るDeep Learning ❷ ―自然言語処理編』オライリー・ジャパン、第7章；学習と完全一致による評価｜p.307（IMG_20261016_0028.pdf、PDF 1頁）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小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7.3.4 seq2seqの評価｜出力例を見て、誤り方を確認する</a:t>
            </a:r>
          </a:p>
          <a:p/>
          <a:p>
            <a:r>
              <a:t>話すポイント：</a:t>
            </a:r>
          </a:p>
          <a:p>
            <a:r>
              <a:t>図は教科書のターミナル表示。モデルの予測値を実際の正解と区別して読む。全体の正解率だけでなく、どの桁やどの問題で失敗しているかを観察できる。</a:t>
            </a:r>
          </a:p>
          <a:p>
            <a:r>
              <a:t>Q：問題文：例では600+257が入力される。</a:t>
            </a:r>
          </a:p>
          <a:p>
            <a:r>
              <a:t>T：正解：正解の答えは857。</a:t>
            </a:r>
          </a:p>
          <a:p>
            <a:r>
              <a:t>その下がモデルの予測。</a:t>
            </a:r>
          </a:p>
          <a:p>
            <a:r>
              <a:t>記号で正誤を表示：予測864なら不正解。</a:t>
            </a:r>
          </a:p>
          <a:p>
            <a:r>
              <a:t>26+838 → 864は正解となる。</a:t>
            </a:r>
          </a:p>
          <a:p/>
          <a:p>
            <a:r>
              <a:t>出典：斎藤康毅『ゼロから作るDeep Learning ❷ ―自然言語処理編』オライリー・ジャパン、第7章；図7-20　ターミナルの結果表示｜p.308（IMG_20261016_0029.pdf、PDF 1頁）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小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7.3.4 seq2seqの評価｜学習が進むと、答えが正解へ近づく</a:t>
            </a:r>
          </a:p>
          <a:p/>
          <a:p>
            <a:r>
              <a:t>話すポイント：</a:t>
            </a:r>
          </a:p>
          <a:p>
            <a:r>
              <a:t>図は同じモデルの学習に伴う出力の推移。個々の例が良くなることと、評価セット全体で良くなることは分けて確認する。次の学習曲線がその定量的な確認である。</a:t>
            </a:r>
          </a:p>
          <a:p>
            <a:r>
              <a:t>初期の出力：正しく答えられない問題が多い。</a:t>
            </a:r>
          </a:p>
          <a:p>
            <a:r>
              <a:t>学習の進行：重みが更新されるにつれ、</a:t>
            </a:r>
          </a:p>
          <a:p>
            <a:r>
              <a:t>正解になる問題が現れる。</a:t>
            </a:r>
          </a:p>
          <a:p>
            <a:r>
              <a:t>定量的に比較：表示例だけで判断せず、</a:t>
            </a:r>
          </a:p>
          <a:p>
            <a:r>
              <a:t>全評価データの正解率を調べる。</a:t>
            </a:r>
          </a:p>
          <a:p/>
          <a:p>
            <a:r>
              <a:t>出典：斎藤康毅『ゼロから作るDeep Learning ❷ ―自然言語処理編』オライリー・ジャパン、第7章；図7-21　学習に伴う出力の変化｜p.309（IMG_20261016_0030.pdf、PDF 1頁）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小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7.3.4 seq2seqの評価｜通常のseq2seqでは、25エポックで約10%</a:t>
            </a:r>
          </a:p>
          <a:p/>
          <a:p>
            <a:r>
              <a:t>話すポイント：</a:t>
            </a:r>
          </a:p>
          <a:p>
            <a:r>
              <a:t>この図の曲線は書籍の掲載結果である。今回の実行結果とは数値が異なり、後で別のスライドとして示す。通常のseq2seqでも学習が進んでいるが、効率を改善する余地がある。</a:t>
            </a:r>
          </a:p>
          <a:p>
            <a:r>
              <a:t>書籍の学習曲線：横軸はエポック、</a:t>
            </a:r>
          </a:p>
          <a:p>
            <a:r>
              <a:t>縦軸は答えの完全一致率。</a:t>
            </a:r>
          </a:p>
          <a:p>
            <a:r>
              <a:t>結果の読み方：正解率は上昇するが、</a:t>
            </a:r>
          </a:p>
          <a:p>
            <a:r>
              <a:t>25エポックで約10%にとどまる。</a:t>
            </a:r>
          </a:p>
          <a:p>
            <a:r>
              <a:t>次の改善：入力の反転とPeekyを使い、</a:t>
            </a:r>
          </a:p>
          <a:p>
            <a:r>
              <a:t>学習の進み方を改善する。</a:t>
            </a:r>
          </a:p>
          <a:p/>
          <a:p>
            <a:r>
              <a:t>出典：斎藤康毅『ゼロから作るDeep Learning ❷ ―自然言語処理編』オライリー・ジャパン、第7章；図7-22　通常のseq2seqの正解率（書籍）｜p.310（IMG_20261016_0031.pdf、PDF 1頁）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小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7.4.1 入力データの反転（Reverse）｜入力文字列の順番を反転する</a:t>
            </a:r>
          </a:p>
          <a:p/>
          <a:p>
            <a:r>
              <a:t>話すポイント：</a:t>
            </a:r>
          </a:p>
          <a:p>
            <a:r>
              <a:t>パディング込みの7文字を逆順にするので、末尾にあった空白は先頭に移る。Reverseは問題文を書き換える前処理であり、答えを反転して学習する処理ではない。</a:t>
            </a:r>
          </a:p>
          <a:p>
            <a:r>
              <a:t>変更する箇所：入力の問題文だけを反転する。</a:t>
            </a:r>
          </a:p>
          <a:p>
            <a:r>
              <a:t>正解の答えは元の順番を使う。</a:t>
            </a:r>
          </a:p>
          <a:p>
            <a:r>
              <a:t>図の例：「57+5」を空白も含めて逆順にし、</a:t>
            </a:r>
          </a:p>
          <a:p>
            <a:r>
              <a:t>「5+75」を末尾側に置く。</a:t>
            </a:r>
          </a:p>
          <a:p>
            <a:r>
              <a:t>モデルの構造：EncoderとDecoderの構造は、</a:t>
            </a:r>
          </a:p>
          <a:p>
            <a:r>
              <a:t>通常のseq2seqと同じ。</a:t>
            </a:r>
          </a:p>
          <a:p/>
          <a:p>
            <a:r>
              <a:t>出典：斎藤康毅『ゼロから作るDeep Learning ❷ ―自然言語処理編』オライリー・ジャパン、第7章；図7-23　入力データを反転させる例｜p.311（IMG_20261016_0031.pdf、PDF 2頁）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小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7.4.1 入力データの反転（Reverse）｜Reverseは、配列のスライスで実装できる</a:t>
            </a:r>
          </a:p>
          <a:p/>
          <a:p>
            <a:r>
              <a:t>話すポイント：</a:t>
            </a:r>
          </a:p>
          <a:p>
            <a:r>
              <a:t>反転による改善効果はタスクによって異なる。本は、対応する先頭側の語への勾配伝播が短くなるという直感を説明している。全ての対応の距離が短くなるわけではなく、平均の距離も変わらないという説明にも触れる。</a:t>
            </a:r>
          </a:p>
          <a:p>
            <a:r>
              <a:t>反転する軸：[:, ::-1]で文字の順番だけを</a:t>
            </a:r>
          </a:p>
          <a:p>
            <a:r>
              <a:t>逆にする。問題の並びは保つ。</a:t>
            </a:r>
          </a:p>
          <a:p>
            <a:r>
              <a:t>学習と評価の両方：x_trainとx_testに、</a:t>
            </a:r>
          </a:p>
          <a:p>
            <a:r>
              <a:t>同じ前処理を適用する。</a:t>
            </a:r>
          </a:p>
          <a:p>
            <a:r>
              <a:t>勾配伝播の直感：対応する語・文字の距離が</a:t>
            </a:r>
          </a:p>
          <a:p>
            <a:r>
              <a:t>短くなる箇所ができる。</a:t>
            </a:r>
          </a:p>
          <a:p/>
          <a:p>
            <a:r>
              <a:t>出典：斎藤康毅『ゼロから作るDeep Learning ❷ ―自然言語処理編』オライリー・ジャパン、第7章；入力だけを反転するコード｜p.311（IMG_20261016_0031.pdf、PDF 2頁）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小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7.4.1 入力データの反転（Reverse）｜Reverseで正解率と学習速度が改善する</a:t>
            </a:r>
          </a:p>
          <a:p/>
          <a:p>
            <a:r>
              <a:t>話すポイント：</a:t>
            </a:r>
          </a:p>
          <a:p>
            <a:r>
              <a:t>図は書籍の比較であり、今回の実測の54.06%とは区別する。本の本文では25エポックで50%程度と説明されている。Reverseは重みの数を増やさずに使える工夫である。</a:t>
            </a:r>
          </a:p>
          <a:p>
            <a:r>
              <a:t>書籍の比較：青がbaseline、</a:t>
            </a:r>
          </a:p>
          <a:p>
            <a:r>
              <a:t>橙が入力を反転したreverse。</a:t>
            </a:r>
          </a:p>
          <a:p>
            <a:r>
              <a:t>改善の効果：入力を反転しただけで、</a:t>
            </a:r>
          </a:p>
          <a:p>
            <a:r>
              <a:t>25エポックの正解率が約50%へ。</a:t>
            </a:r>
          </a:p>
          <a:p>
            <a:r>
              <a:t>残る課題：さらにEncoderの情報を</a:t>
            </a:r>
          </a:p>
          <a:p>
            <a:r>
              <a:t>活用する方法を考える。</a:t>
            </a:r>
          </a:p>
          <a:p/>
          <a:p>
            <a:r>
              <a:t>出典：斎藤康毅『ゼロから作るDeep Learning ❷ ―自然言語処理編』オライリー・ジャパン、第7章；図7-24　Reverseによる改善（書籍）｜p.312（IMG_20261016_0032.pdf、PDF 1頁）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小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7.4.2 覗き見（Peeky）｜通常はhを最初のLSTMにだけ渡していた</a:t>
            </a:r>
          </a:p>
          <a:p/>
          <a:p>
            <a:r>
              <a:t>話すポイント：</a:t>
            </a:r>
          </a:p>
          <a:p>
            <a:r>
              <a:t>図7-25は改善前の構造。hそのものを後のAffineやLSTMの入力に直接連結しているわけではない。時間方向に伝わる情報だけに頼らず、他のレイヤにもhを見せるという考え方に進む。</a:t>
            </a:r>
          </a:p>
          <a:p>
            <a:r>
              <a:t>通常の受け渡し：Encoderのhは、Decoderの</a:t>
            </a:r>
          </a:p>
          <a:p>
            <a:r>
              <a:t>初期隠れ状態に設定される。</a:t>
            </a:r>
          </a:p>
          <a:p>
            <a:r>
              <a:t>その後の時刻：hの情報は、LSTMの</a:t>
            </a:r>
          </a:p>
          <a:p>
            <a:r>
              <a:t>時間方向のつながりで伝わる。</a:t>
            </a:r>
          </a:p>
          <a:p>
            <a:r>
              <a:t>改善の着眼点：重要な情報hを、</a:t>
            </a:r>
          </a:p>
          <a:p>
            <a:r>
              <a:t>各時刻で直接参照できないか。</a:t>
            </a:r>
          </a:p>
          <a:p/>
          <a:p>
            <a:r>
              <a:t>出典：斎藤康毅『ゼロから作るDeep Learning ❷ ―自然言語処理編』オライリー・ジャパン、第7章；図7-25　通常のseq2seq｜p.313（IMG_20261016_0032.pdf、PDF 2頁）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小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7.4.2 覗き見（Peeky）｜各時刻のLSTMとAffineに、hを直接渡す</a:t>
            </a:r>
          </a:p>
          <a:p/>
          <a:p>
            <a:r>
              <a:t>話すポイント：</a:t>
            </a:r>
          </a:p>
          <a:p>
            <a:r>
              <a:t>図のhから分岐する線をたどる。LSTMの初期状態に設定するだけでなく、各時刻の入力と出力側にhを連結する。hの情報を各レイヤが共有できる構造になる。</a:t>
            </a:r>
          </a:p>
          <a:p>
            <a:r>
              <a:t>Peeky Decoder：全時刻のLSTMとAffineに、</a:t>
            </a:r>
          </a:p>
          <a:p>
            <a:r>
              <a:t>Encoderのhを与える。</a:t>
            </a:r>
          </a:p>
          <a:p>
            <a:r>
              <a:t>「覗き見」の意味：生成中も、入力文の情報を</a:t>
            </a:r>
          </a:p>
          <a:p>
            <a:r>
              <a:t>各レイヤが直接参照できる。</a:t>
            </a:r>
          </a:p>
          <a:p>
            <a:r>
              <a:t>Encoder：Encoderの実装は、</a:t>
            </a:r>
          </a:p>
          <a:p>
            <a:r>
              <a:t>そのまま再利用できる。</a:t>
            </a:r>
          </a:p>
          <a:p/>
          <a:p>
            <a:r>
              <a:t>出典：斎藤康毅『ゼロから作るDeep Learning ❷ ―自然言語処理編』オライリー・ジャパン、第7章；図7-26　Encoderのhを各時刻へ渡す｜p.314（IMG_20261016_0032.pdf、PDF 3頁）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小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7.4.2 覗き見（Peeky）｜2本の入力は、ベクトルを連結して渡す</a:t>
            </a:r>
          </a:p>
          <a:p/>
          <a:p>
            <a:r>
              <a:t>話すポイント：</a:t>
            </a:r>
          </a:p>
          <a:p>
            <a:r>
              <a:t>2つのベクトルを足し合わせるのではなく、次元をつなげる点を説明する。入力の次元が増えるので、通常のDecoderから重みの形状も変更する必要がある。</a:t>
            </a:r>
          </a:p>
          <a:p>
            <a:r>
              <a:t>concatで連結：hと、もう一方の入力を</a:t>
            </a:r>
          </a:p>
          <a:p>
            <a:r>
              <a:t>特徴量の方向に並べる。</a:t>
            </a:r>
          </a:p>
          <a:p>
            <a:r>
              <a:t>LSTMへの入力：文字ベクトルDとhのHを合わせ、</a:t>
            </a:r>
          </a:p>
          <a:p>
            <a:r>
              <a:t>入力はD+H次元となる。</a:t>
            </a:r>
          </a:p>
          <a:p>
            <a:r>
              <a:t>Affineへの入力：LSTMの出力HとhのHを合わせ、</a:t>
            </a:r>
          </a:p>
          <a:p>
            <a:r>
              <a:t>入力は2H次元となる。</a:t>
            </a:r>
          </a:p>
          <a:p/>
          <a:p>
            <a:r>
              <a:t>出典：斎藤康毅『ゼロから作るDeep Learning ❷ ―自然言語処理編』オライリー・ジャパン、第7章；図7-27　2つのベクトルの連結｜p.315（IMG_20261016_0032.pdf、PDF 4頁）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小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7.4.2 覗き見（Peeky）｜PeekyDecoder.__init__：重みの形を変える</a:t>
            </a:r>
          </a:p>
          <a:p/>
          <a:p>
            <a:r>
              <a:t>話すポイント：</a:t>
            </a:r>
          </a:p>
          <a:p>
            <a:r>
              <a:t>通常のLSTM入力重みは(D,4H)、Affineの重みは(H,V)。Peekyではその入力側の形が変化する。単に学習が良くなるだけでなく、重みの数が増えるという条件の違いも確認する。</a:t>
            </a:r>
          </a:p>
          <a:p>
            <a:r>
              <a:t>LSTMの入力重み：(D+H, 4H)の形にして、</a:t>
            </a:r>
          </a:p>
          <a:p>
            <a:r>
              <a:t>hの追加分を受け取る。</a:t>
            </a:r>
          </a:p>
          <a:p>
            <a:r>
              <a:t>Affineの重み：(2H, V)の形にして、</a:t>
            </a:r>
          </a:p>
          <a:p>
            <a:r>
              <a:t>連結した2つのベクトルを使う。</a:t>
            </a:r>
          </a:p>
          <a:p>
            <a:r>
              <a:t>計算量との関係：連結でパラメータ数が増え、</a:t>
            </a:r>
          </a:p>
          <a:p>
            <a:r>
              <a:t>計算量も大きくなる。</a:t>
            </a:r>
          </a:p>
          <a:p/>
          <a:p>
            <a:r>
              <a:t>出典：斎藤康毅『ゼロから作るDeep Learning ❷ ―自然言語処理編』オライリー・ジャパン、第7章；PeekyDecoder.__init__｜p.315（IMG_20261016_0032.pdf、PDF 4頁）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小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7.4.2 覗き見（Peeky）｜PeekyDecoder.forward：hを全時刻へ複製</a:t>
            </a:r>
          </a:p>
          <a:p/>
          <a:p>
            <a:r>
              <a:t>話すポイント：</a:t>
            </a:r>
          </a:p>
          <a:p>
            <a:r>
              <a:t>画像は前ページから続くforwardの本文。hsの元になるhは同一の値を各時刻に複製したもの。axis=2は時系列の軸ではなく、特徴量の次元を表す。最初のset_state(h)も残っていることを確認する。</a:t>
            </a:r>
          </a:p>
          <a:p>
            <a:r>
              <a:t>hを並べる：np.repeatとreshapeで、</a:t>
            </a:r>
          </a:p>
          <a:p>
            <a:r>
              <a:t>(N, T, H)のhsを作る。</a:t>
            </a:r>
          </a:p>
          <a:p>
            <a:r>
              <a:t>2回の連結：Embedding後とLSTM後に、</a:t>
            </a:r>
          </a:p>
          <a:p>
            <a:r>
              <a:t>hsをaxis=2で連結する。</a:t>
            </a:r>
          </a:p>
          <a:p>
            <a:r>
              <a:t>スコアを返す：連結したベクトルにAffineを適用。</a:t>
            </a:r>
          </a:p>
          <a:p>
            <a:r>
              <a:t>逆伝播用にHを保存する。</a:t>
            </a:r>
          </a:p>
          <a:p/>
          <a:p>
            <a:r>
              <a:t>出典：斎藤康毅『ゼロから作るDeep Learning ❷ ―自然言語処理編』オライリー・ジャパン、第7章；PeekyDecoder.forward（続き）｜p.316（IMG_20261016_0032.pdf、PDF 5頁）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小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7.4.2 覗き見（Peeky）｜Peekyの逆伝播と生成で変わる箇所</a:t>
            </a:r>
          </a:p>
          <a:p/>
          <a:p>
            <a:r>
              <a:t>話すポイント：</a:t>
            </a:r>
          </a:p>
          <a:p>
            <a:r>
              <a:t>左のコードはユーザー提供peeky_seq2seq.pyの該当行の抜粋であり、完全なメソッドではない。逆伝播ではAffine側とLSTM側の連結を分割した後、複製されたhへの勾配を時間方向に合計する。さらに初期状態への勾配self.lstm.dhを足す。生成時も、各時刻でhを連結する点は学習時と同じ。</a:t>
            </a:r>
          </a:p>
          <a:p/>
          <a:p>
            <a:r>
              <a:t>出典：添付 peeky_seq2seq.py：PeekyDecoder.backward / generate</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小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7.4.2 覗き見（Peeky）｜ReverseとPeekyを組み合わせた結果</a:t>
            </a:r>
          </a:p>
          <a:p/>
          <a:p>
            <a:r>
              <a:t>話すポイント：</a:t>
            </a:r>
          </a:p>
          <a:p>
            <a:r>
              <a:t>この図は書籍の図7-28。パラメータ数の増加も含む改善である。今回の実験で測定した結果は次のスライドで示す。PeekyとReverseの効果が全てのタスクで同じとは限らない。</a:t>
            </a:r>
          </a:p>
          <a:p>
            <a:r>
              <a:t>書籍の比較：baseline、reverse、</a:t>
            </a:r>
          </a:p>
          <a:p>
            <a:r>
              <a:t>reverse＋peekyを比較する。</a:t>
            </a:r>
          </a:p>
          <a:p>
            <a:r>
              <a:t>改善後の曲線：Reverse＋Peekyでは、</a:t>
            </a:r>
          </a:p>
          <a:p>
            <a:r>
              <a:t>10エポック過ぎで90%超へ。</a:t>
            </a:r>
          </a:p>
          <a:p>
            <a:r>
              <a:t>確認するポイント：正解率だけでなく、</a:t>
            </a:r>
          </a:p>
          <a:p>
            <a:r>
              <a:t>学習の進み方も大きく変わる。</a:t>
            </a:r>
          </a:p>
          <a:p/>
          <a:p>
            <a:r>
              <a:t>出典：斎藤康毅『ゼロから作るDeep Learning ❷ ―自然言語処理編』オライリー・ジャパン、第7章；図7-28　Reverse＋Peekyの正解率（書籍）｜p.317（IMG_20261016_0032.pdf、PDF 6頁）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小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7.4.2 覗き見（Peeky）｜添付コードの実行結果：同じ25エポックで比較</a:t>
            </a:r>
          </a:p>
          <a:p/>
          <a:p>
            <a:r>
              <a:t>話すポイント：</a:t>
            </a:r>
          </a:p>
          <a:p>
            <a:r>
              <a:t>このスライドだけは今回の環境で実行した3モデルの結果であり、教科書の曲線ではない。seed1984、学習45,000件・評価5,000件、D16、H128、バッチ128、Adam、勾配クリッピング5、各25エポック。通常版519問、Reverse2703問、Reverse＋Peeky4940問が正解。評価値は答え全体の完全一致率である。異なる初期値や分割、未知の桁数への汎化は比較していない。</a:t>
            </a:r>
          </a:p>
          <a:p/>
          <a:p>
            <a:r>
              <a:t>出典：今回の実測：results/normal/metrics.json、results/reverse/metrics.json、results/peeky/metrics.json</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小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7.5.1 チャットボット｜相手の発言から、自分の返答を生成する</a:t>
            </a:r>
          </a:p>
          <a:p/>
          <a:p>
            <a:r>
              <a:t>話すポイント：</a:t>
            </a:r>
          </a:p>
          <a:p>
            <a:r>
              <a:t>図7-29は書籍が研究文献から引用し、日本語に翻訳して示した会話例。本環境でチャットボットを学習・実行した結果ではない。特定の分野の対話データから発言と返答の対応を学ぶ応用を説明する。</a:t>
            </a:r>
          </a:p>
          <a:p>
            <a:r>
              <a:t>系列の対応：相手の発言を入力し、</a:t>
            </a:r>
          </a:p>
          <a:p>
            <a:r>
              <a:t>返答の文章を出力する。</a:t>
            </a:r>
          </a:p>
          <a:p>
            <a:r>
              <a:t>学習データ：会話の発言と返答の組を、</a:t>
            </a:r>
          </a:p>
          <a:p>
            <a:r>
              <a:t>教師データとして学習する。</a:t>
            </a:r>
          </a:p>
          <a:p>
            <a:r>
              <a:t>書籍の例：ITヘルプデスクで、</a:t>
            </a:r>
          </a:p>
          <a:p>
            <a:r>
              <a:t>VPN接続の問題に対応している。</a:t>
            </a:r>
          </a:p>
          <a:p/>
          <a:p>
            <a:r>
              <a:t>出典：斎藤康毅『ゼロから作るDeep Learning ❷ ―自然言語処理編』オライリー・ジャパン、第7章；図7-29　チャットボットの会話例｜p.319（IMG_20261016_0032.pdf、PDF 8頁）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小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7.5.2 アルゴリズムの学習｜プログラムから、実行結果を予測する</a:t>
            </a:r>
          </a:p>
          <a:p/>
          <a:p>
            <a:r>
              <a:t>話すポイント：</a:t>
            </a:r>
          </a:p>
          <a:p>
            <a:r>
              <a:t>書籍が紹介する研究例であり、コードを解析・実行するPythonインタプリタをそのまま実装する話ではない。本章の加算モデルが、図のような任意のプログラムを完全に実行できるという意味ではない。</a:t>
            </a:r>
          </a:p>
          <a:p>
            <a:r>
              <a:t>入力も文字列：Pythonコードも文字で書かれた</a:t>
            </a:r>
          </a:p>
          <a:p>
            <a:r>
              <a:t>系列として扱える。</a:t>
            </a:r>
          </a:p>
          <a:p>
            <a:r>
              <a:t>出力との組：コードと実行結果の組から、</a:t>
            </a:r>
          </a:p>
          <a:p>
            <a:r>
              <a:t>対応を学習させる。</a:t>
            </a:r>
          </a:p>
          <a:p>
            <a:r>
              <a:t>より難しい課題：for文やif文を含む計算へも、</a:t>
            </a:r>
          </a:p>
          <a:p>
            <a:r>
              <a:t>対象を広げられる。</a:t>
            </a:r>
          </a:p>
          <a:p/>
          <a:p>
            <a:r>
              <a:t>出典：斎藤康毅『ゼロから作るDeep Learning ❷ ―自然言語処理編』オライリー・ジャパン、第7章；図7-30　Pythonコードを入力とする例｜p.320（IMG_20261016_0032.pdf、PDF 9頁）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小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7.5.3 イメージキャプション｜画像を入力し、説明文を生成する</a:t>
            </a:r>
          </a:p>
          <a:p/>
          <a:p>
            <a:r>
              <a:t>話すポイント：</a:t>
            </a:r>
          </a:p>
          <a:p>
            <a:r>
              <a:t>Encoderが画像を扱うCNNに変わる。CNNの特徴マップをベクトルにして全結合のAffineを通し、DecoderのLSTMへ渡す。本にはVGGやResNet、ImageNetの学習済みネットワークの活用にも言及がある。</a:t>
            </a:r>
          </a:p>
          <a:p>
            <a:r>
              <a:t>画像のEncoder：LSTMの代わりにCNNを使い、</a:t>
            </a:r>
          </a:p>
          <a:p>
            <a:r>
              <a:t>画像の特徴を抽出する。</a:t>
            </a:r>
          </a:p>
          <a:p>
            <a:r>
              <a:t>次元をそろえる：特徴を平坦化し、Affineで</a:t>
            </a:r>
          </a:p>
          <a:p>
            <a:r>
              <a:t>Decoderに渡せる形にする。</a:t>
            </a:r>
          </a:p>
          <a:p>
            <a:r>
              <a:t>文章のDecoder：画像の情報を初期状態として、</a:t>
            </a:r>
          </a:p>
          <a:p>
            <a:r>
              <a:t>説明文を1語ずつ生成する。</a:t>
            </a:r>
          </a:p>
          <a:p/>
          <a:p>
            <a:r>
              <a:t>出典：斎藤康毅『ゼロから作るDeep Learning ❷ ―自然言語処理編』オライリー・ジャパン、第7章；図7-31　イメージキャプションのネットワーク｜p.321（IMG_20261016_0032.pdf、PDF 10頁）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小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7.5.3 イメージキャプション｜画像と説明文の組から学習する</a:t>
            </a:r>
          </a:p>
          <a:p/>
          <a:p>
            <a:r>
              <a:t>話すポイント：</a:t>
            </a:r>
          </a:p>
          <a:p>
            <a:r>
              <a:t>4例の画像と英文はユーザー提供PDFの図7-32そのものを切り出した。書籍が紹介するTensorFlowのim2txtによる例であり、今回の環境で生成した画像説明ではない。</a:t>
            </a:r>
          </a:p>
          <a:p>
            <a:r>
              <a:t>書籍の生成例：凧を揚げる人、列車、スキー、</a:t>
            </a:r>
          </a:p>
          <a:p>
            <a:r>
              <a:t>キリンの画像に文が付く。</a:t>
            </a:r>
          </a:p>
          <a:p>
            <a:r>
              <a:t>必要な学習データ：画像と、その内容を説明する</a:t>
            </a:r>
          </a:p>
          <a:p>
            <a:r>
              <a:t>文章を対にして用意する。</a:t>
            </a:r>
          </a:p>
          <a:p>
            <a:r>
              <a:t>seq2seqの広がり：Encoderを変えると、</a:t>
            </a:r>
          </a:p>
          <a:p>
            <a:r>
              <a:t>文字以外の入力も扱える。</a:t>
            </a:r>
          </a:p>
          <a:p/>
          <a:p>
            <a:r>
              <a:t>出典：斎藤康毅『ゼロから作るDeep Learning ❷ ―自然言語処理編』オライリー・ジャパン、第7章；図7-32　イメージキャプションの例｜p.322（IMG_20261016_0032.pdf、PDF 11頁）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小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7.6 まとめ｜文章生成から、系列を変換するモデルへ</a:t>
            </a:r>
          </a:p>
          <a:p/>
          <a:p>
            <a:r>
              <a:t>話すポイント：</a:t>
            </a:r>
          </a:p>
          <a:p>
            <a:r>
              <a:t>最後は本章で学んだ要点を4つにまとめる。文章生成、Encoder–Decoder、加算課題による評価、ReverseとPeekyの改善である。次章は固定長のhだけに頼る制約を改善するAttentionに進む。</a:t>
            </a:r>
          </a:p>
          <a:p/>
          <a:p>
            <a:r>
              <a:t>出典：斎藤康毅『ゼロから作るDeep Learning ❷ ―自然言語処理編』オライリー・ジャパン、第7章、p.323</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小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出典｜教科書・使用したコード・書式</a:t>
            </a:r>
          </a:p>
          <a:p/>
          <a:p>
            <a:r>
              <a:t>話すポイント：</a:t>
            </a:r>
          </a:p>
          <a:p>
            <a:r>
              <a:t>教科書の図・表・コードは、ユーザーが提供したPDFの該当箇所を切り出して配置した。各ページの下部と発表者ノートに図番号、印刷ページ番号、PDF名を記載。画像の読みにくい部分は横の説明文で補っている。7章の添付コードは改変せずに実行し、別の実行用ラッパーで比較条件をそろえた。書式は2種類の参考資料それぞれのテーマとマスターを継承した。</a:t>
            </a:r>
          </a:p>
          <a:p/>
          <a:p>
            <a:r>
              <a:t>出典：斎藤康毅『ゼロから作るDeep Learning ❷ ―自然言語処理編』オライリー・ジャパン、第7章；ユーザー提供PDF・Pythonコード・参考PPTX</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小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8F802FE-8CC3-A433-0203-45F83F5DB820}"/>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34DFDE46-8EA7-62F1-235D-70ED162C3C9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4599CE59-8AD6-7CFD-3B47-5357E48E8CDE}"/>
              </a:ext>
            </a:extLst>
          </p:cNvPr>
          <p:cNvSpPr>
            <a:spLocks noGrp="1"/>
          </p:cNvSpPr>
          <p:nvPr>
            <p:ph type="dt" sz="half" idx="10"/>
          </p:nvPr>
        </p:nvSpPr>
        <p:spPr/>
        <p:txBody>
          <a:bodyPr/>
          <a:lstStyle/>
          <a:p>
            <a:fld id="{A5417D00-1B28-4D29-AA81-767BB4CE3AC2}" type="datetimeFigureOut">
              <a:rPr kumimoji="1" lang="ja-JP" altLang="en-US" smtClean="0"/>
              <a:t>2026/10/14</a:t>
            </a:fld>
            <a:endParaRPr kumimoji="1" lang="ja-JP" altLang="en-US"/>
          </a:p>
        </p:txBody>
      </p:sp>
      <p:sp>
        <p:nvSpPr>
          <p:cNvPr id="5" name="フッター プレースホルダー 4">
            <a:extLst>
              <a:ext uri="{FF2B5EF4-FFF2-40B4-BE49-F238E27FC236}">
                <a16:creationId xmlns:a16="http://schemas.microsoft.com/office/drawing/2014/main" id="{F229B88E-451E-E8F0-ED21-BEB1896431A2}"/>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0B503D6-7F1C-18A5-CD2B-E3204C7CF21F}"/>
              </a:ext>
            </a:extLst>
          </p:cNvPr>
          <p:cNvSpPr>
            <a:spLocks noGrp="1"/>
          </p:cNvSpPr>
          <p:nvPr>
            <p:ph type="sldNum" sz="quarter" idx="12"/>
          </p:nvPr>
        </p:nvSpPr>
        <p:spPr/>
        <p:txBody>
          <a:bodyPr/>
          <a:lstStyle/>
          <a:p>
            <a:fld id="{F11DD124-2DF2-4F11-98EA-DA5F6DCD9587}" type="slidenum">
              <a:rPr kumimoji="1" lang="ja-JP" altLang="en-US" smtClean="0"/>
              <a:t>‹#›</a:t>
            </a:fld>
            <a:endParaRPr kumimoji="1" lang="ja-JP" altLang="en-US"/>
          </a:p>
        </p:txBody>
      </p:sp>
    </p:spTree>
    <p:extLst>
      <p:ext uri="{BB962C8B-B14F-4D97-AF65-F5344CB8AC3E}">
        <p14:creationId xmlns:p14="http://schemas.microsoft.com/office/powerpoint/2010/main" val="41276605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FCAD4DF-5080-900A-1EA6-9BA673B292EE}"/>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4A471F03-0E43-F4D2-2CF5-CD7DADD0925E}"/>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3114938-290B-1E50-C2F9-1C112EF9AAE3}"/>
              </a:ext>
            </a:extLst>
          </p:cNvPr>
          <p:cNvSpPr>
            <a:spLocks noGrp="1"/>
          </p:cNvSpPr>
          <p:nvPr>
            <p:ph type="dt" sz="half" idx="10"/>
          </p:nvPr>
        </p:nvSpPr>
        <p:spPr/>
        <p:txBody>
          <a:bodyPr/>
          <a:lstStyle/>
          <a:p>
            <a:fld id="{A5417D00-1B28-4D29-AA81-767BB4CE3AC2}" type="datetimeFigureOut">
              <a:rPr kumimoji="1" lang="ja-JP" altLang="en-US" smtClean="0"/>
              <a:t>2026/10/14</a:t>
            </a:fld>
            <a:endParaRPr kumimoji="1" lang="ja-JP" altLang="en-US"/>
          </a:p>
        </p:txBody>
      </p:sp>
      <p:sp>
        <p:nvSpPr>
          <p:cNvPr id="5" name="フッター プレースホルダー 4">
            <a:extLst>
              <a:ext uri="{FF2B5EF4-FFF2-40B4-BE49-F238E27FC236}">
                <a16:creationId xmlns:a16="http://schemas.microsoft.com/office/drawing/2014/main" id="{CB271733-5DA9-A254-EC3E-451C7E2F8D7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62DC6C62-4456-EFF6-5E13-B389160A6152}"/>
              </a:ext>
            </a:extLst>
          </p:cNvPr>
          <p:cNvSpPr>
            <a:spLocks noGrp="1"/>
          </p:cNvSpPr>
          <p:nvPr>
            <p:ph type="sldNum" sz="quarter" idx="12"/>
          </p:nvPr>
        </p:nvSpPr>
        <p:spPr/>
        <p:txBody>
          <a:bodyPr/>
          <a:lstStyle/>
          <a:p>
            <a:fld id="{F11DD124-2DF2-4F11-98EA-DA5F6DCD9587}" type="slidenum">
              <a:rPr kumimoji="1" lang="ja-JP" altLang="en-US" smtClean="0"/>
              <a:t>‹#›</a:t>
            </a:fld>
            <a:endParaRPr kumimoji="1" lang="ja-JP" altLang="en-US"/>
          </a:p>
        </p:txBody>
      </p:sp>
    </p:spTree>
    <p:extLst>
      <p:ext uri="{BB962C8B-B14F-4D97-AF65-F5344CB8AC3E}">
        <p14:creationId xmlns:p14="http://schemas.microsoft.com/office/powerpoint/2010/main" val="25046776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11ADCD6-A8C3-A718-58A9-39DC1D6D1A0B}"/>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C7C5D45-79DD-3597-6912-E7EBBBF8155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2A0F0CF1-248D-9721-8C14-4D8F7DFBCEA7}"/>
              </a:ext>
            </a:extLst>
          </p:cNvPr>
          <p:cNvSpPr>
            <a:spLocks noGrp="1"/>
          </p:cNvSpPr>
          <p:nvPr>
            <p:ph type="dt" sz="half" idx="10"/>
          </p:nvPr>
        </p:nvSpPr>
        <p:spPr/>
        <p:txBody>
          <a:bodyPr/>
          <a:lstStyle/>
          <a:p>
            <a:fld id="{A5417D00-1B28-4D29-AA81-767BB4CE3AC2}" type="datetimeFigureOut">
              <a:rPr kumimoji="1" lang="ja-JP" altLang="en-US" smtClean="0"/>
              <a:t>2026/10/14</a:t>
            </a:fld>
            <a:endParaRPr kumimoji="1" lang="ja-JP" altLang="en-US"/>
          </a:p>
        </p:txBody>
      </p:sp>
      <p:sp>
        <p:nvSpPr>
          <p:cNvPr id="5" name="フッター プレースホルダー 4">
            <a:extLst>
              <a:ext uri="{FF2B5EF4-FFF2-40B4-BE49-F238E27FC236}">
                <a16:creationId xmlns:a16="http://schemas.microsoft.com/office/drawing/2014/main" id="{3C6D8759-7605-9C6F-6BE7-CCE5BC141F8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61A5EC12-3EE1-351A-E119-6206707B770B}"/>
              </a:ext>
            </a:extLst>
          </p:cNvPr>
          <p:cNvSpPr>
            <a:spLocks noGrp="1"/>
          </p:cNvSpPr>
          <p:nvPr>
            <p:ph type="sldNum" sz="quarter" idx="12"/>
          </p:nvPr>
        </p:nvSpPr>
        <p:spPr/>
        <p:txBody>
          <a:bodyPr/>
          <a:lstStyle/>
          <a:p>
            <a:fld id="{F11DD124-2DF2-4F11-98EA-DA5F6DCD9587}" type="slidenum">
              <a:rPr kumimoji="1" lang="ja-JP" altLang="en-US" smtClean="0"/>
              <a:t>‹#›</a:t>
            </a:fld>
            <a:endParaRPr kumimoji="1" lang="ja-JP" altLang="en-US"/>
          </a:p>
        </p:txBody>
      </p:sp>
    </p:spTree>
    <p:extLst>
      <p:ext uri="{BB962C8B-B14F-4D97-AF65-F5344CB8AC3E}">
        <p14:creationId xmlns:p14="http://schemas.microsoft.com/office/powerpoint/2010/main" val="17846412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65CF8D6-1E74-6EBB-1D89-806E786FAA71}"/>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1CBC998-85BE-C9CD-2033-65988EE154E0}"/>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342B0096-2937-B5E5-5B22-7EEC6E16F49B}"/>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5EAFB827-E9DE-9C1E-5D31-ADF3BFC9BA38}"/>
              </a:ext>
            </a:extLst>
          </p:cNvPr>
          <p:cNvSpPr>
            <a:spLocks noGrp="1"/>
          </p:cNvSpPr>
          <p:nvPr>
            <p:ph type="dt" sz="half" idx="10"/>
          </p:nvPr>
        </p:nvSpPr>
        <p:spPr/>
        <p:txBody>
          <a:bodyPr/>
          <a:lstStyle/>
          <a:p>
            <a:fld id="{A5417D00-1B28-4D29-AA81-767BB4CE3AC2}" type="datetimeFigureOut">
              <a:rPr kumimoji="1" lang="ja-JP" altLang="en-US" smtClean="0"/>
              <a:t>2026/10/14</a:t>
            </a:fld>
            <a:endParaRPr kumimoji="1" lang="ja-JP" altLang="en-US"/>
          </a:p>
        </p:txBody>
      </p:sp>
      <p:sp>
        <p:nvSpPr>
          <p:cNvPr id="6" name="フッター プレースホルダー 5">
            <a:extLst>
              <a:ext uri="{FF2B5EF4-FFF2-40B4-BE49-F238E27FC236}">
                <a16:creationId xmlns:a16="http://schemas.microsoft.com/office/drawing/2014/main" id="{50B3AA0C-6CE4-F54C-AFD1-C3697F45D678}"/>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193D33DF-0A14-98D2-D37B-5BF761F6AB11}"/>
              </a:ext>
            </a:extLst>
          </p:cNvPr>
          <p:cNvSpPr>
            <a:spLocks noGrp="1"/>
          </p:cNvSpPr>
          <p:nvPr>
            <p:ph type="sldNum" sz="quarter" idx="12"/>
          </p:nvPr>
        </p:nvSpPr>
        <p:spPr/>
        <p:txBody>
          <a:bodyPr/>
          <a:lstStyle/>
          <a:p>
            <a:fld id="{F11DD124-2DF2-4F11-98EA-DA5F6DCD9587}" type="slidenum">
              <a:rPr kumimoji="1" lang="ja-JP" altLang="en-US" smtClean="0"/>
              <a:t>‹#›</a:t>
            </a:fld>
            <a:endParaRPr kumimoji="1" lang="ja-JP" altLang="en-US"/>
          </a:p>
        </p:txBody>
      </p:sp>
    </p:spTree>
    <p:extLst>
      <p:ext uri="{BB962C8B-B14F-4D97-AF65-F5344CB8AC3E}">
        <p14:creationId xmlns:p14="http://schemas.microsoft.com/office/powerpoint/2010/main" val="29527029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B8DF018-86E6-53F6-D14C-79A785FF8FC9}"/>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A369A4FC-E0C8-F3AB-9223-02AAD769C2C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BD46836B-124C-B3E3-6A74-E87F805430D6}"/>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3D652FC4-3E9C-4D90-3C8C-4CBB1705217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B70FFE8B-15BA-B5D9-3E5C-0CC4B8FEC064}"/>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9CB49808-85D5-85FB-1974-C18D680187F0}"/>
              </a:ext>
            </a:extLst>
          </p:cNvPr>
          <p:cNvSpPr>
            <a:spLocks noGrp="1"/>
          </p:cNvSpPr>
          <p:nvPr>
            <p:ph type="dt" sz="half" idx="10"/>
          </p:nvPr>
        </p:nvSpPr>
        <p:spPr/>
        <p:txBody>
          <a:bodyPr/>
          <a:lstStyle/>
          <a:p>
            <a:fld id="{A5417D00-1B28-4D29-AA81-767BB4CE3AC2}" type="datetimeFigureOut">
              <a:rPr kumimoji="1" lang="ja-JP" altLang="en-US" smtClean="0"/>
              <a:t>2026/10/14</a:t>
            </a:fld>
            <a:endParaRPr kumimoji="1" lang="ja-JP" altLang="en-US"/>
          </a:p>
        </p:txBody>
      </p:sp>
      <p:sp>
        <p:nvSpPr>
          <p:cNvPr id="8" name="フッター プレースホルダー 7">
            <a:extLst>
              <a:ext uri="{FF2B5EF4-FFF2-40B4-BE49-F238E27FC236}">
                <a16:creationId xmlns:a16="http://schemas.microsoft.com/office/drawing/2014/main" id="{8CC02887-4D26-CB00-09D4-710C11F16E0F}"/>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F6EC5300-C0CD-DC0F-7B6A-0E47B1D84F7B}"/>
              </a:ext>
            </a:extLst>
          </p:cNvPr>
          <p:cNvSpPr>
            <a:spLocks noGrp="1"/>
          </p:cNvSpPr>
          <p:nvPr>
            <p:ph type="sldNum" sz="quarter" idx="12"/>
          </p:nvPr>
        </p:nvSpPr>
        <p:spPr/>
        <p:txBody>
          <a:bodyPr/>
          <a:lstStyle/>
          <a:p>
            <a:fld id="{F11DD124-2DF2-4F11-98EA-DA5F6DCD9587}" type="slidenum">
              <a:rPr kumimoji="1" lang="ja-JP" altLang="en-US" smtClean="0"/>
              <a:t>‹#›</a:t>
            </a:fld>
            <a:endParaRPr kumimoji="1" lang="ja-JP" altLang="en-US"/>
          </a:p>
        </p:txBody>
      </p:sp>
    </p:spTree>
    <p:extLst>
      <p:ext uri="{BB962C8B-B14F-4D97-AF65-F5344CB8AC3E}">
        <p14:creationId xmlns:p14="http://schemas.microsoft.com/office/powerpoint/2010/main" val="10889731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ED8C2AA-7489-333E-A44B-5D4FF489D7D5}"/>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B42B982C-7E8C-CC72-0111-EE92BC72BC86}"/>
              </a:ext>
            </a:extLst>
          </p:cNvPr>
          <p:cNvSpPr>
            <a:spLocks noGrp="1"/>
          </p:cNvSpPr>
          <p:nvPr>
            <p:ph type="dt" sz="half" idx="10"/>
          </p:nvPr>
        </p:nvSpPr>
        <p:spPr/>
        <p:txBody>
          <a:bodyPr/>
          <a:lstStyle/>
          <a:p>
            <a:fld id="{A5417D00-1B28-4D29-AA81-767BB4CE3AC2}" type="datetimeFigureOut">
              <a:rPr kumimoji="1" lang="ja-JP" altLang="en-US" smtClean="0"/>
              <a:t>2026/10/14</a:t>
            </a:fld>
            <a:endParaRPr kumimoji="1" lang="ja-JP" altLang="en-US"/>
          </a:p>
        </p:txBody>
      </p:sp>
      <p:sp>
        <p:nvSpPr>
          <p:cNvPr id="4" name="フッター プレースホルダー 3">
            <a:extLst>
              <a:ext uri="{FF2B5EF4-FFF2-40B4-BE49-F238E27FC236}">
                <a16:creationId xmlns:a16="http://schemas.microsoft.com/office/drawing/2014/main" id="{33696B5B-41E2-7B8B-0A9C-3C48669397D6}"/>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E7E80927-CBB6-DE06-FBF3-845DB84153DC}"/>
              </a:ext>
            </a:extLst>
          </p:cNvPr>
          <p:cNvSpPr>
            <a:spLocks noGrp="1"/>
          </p:cNvSpPr>
          <p:nvPr>
            <p:ph type="sldNum" sz="quarter" idx="12"/>
          </p:nvPr>
        </p:nvSpPr>
        <p:spPr/>
        <p:txBody>
          <a:bodyPr/>
          <a:lstStyle/>
          <a:p>
            <a:fld id="{F11DD124-2DF2-4F11-98EA-DA5F6DCD9587}" type="slidenum">
              <a:rPr kumimoji="1" lang="ja-JP" altLang="en-US" smtClean="0"/>
              <a:t>‹#›</a:t>
            </a:fld>
            <a:endParaRPr kumimoji="1" lang="ja-JP" altLang="en-US"/>
          </a:p>
        </p:txBody>
      </p:sp>
    </p:spTree>
    <p:extLst>
      <p:ext uri="{BB962C8B-B14F-4D97-AF65-F5344CB8AC3E}">
        <p14:creationId xmlns:p14="http://schemas.microsoft.com/office/powerpoint/2010/main" val="233261427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407AB736-EC04-9082-10D0-C98BD9A9A008}"/>
              </a:ext>
            </a:extLst>
          </p:cNvPr>
          <p:cNvSpPr>
            <a:spLocks noGrp="1"/>
          </p:cNvSpPr>
          <p:nvPr>
            <p:ph type="dt" sz="half" idx="10"/>
          </p:nvPr>
        </p:nvSpPr>
        <p:spPr/>
        <p:txBody>
          <a:bodyPr/>
          <a:lstStyle/>
          <a:p>
            <a:fld id="{A5417D00-1B28-4D29-AA81-767BB4CE3AC2}" type="datetimeFigureOut">
              <a:rPr kumimoji="1" lang="ja-JP" altLang="en-US" smtClean="0"/>
              <a:t>2026/10/14</a:t>
            </a:fld>
            <a:endParaRPr kumimoji="1" lang="ja-JP" altLang="en-US"/>
          </a:p>
        </p:txBody>
      </p:sp>
      <p:sp>
        <p:nvSpPr>
          <p:cNvPr id="3" name="フッター プレースホルダー 2">
            <a:extLst>
              <a:ext uri="{FF2B5EF4-FFF2-40B4-BE49-F238E27FC236}">
                <a16:creationId xmlns:a16="http://schemas.microsoft.com/office/drawing/2014/main" id="{3CB9D34F-FF2C-B0C5-7954-F4678B467845}"/>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5A212C62-BB11-1204-9E44-519EF9B58B18}"/>
              </a:ext>
            </a:extLst>
          </p:cNvPr>
          <p:cNvSpPr>
            <a:spLocks noGrp="1"/>
          </p:cNvSpPr>
          <p:nvPr>
            <p:ph type="sldNum" sz="quarter" idx="12"/>
          </p:nvPr>
        </p:nvSpPr>
        <p:spPr/>
        <p:txBody>
          <a:bodyPr/>
          <a:lstStyle/>
          <a:p>
            <a:fld id="{F11DD124-2DF2-4F11-98EA-DA5F6DCD9587}" type="slidenum">
              <a:rPr kumimoji="1" lang="ja-JP" altLang="en-US" smtClean="0"/>
              <a:t>‹#›</a:t>
            </a:fld>
            <a:endParaRPr kumimoji="1" lang="ja-JP" altLang="en-US"/>
          </a:p>
        </p:txBody>
      </p:sp>
    </p:spTree>
    <p:extLst>
      <p:ext uri="{BB962C8B-B14F-4D97-AF65-F5344CB8AC3E}">
        <p14:creationId xmlns:p14="http://schemas.microsoft.com/office/powerpoint/2010/main" val="14222058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44DF801-64EF-A606-E7D7-07B9F36632E2}"/>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6E261AD3-C66D-14E6-BE7E-051903CE410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88557DCE-4A73-C6CA-67ED-C366C5B456C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26E2B489-8A95-0303-EB03-1CCC4A49C2AD}"/>
              </a:ext>
            </a:extLst>
          </p:cNvPr>
          <p:cNvSpPr>
            <a:spLocks noGrp="1"/>
          </p:cNvSpPr>
          <p:nvPr>
            <p:ph type="dt" sz="half" idx="10"/>
          </p:nvPr>
        </p:nvSpPr>
        <p:spPr/>
        <p:txBody>
          <a:bodyPr/>
          <a:lstStyle/>
          <a:p>
            <a:fld id="{A5417D00-1B28-4D29-AA81-767BB4CE3AC2}" type="datetimeFigureOut">
              <a:rPr kumimoji="1" lang="ja-JP" altLang="en-US" smtClean="0"/>
              <a:t>2026/10/14</a:t>
            </a:fld>
            <a:endParaRPr kumimoji="1" lang="ja-JP" altLang="en-US"/>
          </a:p>
        </p:txBody>
      </p:sp>
      <p:sp>
        <p:nvSpPr>
          <p:cNvPr id="6" name="フッター プレースホルダー 5">
            <a:extLst>
              <a:ext uri="{FF2B5EF4-FFF2-40B4-BE49-F238E27FC236}">
                <a16:creationId xmlns:a16="http://schemas.microsoft.com/office/drawing/2014/main" id="{EEB68833-2A04-02AB-F102-0A9F051F863E}"/>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05FEB380-D66B-F700-727C-27AD0B870DF9}"/>
              </a:ext>
            </a:extLst>
          </p:cNvPr>
          <p:cNvSpPr>
            <a:spLocks noGrp="1"/>
          </p:cNvSpPr>
          <p:nvPr>
            <p:ph type="sldNum" sz="quarter" idx="12"/>
          </p:nvPr>
        </p:nvSpPr>
        <p:spPr/>
        <p:txBody>
          <a:bodyPr/>
          <a:lstStyle/>
          <a:p>
            <a:fld id="{F11DD124-2DF2-4F11-98EA-DA5F6DCD9587}" type="slidenum">
              <a:rPr kumimoji="1" lang="ja-JP" altLang="en-US" smtClean="0"/>
              <a:t>‹#›</a:t>
            </a:fld>
            <a:endParaRPr kumimoji="1" lang="ja-JP" altLang="en-US"/>
          </a:p>
        </p:txBody>
      </p:sp>
    </p:spTree>
    <p:extLst>
      <p:ext uri="{BB962C8B-B14F-4D97-AF65-F5344CB8AC3E}">
        <p14:creationId xmlns:p14="http://schemas.microsoft.com/office/powerpoint/2010/main" val="29563106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040ECEB-67E8-D6DB-E7BC-341A76D60B6A}"/>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CE512265-1CA3-D0FE-2637-C7518D9DD92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6AD490C1-36FC-76CE-5B59-D10A12791C8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4B4902CB-95B2-C529-46F7-A7DDB98104FB}"/>
              </a:ext>
            </a:extLst>
          </p:cNvPr>
          <p:cNvSpPr>
            <a:spLocks noGrp="1"/>
          </p:cNvSpPr>
          <p:nvPr>
            <p:ph type="dt" sz="half" idx="10"/>
          </p:nvPr>
        </p:nvSpPr>
        <p:spPr/>
        <p:txBody>
          <a:bodyPr/>
          <a:lstStyle/>
          <a:p>
            <a:fld id="{A5417D00-1B28-4D29-AA81-767BB4CE3AC2}" type="datetimeFigureOut">
              <a:rPr kumimoji="1" lang="ja-JP" altLang="en-US" smtClean="0"/>
              <a:t>2026/10/14</a:t>
            </a:fld>
            <a:endParaRPr kumimoji="1" lang="ja-JP" altLang="en-US"/>
          </a:p>
        </p:txBody>
      </p:sp>
      <p:sp>
        <p:nvSpPr>
          <p:cNvPr id="6" name="フッター プレースホルダー 5">
            <a:extLst>
              <a:ext uri="{FF2B5EF4-FFF2-40B4-BE49-F238E27FC236}">
                <a16:creationId xmlns:a16="http://schemas.microsoft.com/office/drawing/2014/main" id="{35A7FCFA-B7D4-69EE-D956-08D4B81A0ECF}"/>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3F19A47C-3D9C-FDA6-FAA1-1596B849FEC1}"/>
              </a:ext>
            </a:extLst>
          </p:cNvPr>
          <p:cNvSpPr>
            <a:spLocks noGrp="1"/>
          </p:cNvSpPr>
          <p:nvPr>
            <p:ph type="sldNum" sz="quarter" idx="12"/>
          </p:nvPr>
        </p:nvSpPr>
        <p:spPr/>
        <p:txBody>
          <a:bodyPr/>
          <a:lstStyle/>
          <a:p>
            <a:fld id="{F11DD124-2DF2-4F11-98EA-DA5F6DCD9587}" type="slidenum">
              <a:rPr kumimoji="1" lang="ja-JP" altLang="en-US" smtClean="0"/>
              <a:t>‹#›</a:t>
            </a:fld>
            <a:endParaRPr kumimoji="1" lang="ja-JP" altLang="en-US"/>
          </a:p>
        </p:txBody>
      </p:sp>
    </p:spTree>
    <p:extLst>
      <p:ext uri="{BB962C8B-B14F-4D97-AF65-F5344CB8AC3E}">
        <p14:creationId xmlns:p14="http://schemas.microsoft.com/office/powerpoint/2010/main" val="357200906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6E2116D-D00F-32D1-E364-B3390B63EFB0}"/>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3FBF682C-46BA-D189-A9D6-D75D02122789}"/>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B8C1FAA6-C16A-063E-3373-C370E50826F1}"/>
              </a:ext>
            </a:extLst>
          </p:cNvPr>
          <p:cNvSpPr>
            <a:spLocks noGrp="1"/>
          </p:cNvSpPr>
          <p:nvPr>
            <p:ph type="dt" sz="half" idx="10"/>
          </p:nvPr>
        </p:nvSpPr>
        <p:spPr/>
        <p:txBody>
          <a:bodyPr/>
          <a:lstStyle/>
          <a:p>
            <a:fld id="{A5417D00-1B28-4D29-AA81-767BB4CE3AC2}" type="datetimeFigureOut">
              <a:rPr kumimoji="1" lang="ja-JP" altLang="en-US" smtClean="0"/>
              <a:t>2026/10/14</a:t>
            </a:fld>
            <a:endParaRPr kumimoji="1" lang="ja-JP" altLang="en-US"/>
          </a:p>
        </p:txBody>
      </p:sp>
      <p:sp>
        <p:nvSpPr>
          <p:cNvPr id="5" name="フッター プレースホルダー 4">
            <a:extLst>
              <a:ext uri="{FF2B5EF4-FFF2-40B4-BE49-F238E27FC236}">
                <a16:creationId xmlns:a16="http://schemas.microsoft.com/office/drawing/2014/main" id="{38E20266-CDAC-2B8F-7CCC-FE47C455744F}"/>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0747D53-42A4-ECE1-3896-C94A1E42A74F}"/>
              </a:ext>
            </a:extLst>
          </p:cNvPr>
          <p:cNvSpPr>
            <a:spLocks noGrp="1"/>
          </p:cNvSpPr>
          <p:nvPr>
            <p:ph type="sldNum" sz="quarter" idx="12"/>
          </p:nvPr>
        </p:nvSpPr>
        <p:spPr/>
        <p:txBody>
          <a:bodyPr/>
          <a:lstStyle/>
          <a:p>
            <a:fld id="{F11DD124-2DF2-4F11-98EA-DA5F6DCD9587}" type="slidenum">
              <a:rPr kumimoji="1" lang="ja-JP" altLang="en-US" smtClean="0"/>
              <a:t>‹#›</a:t>
            </a:fld>
            <a:endParaRPr kumimoji="1" lang="ja-JP" altLang="en-US"/>
          </a:p>
        </p:txBody>
      </p:sp>
    </p:spTree>
    <p:extLst>
      <p:ext uri="{BB962C8B-B14F-4D97-AF65-F5344CB8AC3E}">
        <p14:creationId xmlns:p14="http://schemas.microsoft.com/office/powerpoint/2010/main" val="127615115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D85EE515-ABD9-24B8-C94F-C5C64DED1FDB}"/>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FE4BCD82-65FC-2108-2909-888877C3B901}"/>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4896161-9C03-E892-A2BD-25368FC5E3F3}"/>
              </a:ext>
            </a:extLst>
          </p:cNvPr>
          <p:cNvSpPr>
            <a:spLocks noGrp="1"/>
          </p:cNvSpPr>
          <p:nvPr>
            <p:ph type="dt" sz="half" idx="10"/>
          </p:nvPr>
        </p:nvSpPr>
        <p:spPr/>
        <p:txBody>
          <a:bodyPr/>
          <a:lstStyle/>
          <a:p>
            <a:fld id="{A5417D00-1B28-4D29-AA81-767BB4CE3AC2}" type="datetimeFigureOut">
              <a:rPr kumimoji="1" lang="ja-JP" altLang="en-US" smtClean="0"/>
              <a:t>2026/10/14</a:t>
            </a:fld>
            <a:endParaRPr kumimoji="1" lang="ja-JP" altLang="en-US"/>
          </a:p>
        </p:txBody>
      </p:sp>
      <p:sp>
        <p:nvSpPr>
          <p:cNvPr id="5" name="フッター プレースホルダー 4">
            <a:extLst>
              <a:ext uri="{FF2B5EF4-FFF2-40B4-BE49-F238E27FC236}">
                <a16:creationId xmlns:a16="http://schemas.microsoft.com/office/drawing/2014/main" id="{431A03A3-1C58-F8FD-8532-E4A88EAB7F7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82712E32-B4ED-9D12-2E0A-3FA5C056AA0C}"/>
              </a:ext>
            </a:extLst>
          </p:cNvPr>
          <p:cNvSpPr>
            <a:spLocks noGrp="1"/>
          </p:cNvSpPr>
          <p:nvPr>
            <p:ph type="sldNum" sz="quarter" idx="12"/>
          </p:nvPr>
        </p:nvSpPr>
        <p:spPr/>
        <p:txBody>
          <a:bodyPr/>
          <a:lstStyle/>
          <a:p>
            <a:fld id="{F11DD124-2DF2-4F11-98EA-DA5F6DCD9587}" type="slidenum">
              <a:rPr kumimoji="1" lang="ja-JP" altLang="en-US" smtClean="0"/>
              <a:t>‹#›</a:t>
            </a:fld>
            <a:endParaRPr kumimoji="1" lang="ja-JP" altLang="en-US"/>
          </a:p>
        </p:txBody>
      </p:sp>
    </p:spTree>
    <p:extLst>
      <p:ext uri="{BB962C8B-B14F-4D97-AF65-F5344CB8AC3E}">
        <p14:creationId xmlns:p14="http://schemas.microsoft.com/office/powerpoint/2010/main" val="298804127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D9EA6844-8882-6D88-733B-E4F1C2ADEC1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EC339264-318E-BB97-21CC-4DF588CA777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9E5C865-BBEA-8BE5-2023-6939021D9DC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5417D00-1B28-4D29-AA81-767BB4CE3AC2}" type="datetimeFigureOut">
              <a:rPr kumimoji="1" lang="ja-JP" altLang="en-US" smtClean="0"/>
              <a:t>2026/10/14</a:t>
            </a:fld>
            <a:endParaRPr kumimoji="1" lang="ja-JP" altLang="en-US"/>
          </a:p>
        </p:txBody>
      </p:sp>
      <p:sp>
        <p:nvSpPr>
          <p:cNvPr id="5" name="フッター プレースホルダー 4">
            <a:extLst>
              <a:ext uri="{FF2B5EF4-FFF2-40B4-BE49-F238E27FC236}">
                <a16:creationId xmlns:a16="http://schemas.microsoft.com/office/drawing/2014/main" id="{DBE7763D-6BE4-A717-1AD7-FA228550F39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F71404E6-E3FA-CFE5-AD45-D6D69D63519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11DD124-2DF2-4F11-98EA-DA5F6DCD9587}" type="slidenum">
              <a:rPr kumimoji="1" lang="ja-JP" altLang="en-US" smtClean="0"/>
              <a:t>‹#›</a:t>
            </a:fld>
            <a:endParaRPr kumimoji="1" lang="ja-JP" altLang="en-US"/>
          </a:p>
        </p:txBody>
      </p:sp>
    </p:spTree>
    <p:extLst>
      <p:ext uri="{BB962C8B-B14F-4D97-AF65-F5344CB8AC3E}">
        <p14:creationId xmlns:p14="http://schemas.microsoft.com/office/powerpoint/2010/main" val="172676946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3.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4.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5.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6.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7.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8.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9.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0.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1.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2.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3.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4.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5.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6.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7.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8.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9.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0.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1.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2.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3.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4.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5.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6.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7.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8.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29.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30.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31.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32.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33.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34.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35.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36.jpg"/><Relationship Id="rId4" Type="http://schemas.openxmlformats.org/officeDocument/2006/relationships/image" Target="../media/image37.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38.jp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39.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40.jp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41.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42.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43.jp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44.jp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45.jp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46.jp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47.jp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48.jp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49.jp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50.jp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51.jp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5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53.jp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54.jp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55.jp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56.jp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93115" y="423367"/>
            <a:ext cx="10789920" cy="585216"/>
          </a:xfrm>
          <a:prstGeom prst="rect">
            <a:avLst/>
          </a:prstGeom>
          <a:noFill/>
        </p:spPr>
        <p:txBody>
          <a:bodyPr wrap="square" lIns="54864" rIns="54864" tIns="54864" bIns="54864">
            <a:spAutoFit/>
          </a:bodyPr>
          <a:lstStyle/>
          <a:p>
            <a:pPr algn="l">
              <a:lnSpc>
                <a:spcPct val="108000"/>
              </a:lnSpc>
              <a:spcBef>
                <a:spcPts val="0"/>
              </a:spcBef>
              <a:spcAft>
                <a:spcPts val="400"/>
              </a:spcAft>
            </a:pPr>
            <a:r>
              <a:rPr sz="3200" b="0" lang="ja-JP" altLang="en-US">
                <a:solidFill>
                  <a:srgbClr val="111111"/>
                </a:solidFill>
                <a:latin typeface="游ゴシック"/>
                <a:ea typeface="游ゴシック"/>
              </a:rPr>
              <a:t>7.1.1 RNNによる文章生成の手順</a:t>
            </a:r>
          </a:p>
        </p:txBody>
      </p:sp>
      <p:sp>
        <p:nvSpPr>
          <p:cNvPr id="3" name="TextBox 2"/>
          <p:cNvSpPr txBox="1"/>
          <p:nvPr/>
        </p:nvSpPr>
        <p:spPr>
          <a:xfrm>
            <a:off x="925372" y="1016812"/>
            <a:ext cx="10378440" cy="621792"/>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次の単語を予測する言語モデル</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1</a:t>
            </a:r>
          </a:p>
        </p:txBody>
      </p:sp>
      <p:pic>
        <p:nvPicPr>
          <p:cNvPr id="5" name="Picture 4" descr="fig7-1.jpg"/>
          <p:cNvPicPr>
            <a:picLocks noChangeAspect="1"/>
          </p:cNvPicPr>
          <p:nvPr/>
        </p:nvPicPr>
        <p:blipFill>
          <a:blip r:embed="rId3"/>
          <a:stretch>
            <a:fillRect/>
          </a:stretch>
        </p:blipFill>
        <p:spPr>
          <a:xfrm>
            <a:off x="825043" y="2011680"/>
            <a:ext cx="6341768" cy="3986784"/>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これまでのモデル</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Embedding → LSTM → Affineで</a:t>
            </a:r>
          </a:p>
          <a:p>
            <a:pPr algn="l">
              <a:lnSpc>
                <a:spcPct val="108000"/>
              </a:lnSpc>
              <a:spcBef>
                <a:spcPts val="0"/>
              </a:spcBef>
              <a:spcAft>
                <a:spcPts val="400"/>
              </a:spcAft>
            </a:pPr>
            <a:r>
              <a:rPr sz="1800" b="0" lang="ja-JP" altLang="en-US">
                <a:solidFill>
                  <a:srgbClr val="111111"/>
                </a:solidFill>
                <a:latin typeface="游ゴシック"/>
                <a:ea typeface="游ゴシック"/>
              </a:rPr>
              <a:t>次の単語のスコアを計算する。</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Timeレイヤ</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時系列の処理をまとめたもの。</a:t>
            </a:r>
          </a:p>
          <a:p>
            <a:pPr algn="l">
              <a:lnSpc>
                <a:spcPct val="108000"/>
              </a:lnSpc>
              <a:spcBef>
                <a:spcPts val="0"/>
              </a:spcBef>
              <a:spcAft>
                <a:spcPts val="400"/>
              </a:spcAft>
            </a:pPr>
            <a:r>
              <a:rPr sz="1800" b="0" lang="ja-JP" altLang="en-US">
                <a:solidFill>
                  <a:srgbClr val="111111"/>
                </a:solidFill>
                <a:latin typeface="游ゴシック"/>
                <a:ea typeface="游ゴシック"/>
              </a:rPr>
              <a:t>同じ重みを各時刻で共有する。</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文章生成への変更</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学習済みモデルの出力から、</a:t>
            </a:r>
          </a:p>
          <a:p>
            <a:pPr algn="l">
              <a:lnSpc>
                <a:spcPct val="108000"/>
              </a:lnSpc>
              <a:spcBef>
                <a:spcPts val="0"/>
              </a:spcBef>
              <a:spcAft>
                <a:spcPts val="400"/>
              </a:spcAft>
            </a:pPr>
            <a:r>
              <a:rPr sz="1800" b="0" lang="ja-JP" altLang="en-US">
                <a:solidFill>
                  <a:srgbClr val="111111"/>
                </a:solidFill>
                <a:latin typeface="游ゴシック"/>
                <a:ea typeface="游ゴシック"/>
              </a:rPr>
              <a:t>次の入力となる単語を選ぶ。</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図7-1　言語モデルのレイヤ構成｜p.278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93115" y="423367"/>
            <a:ext cx="10789920" cy="585216"/>
          </a:xfrm>
          <a:prstGeom prst="rect">
            <a:avLst/>
          </a:prstGeom>
          <a:noFill/>
        </p:spPr>
        <p:txBody>
          <a:bodyPr wrap="square" lIns="54864" rIns="54864" tIns="54864" bIns="54864">
            <a:spAutoFit/>
          </a:bodyPr>
          <a:lstStyle/>
          <a:p>
            <a:pPr algn="l">
              <a:lnSpc>
                <a:spcPct val="108000"/>
              </a:lnSpc>
              <a:spcBef>
                <a:spcPts val="0"/>
              </a:spcBef>
              <a:spcAft>
                <a:spcPts val="400"/>
              </a:spcAft>
            </a:pPr>
            <a:r>
              <a:rPr sz="3200" b="0" lang="ja-JP" altLang="en-US">
                <a:solidFill>
                  <a:srgbClr val="111111"/>
                </a:solidFill>
                <a:latin typeface="游ゴシック"/>
                <a:ea typeface="游ゴシック"/>
              </a:rPr>
              <a:t>7.1.1 RNNによる文章生成の手順</a:t>
            </a:r>
          </a:p>
        </p:txBody>
      </p:sp>
      <p:sp>
        <p:nvSpPr>
          <p:cNvPr id="3" name="TextBox 2"/>
          <p:cNvSpPr txBox="1"/>
          <p:nvPr/>
        </p:nvSpPr>
        <p:spPr>
          <a:xfrm>
            <a:off x="925372" y="1016812"/>
            <a:ext cx="10378440" cy="621792"/>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確率分布から、次の単語の候補を得る</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2</a:t>
            </a:r>
          </a:p>
        </p:txBody>
      </p:sp>
      <p:pic>
        <p:nvPicPr>
          <p:cNvPr id="5" name="Picture 4" descr="fig7-2.jpg"/>
          <p:cNvPicPr>
            <a:picLocks noChangeAspect="1"/>
          </p:cNvPicPr>
          <p:nvPr/>
        </p:nvPicPr>
        <p:blipFill>
          <a:blip r:embed="rId3"/>
          <a:stretch>
            <a:fillRect/>
          </a:stretch>
        </p:blipFill>
        <p:spPr>
          <a:xfrm>
            <a:off x="1848248" y="2011680"/>
            <a:ext cx="4295358" cy="3986784"/>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最初の入力</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「I」の単語IDをモデルに入れる。</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Softmaxの出力</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語彙中の各単語が次に現れる</a:t>
            </a:r>
          </a:p>
          <a:p>
            <a:pPr algn="l">
              <a:lnSpc>
                <a:spcPct val="108000"/>
              </a:lnSpc>
              <a:spcBef>
                <a:spcPts val="0"/>
              </a:spcBef>
              <a:spcAft>
                <a:spcPts val="400"/>
              </a:spcAft>
            </a:pPr>
            <a:r>
              <a:rPr sz="1800" b="0" lang="ja-JP" altLang="en-US">
                <a:solidFill>
                  <a:srgbClr val="111111"/>
                </a:solidFill>
                <a:latin typeface="游ゴシック"/>
                <a:ea typeface="游ゴシック"/>
              </a:rPr>
              <a:t>確率を表す。合計は1になる。</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選び方</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確率が最大の単語を選ぶ方法と、</a:t>
            </a:r>
          </a:p>
          <a:p>
            <a:pPr algn="l">
              <a:lnSpc>
                <a:spcPct val="108000"/>
              </a:lnSpc>
              <a:spcBef>
                <a:spcPts val="0"/>
              </a:spcBef>
              <a:spcAft>
                <a:spcPts val="400"/>
              </a:spcAft>
            </a:pPr>
            <a:r>
              <a:rPr sz="1800" b="0" lang="ja-JP" altLang="en-US">
                <a:solidFill>
                  <a:srgbClr val="111111"/>
                </a:solidFill>
                <a:latin typeface="游ゴシック"/>
                <a:ea typeface="游ゴシック"/>
              </a:rPr>
              <a:t>確率に従って選ぶ方法がある。</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図7-2　次の単語の確率分布｜p.279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93115" y="423367"/>
            <a:ext cx="10789920" cy="585216"/>
          </a:xfrm>
          <a:prstGeom prst="rect">
            <a:avLst/>
          </a:prstGeom>
          <a:noFill/>
        </p:spPr>
        <p:txBody>
          <a:bodyPr wrap="square" lIns="54864" rIns="54864" tIns="54864" bIns="54864">
            <a:spAutoFit/>
          </a:bodyPr>
          <a:lstStyle/>
          <a:p>
            <a:pPr algn="l">
              <a:lnSpc>
                <a:spcPct val="108000"/>
              </a:lnSpc>
              <a:spcBef>
                <a:spcPts val="0"/>
              </a:spcBef>
              <a:spcAft>
                <a:spcPts val="400"/>
              </a:spcAft>
            </a:pPr>
            <a:r>
              <a:rPr sz="3200" b="0" lang="ja-JP" altLang="en-US">
                <a:solidFill>
                  <a:srgbClr val="111111"/>
                </a:solidFill>
                <a:latin typeface="游ゴシック"/>
                <a:ea typeface="游ゴシック"/>
              </a:rPr>
              <a:t>7.1.1 RNNによる文章生成の手順</a:t>
            </a:r>
          </a:p>
        </p:txBody>
      </p:sp>
      <p:sp>
        <p:nvSpPr>
          <p:cNvPr id="3" name="TextBox 2"/>
          <p:cNvSpPr txBox="1"/>
          <p:nvPr/>
        </p:nvSpPr>
        <p:spPr>
          <a:xfrm>
            <a:off x="925372" y="1016812"/>
            <a:ext cx="10378440" cy="621792"/>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サンプリングで単語を1つ選ぶ</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3</a:t>
            </a:r>
          </a:p>
        </p:txBody>
      </p:sp>
      <p:pic>
        <p:nvPicPr>
          <p:cNvPr id="5" name="Picture 4" descr="fig7-3.jpg"/>
          <p:cNvPicPr>
            <a:picLocks noChangeAspect="1"/>
          </p:cNvPicPr>
          <p:nvPr/>
        </p:nvPicPr>
        <p:blipFill>
          <a:blip r:embed="rId3"/>
          <a:stretch>
            <a:fillRect/>
          </a:stretch>
        </p:blipFill>
        <p:spPr>
          <a:xfrm>
            <a:off x="2059404" y="2011680"/>
            <a:ext cx="3873046" cy="3986784"/>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確率的に選択</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確率が高い単語ほど選ばれやすい。</a:t>
            </a:r>
          </a:p>
          <a:p>
            <a:pPr algn="l">
              <a:lnSpc>
                <a:spcPct val="108000"/>
              </a:lnSpc>
              <a:spcBef>
                <a:spcPts val="0"/>
              </a:spcBef>
              <a:spcAft>
                <a:spcPts val="400"/>
              </a:spcAft>
            </a:pPr>
            <a:r>
              <a:rPr sz="1800" b="0" lang="ja-JP" altLang="en-US">
                <a:solidFill>
                  <a:srgbClr val="111111"/>
                </a:solidFill>
                <a:latin typeface="游ゴシック"/>
                <a:ea typeface="游ゴシック"/>
              </a:rPr>
              <a:t>必ず選ばれるわけではない。</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図の例</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次の単語として「say」が</a:t>
            </a:r>
          </a:p>
          <a:p>
            <a:pPr algn="l">
              <a:lnSpc>
                <a:spcPct val="108000"/>
              </a:lnSpc>
              <a:spcBef>
                <a:spcPts val="0"/>
              </a:spcBef>
              <a:spcAft>
                <a:spcPts val="400"/>
              </a:spcAft>
            </a:pPr>
            <a:r>
              <a:rPr sz="1800" b="0" lang="ja-JP" altLang="en-US">
                <a:solidFill>
                  <a:srgbClr val="111111"/>
                </a:solidFill>
                <a:latin typeface="游ゴシック"/>
                <a:ea typeface="游ゴシック"/>
              </a:rPr>
              <a:t>サンプリングされた。</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生成の多様性</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同じ書き出しからでも、</a:t>
            </a:r>
          </a:p>
          <a:p>
            <a:pPr algn="l">
              <a:lnSpc>
                <a:spcPct val="108000"/>
              </a:lnSpc>
              <a:spcBef>
                <a:spcPts val="0"/>
              </a:spcBef>
              <a:spcAft>
                <a:spcPts val="400"/>
              </a:spcAft>
            </a:pPr>
            <a:r>
              <a:rPr sz="1800" b="0" lang="ja-JP" altLang="en-US">
                <a:solidFill>
                  <a:srgbClr val="111111"/>
                </a:solidFill>
                <a:latin typeface="游ゴシック"/>
                <a:ea typeface="游ゴシック"/>
              </a:rPr>
              <a:t>試行ごとに違う文を作れる。</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図7-3　確率分布からサンプリング｜p.280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93115" y="423367"/>
            <a:ext cx="10789920" cy="585216"/>
          </a:xfrm>
          <a:prstGeom prst="rect">
            <a:avLst/>
          </a:prstGeom>
          <a:noFill/>
        </p:spPr>
        <p:txBody>
          <a:bodyPr wrap="square" lIns="54864" rIns="54864" tIns="54864" bIns="54864">
            <a:spAutoFit/>
          </a:bodyPr>
          <a:lstStyle/>
          <a:p>
            <a:pPr algn="l">
              <a:lnSpc>
                <a:spcPct val="108000"/>
              </a:lnSpc>
              <a:spcBef>
                <a:spcPts val="0"/>
              </a:spcBef>
              <a:spcAft>
                <a:spcPts val="400"/>
              </a:spcAft>
            </a:pPr>
            <a:r>
              <a:rPr sz="3200" b="0" lang="ja-JP" altLang="en-US">
                <a:solidFill>
                  <a:srgbClr val="111111"/>
                </a:solidFill>
                <a:latin typeface="游ゴシック"/>
                <a:ea typeface="游ゴシック"/>
              </a:rPr>
              <a:t>7.1.1 RNNによる文章生成の手順</a:t>
            </a:r>
          </a:p>
        </p:txBody>
      </p:sp>
      <p:sp>
        <p:nvSpPr>
          <p:cNvPr id="3" name="TextBox 2"/>
          <p:cNvSpPr txBox="1"/>
          <p:nvPr/>
        </p:nvSpPr>
        <p:spPr>
          <a:xfrm>
            <a:off x="925372" y="1016812"/>
            <a:ext cx="10378440" cy="621792"/>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生成した単語を、次の入力にする</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4</a:t>
            </a:r>
          </a:p>
        </p:txBody>
      </p:sp>
      <p:pic>
        <p:nvPicPr>
          <p:cNvPr id="5" name="Picture 4" descr="fig7-4.jpg"/>
          <p:cNvPicPr>
            <a:picLocks noChangeAspect="1"/>
          </p:cNvPicPr>
          <p:nvPr/>
        </p:nvPicPr>
        <p:blipFill>
          <a:blip r:embed="rId3"/>
          <a:stretch>
            <a:fillRect/>
          </a:stretch>
        </p:blipFill>
        <p:spPr>
          <a:xfrm>
            <a:off x="2100956" y="2011680"/>
            <a:ext cx="3789942" cy="3986784"/>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入力を更新</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選んだ「say」を再びモデルに入れ、</a:t>
            </a:r>
          </a:p>
          <a:p>
            <a:pPr algn="l">
              <a:lnSpc>
                <a:spcPct val="108000"/>
              </a:lnSpc>
              <a:spcBef>
                <a:spcPts val="0"/>
              </a:spcBef>
              <a:spcAft>
                <a:spcPts val="400"/>
              </a:spcAft>
            </a:pPr>
            <a:r>
              <a:rPr sz="1800" b="0" lang="ja-JP" altLang="en-US">
                <a:solidFill>
                  <a:srgbClr val="111111"/>
                </a:solidFill>
                <a:latin typeface="游ゴシック"/>
                <a:ea typeface="游ゴシック"/>
              </a:rPr>
              <a:t>次の単語の確率を求める。</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状態を引き継ぐ</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LSTMの状態が、これまでの</a:t>
            </a:r>
          </a:p>
          <a:p>
            <a:pPr algn="l">
              <a:lnSpc>
                <a:spcPct val="108000"/>
              </a:lnSpc>
              <a:spcBef>
                <a:spcPts val="0"/>
              </a:spcBef>
              <a:spcAft>
                <a:spcPts val="400"/>
              </a:spcAft>
            </a:pPr>
            <a:r>
              <a:rPr sz="1800" b="0" lang="ja-JP" altLang="en-US">
                <a:solidFill>
                  <a:srgbClr val="111111"/>
                </a:solidFill>
                <a:latin typeface="游ゴシック"/>
                <a:ea typeface="游ゴシック"/>
              </a:rPr>
              <a:t>単語の情報を保持する。</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生成を繰り返す</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指定した語数、または文末記号</a:t>
            </a:r>
          </a:p>
          <a:p>
            <a:pPr algn="l">
              <a:lnSpc>
                <a:spcPct val="108000"/>
              </a:lnSpc>
              <a:spcBef>
                <a:spcPts val="0"/>
              </a:spcBef>
              <a:spcAft>
                <a:spcPts val="400"/>
              </a:spcAft>
            </a:pPr>
            <a:r>
              <a:rPr sz="1800" b="0" lang="ja-JP" altLang="en-US">
                <a:solidFill>
                  <a:srgbClr val="111111"/>
                </a:solidFill>
                <a:latin typeface="游ゴシック"/>
                <a:ea typeface="游ゴシック"/>
              </a:rPr>
              <a:t>まで繰り返す方法がある。</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図7-4　次の単語を繰り返し生成｜p.281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93115" y="423367"/>
            <a:ext cx="10789920" cy="585216"/>
          </a:xfrm>
          <a:prstGeom prst="rect">
            <a:avLst/>
          </a:prstGeom>
          <a:noFill/>
        </p:spPr>
        <p:txBody>
          <a:bodyPr wrap="square" lIns="54864" rIns="54864" tIns="54864" bIns="54864">
            <a:spAutoFit/>
          </a:bodyPr>
          <a:lstStyle/>
          <a:p>
            <a:pPr algn="l">
              <a:lnSpc>
                <a:spcPct val="108000"/>
              </a:lnSpc>
              <a:spcBef>
                <a:spcPts val="0"/>
              </a:spcBef>
              <a:spcAft>
                <a:spcPts val="400"/>
              </a:spcAft>
            </a:pPr>
            <a:r>
              <a:rPr sz="3200" b="0" lang="ja-JP" altLang="en-US">
                <a:solidFill>
                  <a:srgbClr val="111111"/>
                </a:solidFill>
                <a:latin typeface="游ゴシック"/>
                <a:ea typeface="游ゴシック"/>
              </a:rPr>
              <a:t>7.1.2 文章生成の実装</a:t>
            </a:r>
          </a:p>
        </p:txBody>
      </p:sp>
      <p:sp>
        <p:nvSpPr>
          <p:cNvPr id="3" name="TextBox 2"/>
          <p:cNvSpPr txBox="1"/>
          <p:nvPr/>
        </p:nvSpPr>
        <p:spPr>
          <a:xfrm>
            <a:off x="925372" y="1016812"/>
            <a:ext cx="10378440" cy="621792"/>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RnnlmGen：スコアから単語を選ぶ</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5</a:t>
            </a:r>
          </a:p>
        </p:txBody>
      </p:sp>
      <p:pic>
        <p:nvPicPr>
          <p:cNvPr id="5" name="Picture 4" descr="rnnlm_generate.jpg"/>
          <p:cNvPicPr>
            <a:picLocks noChangeAspect="1"/>
          </p:cNvPicPr>
          <p:nvPr/>
        </p:nvPicPr>
        <p:blipFill>
          <a:blip r:embed="rId3"/>
          <a:stretch>
            <a:fillRect/>
          </a:stretch>
        </p:blipFill>
        <p:spPr>
          <a:xfrm>
            <a:off x="804672" y="2723160"/>
            <a:ext cx="6382512" cy="2563822"/>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既存クラスを継承</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Rnnlmにgenerateを追加する。</a:t>
            </a:r>
          </a:p>
          <a:p>
            <a:pPr algn="l">
              <a:lnSpc>
                <a:spcPct val="108000"/>
              </a:lnSpc>
              <a:spcBef>
                <a:spcPts val="0"/>
              </a:spcBef>
              <a:spcAft>
                <a:spcPts val="400"/>
              </a:spcAft>
            </a:pPr>
            <a:r>
              <a:rPr sz="1800" b="0" lang="ja-JP" altLang="en-US">
                <a:solidFill>
                  <a:srgbClr val="111111"/>
                </a:solidFill>
                <a:latin typeface="游ゴシック"/>
                <a:ea typeface="游ゴシック"/>
              </a:rPr>
              <a:t>最初はstart_idを入力する。</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入力の形状</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単語1つでも配列は(1, 1)。</a:t>
            </a:r>
          </a:p>
          <a:p>
            <a:pPr algn="l">
              <a:lnSpc>
                <a:spcPct val="108000"/>
              </a:lnSpc>
              <a:spcBef>
                <a:spcPts val="0"/>
              </a:spcBef>
              <a:spcAft>
                <a:spcPts val="400"/>
              </a:spcAft>
            </a:pPr>
            <a:r>
              <a:rPr sz="1800" b="0" lang="ja-JP" altLang="en-US">
                <a:solidFill>
                  <a:srgbClr val="111111"/>
                </a:solidFill>
                <a:latin typeface="游ゴシック"/>
                <a:ea typeface="游ゴシック"/>
              </a:rPr>
              <a:t>ミニバッチ形式にそろえる。</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中心となる処理</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predict → softmax → choiceを</a:t>
            </a:r>
          </a:p>
          <a:p>
            <a:pPr algn="l">
              <a:lnSpc>
                <a:spcPct val="108000"/>
              </a:lnSpc>
              <a:spcBef>
                <a:spcPts val="0"/>
              </a:spcBef>
              <a:spcAft>
                <a:spcPts val="400"/>
              </a:spcAft>
            </a:pPr>
            <a:r>
              <a:rPr sz="1800" b="0" lang="ja-JP" altLang="en-US">
                <a:solidFill>
                  <a:srgbClr val="111111"/>
                </a:solidFill>
                <a:latin typeface="游ゴシック"/>
                <a:ea typeface="游ゴシック"/>
              </a:rPr>
              <a:t>繰り返し、単語IDを集める。</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RnnlmGen.generate（前半）｜p.282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93115" y="423367"/>
            <a:ext cx="10789920" cy="585216"/>
          </a:xfrm>
          <a:prstGeom prst="rect">
            <a:avLst/>
          </a:prstGeom>
          <a:noFill/>
        </p:spPr>
        <p:txBody>
          <a:bodyPr wrap="square" lIns="54864" rIns="54864" tIns="54864" bIns="54864">
            <a:spAutoFit/>
          </a:bodyPr>
          <a:lstStyle/>
          <a:p>
            <a:pPr algn="l">
              <a:lnSpc>
                <a:spcPct val="108000"/>
              </a:lnSpc>
              <a:spcBef>
                <a:spcPts val="0"/>
              </a:spcBef>
              <a:spcAft>
                <a:spcPts val="400"/>
              </a:spcAft>
            </a:pPr>
            <a:r>
              <a:rPr sz="3200" b="0" lang="ja-JP" altLang="en-US">
                <a:solidFill>
                  <a:srgbClr val="111111"/>
                </a:solidFill>
                <a:latin typeface="游ゴシック"/>
                <a:ea typeface="游ゴシック"/>
              </a:rPr>
              <a:t>7.1.2 文章生成の実装</a:t>
            </a:r>
          </a:p>
        </p:txBody>
      </p:sp>
      <p:sp>
        <p:nvSpPr>
          <p:cNvPr id="3" name="TextBox 2"/>
          <p:cNvSpPr txBox="1"/>
          <p:nvPr/>
        </p:nvSpPr>
        <p:spPr>
          <a:xfrm>
            <a:off x="925372" y="1016812"/>
            <a:ext cx="10378440" cy="621792"/>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不要な単語を除き、生成結果を返す</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6</a:t>
            </a:r>
          </a:p>
        </p:txBody>
      </p:sp>
      <p:pic>
        <p:nvPicPr>
          <p:cNvPr id="5" name="Picture 4" descr="rnnlm_skip.jpg"/>
          <p:cNvPicPr>
            <a:picLocks noChangeAspect="1"/>
          </p:cNvPicPr>
          <p:nvPr/>
        </p:nvPicPr>
        <p:blipFill>
          <a:blip r:embed="rId3"/>
          <a:stretch>
            <a:fillRect/>
          </a:stretch>
        </p:blipFill>
        <p:spPr>
          <a:xfrm>
            <a:off x="804672" y="3217537"/>
            <a:ext cx="6382512" cy="1575069"/>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skip_ids</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生成に含めたくない単語の</a:t>
            </a:r>
          </a:p>
          <a:p>
            <a:pPr algn="l">
              <a:lnSpc>
                <a:spcPct val="108000"/>
              </a:lnSpc>
              <a:spcBef>
                <a:spcPts val="0"/>
              </a:spcBef>
              <a:spcAft>
                <a:spcPts val="400"/>
              </a:spcAft>
            </a:pPr>
            <a:r>
              <a:rPr sz="1800" b="0" lang="ja-JP" altLang="en-US">
                <a:solidFill>
                  <a:srgbClr val="111111"/>
                </a:solidFill>
                <a:latin typeface="游ゴシック"/>
                <a:ea typeface="游ゴシック"/>
              </a:rPr>
              <a:t>IDをリストで渡す。</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採用された場合</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次の入力xを更新し、</a:t>
            </a:r>
          </a:p>
          <a:p>
            <a:pPr algn="l">
              <a:lnSpc>
                <a:spcPct val="108000"/>
              </a:lnSpc>
              <a:spcBef>
                <a:spcPts val="0"/>
              </a:spcBef>
              <a:spcAft>
                <a:spcPts val="400"/>
              </a:spcAft>
            </a:pPr>
            <a:r>
              <a:rPr sz="1800" b="0" lang="ja-JP" altLang="en-US">
                <a:solidFill>
                  <a:srgbClr val="111111"/>
                </a:solidFill>
                <a:latin typeface="游ゴシック"/>
                <a:ea typeface="游ゴシック"/>
              </a:rPr>
              <a:t>word_idsにIDを追加する。</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呼び出し方</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generate(start_id, skip_ids,</a:t>
            </a:r>
          </a:p>
          <a:p>
            <a:pPr algn="l">
              <a:lnSpc>
                <a:spcPct val="108000"/>
              </a:lnSpc>
              <a:spcBef>
                <a:spcPts val="0"/>
              </a:spcBef>
              <a:spcAft>
                <a:spcPts val="400"/>
              </a:spcAft>
            </a:pPr>
            <a:r>
              <a:rPr sz="1800" b="0" lang="ja-JP" altLang="en-US">
                <a:solidFill>
                  <a:srgbClr val="111111"/>
                </a:solidFill>
                <a:latin typeface="游ゴシック"/>
                <a:ea typeface="游ゴシック"/>
              </a:rPr>
              <a:t>sample_size)で指定する。</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RnnlmGen.generate（後半）｜p.283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93115" y="423367"/>
            <a:ext cx="10789920" cy="585216"/>
          </a:xfrm>
          <a:prstGeom prst="rect">
            <a:avLst/>
          </a:prstGeom>
          <a:noFill/>
        </p:spPr>
        <p:txBody>
          <a:bodyPr wrap="square" lIns="54864" rIns="54864" tIns="54864" bIns="54864">
            <a:spAutoFit/>
          </a:bodyPr>
          <a:lstStyle/>
          <a:p>
            <a:pPr algn="l">
              <a:lnSpc>
                <a:spcPct val="108000"/>
              </a:lnSpc>
              <a:spcBef>
                <a:spcPts val="0"/>
              </a:spcBef>
              <a:spcAft>
                <a:spcPts val="400"/>
              </a:spcAft>
            </a:pPr>
            <a:r>
              <a:rPr sz="3200" b="0" lang="ja-JP" altLang="en-US">
                <a:solidFill>
                  <a:srgbClr val="111111"/>
                </a:solidFill>
                <a:latin typeface="游ゴシック"/>
                <a:ea typeface="游ゴシック"/>
              </a:rPr>
              <a:t>7.1.2 文章生成の実装</a:t>
            </a:r>
          </a:p>
        </p:txBody>
      </p:sp>
      <p:sp>
        <p:nvSpPr>
          <p:cNvPr id="3" name="TextBox 2"/>
          <p:cNvSpPr txBox="1"/>
          <p:nvPr/>
        </p:nvSpPr>
        <p:spPr>
          <a:xfrm>
            <a:off x="925372" y="1016812"/>
            <a:ext cx="10378440" cy="621792"/>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generate_text.py：IDを文章へ戻す</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7</a:t>
            </a:r>
          </a:p>
        </p:txBody>
      </p:sp>
      <p:pic>
        <p:nvPicPr>
          <p:cNvPr id="5" name="Picture 4" descr="generate_text.jpg"/>
          <p:cNvPicPr>
            <a:picLocks noChangeAspect="1"/>
          </p:cNvPicPr>
          <p:nvPr/>
        </p:nvPicPr>
        <p:blipFill>
          <a:blip r:embed="rId3"/>
          <a:stretch>
            <a:fillRect/>
          </a:stretch>
        </p:blipFill>
        <p:spPr>
          <a:xfrm>
            <a:off x="1876480" y="2011680"/>
            <a:ext cx="4238895" cy="3986784"/>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開始単語を設定</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word_to_idで「you」を</a:t>
            </a:r>
          </a:p>
          <a:p>
            <a:pPr algn="l">
              <a:lnSpc>
                <a:spcPct val="108000"/>
              </a:lnSpc>
              <a:spcBef>
                <a:spcPts val="0"/>
              </a:spcBef>
              <a:spcAft>
                <a:spcPts val="400"/>
              </a:spcAft>
            </a:pPr>
            <a:r>
              <a:rPr sz="1800" b="0" lang="ja-JP" altLang="en-US">
                <a:solidFill>
                  <a:srgbClr val="111111"/>
                </a:solidFill>
                <a:latin typeface="游ゴシック"/>
                <a:ea typeface="游ゴシック"/>
              </a:rPr>
              <a:t>開始IDに変換する。</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生成後の変換</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id_to_wordで単語に戻し、</a:t>
            </a:r>
          </a:p>
          <a:p>
            <a:pPr algn="l">
              <a:lnSpc>
                <a:spcPct val="108000"/>
              </a:lnSpc>
              <a:spcBef>
                <a:spcPts val="0"/>
              </a:spcBef>
              <a:spcAft>
                <a:spcPts val="400"/>
              </a:spcAft>
            </a:pPr>
            <a:r>
              <a:rPr sz="1800" b="0" lang="ja-JP" altLang="en-US">
                <a:solidFill>
                  <a:srgbClr val="111111"/>
                </a:solidFill>
                <a:latin typeface="游ゴシック"/>
                <a:ea typeface="游ゴシック"/>
              </a:rPr>
              <a:t>空白区切りで連結する。</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学習済み重み</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load_paramsの有無で、</a:t>
            </a:r>
          </a:p>
          <a:p>
            <a:pPr algn="l">
              <a:lnSpc>
                <a:spcPct val="108000"/>
              </a:lnSpc>
              <a:spcBef>
                <a:spcPts val="0"/>
              </a:spcBef>
              <a:spcAft>
                <a:spcPts val="400"/>
              </a:spcAft>
            </a:pPr>
            <a:r>
              <a:rPr sz="1800" b="0" lang="ja-JP" altLang="en-US">
                <a:solidFill>
                  <a:srgbClr val="111111"/>
                </a:solidFill>
                <a:latin typeface="游ゴシック"/>
                <a:ea typeface="游ゴシック"/>
              </a:rPr>
              <a:t>生成結果を比較できる。</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generate_text.py｜p.284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93115" y="423367"/>
            <a:ext cx="10789920" cy="585216"/>
          </a:xfrm>
          <a:prstGeom prst="rect">
            <a:avLst/>
          </a:prstGeom>
          <a:noFill/>
        </p:spPr>
        <p:txBody>
          <a:bodyPr wrap="square" lIns="54864" rIns="54864" tIns="54864" bIns="54864">
            <a:spAutoFit/>
          </a:bodyPr>
          <a:lstStyle/>
          <a:p>
            <a:pPr algn="l">
              <a:lnSpc>
                <a:spcPct val="108000"/>
              </a:lnSpc>
              <a:spcBef>
                <a:spcPts val="0"/>
              </a:spcBef>
              <a:spcAft>
                <a:spcPts val="400"/>
              </a:spcAft>
            </a:pPr>
            <a:r>
              <a:rPr sz="3200" b="0" lang="ja-JP" altLang="en-US">
                <a:solidFill>
                  <a:srgbClr val="111111"/>
                </a:solidFill>
                <a:latin typeface="游ゴシック"/>
                <a:ea typeface="游ゴシック"/>
              </a:rPr>
              <a:t>7.1.2 文章生成の実装</a:t>
            </a:r>
          </a:p>
        </p:txBody>
      </p:sp>
      <p:sp>
        <p:nvSpPr>
          <p:cNvPr id="3" name="TextBox 2"/>
          <p:cNvSpPr txBox="1"/>
          <p:nvPr/>
        </p:nvSpPr>
        <p:spPr>
          <a:xfrm>
            <a:off x="925372" y="1016812"/>
            <a:ext cx="10378440" cy="621792"/>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学習済みRNNLMで生成した文章</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8</a:t>
            </a:r>
          </a:p>
        </p:txBody>
      </p:sp>
      <p:pic>
        <p:nvPicPr>
          <p:cNvPr id="5" name="Picture 4" descr="trained_sample.jpg"/>
          <p:cNvPicPr>
            <a:picLocks noChangeAspect="1"/>
          </p:cNvPicPr>
          <p:nvPr/>
        </p:nvPicPr>
        <p:blipFill>
          <a:blip r:embed="rId3"/>
          <a:stretch>
            <a:fillRect/>
          </a:stretch>
        </p:blipFill>
        <p:spPr>
          <a:xfrm>
            <a:off x="804672" y="3247240"/>
            <a:ext cx="6382512" cy="1515662"/>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学習前との違い</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単語のランダムな羅列から、</a:t>
            </a:r>
          </a:p>
          <a:p>
            <a:pPr algn="l">
              <a:lnSpc>
                <a:spcPct val="108000"/>
              </a:lnSpc>
              <a:spcBef>
                <a:spcPts val="0"/>
              </a:spcBef>
              <a:spcAft>
                <a:spcPts val="400"/>
              </a:spcAft>
            </a:pPr>
            <a:r>
              <a:rPr sz="1800" b="0" lang="ja-JP" altLang="en-US">
                <a:solidFill>
                  <a:srgbClr val="111111"/>
                </a:solidFill>
                <a:latin typeface="游ゴシック"/>
                <a:ea typeface="游ゴシック"/>
              </a:rPr>
              <a:t>文らしい並びが現れる。</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見られる特徴</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主語と動詞、形容詞と名詞などの</a:t>
            </a:r>
          </a:p>
          <a:p>
            <a:pPr algn="l">
              <a:lnSpc>
                <a:spcPct val="108000"/>
              </a:lnSpc>
              <a:spcBef>
                <a:spcPts val="0"/>
              </a:spcBef>
              <a:spcAft>
                <a:spcPts val="400"/>
              </a:spcAft>
            </a:pPr>
            <a:r>
              <a:rPr sz="1800" b="0" lang="ja-JP" altLang="en-US">
                <a:solidFill>
                  <a:srgbClr val="111111"/>
                </a:solidFill>
                <a:latin typeface="游ゴシック"/>
                <a:ea typeface="游ゴシック"/>
              </a:rPr>
              <a:t>組み合わせが一部自然になる。</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残る問題</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文法や意味の不自然さもある。</a:t>
            </a:r>
          </a:p>
          <a:p>
            <a:pPr algn="l">
              <a:lnSpc>
                <a:spcPct val="108000"/>
              </a:lnSpc>
              <a:spcBef>
                <a:spcPts val="0"/>
              </a:spcBef>
              <a:spcAft>
                <a:spcPts val="400"/>
              </a:spcAft>
            </a:pPr>
            <a:r>
              <a:rPr sz="1800" b="0" lang="ja-JP" altLang="en-US">
                <a:solidFill>
                  <a:srgbClr val="111111"/>
                </a:solidFill>
                <a:latin typeface="游ゴシック"/>
                <a:ea typeface="游ゴシック"/>
              </a:rPr>
              <a:t>さらに良い言語モデルへ進む。</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学習済みRNNLMの生成例（書籍）｜p.285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93115" y="423367"/>
            <a:ext cx="10789920" cy="585216"/>
          </a:xfrm>
          <a:prstGeom prst="rect">
            <a:avLst/>
          </a:prstGeom>
          <a:noFill/>
        </p:spPr>
        <p:txBody>
          <a:bodyPr wrap="square" lIns="54864" rIns="54864" tIns="54864" bIns="54864">
            <a:spAutoFit/>
          </a:bodyPr>
          <a:lstStyle/>
          <a:p>
            <a:pPr algn="l">
              <a:lnSpc>
                <a:spcPct val="108000"/>
              </a:lnSpc>
              <a:spcBef>
                <a:spcPts val="0"/>
              </a:spcBef>
              <a:spcAft>
                <a:spcPts val="400"/>
              </a:spcAft>
            </a:pPr>
            <a:r>
              <a:rPr sz="3200" b="0" lang="ja-JP" altLang="en-US">
                <a:solidFill>
                  <a:srgbClr val="111111"/>
                </a:solidFill>
                <a:latin typeface="游ゴシック"/>
                <a:ea typeface="游ゴシック"/>
              </a:rPr>
              <a:t>7.1.3 さらに良い文章へ</a:t>
            </a:r>
          </a:p>
        </p:txBody>
      </p:sp>
      <p:sp>
        <p:nvSpPr>
          <p:cNvPr id="3" name="TextBox 2"/>
          <p:cNvSpPr txBox="1"/>
          <p:nvPr/>
        </p:nvSpPr>
        <p:spPr>
          <a:xfrm>
            <a:off x="925372" y="1016812"/>
            <a:ext cx="10378440" cy="621792"/>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BetterRnnlmによる文章生成</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9</a:t>
            </a:r>
          </a:p>
        </p:txBody>
      </p:sp>
      <p:pic>
        <p:nvPicPr>
          <p:cNvPr id="5" name="Picture 4" descr="better_sample.jpg"/>
          <p:cNvPicPr>
            <a:picLocks noChangeAspect="1"/>
          </p:cNvPicPr>
          <p:nvPr/>
        </p:nvPicPr>
        <p:blipFill>
          <a:blip r:embed="rId3"/>
          <a:stretch>
            <a:fillRect/>
          </a:stretch>
        </p:blipFill>
        <p:spPr>
          <a:xfrm>
            <a:off x="804672" y="3198059"/>
            <a:ext cx="6382512" cy="1614024"/>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より良い言語モデル</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前章で改良したBetterRnnlmを</a:t>
            </a:r>
          </a:p>
          <a:p>
            <a:pPr algn="l">
              <a:lnSpc>
                <a:spcPct val="108000"/>
              </a:lnSpc>
              <a:spcBef>
                <a:spcPts val="0"/>
              </a:spcBef>
              <a:spcAft>
                <a:spcPts val="400"/>
              </a:spcAft>
            </a:pPr>
            <a:r>
              <a:rPr sz="1800" b="0" lang="ja-JP" altLang="en-US">
                <a:solidFill>
                  <a:srgbClr val="111111"/>
                </a:solidFill>
                <a:latin typeface="游ゴシック"/>
                <a:ea typeface="游ゴシック"/>
              </a:rPr>
              <a:t>継承して生成機能を加える。</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書籍の生成例</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主語・動詞・目的語などが、</a:t>
            </a:r>
          </a:p>
          <a:p>
            <a:pPr algn="l">
              <a:lnSpc>
                <a:spcPct val="108000"/>
              </a:lnSpc>
              <a:spcBef>
                <a:spcPts val="0"/>
              </a:spcBef>
              <a:spcAft>
                <a:spcPts val="400"/>
              </a:spcAft>
            </a:pPr>
            <a:r>
              <a:rPr sz="1800" b="0" lang="ja-JP" altLang="en-US">
                <a:solidFill>
                  <a:srgbClr val="111111"/>
                </a:solidFill>
                <a:latin typeface="游ゴシック"/>
                <a:ea typeface="游ゴシック"/>
              </a:rPr>
              <a:t>より自然につながっている。</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生成の品質</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予測性能が上がると、</a:t>
            </a:r>
          </a:p>
          <a:p>
            <a:pPr algn="l">
              <a:lnSpc>
                <a:spcPct val="108000"/>
              </a:lnSpc>
              <a:spcBef>
                <a:spcPts val="0"/>
              </a:spcBef>
              <a:spcAft>
                <a:spcPts val="400"/>
              </a:spcAft>
            </a:pPr>
            <a:r>
              <a:rPr sz="1800" b="0" lang="ja-JP" altLang="en-US">
                <a:solidFill>
                  <a:srgbClr val="111111"/>
                </a:solidFill>
                <a:latin typeface="游ゴシック"/>
                <a:ea typeface="游ゴシック"/>
              </a:rPr>
              <a:t>自然な文章も期待できる。</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BetterRnnlmの生成例（書籍）｜p.286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93115" y="423367"/>
            <a:ext cx="10789920" cy="585216"/>
          </a:xfrm>
          <a:prstGeom prst="rect">
            <a:avLst/>
          </a:prstGeom>
          <a:noFill/>
        </p:spPr>
        <p:txBody>
          <a:bodyPr wrap="square" lIns="54864" rIns="54864" tIns="54864" bIns="54864">
            <a:spAutoFit/>
          </a:bodyPr>
          <a:lstStyle/>
          <a:p>
            <a:pPr algn="l">
              <a:lnSpc>
                <a:spcPct val="108000"/>
              </a:lnSpc>
              <a:spcBef>
                <a:spcPts val="0"/>
              </a:spcBef>
              <a:spcAft>
                <a:spcPts val="400"/>
              </a:spcAft>
            </a:pPr>
            <a:r>
              <a:rPr sz="3200" b="0" lang="ja-JP" altLang="en-US">
                <a:solidFill>
                  <a:srgbClr val="111111"/>
                </a:solidFill>
                <a:latin typeface="游ゴシック"/>
                <a:ea typeface="游ゴシック"/>
              </a:rPr>
              <a:t>7.1.3 さらに良い文章へ</a:t>
            </a:r>
          </a:p>
        </p:txBody>
      </p:sp>
      <p:sp>
        <p:nvSpPr>
          <p:cNvPr id="3" name="TextBox 2"/>
          <p:cNvSpPr txBox="1"/>
          <p:nvPr/>
        </p:nvSpPr>
        <p:spPr>
          <a:xfrm>
            <a:off x="925372" y="1016812"/>
            <a:ext cx="10378440" cy="621792"/>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書き出しを与えて、続きの文章を作る</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10</a:t>
            </a:r>
          </a:p>
        </p:txBody>
      </p:sp>
      <p:pic>
        <p:nvPicPr>
          <p:cNvPr id="5" name="Picture 4" descr="prefix_sample.jpg"/>
          <p:cNvPicPr>
            <a:picLocks noChangeAspect="1"/>
          </p:cNvPicPr>
          <p:nvPr/>
        </p:nvPicPr>
        <p:blipFill>
          <a:blip r:embed="rId3"/>
          <a:stretch>
            <a:fillRect/>
          </a:stretch>
        </p:blipFill>
        <p:spPr>
          <a:xfrm>
            <a:off x="804672" y="3800831"/>
            <a:ext cx="6382512" cy="408480"/>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与える語句</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the meaning of lifeを、</a:t>
            </a:r>
          </a:p>
          <a:p>
            <a:pPr algn="l">
              <a:lnSpc>
                <a:spcPct val="108000"/>
              </a:lnSpc>
              <a:spcBef>
                <a:spcPts val="0"/>
              </a:spcBef>
              <a:spcAft>
                <a:spcPts val="400"/>
              </a:spcAft>
            </a:pPr>
            <a:r>
              <a:rPr sz="1800" b="0" lang="ja-JP" altLang="en-US">
                <a:solidFill>
                  <a:srgbClr val="111111"/>
                </a:solidFill>
                <a:latin typeface="游ゴシック"/>
                <a:ea typeface="游ゴシック"/>
              </a:rPr>
              <a:t>単語ごとに順番に入力する。</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文脈を蓄える</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途中の出力を使わなくても、</a:t>
            </a:r>
          </a:p>
          <a:p>
            <a:pPr algn="l">
              <a:lnSpc>
                <a:spcPct val="108000"/>
              </a:lnSpc>
              <a:spcBef>
                <a:spcPts val="0"/>
              </a:spcBef>
              <a:spcAft>
                <a:spcPts val="400"/>
              </a:spcAft>
            </a:pPr>
            <a:r>
              <a:rPr sz="1800" b="0" lang="ja-JP" altLang="en-US">
                <a:solidFill>
                  <a:srgbClr val="111111"/>
                </a:solidFill>
                <a:latin typeface="游ゴシック"/>
                <a:ea typeface="游ゴシック"/>
              </a:rPr>
              <a:t>LSTMの状態に情報が残る。</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続きの生成</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次に「is」を入力し、</a:t>
            </a:r>
          </a:p>
          <a:p>
            <a:pPr algn="l">
              <a:lnSpc>
                <a:spcPct val="108000"/>
              </a:lnSpc>
              <a:spcBef>
                <a:spcPts val="0"/>
              </a:spcBef>
              <a:spcAft>
                <a:spcPts val="400"/>
              </a:spcAft>
            </a:pPr>
            <a:r>
              <a:rPr sz="1800" b="0" lang="ja-JP" altLang="en-US">
                <a:solidFill>
                  <a:srgbClr val="111111"/>
                </a:solidFill>
                <a:latin typeface="游ゴシック"/>
                <a:ea typeface="游ゴシック"/>
              </a:rPr>
              <a:t>その後の語を生成していく。</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指定した文の続きの生成例（書籍）｜p.287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93115" y="423367"/>
            <a:ext cx="10789920" cy="585216"/>
          </a:xfrm>
          <a:prstGeom prst="rect">
            <a:avLst/>
          </a:prstGeom>
          <a:noFill/>
        </p:spPr>
        <p:txBody>
          <a:bodyPr wrap="square" lIns="54864" rIns="54864" tIns="54864" bIns="54864">
            <a:spAutoFit/>
          </a:bodyPr>
          <a:lstStyle/>
          <a:p>
            <a:pPr algn="l">
              <a:lnSpc>
                <a:spcPct val="108000"/>
              </a:lnSpc>
              <a:spcBef>
                <a:spcPts val="0"/>
              </a:spcBef>
              <a:spcAft>
                <a:spcPts val="400"/>
              </a:spcAft>
            </a:pPr>
            <a:r>
              <a:rPr sz="3200" b="0" lang="ja-JP" altLang="en-US">
                <a:solidFill>
                  <a:srgbClr val="111111"/>
                </a:solidFill>
                <a:latin typeface="游ゴシック"/>
                <a:ea typeface="游ゴシック"/>
              </a:rPr>
              <a:t>7.2.1 seq2seqの原理</a:t>
            </a:r>
          </a:p>
        </p:txBody>
      </p:sp>
      <p:sp>
        <p:nvSpPr>
          <p:cNvPr id="3" name="TextBox 2"/>
          <p:cNvSpPr txBox="1"/>
          <p:nvPr/>
        </p:nvSpPr>
        <p:spPr>
          <a:xfrm>
            <a:off x="925372" y="1016812"/>
            <a:ext cx="10378440" cy="621792"/>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EncoderとDecoderを組み合わせる</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11</a:t>
            </a:r>
          </a:p>
        </p:txBody>
      </p:sp>
      <p:pic>
        <p:nvPicPr>
          <p:cNvPr id="5" name="Picture 4" descr="fig7-5.jpg"/>
          <p:cNvPicPr>
            <a:picLocks noChangeAspect="1"/>
          </p:cNvPicPr>
          <p:nvPr/>
        </p:nvPicPr>
        <p:blipFill>
          <a:blip r:embed="rId3"/>
          <a:stretch>
            <a:fillRect/>
          </a:stretch>
        </p:blipFill>
        <p:spPr>
          <a:xfrm>
            <a:off x="804671" y="2838486"/>
            <a:ext cx="6382512" cy="2333171"/>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Encoder</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入力の時系列を読み、</a:t>
            </a:r>
          </a:p>
          <a:p>
            <a:pPr algn="l">
              <a:lnSpc>
                <a:spcPct val="108000"/>
              </a:lnSpc>
              <a:spcBef>
                <a:spcPts val="0"/>
              </a:spcBef>
              <a:spcAft>
                <a:spcPts val="400"/>
              </a:spcAft>
            </a:pPr>
            <a:r>
              <a:rPr sz="1800" b="0" lang="ja-JP" altLang="en-US">
                <a:solidFill>
                  <a:srgbClr val="111111"/>
                </a:solidFill>
                <a:latin typeface="游ゴシック"/>
                <a:ea typeface="游ゴシック"/>
              </a:rPr>
              <a:t>情報をベクトルにまとめる。</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Decoder</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受け取った情報を使い、</a:t>
            </a:r>
          </a:p>
          <a:p>
            <a:pPr algn="l">
              <a:lnSpc>
                <a:spcPct val="108000"/>
              </a:lnSpc>
              <a:spcBef>
                <a:spcPts val="0"/>
              </a:spcBef>
              <a:spcAft>
                <a:spcPts val="400"/>
              </a:spcAft>
            </a:pPr>
            <a:r>
              <a:rPr sz="1800" b="0" lang="ja-JP" altLang="en-US">
                <a:solidFill>
                  <a:srgbClr val="111111"/>
                </a:solidFill>
                <a:latin typeface="游ゴシック"/>
                <a:ea typeface="游ゴシック"/>
              </a:rPr>
              <a:t>別の時系列を生成する。</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翻訳の例</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「吾輩は猫である」を、</a:t>
            </a:r>
          </a:p>
          <a:p>
            <a:pPr algn="l">
              <a:lnSpc>
                <a:spcPct val="108000"/>
              </a:lnSpc>
              <a:spcBef>
                <a:spcPts val="0"/>
              </a:spcBef>
              <a:spcAft>
                <a:spcPts val="400"/>
              </a:spcAft>
            </a:pPr>
            <a:r>
              <a:rPr sz="1800" b="0" lang="ja-JP" altLang="en-US">
                <a:solidFill>
                  <a:srgbClr val="111111"/>
                </a:solidFill>
                <a:latin typeface="游ゴシック"/>
                <a:ea typeface="游ゴシック"/>
              </a:rPr>
              <a:t>「I am a cat」に変換する。</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図7-5　EncoderとDecoderによる翻訳｜p.288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93115" y="423367"/>
            <a:ext cx="10789920" cy="585216"/>
          </a:xfrm>
          <a:prstGeom prst="rect">
            <a:avLst/>
          </a:prstGeom>
          <a:noFill/>
        </p:spPr>
        <p:txBody>
          <a:bodyPr wrap="square" lIns="54864" rIns="54864" tIns="54864" bIns="54864">
            <a:spAutoFit/>
          </a:bodyPr>
          <a:lstStyle/>
          <a:p>
            <a:pPr algn="l">
              <a:lnSpc>
                <a:spcPct val="108000"/>
              </a:lnSpc>
              <a:spcBef>
                <a:spcPts val="0"/>
              </a:spcBef>
              <a:spcAft>
                <a:spcPts val="400"/>
              </a:spcAft>
            </a:pPr>
            <a:r>
              <a:rPr sz="3200" b="0" lang="ja-JP" altLang="en-US">
                <a:solidFill>
                  <a:srgbClr val="111111"/>
                </a:solidFill>
                <a:latin typeface="游ゴシック"/>
                <a:ea typeface="游ゴシック"/>
              </a:rPr>
              <a:t>7.2.1 seq2seqの原理</a:t>
            </a:r>
          </a:p>
        </p:txBody>
      </p:sp>
      <p:sp>
        <p:nvSpPr>
          <p:cNvPr id="3" name="TextBox 2"/>
          <p:cNvSpPr txBox="1"/>
          <p:nvPr/>
        </p:nvSpPr>
        <p:spPr>
          <a:xfrm>
            <a:off x="925372" y="1016812"/>
            <a:ext cx="10378440" cy="621792"/>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Encoder：入力文を順番に読み取る</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12</a:t>
            </a:r>
          </a:p>
        </p:txBody>
      </p:sp>
      <p:pic>
        <p:nvPicPr>
          <p:cNvPr id="5" name="Picture 4" descr="fig7-6.jpg"/>
          <p:cNvPicPr>
            <a:picLocks noChangeAspect="1"/>
          </p:cNvPicPr>
          <p:nvPr/>
        </p:nvPicPr>
        <p:blipFill>
          <a:blip r:embed="rId3"/>
          <a:stretch>
            <a:fillRect/>
          </a:stretch>
        </p:blipFill>
        <p:spPr>
          <a:xfrm>
            <a:off x="804672" y="2796019"/>
            <a:ext cx="6382512" cy="2418104"/>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Embedding</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各単語IDを、対応する</a:t>
            </a:r>
          </a:p>
          <a:p>
            <a:pPr algn="l">
              <a:lnSpc>
                <a:spcPct val="108000"/>
              </a:lnSpc>
              <a:spcBef>
                <a:spcPts val="0"/>
              </a:spcBef>
              <a:spcAft>
                <a:spcPts val="400"/>
              </a:spcAft>
            </a:pPr>
            <a:r>
              <a:rPr sz="1800" b="0" lang="ja-JP" altLang="en-US">
                <a:solidFill>
                  <a:srgbClr val="111111"/>
                </a:solidFill>
                <a:latin typeface="游ゴシック"/>
                <a:ea typeface="游ゴシック"/>
              </a:rPr>
              <a:t>単語ベクトルに変換する。</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LSTM</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入力を順番に処理し、</a:t>
            </a:r>
          </a:p>
          <a:p>
            <a:pPr algn="l">
              <a:lnSpc>
                <a:spcPct val="108000"/>
              </a:lnSpc>
              <a:spcBef>
                <a:spcPts val="0"/>
              </a:spcBef>
              <a:spcAft>
                <a:spcPts val="400"/>
              </a:spcAft>
            </a:pPr>
            <a:r>
              <a:rPr sz="1800" b="0" lang="ja-JP" altLang="en-US">
                <a:solidFill>
                  <a:srgbClr val="111111"/>
                </a:solidFill>
                <a:latin typeface="游ゴシック"/>
                <a:ea typeface="游ゴシック"/>
              </a:rPr>
              <a:t>隠れ状態を更新していく。</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最後の隠れ状態h</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文を読み終えたときのhを、</a:t>
            </a:r>
          </a:p>
          <a:p>
            <a:pPr algn="l">
              <a:lnSpc>
                <a:spcPct val="108000"/>
              </a:lnSpc>
              <a:spcBef>
                <a:spcPts val="0"/>
              </a:spcBef>
              <a:spcAft>
                <a:spcPts val="400"/>
              </a:spcAft>
            </a:pPr>
            <a:r>
              <a:rPr sz="1800" b="0" lang="ja-JP" altLang="en-US">
                <a:solidFill>
                  <a:srgbClr val="111111"/>
                </a:solidFill>
                <a:latin typeface="游ゴシック"/>
                <a:ea typeface="游ゴシック"/>
              </a:rPr>
              <a:t>Decoderに渡す。</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図7-6　Encoderを構成するレイヤ｜p.289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93115" y="423367"/>
            <a:ext cx="10789920" cy="585216"/>
          </a:xfrm>
          <a:prstGeom prst="rect">
            <a:avLst/>
          </a:prstGeom>
          <a:noFill/>
        </p:spPr>
        <p:txBody>
          <a:bodyPr wrap="square" lIns="54864" rIns="54864" tIns="54864" bIns="54864">
            <a:spAutoFit/>
          </a:bodyPr>
          <a:lstStyle/>
          <a:p>
            <a:pPr algn="l">
              <a:lnSpc>
                <a:spcPct val="108000"/>
              </a:lnSpc>
              <a:spcBef>
                <a:spcPts val="0"/>
              </a:spcBef>
              <a:spcAft>
                <a:spcPts val="400"/>
              </a:spcAft>
            </a:pPr>
            <a:r>
              <a:rPr sz="3200" b="0" lang="ja-JP" altLang="en-US">
                <a:solidFill>
                  <a:srgbClr val="111111"/>
                </a:solidFill>
                <a:latin typeface="游ゴシック"/>
                <a:ea typeface="游ゴシック"/>
              </a:rPr>
              <a:t>7.2.1 seq2seqの原理</a:t>
            </a:r>
          </a:p>
        </p:txBody>
      </p:sp>
      <p:sp>
        <p:nvSpPr>
          <p:cNvPr id="3" name="TextBox 2"/>
          <p:cNvSpPr txBox="1"/>
          <p:nvPr/>
        </p:nvSpPr>
        <p:spPr>
          <a:xfrm>
            <a:off x="925372" y="1016812"/>
            <a:ext cx="10378440" cy="621792"/>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長さの異なる文章を、固定長のhへ</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13</a:t>
            </a:r>
          </a:p>
        </p:txBody>
      </p:sp>
      <p:pic>
        <p:nvPicPr>
          <p:cNvPr id="5" name="Picture 4" descr="fig7-7.jpg"/>
          <p:cNvPicPr>
            <a:picLocks noChangeAspect="1"/>
          </p:cNvPicPr>
          <p:nvPr/>
        </p:nvPicPr>
        <p:blipFill>
          <a:blip r:embed="rId3"/>
          <a:stretch>
            <a:fillRect/>
          </a:stretch>
        </p:blipFill>
        <p:spPr>
          <a:xfrm>
            <a:off x="804672" y="2071751"/>
            <a:ext cx="6382512" cy="3866641"/>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可変長の入力</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短い文でも長い文でも、</a:t>
            </a:r>
          </a:p>
          <a:p>
            <a:pPr algn="l">
              <a:lnSpc>
                <a:spcPct val="108000"/>
              </a:lnSpc>
              <a:spcBef>
                <a:spcPts val="0"/>
              </a:spcBef>
              <a:spcAft>
                <a:spcPts val="400"/>
              </a:spcAft>
            </a:pPr>
            <a:r>
              <a:rPr sz="1800" b="0" lang="ja-JP" altLang="en-US">
                <a:solidFill>
                  <a:srgbClr val="111111"/>
                </a:solidFill>
                <a:latin typeface="游ゴシック"/>
                <a:ea typeface="游ゴシック"/>
              </a:rPr>
              <a:t>Encoderで処理できる。</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固定長の出力</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hの次元数は、文章の長さに</a:t>
            </a:r>
          </a:p>
          <a:p>
            <a:pPr algn="l">
              <a:lnSpc>
                <a:spcPct val="108000"/>
              </a:lnSpc>
              <a:spcBef>
                <a:spcPts val="0"/>
              </a:spcBef>
              <a:spcAft>
                <a:spcPts val="400"/>
              </a:spcAft>
            </a:pPr>
            <a:r>
              <a:rPr sz="1800" b="0" lang="ja-JP" altLang="en-US">
                <a:solidFill>
                  <a:srgbClr val="111111"/>
                </a:solidFill>
                <a:latin typeface="游ゴシック"/>
                <a:ea typeface="游ゴシック"/>
              </a:rPr>
              <a:t>かかわらず同じになる。</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情報の受け渡し</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Decoderは、このhを手掛かりに</a:t>
            </a:r>
          </a:p>
          <a:p>
            <a:pPr algn="l">
              <a:lnSpc>
                <a:spcPct val="108000"/>
              </a:lnSpc>
              <a:spcBef>
                <a:spcPts val="0"/>
              </a:spcBef>
              <a:spcAft>
                <a:spcPts val="400"/>
              </a:spcAft>
            </a:pPr>
            <a:r>
              <a:rPr sz="1800" b="0" lang="ja-JP" altLang="en-US">
                <a:solidFill>
                  <a:srgbClr val="111111"/>
                </a:solidFill>
                <a:latin typeface="游ゴシック"/>
                <a:ea typeface="游ゴシック"/>
              </a:rPr>
              <a:t>出力する文章を作る。</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図7-7　文章を固定長のベクトルへ｜p.289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93115" y="423367"/>
            <a:ext cx="10789920" cy="585216"/>
          </a:xfrm>
          <a:prstGeom prst="rect">
            <a:avLst/>
          </a:prstGeom>
          <a:noFill/>
        </p:spPr>
        <p:txBody>
          <a:bodyPr wrap="square" lIns="54864" rIns="54864" tIns="54864" bIns="54864">
            <a:spAutoFit/>
          </a:bodyPr>
          <a:lstStyle/>
          <a:p>
            <a:pPr algn="l">
              <a:lnSpc>
                <a:spcPct val="108000"/>
              </a:lnSpc>
              <a:spcBef>
                <a:spcPts val="0"/>
              </a:spcBef>
              <a:spcAft>
                <a:spcPts val="400"/>
              </a:spcAft>
            </a:pPr>
            <a:r>
              <a:rPr sz="3200" b="0" lang="ja-JP" altLang="en-US">
                <a:solidFill>
                  <a:srgbClr val="111111"/>
                </a:solidFill>
                <a:latin typeface="游ゴシック"/>
                <a:ea typeface="游ゴシック"/>
              </a:rPr>
              <a:t>7.2.1 seq2seqの原理</a:t>
            </a:r>
          </a:p>
        </p:txBody>
      </p:sp>
      <p:sp>
        <p:nvSpPr>
          <p:cNvPr id="3" name="TextBox 2"/>
          <p:cNvSpPr txBox="1"/>
          <p:nvPr/>
        </p:nvSpPr>
        <p:spPr>
          <a:xfrm>
            <a:off x="925372" y="1016812"/>
            <a:ext cx="10378440" cy="621792"/>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Decoder：hを使って翻訳文を生成する</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14</a:t>
            </a:r>
          </a:p>
        </p:txBody>
      </p:sp>
      <p:pic>
        <p:nvPicPr>
          <p:cNvPr id="5" name="Picture 4" descr="fig7-8.jpg"/>
          <p:cNvPicPr>
            <a:picLocks noChangeAspect="1"/>
          </p:cNvPicPr>
          <p:nvPr/>
        </p:nvPicPr>
        <p:blipFill>
          <a:blip r:embed="rId3"/>
          <a:stretch>
            <a:fillRect/>
          </a:stretch>
        </p:blipFill>
        <p:spPr>
          <a:xfrm>
            <a:off x="804672" y="2128402"/>
            <a:ext cx="6382512" cy="3753339"/>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hを初期状態へ</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Encoderの出力を、</a:t>
            </a:r>
          </a:p>
          <a:p>
            <a:pPr algn="l">
              <a:lnSpc>
                <a:spcPct val="108000"/>
              </a:lnSpc>
              <a:spcBef>
                <a:spcPts val="0"/>
              </a:spcBef>
              <a:spcAft>
                <a:spcPts val="400"/>
              </a:spcAft>
            </a:pPr>
            <a:r>
              <a:rPr sz="1800" b="0" lang="ja-JP" altLang="en-US">
                <a:solidFill>
                  <a:srgbClr val="111111"/>
                </a:solidFill>
                <a:latin typeface="游ゴシック"/>
                <a:ea typeface="游ゴシック"/>
              </a:rPr>
              <a:t>DecoderのLSTMに設定する。</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生成の流れ</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開始記号 → I → am → a → cat</a:t>
            </a:r>
          </a:p>
          <a:p>
            <a:pPr algn="l">
              <a:lnSpc>
                <a:spcPct val="108000"/>
              </a:lnSpc>
              <a:spcBef>
                <a:spcPts val="0"/>
              </a:spcBef>
              <a:spcAft>
                <a:spcPts val="400"/>
              </a:spcAft>
            </a:pPr>
            <a:r>
              <a:rPr sz="1800" b="0" lang="ja-JP" altLang="en-US">
                <a:solidFill>
                  <a:srgbClr val="111111"/>
                </a:solidFill>
                <a:latin typeface="游ゴシック"/>
                <a:ea typeface="游ゴシック"/>
              </a:rPr>
              <a:t>と、前の出力を入力する。</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開始と終了</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図では&lt;eos&gt;を区切り記号として</a:t>
            </a:r>
          </a:p>
          <a:p>
            <a:pPr algn="l">
              <a:lnSpc>
                <a:spcPct val="108000"/>
              </a:lnSpc>
              <a:spcBef>
                <a:spcPts val="0"/>
              </a:spcBef>
              <a:spcAft>
                <a:spcPts val="400"/>
              </a:spcAft>
            </a:pPr>
            <a:r>
              <a:rPr sz="1800" b="0" lang="ja-JP" altLang="en-US">
                <a:solidFill>
                  <a:srgbClr val="111111"/>
                </a:solidFill>
                <a:latin typeface="游ゴシック"/>
                <a:ea typeface="游ゴシック"/>
              </a:rPr>
              <a:t>生成開始・終了に利用する。</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図7-8　Decoderを構成するレイヤ｜p.290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93115" y="423367"/>
            <a:ext cx="10789920" cy="585216"/>
          </a:xfrm>
          <a:prstGeom prst="rect">
            <a:avLst/>
          </a:prstGeom>
          <a:noFill/>
        </p:spPr>
        <p:txBody>
          <a:bodyPr wrap="square" lIns="54864" rIns="54864" tIns="54864" bIns="54864">
            <a:spAutoFit/>
          </a:bodyPr>
          <a:lstStyle/>
          <a:p>
            <a:pPr algn="l">
              <a:lnSpc>
                <a:spcPct val="108000"/>
              </a:lnSpc>
              <a:spcBef>
                <a:spcPts val="0"/>
              </a:spcBef>
              <a:spcAft>
                <a:spcPts val="400"/>
              </a:spcAft>
            </a:pPr>
            <a:r>
              <a:rPr sz="3200" b="0" lang="ja-JP" altLang="en-US">
                <a:solidFill>
                  <a:srgbClr val="111111"/>
                </a:solidFill>
                <a:latin typeface="游ゴシック"/>
                <a:ea typeface="游ゴシック"/>
              </a:rPr>
              <a:t>7.2.2 時系列データ変換用のトイ・プロブレム</a:t>
            </a:r>
          </a:p>
        </p:txBody>
      </p:sp>
      <p:sp>
        <p:nvSpPr>
          <p:cNvPr id="3" name="TextBox 2"/>
          <p:cNvSpPr txBox="1"/>
          <p:nvPr/>
        </p:nvSpPr>
        <p:spPr>
          <a:xfrm>
            <a:off x="925372" y="1016812"/>
            <a:ext cx="10378440" cy="621792"/>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「足し算」を文字列の変換として学習する</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15</a:t>
            </a:r>
          </a:p>
        </p:txBody>
      </p:sp>
      <p:pic>
        <p:nvPicPr>
          <p:cNvPr id="5" name="Picture 4" descr="fig7-10.jpg"/>
          <p:cNvPicPr>
            <a:picLocks noChangeAspect="1"/>
          </p:cNvPicPr>
          <p:nvPr/>
        </p:nvPicPr>
        <p:blipFill>
          <a:blip r:embed="rId3"/>
          <a:stretch>
            <a:fillRect/>
          </a:stretch>
        </p:blipFill>
        <p:spPr>
          <a:xfrm>
            <a:off x="804672" y="2573480"/>
            <a:ext cx="6382512" cy="2863182"/>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入力と出力</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「57+5」を入力し、</a:t>
            </a:r>
          </a:p>
          <a:p>
            <a:pPr algn="l">
              <a:lnSpc>
                <a:spcPct val="108000"/>
              </a:lnSpc>
              <a:spcBef>
                <a:spcPts val="0"/>
              </a:spcBef>
              <a:spcAft>
                <a:spcPts val="400"/>
              </a:spcAft>
            </a:pPr>
            <a:r>
              <a:rPr sz="1800" b="0" lang="ja-JP" altLang="en-US">
                <a:solidFill>
                  <a:srgbClr val="111111"/>
                </a:solidFill>
                <a:latin typeface="游ゴシック"/>
                <a:ea typeface="游ゴシック"/>
              </a:rPr>
              <a:t>「62」という文字列を出す。</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文字単位で扱う</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数字や「+」を1文字ずつ</a:t>
            </a:r>
          </a:p>
          <a:p>
            <a:pPr algn="l">
              <a:lnSpc>
                <a:spcPct val="108000"/>
              </a:lnSpc>
              <a:spcBef>
                <a:spcPts val="0"/>
              </a:spcBef>
              <a:spcAft>
                <a:spcPts val="400"/>
              </a:spcAft>
            </a:pPr>
            <a:r>
              <a:rPr sz="1800" b="0" lang="ja-JP" altLang="en-US">
                <a:solidFill>
                  <a:srgbClr val="111111"/>
                </a:solidFill>
                <a:latin typeface="游ゴシック"/>
                <a:ea typeface="游ゴシック"/>
              </a:rPr>
              <a:t>IDに変換して入力する。</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学ぶ対象</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加算の例を使って、</a:t>
            </a:r>
          </a:p>
          <a:p>
            <a:pPr algn="l">
              <a:lnSpc>
                <a:spcPct val="108000"/>
              </a:lnSpc>
              <a:spcBef>
                <a:spcPts val="0"/>
              </a:spcBef>
              <a:spcAft>
                <a:spcPts val="400"/>
              </a:spcAft>
            </a:pPr>
            <a:r>
              <a:rPr sz="1800" b="0" lang="ja-JP" altLang="en-US">
                <a:solidFill>
                  <a:srgbClr val="111111"/>
                </a:solidFill>
                <a:latin typeface="游ゴシック"/>
                <a:ea typeface="游ゴシック"/>
              </a:rPr>
              <a:t>文字列の対応を学習する。</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図7-10　seq2seqに足し算を学習させる｜p.292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93115" y="423367"/>
            <a:ext cx="10789920" cy="585216"/>
          </a:xfrm>
          <a:prstGeom prst="rect">
            <a:avLst/>
          </a:prstGeom>
          <a:noFill/>
        </p:spPr>
        <p:txBody>
          <a:bodyPr wrap="square" lIns="54864" rIns="54864" tIns="54864" bIns="54864">
            <a:spAutoFit/>
          </a:bodyPr>
          <a:lstStyle/>
          <a:p>
            <a:pPr algn="l">
              <a:lnSpc>
                <a:spcPct val="108000"/>
              </a:lnSpc>
              <a:spcBef>
                <a:spcPts val="0"/>
              </a:spcBef>
              <a:spcAft>
                <a:spcPts val="400"/>
              </a:spcAft>
            </a:pPr>
            <a:r>
              <a:rPr sz="3200" b="0" lang="ja-JP" altLang="en-US">
                <a:solidFill>
                  <a:srgbClr val="111111"/>
                </a:solidFill>
                <a:latin typeface="游ゴシック"/>
                <a:ea typeface="游ゴシック"/>
              </a:rPr>
              <a:t>7.2.3 可変長の時系列データ</a:t>
            </a:r>
          </a:p>
        </p:txBody>
      </p:sp>
      <p:sp>
        <p:nvSpPr>
          <p:cNvPr id="3" name="TextBox 2"/>
          <p:cNvSpPr txBox="1"/>
          <p:nvPr/>
        </p:nvSpPr>
        <p:spPr>
          <a:xfrm>
            <a:off x="925372" y="1016812"/>
            <a:ext cx="10378440" cy="621792"/>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パディングでミニバッチの長さをそろえる</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16</a:t>
            </a:r>
          </a:p>
        </p:txBody>
      </p:sp>
      <p:pic>
        <p:nvPicPr>
          <p:cNvPr id="5" name="Picture 4" descr="fig7-11.jpg"/>
          <p:cNvPicPr>
            <a:picLocks noChangeAspect="1"/>
          </p:cNvPicPr>
          <p:nvPr/>
        </p:nvPicPr>
        <p:blipFill>
          <a:blip r:embed="rId3"/>
          <a:stretch>
            <a:fillRect/>
          </a:stretch>
        </p:blipFill>
        <p:spPr>
          <a:xfrm>
            <a:off x="804672" y="3063026"/>
            <a:ext cx="6382512" cy="1884091"/>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入力は7文字</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0〜999の2数と「+」を扱う。</a:t>
            </a:r>
          </a:p>
          <a:p>
            <a:pPr algn="l">
              <a:lnSpc>
                <a:spcPct val="108000"/>
              </a:lnSpc>
              <a:spcBef>
                <a:spcPts val="0"/>
              </a:spcBef>
              <a:spcAft>
                <a:spcPts val="400"/>
              </a:spcAft>
            </a:pPr>
            <a:r>
              <a:rPr sz="1800" b="0" lang="ja-JP" altLang="en-US">
                <a:solidFill>
                  <a:srgbClr val="111111"/>
                </a:solidFill>
                <a:latin typeface="游ゴシック"/>
                <a:ea typeface="游ゴシック"/>
              </a:rPr>
              <a:t>不足分には空白文字を入れる。</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出力は5文字</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開始の「_」と答えを並べ、</a:t>
            </a:r>
          </a:p>
          <a:p>
            <a:pPr algn="l">
              <a:lnSpc>
                <a:spcPct val="108000"/>
              </a:lnSpc>
              <a:spcBef>
                <a:spcPts val="0"/>
              </a:spcBef>
              <a:spcAft>
                <a:spcPts val="400"/>
              </a:spcAft>
            </a:pPr>
            <a:r>
              <a:rPr sz="1800" b="0" lang="ja-JP" altLang="en-US">
                <a:solidFill>
                  <a:srgbClr val="111111"/>
                </a:solidFill>
                <a:latin typeface="游ゴシック"/>
                <a:ea typeface="游ゴシック"/>
              </a:rPr>
              <a:t>空白で長さをそろえる。</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本章での扱い</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空白文字も、通常の文字と</a:t>
            </a:r>
          </a:p>
          <a:p>
            <a:pPr algn="l">
              <a:lnSpc>
                <a:spcPct val="108000"/>
              </a:lnSpc>
              <a:spcBef>
                <a:spcPts val="0"/>
              </a:spcBef>
              <a:spcAft>
                <a:spcPts val="400"/>
              </a:spcAft>
            </a:pPr>
            <a:r>
              <a:rPr sz="1800" b="0" lang="ja-JP" altLang="en-US">
                <a:solidFill>
                  <a:srgbClr val="111111"/>
                </a:solidFill>
                <a:latin typeface="游ゴシック"/>
                <a:ea typeface="游ゴシック"/>
              </a:rPr>
              <a:t>同じように学習させる。</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図7-11　空白文字によるパディング｜p.293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93115" y="423367"/>
            <a:ext cx="10789920" cy="585216"/>
          </a:xfrm>
          <a:prstGeom prst="rect">
            <a:avLst/>
          </a:prstGeom>
          <a:noFill/>
        </p:spPr>
        <p:txBody>
          <a:bodyPr wrap="square" lIns="54864" rIns="54864" tIns="54864" bIns="54864">
            <a:spAutoFit/>
          </a:bodyPr>
          <a:lstStyle/>
          <a:p>
            <a:pPr algn="l">
              <a:lnSpc>
                <a:spcPct val="108000"/>
              </a:lnSpc>
              <a:spcBef>
                <a:spcPts val="0"/>
              </a:spcBef>
              <a:spcAft>
                <a:spcPts val="400"/>
              </a:spcAft>
            </a:pPr>
            <a:r>
              <a:rPr sz="3200" b="0" lang="ja-JP" altLang="en-US">
                <a:solidFill>
                  <a:srgbClr val="111111"/>
                </a:solidFill>
                <a:latin typeface="游ゴシック"/>
                <a:ea typeface="游ゴシック"/>
              </a:rPr>
              <a:t>7.2.4 足し算データセット</a:t>
            </a:r>
          </a:p>
        </p:txBody>
      </p:sp>
      <p:sp>
        <p:nvSpPr>
          <p:cNvPr id="3" name="TextBox 2"/>
          <p:cNvSpPr txBox="1"/>
          <p:nvPr/>
        </p:nvSpPr>
        <p:spPr>
          <a:xfrm>
            <a:off x="925372" y="1016812"/>
            <a:ext cx="10378440" cy="621792"/>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addition.txtの中身を確認する</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17</a:t>
            </a:r>
          </a:p>
        </p:txBody>
      </p:sp>
      <p:pic>
        <p:nvPicPr>
          <p:cNvPr id="5" name="Picture 4" descr="fig7-12.jpg"/>
          <p:cNvPicPr>
            <a:picLocks noChangeAspect="1"/>
          </p:cNvPicPr>
          <p:nvPr/>
        </p:nvPicPr>
        <p:blipFill>
          <a:blip r:embed="rId3"/>
          <a:stretch>
            <a:fillRect/>
          </a:stretch>
        </p:blipFill>
        <p:spPr>
          <a:xfrm>
            <a:off x="804671" y="2207805"/>
            <a:ext cx="6382512" cy="3594533"/>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50,000問を用意</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加算の問題文と答えが、</a:t>
            </a:r>
          </a:p>
          <a:p>
            <a:pPr algn="l">
              <a:lnSpc>
                <a:spcPct val="108000"/>
              </a:lnSpc>
              <a:spcBef>
                <a:spcPts val="0"/>
              </a:spcBef>
              <a:spcAft>
                <a:spcPts val="400"/>
              </a:spcAft>
            </a:pPr>
            <a:r>
              <a:rPr sz="1800" b="0" lang="ja-JP" altLang="en-US">
                <a:solidFill>
                  <a:srgbClr val="111111"/>
                </a:solidFill>
                <a:latin typeface="游ゴシック"/>
                <a:ea typeface="游ゴシック"/>
              </a:rPr>
              <a:t>1行ずつ記録されている。</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区切り文字「_」</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左側が問題文、右側が答え。</a:t>
            </a:r>
          </a:p>
          <a:p>
            <a:pPr algn="l">
              <a:lnSpc>
                <a:spcPct val="108000"/>
              </a:lnSpc>
              <a:spcBef>
                <a:spcPts val="0"/>
              </a:spcBef>
              <a:spcAft>
                <a:spcPts val="400"/>
              </a:spcAft>
            </a:pPr>
            <a:r>
              <a:rPr sz="1800" b="0" lang="ja-JP" altLang="en-US">
                <a:solidFill>
                  <a:srgbClr val="111111"/>
                </a:solidFill>
                <a:latin typeface="游ゴシック"/>
                <a:ea typeface="游ゴシック"/>
              </a:rPr>
              <a:t>「_」は出力の開始にも使う。</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図の空白</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空白文字をドットで示した表示。</a:t>
            </a:r>
          </a:p>
          <a:p>
            <a:pPr algn="l">
              <a:lnSpc>
                <a:spcPct val="108000"/>
              </a:lnSpc>
              <a:spcBef>
                <a:spcPts val="0"/>
              </a:spcBef>
              <a:spcAft>
                <a:spcPts val="400"/>
              </a:spcAft>
            </a:pPr>
            <a:r>
              <a:rPr sz="1800" b="0" lang="ja-JP" altLang="en-US">
                <a:solidFill>
                  <a:srgbClr val="111111"/>
                </a:solidFill>
                <a:latin typeface="游ゴシック"/>
                <a:ea typeface="游ゴシック"/>
              </a:rPr>
              <a:t>実際のデータには空白が入る。</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図7-12　足し算の学習データ｜p.294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93115" y="423367"/>
            <a:ext cx="10789920" cy="585216"/>
          </a:xfrm>
          <a:prstGeom prst="rect">
            <a:avLst/>
          </a:prstGeom>
          <a:noFill/>
        </p:spPr>
        <p:txBody>
          <a:bodyPr wrap="square" lIns="54864" rIns="54864" tIns="54864" bIns="54864">
            <a:spAutoFit/>
          </a:bodyPr>
          <a:lstStyle/>
          <a:p>
            <a:pPr algn="l">
              <a:lnSpc>
                <a:spcPct val="108000"/>
              </a:lnSpc>
              <a:spcBef>
                <a:spcPts val="0"/>
              </a:spcBef>
              <a:spcAft>
                <a:spcPts val="400"/>
              </a:spcAft>
            </a:pPr>
            <a:r>
              <a:rPr sz="3200" b="0" lang="ja-JP" altLang="en-US">
                <a:solidFill>
                  <a:srgbClr val="111111"/>
                </a:solidFill>
                <a:latin typeface="游ゴシック"/>
                <a:ea typeface="游ゴシック"/>
              </a:rPr>
              <a:t>7.2.4 足し算データセット</a:t>
            </a:r>
          </a:p>
        </p:txBody>
      </p:sp>
      <p:sp>
        <p:nvSpPr>
          <p:cNvPr id="3" name="TextBox 2"/>
          <p:cNvSpPr txBox="1"/>
          <p:nvPr/>
        </p:nvSpPr>
        <p:spPr>
          <a:xfrm>
            <a:off x="925372" y="1016812"/>
            <a:ext cx="10378440" cy="621792"/>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sequenceモジュールでデータを読み込む</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18</a:t>
            </a:r>
          </a:p>
        </p:txBody>
      </p:sp>
      <p:pic>
        <p:nvPicPr>
          <p:cNvPr id="5" name="Picture 4" descr="dataset_load.jpg"/>
          <p:cNvPicPr>
            <a:picLocks noChangeAspect="1"/>
          </p:cNvPicPr>
          <p:nvPr/>
        </p:nvPicPr>
        <p:blipFill>
          <a:blip r:embed="rId3"/>
          <a:stretch>
            <a:fillRect/>
          </a:stretch>
        </p:blipFill>
        <p:spPr>
          <a:xfrm>
            <a:off x="804672" y="3254754"/>
            <a:ext cx="6382512" cy="1500635"/>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load_data</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文字列を文字IDへ変換し、</a:t>
            </a:r>
          </a:p>
          <a:p>
            <a:pPr algn="l">
              <a:lnSpc>
                <a:spcPct val="108000"/>
              </a:lnSpc>
              <a:spcBef>
                <a:spcPts val="0"/>
              </a:spcBef>
              <a:spcAft>
                <a:spcPts val="400"/>
              </a:spcAft>
            </a:pPr>
            <a:r>
              <a:rPr sz="1800" b="0" lang="ja-JP" altLang="en-US">
                <a:solidFill>
                  <a:srgbClr val="111111"/>
                </a:solidFill>
                <a:latin typeface="游ゴシック"/>
                <a:ea typeface="游ゴシック"/>
              </a:rPr>
              <a:t>訓練用と評価用に分割する。</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seed=1984</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シャッフルを再現するため、</a:t>
            </a:r>
          </a:p>
          <a:p>
            <a:pPr algn="l">
              <a:lnSpc>
                <a:spcPct val="108000"/>
              </a:lnSpc>
              <a:spcBef>
                <a:spcPts val="0"/>
              </a:spcBef>
              <a:spcAft>
                <a:spcPts val="400"/>
              </a:spcAft>
            </a:pPr>
            <a:r>
              <a:rPr sz="1800" b="0" lang="ja-JP" altLang="en-US">
                <a:solidFill>
                  <a:srgbClr val="111111"/>
                </a:solidFill>
                <a:latin typeface="游ゴシック"/>
                <a:ea typeface="游ゴシック"/>
              </a:rPr>
              <a:t>乱数シードを指定する。</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get_vocab</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文字とIDの対応を、</a:t>
            </a:r>
          </a:p>
          <a:p>
            <a:pPr algn="l">
              <a:lnSpc>
                <a:spcPct val="108000"/>
              </a:lnSpc>
              <a:spcBef>
                <a:spcPts val="0"/>
              </a:spcBef>
              <a:spcAft>
                <a:spcPts val="400"/>
              </a:spcAft>
            </a:pPr>
            <a:r>
              <a:rPr sz="1800" b="0" lang="ja-JP" altLang="en-US">
                <a:solidFill>
                  <a:srgbClr val="111111"/>
                </a:solidFill>
                <a:latin typeface="游ゴシック"/>
                <a:ea typeface="游ゴシック"/>
              </a:rPr>
              <a:t>2つの辞書として受け取る。</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show_addition_dataset.py：データの読み込み｜p.295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93115" y="423367"/>
            <a:ext cx="10789920" cy="585216"/>
          </a:xfrm>
          <a:prstGeom prst="rect">
            <a:avLst/>
          </a:prstGeom>
          <a:noFill/>
        </p:spPr>
        <p:txBody>
          <a:bodyPr wrap="square" lIns="54864" rIns="54864" tIns="54864" bIns="54864">
            <a:spAutoFit/>
          </a:bodyPr>
          <a:lstStyle/>
          <a:p>
            <a:pPr algn="l">
              <a:lnSpc>
                <a:spcPct val="108000"/>
              </a:lnSpc>
              <a:spcBef>
                <a:spcPts val="0"/>
              </a:spcBef>
              <a:spcAft>
                <a:spcPts val="400"/>
              </a:spcAft>
            </a:pPr>
            <a:r>
              <a:rPr sz="3200" b="0" lang="ja-JP" altLang="en-US">
                <a:solidFill>
                  <a:srgbClr val="111111"/>
                </a:solidFill>
                <a:latin typeface="游ゴシック"/>
                <a:ea typeface="游ゴシック"/>
              </a:rPr>
              <a:t>7.2.4 足し算データセット</a:t>
            </a:r>
          </a:p>
        </p:txBody>
      </p:sp>
      <p:sp>
        <p:nvSpPr>
          <p:cNvPr id="3" name="TextBox 2"/>
          <p:cNvSpPr txBox="1"/>
          <p:nvPr/>
        </p:nvSpPr>
        <p:spPr>
          <a:xfrm>
            <a:off x="925372" y="1016812"/>
            <a:ext cx="10378440" cy="621792"/>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配列の形状と、文字IDの対応</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19</a:t>
            </a:r>
          </a:p>
        </p:txBody>
      </p:sp>
      <p:pic>
        <p:nvPicPr>
          <p:cNvPr id="5" name="Picture 4" descr="dataset_arrays.jpg"/>
          <p:cNvPicPr>
            <a:picLocks noChangeAspect="1"/>
          </p:cNvPicPr>
          <p:nvPr/>
        </p:nvPicPr>
        <p:blipFill>
          <a:blip r:embed="rId3"/>
          <a:stretch>
            <a:fillRect/>
          </a:stretch>
        </p:blipFill>
        <p:spPr>
          <a:xfrm>
            <a:off x="804672" y="2269680"/>
            <a:ext cx="6382512" cy="3470782"/>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訓練データ</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入力：(45,000, 7)</a:t>
            </a:r>
          </a:p>
          <a:p>
            <a:pPr algn="l">
              <a:lnSpc>
                <a:spcPct val="108000"/>
              </a:lnSpc>
              <a:spcBef>
                <a:spcPts val="0"/>
              </a:spcBef>
              <a:spcAft>
                <a:spcPts val="400"/>
              </a:spcAft>
            </a:pPr>
            <a:r>
              <a:rPr sz="1800" b="0" lang="ja-JP" altLang="en-US">
                <a:solidFill>
                  <a:srgbClr val="111111"/>
                </a:solidFill>
                <a:latin typeface="游ゴシック"/>
                <a:ea typeface="游ゴシック"/>
              </a:rPr>
              <a:t>出力：(45,000, 5)</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評価データ</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入力：(5,000, 7)</a:t>
            </a:r>
          </a:p>
          <a:p>
            <a:pPr algn="l">
              <a:lnSpc>
                <a:spcPct val="108000"/>
              </a:lnSpc>
              <a:spcBef>
                <a:spcPts val="0"/>
              </a:spcBef>
              <a:spcAft>
                <a:spcPts val="400"/>
              </a:spcAft>
            </a:pPr>
            <a:r>
              <a:rPr sz="1800" b="0" lang="ja-JP" altLang="en-US">
                <a:solidFill>
                  <a:srgbClr val="111111"/>
                </a:solidFill>
                <a:latin typeface="游ゴシック"/>
                <a:ea typeface="游ゴシック"/>
              </a:rPr>
              <a:t>出力：(5,000, 5)</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IDから復元</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辞書で文字へ戻すと、</a:t>
            </a:r>
          </a:p>
          <a:p>
            <a:pPr algn="l">
              <a:lnSpc>
                <a:spcPct val="108000"/>
              </a:lnSpc>
              <a:spcBef>
                <a:spcPts val="0"/>
              </a:spcBef>
              <a:spcAft>
                <a:spcPts val="400"/>
              </a:spcAft>
            </a:pPr>
            <a:r>
              <a:rPr sz="1800" b="0" lang="ja-JP" altLang="en-US">
                <a:solidFill>
                  <a:srgbClr val="111111"/>
                </a:solidFill>
                <a:latin typeface="游ゴシック"/>
                <a:ea typeface="游ゴシック"/>
              </a:rPr>
              <a:t>「71+118」と「_189」になる。</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show_addition_dataset.py：形状と文字列｜p.295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93115" y="423367"/>
            <a:ext cx="10789920" cy="585216"/>
          </a:xfrm>
          <a:prstGeom prst="rect">
            <a:avLst/>
          </a:prstGeom>
          <a:noFill/>
        </p:spPr>
        <p:txBody>
          <a:bodyPr wrap="square" lIns="54864" rIns="54864" tIns="54864" bIns="54864">
            <a:spAutoFit/>
          </a:bodyPr>
          <a:lstStyle/>
          <a:p>
            <a:pPr algn="l">
              <a:lnSpc>
                <a:spcPct val="108000"/>
              </a:lnSpc>
              <a:spcBef>
                <a:spcPts val="0"/>
              </a:spcBef>
              <a:spcAft>
                <a:spcPts val="400"/>
              </a:spcAft>
            </a:pPr>
            <a:r>
              <a:rPr sz="3200" b="0" lang="ja-JP" altLang="en-US">
                <a:solidFill>
                  <a:srgbClr val="111111"/>
                </a:solidFill>
                <a:latin typeface="游ゴシック"/>
                <a:ea typeface="游ゴシック"/>
              </a:rPr>
              <a:t>7.3.1 Encoderクラス</a:t>
            </a:r>
          </a:p>
        </p:txBody>
      </p:sp>
      <p:sp>
        <p:nvSpPr>
          <p:cNvPr id="3" name="TextBox 2"/>
          <p:cNvSpPr txBox="1"/>
          <p:nvPr/>
        </p:nvSpPr>
        <p:spPr>
          <a:xfrm>
            <a:off x="925372" y="1016812"/>
            <a:ext cx="10378440" cy="621792"/>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Encoderの入出力を決める</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20</a:t>
            </a:r>
          </a:p>
        </p:txBody>
      </p:sp>
      <p:pic>
        <p:nvPicPr>
          <p:cNvPr id="5" name="Picture 4" descr="fig7-13.jpg"/>
          <p:cNvPicPr>
            <a:picLocks noChangeAspect="1"/>
          </p:cNvPicPr>
          <p:nvPr/>
        </p:nvPicPr>
        <p:blipFill>
          <a:blip r:embed="rId3"/>
          <a:stretch>
            <a:fillRect/>
          </a:stretch>
        </p:blipFill>
        <p:spPr>
          <a:xfrm>
            <a:off x="804672" y="3043514"/>
            <a:ext cx="6382512" cy="1923114"/>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入力xs</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パディング済みの問題文を、</a:t>
            </a:r>
          </a:p>
          <a:p>
            <a:pPr algn="l">
              <a:lnSpc>
                <a:spcPct val="108000"/>
              </a:lnSpc>
              <a:spcBef>
                <a:spcPts val="0"/>
              </a:spcBef>
              <a:spcAft>
                <a:spcPts val="400"/>
              </a:spcAft>
            </a:pPr>
            <a:r>
              <a:rPr sz="1800" b="0" lang="ja-JP" altLang="en-US">
                <a:solidFill>
                  <a:srgbClr val="111111"/>
                </a:solidFill>
                <a:latin typeface="游ゴシック"/>
                <a:ea typeface="游ゴシック"/>
              </a:rPr>
              <a:t>文字IDの配列として受け取る。</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出力h</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文字列全体の情報を持つ、</a:t>
            </a:r>
          </a:p>
          <a:p>
            <a:pPr algn="l">
              <a:lnSpc>
                <a:spcPct val="108000"/>
              </a:lnSpc>
              <a:spcBef>
                <a:spcPts val="0"/>
              </a:spcBef>
              <a:spcAft>
                <a:spcPts val="400"/>
              </a:spcAft>
            </a:pPr>
            <a:r>
              <a:rPr sz="1800" b="0" lang="ja-JP" altLang="en-US">
                <a:solidFill>
                  <a:srgbClr val="111111"/>
                </a:solidFill>
                <a:latin typeface="游ゴシック"/>
                <a:ea typeface="游ゴシック"/>
              </a:rPr>
              <a:t>最後の隠れ状態を返す。</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形状の変化</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(N, T)の文字列を、</a:t>
            </a:r>
          </a:p>
          <a:p>
            <a:pPr algn="l">
              <a:lnSpc>
                <a:spcPct val="108000"/>
              </a:lnSpc>
              <a:spcBef>
                <a:spcPts val="0"/>
              </a:spcBef>
              <a:spcAft>
                <a:spcPts val="400"/>
              </a:spcAft>
            </a:pPr>
            <a:r>
              <a:rPr sz="1800" b="0" lang="ja-JP" altLang="en-US">
                <a:solidFill>
                  <a:srgbClr val="111111"/>
                </a:solidFill>
                <a:latin typeface="游ゴシック"/>
                <a:ea typeface="游ゴシック"/>
              </a:rPr>
              <a:t>(N, H)のベクトルへ変換する。</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図7-13　Encoderの入出力｜p.296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93115" y="423367"/>
            <a:ext cx="10789920" cy="585216"/>
          </a:xfrm>
          <a:prstGeom prst="rect">
            <a:avLst/>
          </a:prstGeom>
          <a:noFill/>
        </p:spPr>
        <p:txBody>
          <a:bodyPr wrap="square" lIns="54864" rIns="54864" tIns="54864" bIns="54864">
            <a:spAutoFit/>
          </a:bodyPr>
          <a:lstStyle/>
          <a:p>
            <a:pPr algn="l">
              <a:lnSpc>
                <a:spcPct val="108000"/>
              </a:lnSpc>
              <a:spcBef>
                <a:spcPts val="0"/>
              </a:spcBef>
              <a:spcAft>
                <a:spcPts val="400"/>
              </a:spcAft>
            </a:pPr>
            <a:r>
              <a:rPr sz="3200" b="0" lang="ja-JP" altLang="en-US">
                <a:solidFill>
                  <a:srgbClr val="111111"/>
                </a:solidFill>
                <a:latin typeface="游ゴシック"/>
                <a:ea typeface="游ゴシック"/>
              </a:rPr>
              <a:t>7.3.1 Encoderクラス</a:t>
            </a:r>
          </a:p>
        </p:txBody>
      </p:sp>
      <p:sp>
        <p:nvSpPr>
          <p:cNvPr id="3" name="TextBox 2"/>
          <p:cNvSpPr txBox="1"/>
          <p:nvPr/>
        </p:nvSpPr>
        <p:spPr>
          <a:xfrm>
            <a:off x="925372" y="1016812"/>
            <a:ext cx="10378440" cy="621792"/>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EmbeddingとLSTMでEncoderを作る</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21</a:t>
            </a:r>
          </a:p>
        </p:txBody>
      </p:sp>
      <p:pic>
        <p:nvPicPr>
          <p:cNvPr id="5" name="Picture 4" descr="fig7-14.jpg"/>
          <p:cNvPicPr>
            <a:picLocks noChangeAspect="1"/>
          </p:cNvPicPr>
          <p:nvPr/>
        </p:nvPicPr>
        <p:blipFill>
          <a:blip r:embed="rId3"/>
          <a:stretch>
            <a:fillRect/>
          </a:stretch>
        </p:blipFill>
        <p:spPr>
          <a:xfrm>
            <a:off x="804671" y="3043989"/>
            <a:ext cx="6382512" cy="1922164"/>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文字ベクトルへ</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文字IDごとにEmbeddingを</a:t>
            </a:r>
          </a:p>
          <a:p>
            <a:pPr algn="l">
              <a:lnSpc>
                <a:spcPct val="108000"/>
              </a:lnSpc>
              <a:spcBef>
                <a:spcPts val="0"/>
              </a:spcBef>
              <a:spcAft>
                <a:spcPts val="400"/>
              </a:spcAft>
            </a:pPr>
            <a:r>
              <a:rPr sz="1800" b="0" lang="ja-JP" altLang="en-US">
                <a:solidFill>
                  <a:srgbClr val="111111"/>
                </a:solidFill>
                <a:latin typeface="游ゴシック"/>
                <a:ea typeface="游ゴシック"/>
              </a:rPr>
              <a:t>適用する。</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時間方向に処理</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左から順にLSTMへ渡し、</a:t>
            </a:r>
          </a:p>
          <a:p>
            <a:pPr algn="l">
              <a:lnSpc>
                <a:spcPct val="108000"/>
              </a:lnSpc>
              <a:spcBef>
                <a:spcPts val="0"/>
              </a:spcBef>
              <a:spcAft>
                <a:spcPts val="400"/>
              </a:spcAft>
            </a:pPr>
            <a:r>
              <a:rPr sz="1800" b="0" lang="ja-JP" altLang="en-US">
                <a:solidFill>
                  <a:srgbClr val="111111"/>
                </a:solidFill>
                <a:latin typeface="游ゴシック"/>
                <a:ea typeface="游ゴシック"/>
              </a:rPr>
              <a:t>隠れ状態とセルを更新する。</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Decoderへの出力</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最後の文字まで処理したhだけを</a:t>
            </a:r>
          </a:p>
          <a:p>
            <a:pPr algn="l">
              <a:lnSpc>
                <a:spcPct val="108000"/>
              </a:lnSpc>
              <a:spcBef>
                <a:spcPts val="0"/>
              </a:spcBef>
              <a:spcAft>
                <a:spcPts val="400"/>
              </a:spcAft>
            </a:pPr>
            <a:r>
              <a:rPr sz="1800" b="0" lang="ja-JP" altLang="en-US">
                <a:solidFill>
                  <a:srgbClr val="111111"/>
                </a:solidFill>
                <a:latin typeface="游ゴシック"/>
                <a:ea typeface="游ゴシック"/>
              </a:rPr>
              <a:t>次のモデルに受け渡す。</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図7-14　Encoderのレイヤ構成｜p.297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93115" y="423367"/>
            <a:ext cx="10789920" cy="585216"/>
          </a:xfrm>
          <a:prstGeom prst="rect">
            <a:avLst/>
          </a:prstGeom>
          <a:noFill/>
        </p:spPr>
        <p:txBody>
          <a:bodyPr wrap="square" lIns="54864" rIns="54864" tIns="54864" bIns="54864">
            <a:spAutoFit/>
          </a:bodyPr>
          <a:lstStyle/>
          <a:p>
            <a:pPr algn="l">
              <a:lnSpc>
                <a:spcPct val="108000"/>
              </a:lnSpc>
              <a:spcBef>
                <a:spcPts val="0"/>
              </a:spcBef>
              <a:spcAft>
                <a:spcPts val="400"/>
              </a:spcAft>
            </a:pPr>
            <a:r>
              <a:rPr sz="3200" b="0" lang="ja-JP" altLang="en-US">
                <a:solidFill>
                  <a:srgbClr val="111111"/>
                </a:solidFill>
                <a:latin typeface="游ゴシック"/>
                <a:ea typeface="游ゴシック"/>
              </a:rPr>
              <a:t>7.3.1 Encoderクラス</a:t>
            </a:r>
          </a:p>
        </p:txBody>
      </p:sp>
      <p:sp>
        <p:nvSpPr>
          <p:cNvPr id="3" name="TextBox 2"/>
          <p:cNvSpPr txBox="1"/>
          <p:nvPr/>
        </p:nvSpPr>
        <p:spPr>
          <a:xfrm>
            <a:off x="925372" y="1016812"/>
            <a:ext cx="10378440" cy="621792"/>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Timeレイヤで、時系列をまとめて処理する</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22</a:t>
            </a:r>
          </a:p>
        </p:txBody>
      </p:sp>
      <p:pic>
        <p:nvPicPr>
          <p:cNvPr id="5" name="Picture 4" descr="fig7-15.jpg"/>
          <p:cNvPicPr>
            <a:picLocks noChangeAspect="1"/>
          </p:cNvPicPr>
          <p:nvPr/>
        </p:nvPicPr>
        <p:blipFill>
          <a:blip r:embed="rId3"/>
          <a:stretch>
            <a:fillRect/>
          </a:stretch>
        </p:blipFill>
        <p:spPr>
          <a:xfrm>
            <a:off x="804672" y="2503437"/>
            <a:ext cx="6382512" cy="3003268"/>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Time Embedding</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各時刻の文字IDを、</a:t>
            </a:r>
          </a:p>
          <a:p>
            <a:pPr algn="l">
              <a:lnSpc>
                <a:spcPct val="108000"/>
              </a:lnSpc>
              <a:spcBef>
                <a:spcPts val="0"/>
              </a:spcBef>
              <a:spcAft>
                <a:spcPts val="400"/>
              </a:spcAft>
            </a:pPr>
            <a:r>
              <a:rPr sz="1800" b="0" lang="ja-JP" altLang="en-US">
                <a:solidFill>
                  <a:srgbClr val="111111"/>
                </a:solidFill>
                <a:latin typeface="游ゴシック"/>
                <a:ea typeface="游ゴシック"/>
              </a:rPr>
              <a:t>ベクトルへ変換する。</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Time LSTM</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全時刻の隠れ状態hsを出力する。</a:t>
            </a:r>
          </a:p>
          <a:p>
            <a:pPr algn="l">
              <a:lnSpc>
                <a:spcPct val="108000"/>
              </a:lnSpc>
              <a:spcBef>
                <a:spcPts val="0"/>
              </a:spcBef>
              <a:spcAft>
                <a:spcPts val="400"/>
              </a:spcAft>
            </a:pPr>
            <a:r>
              <a:rPr sz="1800" b="0" lang="ja-JP" altLang="en-US">
                <a:solidFill>
                  <a:srgbClr val="111111"/>
                </a:solidFill>
                <a:latin typeface="游ゴシック"/>
                <a:ea typeface="游ゴシック"/>
              </a:rPr>
              <a:t>形状は(N, T, H)となる。</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最後を取り出す</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hs[:, -1, :]をhとして返す。</a:t>
            </a:r>
          </a:p>
          <a:p>
            <a:pPr algn="l">
              <a:lnSpc>
                <a:spcPct val="108000"/>
              </a:lnSpc>
              <a:spcBef>
                <a:spcPts val="0"/>
              </a:spcBef>
              <a:spcAft>
                <a:spcPts val="400"/>
              </a:spcAft>
            </a:pPr>
            <a:r>
              <a:rPr sz="1800" b="0" lang="ja-JP" altLang="en-US">
                <a:solidFill>
                  <a:srgbClr val="111111"/>
                </a:solidFill>
                <a:latin typeface="游ゴシック"/>
                <a:ea typeface="游ゴシック"/>
              </a:rPr>
              <a:t>途中のhsは逆伝播のために保持。</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図7-15　TimeレイヤによるEncoder｜p.298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93115" y="423367"/>
            <a:ext cx="10789920" cy="585216"/>
          </a:xfrm>
          <a:prstGeom prst="rect">
            <a:avLst/>
          </a:prstGeom>
          <a:noFill/>
        </p:spPr>
        <p:txBody>
          <a:bodyPr wrap="square" lIns="54864" rIns="54864" tIns="54864" bIns="54864">
            <a:spAutoFit/>
          </a:bodyPr>
          <a:lstStyle/>
          <a:p>
            <a:pPr algn="l">
              <a:lnSpc>
                <a:spcPct val="108000"/>
              </a:lnSpc>
              <a:spcBef>
                <a:spcPts val="0"/>
              </a:spcBef>
              <a:spcAft>
                <a:spcPts val="400"/>
              </a:spcAft>
            </a:pPr>
            <a:r>
              <a:rPr sz="3200" b="0" lang="ja-JP" altLang="en-US">
                <a:solidFill>
                  <a:srgbClr val="111111"/>
                </a:solidFill>
                <a:latin typeface="游ゴシック"/>
                <a:ea typeface="游ゴシック"/>
              </a:rPr>
              <a:t>7.3.1 Encoderクラス</a:t>
            </a:r>
          </a:p>
        </p:txBody>
      </p:sp>
      <p:sp>
        <p:nvSpPr>
          <p:cNvPr id="3" name="TextBox 2"/>
          <p:cNvSpPr txBox="1"/>
          <p:nvPr/>
        </p:nvSpPr>
        <p:spPr>
          <a:xfrm>
            <a:off x="925372" y="1016812"/>
            <a:ext cx="10378440" cy="621792"/>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Encoder.__init__：重みとレイヤを用意する</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23</a:t>
            </a:r>
          </a:p>
        </p:txBody>
      </p:sp>
      <p:pic>
        <p:nvPicPr>
          <p:cNvPr id="5" name="Picture 4" descr="encoder_init.jpg"/>
          <p:cNvPicPr>
            <a:picLocks noChangeAspect="1"/>
          </p:cNvPicPr>
          <p:nvPr/>
        </p:nvPicPr>
        <p:blipFill>
          <a:blip r:embed="rId3"/>
          <a:stretch>
            <a:fillRect/>
          </a:stretch>
        </p:blipFill>
        <p:spPr>
          <a:xfrm>
            <a:off x="804671" y="2342909"/>
            <a:ext cx="6382512" cy="3324325"/>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V・D・H</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語彙数・文字ベクトルの次元・</a:t>
            </a:r>
          </a:p>
          <a:p>
            <a:pPr algn="l">
              <a:lnSpc>
                <a:spcPct val="108000"/>
              </a:lnSpc>
              <a:spcBef>
                <a:spcPts val="0"/>
              </a:spcBef>
              <a:spcAft>
                <a:spcPts val="400"/>
              </a:spcAft>
            </a:pPr>
            <a:r>
              <a:rPr sz="1800" b="0" lang="ja-JP" altLang="en-US">
                <a:solidFill>
                  <a:srgbClr val="111111"/>
                </a:solidFill>
                <a:latin typeface="游ゴシック"/>
                <a:ea typeface="游ゴシック"/>
              </a:rPr>
              <a:t>隠れ状態の次元を指定する。</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stateful=False</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問題文ごとに、LSTMの状態を</a:t>
            </a:r>
          </a:p>
          <a:p>
            <a:pPr algn="l">
              <a:lnSpc>
                <a:spcPct val="108000"/>
              </a:lnSpc>
              <a:spcBef>
                <a:spcPts val="0"/>
              </a:spcBef>
              <a:spcAft>
                <a:spcPts val="400"/>
              </a:spcAft>
            </a:pPr>
            <a:r>
              <a:rPr sz="1800" b="0" lang="ja-JP" altLang="en-US">
                <a:solidFill>
                  <a:srgbClr val="111111"/>
                </a:solidFill>
                <a:latin typeface="游ゴシック"/>
                <a:ea typeface="游ゴシック"/>
              </a:rPr>
              <a:t>初期化してから処理する。</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params / grads</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学習で更新する重みと勾配を、</a:t>
            </a:r>
          </a:p>
          <a:p>
            <a:pPr algn="l">
              <a:lnSpc>
                <a:spcPct val="108000"/>
              </a:lnSpc>
              <a:spcBef>
                <a:spcPts val="0"/>
              </a:spcBef>
              <a:spcAft>
                <a:spcPts val="400"/>
              </a:spcAft>
            </a:pPr>
            <a:r>
              <a:rPr sz="1800" b="0" lang="ja-JP" altLang="en-US">
                <a:solidFill>
                  <a:srgbClr val="111111"/>
                </a:solidFill>
                <a:latin typeface="游ゴシック"/>
                <a:ea typeface="游ゴシック"/>
              </a:rPr>
              <a:t>レイヤから集めておく。</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Encoder.__init__｜p.298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93115" y="423367"/>
            <a:ext cx="10789920" cy="585216"/>
          </a:xfrm>
          <a:prstGeom prst="rect">
            <a:avLst/>
          </a:prstGeom>
          <a:noFill/>
        </p:spPr>
        <p:txBody>
          <a:bodyPr wrap="square" lIns="54864" rIns="54864" tIns="54864" bIns="54864">
            <a:spAutoFit/>
          </a:bodyPr>
          <a:lstStyle/>
          <a:p>
            <a:pPr algn="l">
              <a:lnSpc>
                <a:spcPct val="108000"/>
              </a:lnSpc>
              <a:spcBef>
                <a:spcPts val="0"/>
              </a:spcBef>
              <a:spcAft>
                <a:spcPts val="400"/>
              </a:spcAft>
            </a:pPr>
            <a:r>
              <a:rPr sz="3200" b="0" lang="ja-JP" altLang="en-US">
                <a:solidFill>
                  <a:srgbClr val="111111"/>
                </a:solidFill>
                <a:latin typeface="游ゴシック"/>
                <a:ea typeface="游ゴシック"/>
              </a:rPr>
              <a:t>7.3.1 Encoderクラス</a:t>
            </a:r>
          </a:p>
        </p:txBody>
      </p:sp>
      <p:sp>
        <p:nvSpPr>
          <p:cNvPr id="3" name="TextBox 2"/>
          <p:cNvSpPr txBox="1"/>
          <p:nvPr/>
        </p:nvSpPr>
        <p:spPr>
          <a:xfrm>
            <a:off x="925372" y="1016812"/>
            <a:ext cx="10378440" cy="621792"/>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Encoder.forward：最後のhを返す</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24</a:t>
            </a:r>
          </a:p>
        </p:txBody>
      </p:sp>
      <p:pic>
        <p:nvPicPr>
          <p:cNvPr id="5" name="Picture 4" descr="encoder_forward.jpg"/>
          <p:cNvPicPr>
            <a:picLocks noChangeAspect="1"/>
          </p:cNvPicPr>
          <p:nvPr/>
        </p:nvPicPr>
        <p:blipFill>
          <a:blip r:embed="rId3"/>
          <a:stretch>
            <a:fillRect/>
          </a:stretch>
        </p:blipFill>
        <p:spPr>
          <a:xfrm>
            <a:off x="804672" y="2716506"/>
            <a:ext cx="6382512" cy="2577131"/>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① 文字を埋め込む</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self.embed.forward(xs)で、</a:t>
            </a:r>
          </a:p>
          <a:p>
            <a:pPr algn="l">
              <a:lnSpc>
                <a:spcPct val="108000"/>
              </a:lnSpc>
              <a:spcBef>
                <a:spcPts val="0"/>
              </a:spcBef>
              <a:spcAft>
                <a:spcPts val="400"/>
              </a:spcAft>
            </a:pPr>
            <a:r>
              <a:rPr sz="1800" b="0" lang="ja-JP" altLang="en-US">
                <a:solidFill>
                  <a:srgbClr val="111111"/>
                </a:solidFill>
                <a:latin typeface="游ゴシック"/>
                <a:ea typeface="游ゴシック"/>
              </a:rPr>
              <a:t>各文字をベクトルにする。</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② 全時刻を計算</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self.lstm.forward(xs)で、</a:t>
            </a:r>
          </a:p>
          <a:p>
            <a:pPr algn="l">
              <a:lnSpc>
                <a:spcPct val="108000"/>
              </a:lnSpc>
              <a:spcBef>
                <a:spcPts val="0"/>
              </a:spcBef>
              <a:spcAft>
                <a:spcPts val="400"/>
              </a:spcAft>
            </a:pPr>
            <a:r>
              <a:rPr sz="1800" b="0" lang="ja-JP" altLang="en-US">
                <a:solidFill>
                  <a:srgbClr val="111111"/>
                </a:solidFill>
                <a:latin typeface="游ゴシック"/>
                <a:ea typeface="游ゴシック"/>
              </a:rPr>
              <a:t>時系列の隠れ状態を得る。</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③ 最後を選ぶ</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hs[:, -1, :]を返す。</a:t>
            </a:r>
          </a:p>
          <a:p>
            <a:pPr algn="l">
              <a:lnSpc>
                <a:spcPct val="108000"/>
              </a:lnSpc>
              <a:spcBef>
                <a:spcPts val="0"/>
              </a:spcBef>
              <a:spcAft>
                <a:spcPts val="400"/>
              </a:spcAft>
            </a:pPr>
            <a:r>
              <a:rPr sz="1800" b="0" lang="ja-JP" altLang="en-US">
                <a:solidFill>
                  <a:srgbClr val="111111"/>
                </a:solidFill>
                <a:latin typeface="游ゴシック"/>
                <a:ea typeface="游ゴシック"/>
              </a:rPr>
              <a:t>self.hsには全時刻を保存する。</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Encoder.forward｜p.299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93115" y="423367"/>
            <a:ext cx="10789920" cy="585216"/>
          </a:xfrm>
          <a:prstGeom prst="rect">
            <a:avLst/>
          </a:prstGeom>
          <a:noFill/>
        </p:spPr>
        <p:txBody>
          <a:bodyPr wrap="square" lIns="54864" rIns="54864" tIns="54864" bIns="54864">
            <a:spAutoFit/>
          </a:bodyPr>
          <a:lstStyle/>
          <a:p>
            <a:pPr algn="l">
              <a:lnSpc>
                <a:spcPct val="108000"/>
              </a:lnSpc>
              <a:spcBef>
                <a:spcPts val="0"/>
              </a:spcBef>
              <a:spcAft>
                <a:spcPts val="400"/>
              </a:spcAft>
            </a:pPr>
            <a:r>
              <a:rPr sz="3200" b="0" lang="ja-JP" altLang="en-US">
                <a:solidFill>
                  <a:srgbClr val="111111"/>
                </a:solidFill>
                <a:latin typeface="游ゴシック"/>
                <a:ea typeface="游ゴシック"/>
              </a:rPr>
              <a:t>7.3.1 Encoderクラス</a:t>
            </a:r>
          </a:p>
        </p:txBody>
      </p:sp>
      <p:sp>
        <p:nvSpPr>
          <p:cNvPr id="3" name="TextBox 2"/>
          <p:cNvSpPr txBox="1"/>
          <p:nvPr/>
        </p:nvSpPr>
        <p:spPr>
          <a:xfrm>
            <a:off x="925372" y="1016812"/>
            <a:ext cx="10378440" cy="621792"/>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Encoder.backward：最後の時刻へ勾配を置く</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25</a:t>
            </a:r>
          </a:p>
        </p:txBody>
      </p:sp>
      <p:pic>
        <p:nvPicPr>
          <p:cNvPr id="5" name="Picture 4" descr="encoder_backward.jpg"/>
          <p:cNvPicPr>
            <a:picLocks noChangeAspect="1"/>
          </p:cNvPicPr>
          <p:nvPr/>
        </p:nvPicPr>
        <p:blipFill>
          <a:blip r:embed="rId3"/>
          <a:stretch>
            <a:fillRect/>
          </a:stretch>
        </p:blipFill>
        <p:spPr>
          <a:xfrm>
            <a:off x="804672" y="2508716"/>
            <a:ext cx="6382512" cy="2992710"/>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Decoderからdh</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最後の隠れ状態に対する</a:t>
            </a:r>
          </a:p>
          <a:p>
            <a:pPr algn="l">
              <a:lnSpc>
                <a:spcPct val="108000"/>
              </a:lnSpc>
              <a:spcBef>
                <a:spcPts val="0"/>
              </a:spcBef>
              <a:spcAft>
                <a:spcPts val="400"/>
              </a:spcAft>
            </a:pPr>
            <a:r>
              <a:rPr sz="1800" b="0" lang="ja-JP" altLang="en-US">
                <a:solidFill>
                  <a:srgbClr val="111111"/>
                </a:solidFill>
                <a:latin typeface="游ゴシック"/>
                <a:ea typeface="游ゴシック"/>
              </a:rPr>
              <a:t>勾配を受け取る。</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dhsを作る</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まず全要素を0にし、</a:t>
            </a:r>
          </a:p>
          <a:p>
            <a:pPr algn="l">
              <a:lnSpc>
                <a:spcPct val="108000"/>
              </a:lnSpc>
              <a:spcBef>
                <a:spcPts val="0"/>
              </a:spcBef>
              <a:spcAft>
                <a:spcPts val="400"/>
              </a:spcAft>
            </a:pPr>
            <a:r>
              <a:rPr sz="1800" b="0" lang="ja-JP" altLang="en-US">
                <a:solidFill>
                  <a:srgbClr val="111111"/>
                </a:solidFill>
                <a:latin typeface="游ゴシック"/>
                <a:ea typeface="游ゴシック"/>
              </a:rPr>
              <a:t>最後の時刻だけdhを入れる。</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逆方向に伝える</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Time LSTM → Time Embedding</a:t>
            </a:r>
          </a:p>
          <a:p>
            <a:pPr algn="l">
              <a:lnSpc>
                <a:spcPct val="108000"/>
              </a:lnSpc>
              <a:spcBef>
                <a:spcPts val="0"/>
              </a:spcBef>
              <a:spcAft>
                <a:spcPts val="400"/>
              </a:spcAft>
            </a:pPr>
            <a:r>
              <a:rPr sz="1800" b="0" lang="ja-JP" altLang="en-US">
                <a:solidFill>
                  <a:srgbClr val="111111"/>
                </a:solidFill>
                <a:latin typeface="游ゴシック"/>
                <a:ea typeface="游ゴシック"/>
              </a:rPr>
              <a:t>の順にbackwardを呼ぶ。</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Encoder.backward｜p.299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93115" y="423367"/>
            <a:ext cx="10789920" cy="585216"/>
          </a:xfrm>
          <a:prstGeom prst="rect">
            <a:avLst/>
          </a:prstGeom>
          <a:noFill/>
        </p:spPr>
        <p:txBody>
          <a:bodyPr wrap="square" lIns="54864" rIns="54864" tIns="54864" bIns="54864">
            <a:spAutoFit/>
          </a:bodyPr>
          <a:lstStyle/>
          <a:p>
            <a:pPr algn="l">
              <a:lnSpc>
                <a:spcPct val="108000"/>
              </a:lnSpc>
              <a:spcBef>
                <a:spcPts val="0"/>
              </a:spcBef>
              <a:spcAft>
                <a:spcPts val="400"/>
              </a:spcAft>
            </a:pPr>
            <a:r>
              <a:rPr sz="3200" b="0" lang="ja-JP" altLang="en-US">
                <a:solidFill>
                  <a:srgbClr val="111111"/>
                </a:solidFill>
                <a:latin typeface="游ゴシック"/>
                <a:ea typeface="游ゴシック"/>
              </a:rPr>
              <a:t>7.3.2 Decoderクラス</a:t>
            </a:r>
          </a:p>
        </p:txBody>
      </p:sp>
      <p:sp>
        <p:nvSpPr>
          <p:cNvPr id="3" name="TextBox 2"/>
          <p:cNvSpPr txBox="1"/>
          <p:nvPr/>
        </p:nvSpPr>
        <p:spPr>
          <a:xfrm>
            <a:off x="925372" y="1016812"/>
            <a:ext cx="10378440" cy="621792"/>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Decoderにhと開始文字を渡す</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26</a:t>
            </a:r>
          </a:p>
        </p:txBody>
      </p:sp>
      <p:pic>
        <p:nvPicPr>
          <p:cNvPr id="5" name="Picture 4" descr="fig7-16.jpg"/>
          <p:cNvPicPr>
            <a:picLocks noChangeAspect="1"/>
          </p:cNvPicPr>
          <p:nvPr/>
        </p:nvPicPr>
        <p:blipFill>
          <a:blip r:embed="rId3"/>
          <a:stretch>
            <a:fillRect/>
          </a:stretch>
        </p:blipFill>
        <p:spPr>
          <a:xfrm>
            <a:off x="804672" y="2538576"/>
            <a:ext cx="6382512" cy="2932991"/>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Encoderの役割</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問題文を読み取り、</a:t>
            </a:r>
          </a:p>
          <a:p>
            <a:pPr algn="l">
              <a:lnSpc>
                <a:spcPct val="108000"/>
              </a:lnSpc>
              <a:spcBef>
                <a:spcPts val="0"/>
              </a:spcBef>
              <a:spcAft>
                <a:spcPts val="400"/>
              </a:spcAft>
            </a:pPr>
            <a:r>
              <a:rPr sz="1800" b="0" lang="ja-JP" altLang="en-US">
                <a:solidFill>
                  <a:srgbClr val="111111"/>
                </a:solidFill>
                <a:latin typeface="游ゴシック"/>
                <a:ea typeface="游ゴシック"/>
              </a:rPr>
              <a:t>隠れ状態hにまとめる。</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Decoderの役割</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hを初期状態に設定し、</a:t>
            </a:r>
          </a:p>
          <a:p>
            <a:pPr algn="l">
              <a:lnSpc>
                <a:spcPct val="108000"/>
              </a:lnSpc>
              <a:spcBef>
                <a:spcPts val="0"/>
              </a:spcBef>
              <a:spcAft>
                <a:spcPts val="400"/>
              </a:spcAft>
            </a:pPr>
            <a:r>
              <a:rPr sz="1800" b="0" lang="ja-JP" altLang="en-US">
                <a:solidFill>
                  <a:srgbClr val="111111"/>
                </a:solidFill>
                <a:latin typeface="游ゴシック"/>
                <a:ea typeface="游ゴシック"/>
              </a:rPr>
              <a:t>答えの文字列を生成する。</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生成の開始</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「_」を最初の入力として、</a:t>
            </a:r>
          </a:p>
          <a:p>
            <a:pPr algn="l">
              <a:lnSpc>
                <a:spcPct val="108000"/>
              </a:lnSpc>
              <a:spcBef>
                <a:spcPts val="0"/>
              </a:spcBef>
              <a:spcAft>
                <a:spcPts val="400"/>
              </a:spcAft>
            </a:pPr>
            <a:r>
              <a:rPr sz="1800" b="0" lang="ja-JP" altLang="en-US">
                <a:solidFill>
                  <a:srgbClr val="111111"/>
                </a:solidFill>
                <a:latin typeface="游ゴシック"/>
                <a:ea typeface="游ゴシック"/>
              </a:rPr>
              <a:t>答えを1文字ずつ出力する。</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図7-16　EncoderとDecoder｜p.300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93115" y="423367"/>
            <a:ext cx="10789920" cy="585216"/>
          </a:xfrm>
          <a:prstGeom prst="rect">
            <a:avLst/>
          </a:prstGeom>
          <a:noFill/>
        </p:spPr>
        <p:txBody>
          <a:bodyPr wrap="square" lIns="54864" rIns="54864" tIns="54864" bIns="54864">
            <a:spAutoFit/>
          </a:bodyPr>
          <a:lstStyle/>
          <a:p>
            <a:pPr algn="l">
              <a:lnSpc>
                <a:spcPct val="108000"/>
              </a:lnSpc>
              <a:spcBef>
                <a:spcPts val="0"/>
              </a:spcBef>
              <a:spcAft>
                <a:spcPts val="400"/>
              </a:spcAft>
            </a:pPr>
            <a:r>
              <a:rPr sz="3200" b="0" lang="ja-JP" altLang="en-US">
                <a:solidFill>
                  <a:srgbClr val="111111"/>
                </a:solidFill>
                <a:latin typeface="游ゴシック"/>
                <a:ea typeface="游ゴシック"/>
              </a:rPr>
              <a:t>7.3.2 Decoderクラス</a:t>
            </a:r>
          </a:p>
        </p:txBody>
      </p:sp>
      <p:sp>
        <p:nvSpPr>
          <p:cNvPr id="3" name="TextBox 2"/>
          <p:cNvSpPr txBox="1"/>
          <p:nvPr/>
        </p:nvSpPr>
        <p:spPr>
          <a:xfrm>
            <a:off x="925372" y="1016812"/>
            <a:ext cx="10378440" cy="621792"/>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学習時：正解を1文字ずらして与える</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27</a:t>
            </a:r>
          </a:p>
        </p:txBody>
      </p:sp>
      <p:pic>
        <p:nvPicPr>
          <p:cNvPr id="5" name="Picture 4" descr="fig7-17.jpg"/>
          <p:cNvPicPr>
            <a:picLocks noChangeAspect="1"/>
          </p:cNvPicPr>
          <p:nvPr/>
        </p:nvPicPr>
        <p:blipFill>
          <a:blip r:embed="rId3"/>
          <a:stretch>
            <a:fillRect/>
          </a:stretch>
        </p:blipFill>
        <p:spPr>
          <a:xfrm>
            <a:off x="1234188" y="2011680"/>
            <a:ext cx="5523479" cy="3986784"/>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Decoderへの入力</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正解列の先頭側を与える。</a:t>
            </a:r>
          </a:p>
          <a:p>
            <a:pPr algn="l">
              <a:lnSpc>
                <a:spcPct val="108000"/>
              </a:lnSpc>
              <a:spcBef>
                <a:spcPts val="0"/>
              </a:spcBef>
              <a:spcAft>
                <a:spcPts val="400"/>
              </a:spcAft>
            </a:pPr>
            <a:r>
              <a:rPr sz="1800" b="0" lang="ja-JP" altLang="en-US">
                <a:solidFill>
                  <a:srgbClr val="111111"/>
                </a:solidFill>
                <a:latin typeface="游ゴシック"/>
                <a:ea typeface="游ゴシック"/>
              </a:rPr>
              <a:t>例：「_62 」を入力する。</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予測の正解</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1文字先の「62  」と照合する。</a:t>
            </a:r>
          </a:p>
          <a:p>
            <a:pPr algn="l">
              <a:lnSpc>
                <a:spcPct val="108000"/>
              </a:lnSpc>
              <a:spcBef>
                <a:spcPts val="0"/>
              </a:spcBef>
              <a:spcAft>
                <a:spcPts val="400"/>
              </a:spcAft>
            </a:pPr>
            <a:r>
              <a:rPr sz="1800" b="0" lang="ja-JP" altLang="en-US">
                <a:solidFill>
                  <a:srgbClr val="111111"/>
                </a:solidFill>
                <a:latin typeface="游ゴシック"/>
                <a:ea typeface="游ゴシック"/>
              </a:rPr>
              <a:t>各時刻の損失を計算する。</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Teacher forcing</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学習時には、自分の予測ではなく</a:t>
            </a:r>
          </a:p>
          <a:p>
            <a:pPr algn="l">
              <a:lnSpc>
                <a:spcPct val="108000"/>
              </a:lnSpc>
              <a:spcBef>
                <a:spcPts val="0"/>
              </a:spcBef>
              <a:spcAft>
                <a:spcPts val="400"/>
              </a:spcAft>
            </a:pPr>
            <a:r>
              <a:rPr sz="1800" b="0" lang="ja-JP" altLang="en-US">
                <a:solidFill>
                  <a:srgbClr val="111111"/>
                </a:solidFill>
                <a:latin typeface="游ゴシック"/>
                <a:ea typeface="游ゴシック"/>
              </a:rPr>
              <a:t>正解の前の文字を入力する。</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図7-17　Decoderのレイヤ構成（学習時）｜p.300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93115" y="423367"/>
            <a:ext cx="10789920" cy="585216"/>
          </a:xfrm>
          <a:prstGeom prst="rect">
            <a:avLst/>
          </a:prstGeom>
          <a:noFill/>
        </p:spPr>
        <p:txBody>
          <a:bodyPr wrap="square" lIns="54864" rIns="54864" tIns="54864" bIns="54864">
            <a:spAutoFit/>
          </a:bodyPr>
          <a:lstStyle/>
          <a:p>
            <a:pPr algn="l">
              <a:lnSpc>
                <a:spcPct val="108000"/>
              </a:lnSpc>
              <a:spcBef>
                <a:spcPts val="0"/>
              </a:spcBef>
              <a:spcAft>
                <a:spcPts val="400"/>
              </a:spcAft>
            </a:pPr>
            <a:r>
              <a:rPr sz="3200" b="0" lang="ja-JP" altLang="en-US">
                <a:solidFill>
                  <a:srgbClr val="111111"/>
                </a:solidFill>
                <a:latin typeface="游ゴシック"/>
                <a:ea typeface="游ゴシック"/>
              </a:rPr>
              <a:t>7.3.2 Decoderクラス</a:t>
            </a:r>
          </a:p>
        </p:txBody>
      </p:sp>
      <p:sp>
        <p:nvSpPr>
          <p:cNvPr id="3" name="TextBox 2"/>
          <p:cNvSpPr txBox="1"/>
          <p:nvPr/>
        </p:nvSpPr>
        <p:spPr>
          <a:xfrm>
            <a:off x="925372" y="1016812"/>
            <a:ext cx="10378440" cy="621792"/>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生成時：予測した文字を次の入力にする</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28</a:t>
            </a:r>
          </a:p>
        </p:txBody>
      </p:sp>
      <p:pic>
        <p:nvPicPr>
          <p:cNvPr id="5" name="Picture 4" descr="fig7-18.jpg"/>
          <p:cNvPicPr>
            <a:picLocks noChangeAspect="1"/>
          </p:cNvPicPr>
          <p:nvPr/>
        </p:nvPicPr>
        <p:blipFill>
          <a:blip r:embed="rId3"/>
          <a:stretch>
            <a:fillRect/>
          </a:stretch>
        </p:blipFill>
        <p:spPr>
          <a:xfrm>
            <a:off x="1177752" y="2011680"/>
            <a:ext cx="5636350" cy="3986784"/>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最大スコアを選ぶ</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各時刻でargmaxを取り、</a:t>
            </a:r>
          </a:p>
          <a:p>
            <a:pPr algn="l">
              <a:lnSpc>
                <a:spcPct val="108000"/>
              </a:lnSpc>
              <a:spcBef>
                <a:spcPts val="0"/>
              </a:spcBef>
              <a:spcAft>
                <a:spcPts val="400"/>
              </a:spcAft>
            </a:pPr>
            <a:r>
              <a:rPr sz="1800" b="0" lang="ja-JP" altLang="en-US">
                <a:solidFill>
                  <a:srgbClr val="111111"/>
                </a:solidFill>
                <a:latin typeface="游ゴシック"/>
                <a:ea typeface="游ゴシック"/>
              </a:rPr>
              <a:t>生成する文字IDを決める。</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自分の出力を使う</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「_」→「6」→「2」→ 空白</a:t>
            </a:r>
          </a:p>
          <a:p>
            <a:pPr algn="l">
              <a:lnSpc>
                <a:spcPct val="108000"/>
              </a:lnSpc>
              <a:spcBef>
                <a:spcPts val="0"/>
              </a:spcBef>
              <a:spcAft>
                <a:spcPts val="400"/>
              </a:spcAft>
            </a:pPr>
            <a:r>
              <a:rPr sz="1800" b="0" lang="ja-JP" altLang="en-US">
                <a:solidFill>
                  <a:srgbClr val="111111"/>
                </a:solidFill>
                <a:latin typeface="游ゴシック"/>
                <a:ea typeface="游ゴシック"/>
              </a:rPr>
              <a:t>と1文字ずつ進める。</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Softmaxを省略</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最大値の位置は変わらないため、</a:t>
            </a:r>
          </a:p>
          <a:p>
            <a:pPr algn="l">
              <a:lnSpc>
                <a:spcPct val="108000"/>
              </a:lnSpc>
              <a:spcBef>
                <a:spcPts val="0"/>
              </a:spcBef>
              <a:spcAft>
                <a:spcPts val="400"/>
              </a:spcAft>
            </a:pPr>
            <a:r>
              <a:rPr sz="1800" b="0" lang="ja-JP" altLang="en-US">
                <a:solidFill>
                  <a:srgbClr val="111111"/>
                </a:solidFill>
                <a:latin typeface="游ゴシック"/>
                <a:ea typeface="游ゴシック"/>
              </a:rPr>
              <a:t>スコアに直接argmaxを使う。</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図7-18　Decoderの文字列生成｜p.302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93115" y="423367"/>
            <a:ext cx="10789920" cy="585216"/>
          </a:xfrm>
          <a:prstGeom prst="rect">
            <a:avLst/>
          </a:prstGeom>
          <a:noFill/>
        </p:spPr>
        <p:txBody>
          <a:bodyPr wrap="square" lIns="54864" rIns="54864" tIns="54864" bIns="54864">
            <a:spAutoFit/>
          </a:bodyPr>
          <a:lstStyle/>
          <a:p>
            <a:pPr algn="l">
              <a:lnSpc>
                <a:spcPct val="108000"/>
              </a:lnSpc>
              <a:spcBef>
                <a:spcPts val="0"/>
              </a:spcBef>
              <a:spcAft>
                <a:spcPts val="400"/>
              </a:spcAft>
            </a:pPr>
            <a:r>
              <a:rPr sz="3200" b="0" lang="ja-JP" altLang="en-US">
                <a:solidFill>
                  <a:srgbClr val="111111"/>
                </a:solidFill>
                <a:latin typeface="游ゴシック"/>
                <a:ea typeface="游ゴシック"/>
              </a:rPr>
              <a:t>7.3.2 Decoderクラス</a:t>
            </a:r>
          </a:p>
        </p:txBody>
      </p:sp>
      <p:sp>
        <p:nvSpPr>
          <p:cNvPr id="3" name="TextBox 2"/>
          <p:cNvSpPr txBox="1"/>
          <p:nvPr/>
        </p:nvSpPr>
        <p:spPr>
          <a:xfrm>
            <a:off x="925372" y="1016812"/>
            <a:ext cx="10378440" cy="621792"/>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TimeレイヤでDecoderを構成する</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29</a:t>
            </a:r>
          </a:p>
        </p:txBody>
      </p:sp>
      <p:pic>
        <p:nvPicPr>
          <p:cNvPr id="5" name="Picture 4" descr="fig7-19.jpg"/>
          <p:cNvPicPr>
            <a:picLocks noChangeAspect="1"/>
          </p:cNvPicPr>
          <p:nvPr/>
        </p:nvPicPr>
        <p:blipFill>
          <a:blip r:embed="rId3"/>
          <a:stretch>
            <a:fillRect/>
          </a:stretch>
        </p:blipFill>
        <p:spPr>
          <a:xfrm>
            <a:off x="1351553" y="2011680"/>
            <a:ext cx="5288748" cy="3986784"/>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3つのレイヤ</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Time Embedding → Time LSTM</a:t>
            </a:r>
          </a:p>
          <a:p>
            <a:pPr algn="l">
              <a:lnSpc>
                <a:spcPct val="108000"/>
              </a:lnSpc>
              <a:spcBef>
                <a:spcPts val="0"/>
              </a:spcBef>
              <a:spcAft>
                <a:spcPts val="400"/>
              </a:spcAft>
            </a:pPr>
            <a:r>
              <a:rPr sz="1800" b="0" lang="ja-JP" altLang="en-US">
                <a:solidFill>
                  <a:srgbClr val="111111"/>
                </a:solidFill>
                <a:latin typeface="游ゴシック"/>
                <a:ea typeface="游ゴシック"/>
              </a:rPr>
              <a:t>→ Time Affineで構成する。</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hを受け取る</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Encoderのhを、</a:t>
            </a:r>
          </a:p>
          <a:p>
            <a:pPr algn="l">
              <a:lnSpc>
                <a:spcPct val="108000"/>
              </a:lnSpc>
              <a:spcBef>
                <a:spcPts val="0"/>
              </a:spcBef>
              <a:spcAft>
                <a:spcPts val="400"/>
              </a:spcAft>
            </a:pPr>
            <a:r>
              <a:rPr sz="1800" b="0" lang="ja-JP" altLang="en-US">
                <a:solidFill>
                  <a:srgbClr val="111111"/>
                </a:solidFill>
                <a:latin typeface="游ゴシック"/>
                <a:ea typeface="游ゴシック"/>
              </a:rPr>
              <a:t>Time LSTMの初期状態に使う。</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損失計算の位置</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Time Softmax with Lossは、</a:t>
            </a:r>
          </a:p>
          <a:p>
            <a:pPr algn="l">
              <a:lnSpc>
                <a:spcPct val="108000"/>
              </a:lnSpc>
              <a:spcBef>
                <a:spcPts val="0"/>
              </a:spcBef>
              <a:spcAft>
                <a:spcPts val="400"/>
              </a:spcAft>
            </a:pPr>
            <a:r>
              <a:rPr sz="1800" b="0" lang="ja-JP" altLang="en-US">
                <a:solidFill>
                  <a:srgbClr val="111111"/>
                </a:solidFill>
                <a:latin typeface="游ゴシック"/>
                <a:ea typeface="游ゴシック"/>
              </a:rPr>
              <a:t>外側のSeq2seqが担当する。</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図7-19　Decoderクラスの構成｜p.303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93115" y="423367"/>
            <a:ext cx="10789920" cy="585216"/>
          </a:xfrm>
          <a:prstGeom prst="rect">
            <a:avLst/>
          </a:prstGeom>
          <a:noFill/>
        </p:spPr>
        <p:txBody>
          <a:bodyPr wrap="square" lIns="54864" rIns="54864" tIns="54864" bIns="54864">
            <a:spAutoFit/>
          </a:bodyPr>
          <a:lstStyle/>
          <a:p>
            <a:pPr algn="l">
              <a:lnSpc>
                <a:spcPct val="108000"/>
              </a:lnSpc>
              <a:spcBef>
                <a:spcPts val="0"/>
              </a:spcBef>
              <a:spcAft>
                <a:spcPts val="400"/>
              </a:spcAft>
            </a:pPr>
            <a:r>
              <a:rPr sz="3200" b="0" lang="ja-JP" altLang="en-US">
                <a:solidFill>
                  <a:srgbClr val="111111"/>
                </a:solidFill>
                <a:latin typeface="游ゴシック"/>
                <a:ea typeface="游ゴシック"/>
              </a:rPr>
              <a:t>7.3.2 Decoderクラス</a:t>
            </a:r>
          </a:p>
        </p:txBody>
      </p:sp>
      <p:sp>
        <p:nvSpPr>
          <p:cNvPr id="3" name="TextBox 2"/>
          <p:cNvSpPr txBox="1"/>
          <p:nvPr/>
        </p:nvSpPr>
        <p:spPr>
          <a:xfrm>
            <a:off x="925372" y="1016812"/>
            <a:ext cx="10378440" cy="621792"/>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Decoder.__init__：状態を保持する設定</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30</a:t>
            </a:r>
          </a:p>
        </p:txBody>
      </p:sp>
      <p:pic>
        <p:nvPicPr>
          <p:cNvPr id="5" name="Picture 4" descr="decoder_init.jpg"/>
          <p:cNvPicPr>
            <a:picLocks noChangeAspect="1"/>
          </p:cNvPicPr>
          <p:nvPr/>
        </p:nvPicPr>
        <p:blipFill>
          <a:blip r:embed="rId3"/>
          <a:stretch>
            <a:fillRect/>
          </a:stretch>
        </p:blipFill>
        <p:spPr>
          <a:xfrm>
            <a:off x="804672" y="2220174"/>
            <a:ext cx="6382512" cy="3569794"/>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重みを初期化</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Embedding・LSTMに加えて、</a:t>
            </a:r>
          </a:p>
          <a:p>
            <a:pPr algn="l">
              <a:lnSpc>
                <a:spcPct val="108000"/>
              </a:lnSpc>
              <a:spcBef>
                <a:spcPts val="0"/>
              </a:spcBef>
              <a:spcAft>
                <a:spcPts val="400"/>
              </a:spcAft>
            </a:pPr>
            <a:r>
              <a:rPr sz="1800" b="0" lang="ja-JP" altLang="en-US">
                <a:solidFill>
                  <a:srgbClr val="111111"/>
                </a:solidFill>
                <a:latin typeface="游ゴシック"/>
                <a:ea typeface="游ゴシック"/>
              </a:rPr>
              <a:t>文字スコア用のAffineを用意。</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stateful=True</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設定したhから処理を始め、</a:t>
            </a:r>
          </a:p>
          <a:p>
            <a:pPr algn="l">
              <a:lnSpc>
                <a:spcPct val="108000"/>
              </a:lnSpc>
              <a:spcBef>
                <a:spcPts val="0"/>
              </a:spcBef>
              <a:spcAft>
                <a:spcPts val="400"/>
              </a:spcAft>
            </a:pPr>
            <a:r>
              <a:rPr sz="1800" b="0" lang="ja-JP" altLang="en-US">
                <a:solidFill>
                  <a:srgbClr val="111111"/>
                </a:solidFill>
                <a:latin typeface="游ゴシック"/>
                <a:ea typeface="游ゴシック"/>
              </a:rPr>
              <a:t>生成中は状態を引き継ぐ。</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Encoderとの違い</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出力を語彙数Vへ変換する、</a:t>
            </a:r>
          </a:p>
          <a:p>
            <a:pPr algn="l">
              <a:lnSpc>
                <a:spcPct val="108000"/>
              </a:lnSpc>
              <a:spcBef>
                <a:spcPts val="0"/>
              </a:spcBef>
              <a:spcAft>
                <a:spcPts val="400"/>
              </a:spcAft>
            </a:pPr>
            <a:r>
              <a:rPr sz="1800" b="0" lang="ja-JP" altLang="en-US">
                <a:solidFill>
                  <a:srgbClr val="111111"/>
                </a:solidFill>
                <a:latin typeface="游ゴシック"/>
                <a:ea typeface="游ゴシック"/>
              </a:rPr>
              <a:t>Time Affineが必要になる。</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Decoder.__init__｜pp.303–304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93115" y="423367"/>
            <a:ext cx="10789920" cy="585216"/>
          </a:xfrm>
          <a:prstGeom prst="rect">
            <a:avLst/>
          </a:prstGeom>
          <a:noFill/>
        </p:spPr>
        <p:txBody>
          <a:bodyPr wrap="square" lIns="54864" rIns="54864" tIns="54864" bIns="54864">
            <a:spAutoFit/>
          </a:bodyPr>
          <a:lstStyle/>
          <a:p>
            <a:pPr algn="l">
              <a:lnSpc>
                <a:spcPct val="108000"/>
              </a:lnSpc>
              <a:spcBef>
                <a:spcPts val="0"/>
              </a:spcBef>
              <a:spcAft>
                <a:spcPts val="400"/>
              </a:spcAft>
            </a:pPr>
            <a:r>
              <a:rPr sz="3200" b="0" lang="ja-JP" altLang="en-US">
                <a:solidFill>
                  <a:srgbClr val="111111"/>
                </a:solidFill>
                <a:latin typeface="游ゴシック"/>
                <a:ea typeface="游ゴシック"/>
              </a:rPr>
              <a:t>7.3.2 Decoderクラス</a:t>
            </a:r>
          </a:p>
        </p:txBody>
      </p:sp>
      <p:sp>
        <p:nvSpPr>
          <p:cNvPr id="3" name="TextBox 2"/>
          <p:cNvSpPr txBox="1"/>
          <p:nvPr/>
        </p:nvSpPr>
        <p:spPr>
          <a:xfrm>
            <a:off x="925372" y="1016812"/>
            <a:ext cx="10378440" cy="621792"/>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Decoder.forward：初期状態をセットする</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31</a:t>
            </a:r>
          </a:p>
        </p:txBody>
      </p:sp>
      <p:pic>
        <p:nvPicPr>
          <p:cNvPr id="5" name="Picture 4" descr="decoder_forward.jpg"/>
          <p:cNvPicPr>
            <a:picLocks noChangeAspect="1"/>
          </p:cNvPicPr>
          <p:nvPr/>
        </p:nvPicPr>
        <p:blipFill>
          <a:blip r:embed="rId3"/>
          <a:stretch>
            <a:fillRect/>
          </a:stretch>
        </p:blipFill>
        <p:spPr>
          <a:xfrm>
            <a:off x="804672" y="2591935"/>
            <a:ext cx="6382512" cy="2826273"/>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最初にset_state(h)</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Encoderの出力を、</a:t>
            </a:r>
          </a:p>
          <a:p>
            <a:pPr algn="l">
              <a:lnSpc>
                <a:spcPct val="108000"/>
              </a:lnSpc>
              <a:spcBef>
                <a:spcPts val="0"/>
              </a:spcBef>
              <a:spcAft>
                <a:spcPts val="400"/>
              </a:spcAft>
            </a:pPr>
            <a:r>
              <a:rPr sz="1800" b="0" lang="ja-JP" altLang="en-US">
                <a:solidFill>
                  <a:srgbClr val="111111"/>
                </a:solidFill>
                <a:latin typeface="游ゴシック"/>
                <a:ea typeface="游ゴシック"/>
              </a:rPr>
              <a:t>DecoderのLSTMへ設定する。</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順伝播</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Embedding → LSTM → Affine</a:t>
            </a:r>
          </a:p>
          <a:p>
            <a:pPr algn="l">
              <a:lnSpc>
                <a:spcPct val="108000"/>
              </a:lnSpc>
              <a:spcBef>
                <a:spcPts val="0"/>
              </a:spcBef>
              <a:spcAft>
                <a:spcPts val="400"/>
              </a:spcAft>
            </a:pPr>
            <a:r>
              <a:rPr sz="1800" b="0" lang="ja-JP" altLang="en-US">
                <a:solidFill>
                  <a:srgbClr val="111111"/>
                </a:solidFill>
                <a:latin typeface="游ゴシック"/>
                <a:ea typeface="游ゴシック"/>
              </a:rPr>
              <a:t>を順に呼び出す。</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戻り値score</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各文字のスコアを返す。</a:t>
            </a:r>
          </a:p>
          <a:p>
            <a:pPr algn="l">
              <a:lnSpc>
                <a:spcPct val="108000"/>
              </a:lnSpc>
              <a:spcBef>
                <a:spcPts val="0"/>
              </a:spcBef>
              <a:spcAft>
                <a:spcPts val="400"/>
              </a:spcAft>
            </a:pPr>
            <a:r>
              <a:rPr sz="1800" b="0" lang="ja-JP" altLang="en-US">
                <a:solidFill>
                  <a:srgbClr val="111111"/>
                </a:solidFill>
                <a:latin typeface="游ゴシック"/>
                <a:ea typeface="游ゴシック"/>
              </a:rPr>
              <a:t>形状は(N, T, V)となる。</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Decoder.forward｜p.304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93115" y="423367"/>
            <a:ext cx="10789920" cy="585216"/>
          </a:xfrm>
          <a:prstGeom prst="rect">
            <a:avLst/>
          </a:prstGeom>
          <a:noFill/>
        </p:spPr>
        <p:txBody>
          <a:bodyPr wrap="square" lIns="54864" rIns="54864" tIns="54864" bIns="54864">
            <a:spAutoFit/>
          </a:bodyPr>
          <a:lstStyle/>
          <a:p>
            <a:pPr algn="l">
              <a:lnSpc>
                <a:spcPct val="108000"/>
              </a:lnSpc>
              <a:spcBef>
                <a:spcPts val="0"/>
              </a:spcBef>
              <a:spcAft>
                <a:spcPts val="400"/>
              </a:spcAft>
            </a:pPr>
            <a:r>
              <a:rPr sz="3200" b="0" lang="ja-JP" altLang="en-US">
                <a:solidFill>
                  <a:srgbClr val="111111"/>
                </a:solidFill>
                <a:latin typeface="游ゴシック"/>
                <a:ea typeface="游ゴシック"/>
              </a:rPr>
              <a:t>7.3.2 Decoderクラス</a:t>
            </a:r>
          </a:p>
        </p:txBody>
      </p:sp>
      <p:sp>
        <p:nvSpPr>
          <p:cNvPr id="3" name="TextBox 2"/>
          <p:cNvSpPr txBox="1"/>
          <p:nvPr/>
        </p:nvSpPr>
        <p:spPr>
          <a:xfrm>
            <a:off x="925372" y="1016812"/>
            <a:ext cx="10378440" cy="621792"/>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Decoder.backward：Encoderへdhを返す</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32</a:t>
            </a:r>
          </a:p>
        </p:txBody>
      </p:sp>
      <p:pic>
        <p:nvPicPr>
          <p:cNvPr id="5" name="Picture 4" descr="decoder_backward.jpg"/>
          <p:cNvPicPr>
            <a:picLocks noChangeAspect="1"/>
          </p:cNvPicPr>
          <p:nvPr/>
        </p:nvPicPr>
        <p:blipFill>
          <a:blip r:embed="rId3"/>
          <a:stretch>
            <a:fillRect/>
          </a:stretch>
        </p:blipFill>
        <p:spPr>
          <a:xfrm>
            <a:off x="804672" y="2852074"/>
            <a:ext cx="6382512" cy="2305995"/>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逆順にたどる</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Affine → LSTM → Embedding</a:t>
            </a:r>
          </a:p>
          <a:p>
            <a:pPr algn="l">
              <a:lnSpc>
                <a:spcPct val="108000"/>
              </a:lnSpc>
              <a:spcBef>
                <a:spcPts val="0"/>
              </a:spcBef>
              <a:spcAft>
                <a:spcPts val="400"/>
              </a:spcAft>
            </a:pPr>
            <a:r>
              <a:rPr sz="1800" b="0" lang="ja-JP" altLang="en-US">
                <a:solidFill>
                  <a:srgbClr val="111111"/>
                </a:solidFill>
                <a:latin typeface="游ゴシック"/>
                <a:ea typeface="游ゴシック"/>
              </a:rPr>
              <a:t>の順に勾配を計算する。</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初期状態の勾配</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self.lstm.dhには、</a:t>
            </a:r>
          </a:p>
          <a:p>
            <a:pPr algn="l">
              <a:lnSpc>
                <a:spcPct val="108000"/>
              </a:lnSpc>
              <a:spcBef>
                <a:spcPts val="0"/>
              </a:spcBef>
              <a:spcAft>
                <a:spcPts val="400"/>
              </a:spcAft>
            </a:pPr>
            <a:r>
              <a:rPr sz="1800" b="0" lang="ja-JP" altLang="en-US">
                <a:solidFill>
                  <a:srgbClr val="111111"/>
                </a:solidFill>
                <a:latin typeface="游ゴシック"/>
                <a:ea typeface="游ゴシック"/>
              </a:rPr>
              <a:t>最初に与えたhへの勾配が入る。</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Encoderへの接続</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dhを戻り値にして、</a:t>
            </a:r>
          </a:p>
          <a:p>
            <a:pPr algn="l">
              <a:lnSpc>
                <a:spcPct val="108000"/>
              </a:lnSpc>
              <a:spcBef>
                <a:spcPts val="0"/>
              </a:spcBef>
              <a:spcAft>
                <a:spcPts val="400"/>
              </a:spcAft>
            </a:pPr>
            <a:r>
              <a:rPr sz="1800" b="0" lang="ja-JP" altLang="en-US">
                <a:solidFill>
                  <a:srgbClr val="111111"/>
                </a:solidFill>
                <a:latin typeface="游ゴシック"/>
                <a:ea typeface="游ゴシック"/>
              </a:rPr>
              <a:t>Encoderの逆伝播へ渡す。</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Decoder.backward｜p.304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93115" y="423367"/>
            <a:ext cx="10789920" cy="585216"/>
          </a:xfrm>
          <a:prstGeom prst="rect">
            <a:avLst/>
          </a:prstGeom>
          <a:noFill/>
        </p:spPr>
        <p:txBody>
          <a:bodyPr wrap="square" lIns="54864" rIns="54864" tIns="54864" bIns="54864">
            <a:spAutoFit/>
          </a:bodyPr>
          <a:lstStyle/>
          <a:p>
            <a:pPr algn="l">
              <a:lnSpc>
                <a:spcPct val="108000"/>
              </a:lnSpc>
              <a:spcBef>
                <a:spcPts val="0"/>
              </a:spcBef>
              <a:spcAft>
                <a:spcPts val="400"/>
              </a:spcAft>
            </a:pPr>
            <a:r>
              <a:rPr sz="3200" b="0" lang="ja-JP" altLang="en-US">
                <a:solidFill>
                  <a:srgbClr val="111111"/>
                </a:solidFill>
                <a:latin typeface="游ゴシック"/>
                <a:ea typeface="游ゴシック"/>
              </a:rPr>
              <a:t>7.3.2 Decoderクラス</a:t>
            </a:r>
          </a:p>
        </p:txBody>
      </p:sp>
      <p:sp>
        <p:nvSpPr>
          <p:cNvPr id="3" name="TextBox 2"/>
          <p:cNvSpPr txBox="1"/>
          <p:nvPr/>
        </p:nvSpPr>
        <p:spPr>
          <a:xfrm>
            <a:off x="925372" y="1016812"/>
            <a:ext cx="10378440" cy="621792"/>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Decoder.generate：文字を1つずつ出力する</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33</a:t>
            </a:r>
          </a:p>
        </p:txBody>
      </p:sp>
      <p:pic>
        <p:nvPicPr>
          <p:cNvPr id="5" name="Picture 4" descr="decoder_generate.jpg"/>
          <p:cNvPicPr>
            <a:picLocks noChangeAspect="1"/>
          </p:cNvPicPr>
          <p:nvPr/>
        </p:nvPicPr>
        <p:blipFill>
          <a:blip r:embed="rId3"/>
          <a:stretch>
            <a:fillRect/>
          </a:stretch>
        </p:blipFill>
        <p:spPr>
          <a:xfrm>
            <a:off x="1329881" y="2011680"/>
            <a:ext cx="5332093" cy="3986784"/>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開始の準備</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hを設定し、</a:t>
            </a:r>
          </a:p>
          <a:p>
            <a:pPr algn="l">
              <a:lnSpc>
                <a:spcPct val="108000"/>
              </a:lnSpc>
              <a:spcBef>
                <a:spcPts val="0"/>
              </a:spcBef>
              <a:spcAft>
                <a:spcPts val="400"/>
              </a:spcAft>
            </a:pPr>
            <a:r>
              <a:rPr sz="1800" b="0" lang="ja-JP" altLang="en-US">
                <a:solidFill>
                  <a:srgbClr val="111111"/>
                </a:solidFill>
                <a:latin typeface="游ゴシック"/>
                <a:ea typeface="游ゴシック"/>
              </a:rPr>
              <a:t>start_idを最初の入力にする。</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1文字の生成</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Embedding → LSTM → Affine</a:t>
            </a:r>
          </a:p>
          <a:p>
            <a:pPr algn="l">
              <a:lnSpc>
                <a:spcPct val="108000"/>
              </a:lnSpc>
              <a:spcBef>
                <a:spcPts val="0"/>
              </a:spcBef>
              <a:spcAft>
                <a:spcPts val="400"/>
              </a:spcAft>
            </a:pPr>
            <a:r>
              <a:rPr sz="1800" b="0" lang="ja-JP" altLang="en-US">
                <a:solidFill>
                  <a:srgbClr val="111111"/>
                </a:solidFill>
                <a:latin typeface="游ゴシック"/>
                <a:ea typeface="游ゴシック"/>
              </a:rPr>
              <a:t>→ argmaxの順に進める。</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次の入力へ</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選んだ文字IDを保存し、</a:t>
            </a:r>
          </a:p>
          <a:p>
            <a:pPr algn="l">
              <a:lnSpc>
                <a:spcPct val="108000"/>
              </a:lnSpc>
              <a:spcBef>
                <a:spcPts val="0"/>
              </a:spcBef>
              <a:spcAft>
                <a:spcPts val="400"/>
              </a:spcAft>
            </a:pPr>
            <a:r>
              <a:rPr sz="1800" b="0" lang="ja-JP" altLang="en-US">
                <a:solidFill>
                  <a:srgbClr val="111111"/>
                </a:solidFill>
                <a:latin typeface="游ゴシック"/>
                <a:ea typeface="游ゴシック"/>
              </a:rPr>
              <a:t>次の時刻の入力として使う。</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Decoder.generate｜p.304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93115" y="423367"/>
            <a:ext cx="10789920" cy="585216"/>
          </a:xfrm>
          <a:prstGeom prst="rect">
            <a:avLst/>
          </a:prstGeom>
          <a:noFill/>
        </p:spPr>
        <p:txBody>
          <a:bodyPr wrap="square" lIns="54864" rIns="54864" tIns="54864" bIns="54864">
            <a:spAutoFit/>
          </a:bodyPr>
          <a:lstStyle/>
          <a:p>
            <a:pPr algn="l">
              <a:lnSpc>
                <a:spcPct val="108000"/>
              </a:lnSpc>
              <a:spcBef>
                <a:spcPts val="0"/>
              </a:spcBef>
              <a:spcAft>
                <a:spcPts val="400"/>
              </a:spcAft>
            </a:pPr>
            <a:r>
              <a:rPr sz="3200" b="0" lang="ja-JP" altLang="en-US">
                <a:solidFill>
                  <a:srgbClr val="111111"/>
                </a:solidFill>
                <a:latin typeface="游ゴシック"/>
                <a:ea typeface="游ゴシック"/>
              </a:rPr>
              <a:t>7.3.3 Seq2seqクラス</a:t>
            </a:r>
          </a:p>
        </p:txBody>
      </p:sp>
      <p:sp>
        <p:nvSpPr>
          <p:cNvPr id="3" name="TextBox 2"/>
          <p:cNvSpPr txBox="1"/>
          <p:nvPr/>
        </p:nvSpPr>
        <p:spPr>
          <a:xfrm>
            <a:off x="925372" y="1016812"/>
            <a:ext cx="10378440" cy="621792"/>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Encoder・Decoder・損失をまとめる</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34</a:t>
            </a:r>
          </a:p>
        </p:txBody>
      </p:sp>
      <p:pic>
        <p:nvPicPr>
          <p:cNvPr id="5" name="Picture 4" descr="seq2seq_init.jpg"/>
          <p:cNvPicPr>
            <a:picLocks noChangeAspect="1"/>
          </p:cNvPicPr>
          <p:nvPr/>
        </p:nvPicPr>
        <p:blipFill>
          <a:blip r:embed="rId3"/>
          <a:stretch>
            <a:fillRect/>
          </a:stretch>
        </p:blipFill>
        <p:spPr>
          <a:xfrm>
            <a:off x="804672" y="2989197"/>
            <a:ext cx="6382512" cy="2031748"/>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3つを準備</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Encoder、Decoder、</a:t>
            </a:r>
          </a:p>
          <a:p>
            <a:pPr algn="l">
              <a:lnSpc>
                <a:spcPct val="108000"/>
              </a:lnSpc>
              <a:spcBef>
                <a:spcPts val="0"/>
              </a:spcBef>
              <a:spcAft>
                <a:spcPts val="400"/>
              </a:spcAft>
            </a:pPr>
            <a:r>
              <a:rPr sz="1800" b="0" lang="ja-JP" altLang="en-US">
                <a:solidFill>
                  <a:srgbClr val="111111"/>
                </a:solidFill>
                <a:latin typeface="游ゴシック"/>
                <a:ea typeface="游ゴシック"/>
              </a:rPr>
              <a:t>Time Softmax with Lossを持つ。</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パラメータの集約</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両モデルのparamsとgradsを</a:t>
            </a:r>
          </a:p>
          <a:p>
            <a:pPr algn="l">
              <a:lnSpc>
                <a:spcPct val="108000"/>
              </a:lnSpc>
              <a:spcBef>
                <a:spcPts val="0"/>
              </a:spcBef>
              <a:spcAft>
                <a:spcPts val="400"/>
              </a:spcAft>
            </a:pPr>
            <a:r>
              <a:rPr sz="1800" b="0" lang="ja-JP" altLang="en-US">
                <a:solidFill>
                  <a:srgbClr val="111111"/>
                </a:solidFill>
                <a:latin typeface="游ゴシック"/>
                <a:ea typeface="游ゴシック"/>
              </a:rPr>
              <a:t>1つのリストにまとめる。</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学習の窓口</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forwardとbackwardを通じて、</a:t>
            </a:r>
          </a:p>
          <a:p>
            <a:pPr algn="l">
              <a:lnSpc>
                <a:spcPct val="108000"/>
              </a:lnSpc>
              <a:spcBef>
                <a:spcPts val="0"/>
              </a:spcBef>
              <a:spcAft>
                <a:spcPts val="400"/>
              </a:spcAft>
            </a:pPr>
            <a:r>
              <a:rPr sz="1800" b="0" lang="ja-JP" altLang="en-US">
                <a:solidFill>
                  <a:srgbClr val="111111"/>
                </a:solidFill>
                <a:latin typeface="游ゴシック"/>
                <a:ea typeface="游ゴシック"/>
              </a:rPr>
              <a:t>モデル全体を学習させる。</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Seq2seq.__init__｜p.305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93115" y="423367"/>
            <a:ext cx="10789920" cy="585216"/>
          </a:xfrm>
          <a:prstGeom prst="rect">
            <a:avLst/>
          </a:prstGeom>
          <a:noFill/>
        </p:spPr>
        <p:txBody>
          <a:bodyPr wrap="square" lIns="54864" rIns="54864" tIns="54864" bIns="54864">
            <a:spAutoFit/>
          </a:bodyPr>
          <a:lstStyle/>
          <a:p>
            <a:pPr algn="l">
              <a:lnSpc>
                <a:spcPct val="108000"/>
              </a:lnSpc>
              <a:spcBef>
                <a:spcPts val="0"/>
              </a:spcBef>
              <a:spcAft>
                <a:spcPts val="400"/>
              </a:spcAft>
            </a:pPr>
            <a:r>
              <a:rPr sz="3200" b="0" lang="ja-JP" altLang="en-US">
                <a:solidFill>
                  <a:srgbClr val="111111"/>
                </a:solidFill>
                <a:latin typeface="游ゴシック"/>
                <a:ea typeface="游ゴシック"/>
              </a:rPr>
              <a:t>7.3.3 Seq2seqクラス</a:t>
            </a:r>
          </a:p>
        </p:txBody>
      </p:sp>
      <p:sp>
        <p:nvSpPr>
          <p:cNvPr id="3" name="TextBox 2"/>
          <p:cNvSpPr txBox="1"/>
          <p:nvPr/>
        </p:nvSpPr>
        <p:spPr>
          <a:xfrm>
            <a:off x="925372" y="1016812"/>
            <a:ext cx="10378440" cy="621792"/>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Seq2seq.forward：入力と正解をずらす</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35</a:t>
            </a:r>
          </a:p>
        </p:txBody>
      </p:sp>
      <p:pic>
        <p:nvPicPr>
          <p:cNvPr id="5" name="Picture 4" descr="seq2seq_forward.jpg"/>
          <p:cNvPicPr>
            <a:picLocks noChangeAspect="1"/>
          </p:cNvPicPr>
          <p:nvPr/>
        </p:nvPicPr>
        <p:blipFill>
          <a:blip r:embed="rId3"/>
          <a:stretch>
            <a:fillRect/>
          </a:stretch>
        </p:blipFill>
        <p:spPr>
          <a:xfrm>
            <a:off x="804672" y="2942508"/>
            <a:ext cx="6382512" cy="2125126"/>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正解列tsを分割</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入力はts[:, :-1]、</a:t>
            </a:r>
          </a:p>
          <a:p>
            <a:pPr algn="l">
              <a:lnSpc>
                <a:spcPct val="108000"/>
              </a:lnSpc>
              <a:spcBef>
                <a:spcPts val="0"/>
              </a:spcBef>
              <a:spcAft>
                <a:spcPts val="400"/>
              </a:spcAft>
            </a:pPr>
            <a:r>
              <a:rPr sz="1800" b="0" lang="ja-JP" altLang="en-US">
                <a:solidFill>
                  <a:srgbClr val="111111"/>
                </a:solidFill>
                <a:latin typeface="游ゴシック"/>
                <a:ea typeface="游ゴシック"/>
              </a:rPr>
              <a:t>予測の正解はts[:, 1:]。</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hを介して接続</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Encoder.forward(xs)のhを、</a:t>
            </a:r>
          </a:p>
          <a:p>
            <a:pPr algn="l">
              <a:lnSpc>
                <a:spcPct val="108000"/>
              </a:lnSpc>
              <a:spcBef>
                <a:spcPts val="0"/>
              </a:spcBef>
              <a:spcAft>
                <a:spcPts val="400"/>
              </a:spcAft>
            </a:pPr>
            <a:r>
              <a:rPr sz="1800" b="0" lang="ja-JP" altLang="en-US">
                <a:solidFill>
                  <a:srgbClr val="111111"/>
                </a:solidFill>
                <a:latin typeface="游ゴシック"/>
                <a:ea typeface="游ゴシック"/>
              </a:rPr>
              <a:t>Decoder.forwardへ渡す。</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lossを計算</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文字スコアと正解を照合し、</a:t>
            </a:r>
          </a:p>
          <a:p>
            <a:pPr algn="l">
              <a:lnSpc>
                <a:spcPct val="108000"/>
              </a:lnSpc>
              <a:spcBef>
                <a:spcPts val="0"/>
              </a:spcBef>
              <a:spcAft>
                <a:spcPts val="400"/>
              </a:spcAft>
            </a:pPr>
            <a:r>
              <a:rPr sz="1800" b="0" lang="ja-JP" altLang="en-US">
                <a:solidFill>
                  <a:srgbClr val="111111"/>
                </a:solidFill>
                <a:latin typeface="游ゴシック"/>
                <a:ea typeface="游ゴシック"/>
              </a:rPr>
              <a:t>損失を返す。</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Seq2seq.forward｜p.305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93115" y="423367"/>
            <a:ext cx="10789920" cy="585216"/>
          </a:xfrm>
          <a:prstGeom prst="rect">
            <a:avLst/>
          </a:prstGeom>
          <a:noFill/>
        </p:spPr>
        <p:txBody>
          <a:bodyPr wrap="square" lIns="54864" rIns="54864" tIns="54864" bIns="54864">
            <a:spAutoFit/>
          </a:bodyPr>
          <a:lstStyle/>
          <a:p>
            <a:pPr algn="l">
              <a:lnSpc>
                <a:spcPct val="108000"/>
              </a:lnSpc>
              <a:spcBef>
                <a:spcPts val="0"/>
              </a:spcBef>
              <a:spcAft>
                <a:spcPts val="400"/>
              </a:spcAft>
            </a:pPr>
            <a:r>
              <a:rPr sz="3200" b="0" lang="ja-JP" altLang="en-US">
                <a:solidFill>
                  <a:srgbClr val="111111"/>
                </a:solidFill>
                <a:latin typeface="游ゴシック"/>
                <a:ea typeface="游ゴシック"/>
              </a:rPr>
              <a:t>7.3.3 Seq2seqクラス</a:t>
            </a:r>
          </a:p>
        </p:txBody>
      </p:sp>
      <p:sp>
        <p:nvSpPr>
          <p:cNvPr id="3" name="TextBox 2"/>
          <p:cNvSpPr txBox="1"/>
          <p:nvPr/>
        </p:nvSpPr>
        <p:spPr>
          <a:xfrm>
            <a:off x="925372" y="1016812"/>
            <a:ext cx="10378440" cy="621792"/>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Seq2seq.backwardとgenerate</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36</a:t>
            </a:r>
          </a:p>
        </p:txBody>
      </p:sp>
      <p:pic>
        <p:nvPicPr>
          <p:cNvPr id="5" name="Picture 4" descr="seq2seq_backward.jpg"/>
          <p:cNvPicPr>
            <a:picLocks noChangeAspect="1"/>
          </p:cNvPicPr>
          <p:nvPr/>
        </p:nvPicPr>
        <p:blipFill>
          <a:blip r:embed="rId3"/>
          <a:stretch>
            <a:fillRect/>
          </a:stretch>
        </p:blipFill>
        <p:spPr>
          <a:xfrm>
            <a:off x="804672" y="2109031"/>
            <a:ext cx="6382512" cy="1597520"/>
          </a:xfrm>
          <a:prstGeom prst="rect">
            <a:avLst/>
          </a:prstGeom>
        </p:spPr>
      </p:pic>
      <p:pic>
        <p:nvPicPr>
          <p:cNvPr id="6" name="Picture 5" descr="seq2seq_generate.jpg"/>
          <p:cNvPicPr>
            <a:picLocks noChangeAspect="1"/>
          </p:cNvPicPr>
          <p:nvPr/>
        </p:nvPicPr>
        <p:blipFill>
          <a:blip r:embed="rId4"/>
          <a:stretch>
            <a:fillRect/>
          </a:stretch>
        </p:blipFill>
        <p:spPr>
          <a:xfrm>
            <a:off x="804672" y="4347840"/>
            <a:ext cx="6382512" cy="1124975"/>
          </a:xfrm>
          <a:prstGeom prst="rect">
            <a:avLst/>
          </a:prstGeom>
        </p:spPr>
      </p:pic>
      <p:sp>
        <p:nvSpPr>
          <p:cNvPr id="7" name="Rounded Rectangle 6"/>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逆伝播</a:t>
            </a:r>
          </a:p>
        </p:txBody>
      </p:sp>
      <p:sp>
        <p:nvSpPr>
          <p:cNvPr id="9" name="TextBox 8"/>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損失 → Decoder → Encoderの</a:t>
            </a:r>
          </a:p>
          <a:p>
            <a:pPr algn="l">
              <a:lnSpc>
                <a:spcPct val="108000"/>
              </a:lnSpc>
              <a:spcBef>
                <a:spcPts val="0"/>
              </a:spcBef>
              <a:spcAft>
                <a:spcPts val="400"/>
              </a:spcAft>
            </a:pPr>
            <a:r>
              <a:rPr sz="1800" b="0" lang="ja-JP" altLang="en-US">
                <a:solidFill>
                  <a:srgbClr val="111111"/>
                </a:solidFill>
                <a:latin typeface="游ゴシック"/>
                <a:ea typeface="游ゴシック"/>
              </a:rPr>
              <a:t>順に勾配をつなぐ。</a:t>
            </a:r>
          </a:p>
        </p:txBody>
      </p:sp>
      <p:sp>
        <p:nvSpPr>
          <p:cNvPr id="10" name="Rounded Rectangle 9"/>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生成</a:t>
            </a:r>
          </a:p>
        </p:txBody>
      </p:sp>
      <p:sp>
        <p:nvSpPr>
          <p:cNvPr id="12" name="TextBox 11"/>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入力をEncoderでhに変換し、</a:t>
            </a:r>
          </a:p>
          <a:p>
            <a:pPr algn="l">
              <a:lnSpc>
                <a:spcPct val="108000"/>
              </a:lnSpc>
              <a:spcBef>
                <a:spcPts val="0"/>
              </a:spcBef>
              <a:spcAft>
                <a:spcPts val="400"/>
              </a:spcAft>
            </a:pPr>
            <a:r>
              <a:rPr sz="1800" b="0" lang="ja-JP" altLang="en-US">
                <a:solidFill>
                  <a:srgbClr val="111111"/>
                </a:solidFill>
                <a:latin typeface="游ゴシック"/>
                <a:ea typeface="游ゴシック"/>
              </a:rPr>
              <a:t>Decoder.generateへ渡す。</a:t>
            </a:r>
          </a:p>
        </p:txBody>
      </p:sp>
      <p:sp>
        <p:nvSpPr>
          <p:cNvPr id="13" name="Rounded Rectangle 12"/>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実装の分担</a:t>
            </a:r>
          </a:p>
        </p:txBody>
      </p:sp>
      <p:sp>
        <p:nvSpPr>
          <p:cNvPr id="15" name="TextBox 14"/>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各レイヤの計算は、</a:t>
            </a:r>
          </a:p>
          <a:p>
            <a:pPr algn="l">
              <a:lnSpc>
                <a:spcPct val="108000"/>
              </a:lnSpc>
              <a:spcBef>
                <a:spcPts val="0"/>
              </a:spcBef>
              <a:spcAft>
                <a:spcPts val="400"/>
              </a:spcAft>
            </a:pPr>
            <a:r>
              <a:rPr sz="1800" b="0" lang="ja-JP" altLang="en-US">
                <a:solidFill>
                  <a:srgbClr val="111111"/>
                </a:solidFill>
                <a:latin typeface="游ゴシック"/>
                <a:ea typeface="游ゴシック"/>
              </a:rPr>
              <a:t>EncoderとDecoderが担当する。</a:t>
            </a:r>
          </a:p>
        </p:txBody>
      </p:sp>
      <p:sp>
        <p:nvSpPr>
          <p:cNvPr id="16" name="TextBox 15"/>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Seq2seq.backward｜p.305 ／ Seq2seq.generate｜p.306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93115" y="423367"/>
            <a:ext cx="10789920" cy="585216"/>
          </a:xfrm>
          <a:prstGeom prst="rect">
            <a:avLst/>
          </a:prstGeom>
          <a:noFill/>
        </p:spPr>
        <p:txBody>
          <a:bodyPr wrap="square" lIns="54864" rIns="54864" tIns="54864" bIns="54864">
            <a:spAutoFit/>
          </a:bodyPr>
          <a:lstStyle/>
          <a:p>
            <a:pPr algn="l">
              <a:lnSpc>
                <a:spcPct val="108000"/>
              </a:lnSpc>
              <a:spcBef>
                <a:spcPts val="0"/>
              </a:spcBef>
              <a:spcAft>
                <a:spcPts val="400"/>
              </a:spcAft>
            </a:pPr>
            <a:r>
              <a:rPr sz="3200" b="0" lang="ja-JP" altLang="en-US">
                <a:solidFill>
                  <a:srgbClr val="111111"/>
                </a:solidFill>
                <a:latin typeface="游ゴシック"/>
                <a:ea typeface="游ゴシック"/>
              </a:rPr>
              <a:t>7.3.4 seq2seqの評価</a:t>
            </a:r>
          </a:p>
        </p:txBody>
      </p:sp>
      <p:sp>
        <p:nvSpPr>
          <p:cNvPr id="3" name="TextBox 2"/>
          <p:cNvSpPr txBox="1"/>
          <p:nvPr/>
        </p:nvSpPr>
        <p:spPr>
          <a:xfrm>
            <a:off x="925372" y="1016812"/>
            <a:ext cx="10378440" cy="621792"/>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学習条件とモデルを設定する</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37</a:t>
            </a:r>
          </a:p>
        </p:txBody>
      </p:sp>
      <p:pic>
        <p:nvPicPr>
          <p:cNvPr id="5" name="Picture 4" descr="train_params.jpg"/>
          <p:cNvPicPr>
            <a:picLocks noChangeAspect="1"/>
          </p:cNvPicPr>
          <p:nvPr/>
        </p:nvPicPr>
        <p:blipFill>
          <a:blip r:embed="rId3"/>
          <a:stretch>
            <a:fillRect/>
          </a:stretch>
        </p:blipFill>
        <p:spPr>
          <a:xfrm>
            <a:off x="804672" y="2442653"/>
            <a:ext cx="6382512" cy="3124837"/>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モデルの大きさ</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文字ベクトル16次元、</a:t>
            </a:r>
          </a:p>
          <a:p>
            <a:pPr algn="l">
              <a:lnSpc>
                <a:spcPct val="108000"/>
              </a:lnSpc>
              <a:spcBef>
                <a:spcPts val="0"/>
              </a:spcBef>
              <a:spcAft>
                <a:spcPts val="400"/>
              </a:spcAft>
            </a:pPr>
            <a:r>
              <a:rPr sz="1800" b="0" lang="ja-JP" altLang="en-US">
                <a:solidFill>
                  <a:srgbClr val="111111"/>
                </a:solidFill>
                <a:latin typeface="游ゴシック"/>
                <a:ea typeface="游ゴシック"/>
              </a:rPr>
              <a:t>隠れ状態128次元。</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学習条件</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バッチサイズ128、25エポック。</a:t>
            </a:r>
          </a:p>
          <a:p>
            <a:pPr algn="l">
              <a:lnSpc>
                <a:spcPct val="108000"/>
              </a:lnSpc>
              <a:spcBef>
                <a:spcPts val="0"/>
              </a:spcBef>
              <a:spcAft>
                <a:spcPts val="400"/>
              </a:spcAft>
            </a:pPr>
            <a:r>
              <a:rPr sz="1800" b="0" lang="ja-JP" altLang="en-US">
                <a:solidFill>
                  <a:srgbClr val="111111"/>
                </a:solidFill>
                <a:latin typeface="游ゴシック"/>
                <a:ea typeface="游ゴシック"/>
              </a:rPr>
              <a:t>勾配クリッピングは5.0。</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重み更新</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AdamとTrainerを使って、</a:t>
            </a:r>
          </a:p>
          <a:p>
            <a:pPr algn="l">
              <a:lnSpc>
                <a:spcPct val="108000"/>
              </a:lnSpc>
              <a:spcBef>
                <a:spcPts val="0"/>
              </a:spcBef>
              <a:spcAft>
                <a:spcPts val="400"/>
              </a:spcAft>
            </a:pPr>
            <a:r>
              <a:rPr sz="1800" b="0" lang="ja-JP" altLang="en-US">
                <a:solidFill>
                  <a:srgbClr val="111111"/>
                </a:solidFill>
                <a:latin typeface="游ゴシック"/>
                <a:ea typeface="游ゴシック"/>
              </a:rPr>
              <a:t>Seq2seqを学習する。</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ハイパーパラメータとモデルの設定｜p.307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93115" y="423367"/>
            <a:ext cx="10789920" cy="585216"/>
          </a:xfrm>
          <a:prstGeom prst="rect">
            <a:avLst/>
          </a:prstGeom>
          <a:noFill/>
        </p:spPr>
        <p:txBody>
          <a:bodyPr wrap="square" lIns="54864" rIns="54864" tIns="54864" bIns="54864">
            <a:spAutoFit/>
          </a:bodyPr>
          <a:lstStyle/>
          <a:p>
            <a:pPr algn="l">
              <a:lnSpc>
                <a:spcPct val="108000"/>
              </a:lnSpc>
              <a:spcBef>
                <a:spcPts val="0"/>
              </a:spcBef>
              <a:spcAft>
                <a:spcPts val="400"/>
              </a:spcAft>
            </a:pPr>
            <a:r>
              <a:rPr sz="3200" b="0" lang="ja-JP" altLang="en-US">
                <a:solidFill>
                  <a:srgbClr val="111111"/>
                </a:solidFill>
                <a:latin typeface="游ゴシック"/>
                <a:ea typeface="游ゴシック"/>
              </a:rPr>
              <a:t>7.3.4 seq2seqの評価</a:t>
            </a:r>
          </a:p>
        </p:txBody>
      </p:sp>
      <p:sp>
        <p:nvSpPr>
          <p:cNvPr id="3" name="TextBox 2"/>
          <p:cNvSpPr txBox="1"/>
          <p:nvPr/>
        </p:nvSpPr>
        <p:spPr>
          <a:xfrm>
            <a:off x="925372" y="1016812"/>
            <a:ext cx="10378440" cy="621792"/>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各エポック後に、答え全体で正誤を判定</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38</a:t>
            </a:r>
          </a:p>
        </p:txBody>
      </p:sp>
      <p:pic>
        <p:nvPicPr>
          <p:cNvPr id="5" name="Picture 4" descr="train_loop.jpg"/>
          <p:cNvPicPr>
            <a:picLocks noChangeAspect="1"/>
          </p:cNvPicPr>
          <p:nvPr/>
        </p:nvPicPr>
        <p:blipFill>
          <a:blip r:embed="rId3"/>
          <a:stretch>
            <a:fillRect/>
          </a:stretch>
        </p:blipFill>
        <p:spPr>
          <a:xfrm>
            <a:off x="804672" y="2658500"/>
            <a:ext cx="6382512" cy="2693143"/>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1エポック学習</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Trainer.fitを呼び、</a:t>
            </a:r>
          </a:p>
          <a:p>
            <a:pPr algn="l">
              <a:lnSpc>
                <a:spcPct val="108000"/>
              </a:lnSpc>
              <a:spcBef>
                <a:spcPts val="0"/>
              </a:spcBef>
              <a:spcAft>
                <a:spcPts val="400"/>
              </a:spcAft>
            </a:pPr>
            <a:r>
              <a:rPr sz="1800" b="0" lang="ja-JP" altLang="en-US">
                <a:solidFill>
                  <a:srgbClr val="111111"/>
                </a:solidFill>
                <a:latin typeface="游ゴシック"/>
                <a:ea typeface="游ゴシック"/>
              </a:rPr>
              <a:t>訓練データで重みを更新する。</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評価で文字列生成</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eval_seq2seqで、</a:t>
            </a:r>
          </a:p>
          <a:p>
            <a:pPr algn="l">
              <a:lnSpc>
                <a:spcPct val="108000"/>
              </a:lnSpc>
              <a:spcBef>
                <a:spcPts val="0"/>
              </a:spcBef>
              <a:spcAft>
                <a:spcPts val="400"/>
              </a:spcAft>
            </a:pPr>
            <a:r>
              <a:rPr sz="1800" b="0" lang="ja-JP" altLang="en-US">
                <a:solidFill>
                  <a:srgbClr val="111111"/>
                </a:solidFill>
                <a:latin typeface="游ゴシック"/>
                <a:ea typeface="游ゴシック"/>
              </a:rPr>
              <a:t>評価データの答えを生成する。</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完全一致率</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1問の答え全体が一致した数を、</a:t>
            </a:r>
          </a:p>
          <a:p>
            <a:pPr algn="l">
              <a:lnSpc>
                <a:spcPct val="108000"/>
              </a:lnSpc>
              <a:spcBef>
                <a:spcPts val="0"/>
              </a:spcBef>
              <a:spcAft>
                <a:spcPts val="400"/>
              </a:spcAft>
            </a:pPr>
            <a:r>
              <a:rPr sz="1800" b="0" lang="ja-JP" altLang="en-US">
                <a:solidFill>
                  <a:srgbClr val="111111"/>
                </a:solidFill>
                <a:latin typeface="游ゴシック"/>
                <a:ea typeface="游ゴシック"/>
              </a:rPr>
              <a:t>評価データ数で割る。</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学習と完全一致による評価｜p.307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93115" y="423367"/>
            <a:ext cx="10789920" cy="585216"/>
          </a:xfrm>
          <a:prstGeom prst="rect">
            <a:avLst/>
          </a:prstGeom>
          <a:noFill/>
        </p:spPr>
        <p:txBody>
          <a:bodyPr wrap="square" lIns="54864" rIns="54864" tIns="54864" bIns="54864">
            <a:spAutoFit/>
          </a:bodyPr>
          <a:lstStyle/>
          <a:p>
            <a:pPr algn="l">
              <a:lnSpc>
                <a:spcPct val="108000"/>
              </a:lnSpc>
              <a:spcBef>
                <a:spcPts val="0"/>
              </a:spcBef>
              <a:spcAft>
                <a:spcPts val="400"/>
              </a:spcAft>
            </a:pPr>
            <a:r>
              <a:rPr sz="3200" b="0" lang="ja-JP" altLang="en-US">
                <a:solidFill>
                  <a:srgbClr val="111111"/>
                </a:solidFill>
                <a:latin typeface="游ゴシック"/>
                <a:ea typeface="游ゴシック"/>
              </a:rPr>
              <a:t>7.3.4 seq2seqの評価</a:t>
            </a:r>
          </a:p>
        </p:txBody>
      </p:sp>
      <p:sp>
        <p:nvSpPr>
          <p:cNvPr id="3" name="TextBox 2"/>
          <p:cNvSpPr txBox="1"/>
          <p:nvPr/>
        </p:nvSpPr>
        <p:spPr>
          <a:xfrm>
            <a:off x="925372" y="1016812"/>
            <a:ext cx="10378440" cy="621792"/>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出力例を見て、誤り方を確認する</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39</a:t>
            </a:r>
          </a:p>
        </p:txBody>
      </p:sp>
      <p:pic>
        <p:nvPicPr>
          <p:cNvPr id="5" name="Picture 4" descr="fig7-20.jpg"/>
          <p:cNvPicPr>
            <a:picLocks noChangeAspect="1"/>
          </p:cNvPicPr>
          <p:nvPr/>
        </p:nvPicPr>
        <p:blipFill>
          <a:blip r:embed="rId3"/>
          <a:stretch>
            <a:fillRect/>
          </a:stretch>
        </p:blipFill>
        <p:spPr>
          <a:xfrm>
            <a:off x="1382593" y="2011680"/>
            <a:ext cx="5226668" cy="3986784"/>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Q：問題文</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例では600+257が入力される。</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T：正解</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正解の答えは857。</a:t>
            </a:r>
          </a:p>
          <a:p>
            <a:pPr algn="l">
              <a:lnSpc>
                <a:spcPct val="108000"/>
              </a:lnSpc>
              <a:spcBef>
                <a:spcPts val="0"/>
              </a:spcBef>
              <a:spcAft>
                <a:spcPts val="400"/>
              </a:spcAft>
            </a:pPr>
            <a:r>
              <a:rPr sz="1800" b="0" lang="ja-JP" altLang="en-US">
                <a:solidFill>
                  <a:srgbClr val="111111"/>
                </a:solidFill>
                <a:latin typeface="游ゴシック"/>
                <a:ea typeface="游ゴシック"/>
              </a:rPr>
              <a:t>その下がモデルの予測。</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記号で正誤を表示</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予測864なら不正解。</a:t>
            </a:r>
          </a:p>
          <a:p>
            <a:pPr algn="l">
              <a:lnSpc>
                <a:spcPct val="108000"/>
              </a:lnSpc>
              <a:spcBef>
                <a:spcPts val="0"/>
              </a:spcBef>
              <a:spcAft>
                <a:spcPts val="400"/>
              </a:spcAft>
            </a:pPr>
            <a:r>
              <a:rPr sz="1800" b="0" lang="ja-JP" altLang="en-US">
                <a:solidFill>
                  <a:srgbClr val="111111"/>
                </a:solidFill>
                <a:latin typeface="游ゴシック"/>
                <a:ea typeface="游ゴシック"/>
              </a:rPr>
              <a:t>26+838 → 864は正解となる。</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図7-20　ターミナルの結果表示｜p.308</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93115" y="423367"/>
            <a:ext cx="10789920" cy="585216"/>
          </a:xfrm>
          <a:prstGeom prst="rect">
            <a:avLst/>
          </a:prstGeom>
          <a:noFill/>
        </p:spPr>
        <p:txBody>
          <a:bodyPr wrap="square" lIns="54864" rIns="54864" tIns="54864" bIns="54864">
            <a:spAutoFit/>
          </a:bodyPr>
          <a:lstStyle/>
          <a:p>
            <a:pPr algn="l">
              <a:lnSpc>
                <a:spcPct val="108000"/>
              </a:lnSpc>
              <a:spcBef>
                <a:spcPts val="0"/>
              </a:spcBef>
              <a:spcAft>
                <a:spcPts val="400"/>
              </a:spcAft>
            </a:pPr>
            <a:r>
              <a:rPr sz="3200" b="0" lang="ja-JP" altLang="en-US">
                <a:solidFill>
                  <a:srgbClr val="111111"/>
                </a:solidFill>
                <a:latin typeface="游ゴシック"/>
                <a:ea typeface="游ゴシック"/>
              </a:rPr>
              <a:t>7.3.4 seq2seqの評価</a:t>
            </a:r>
          </a:p>
        </p:txBody>
      </p:sp>
      <p:sp>
        <p:nvSpPr>
          <p:cNvPr id="3" name="TextBox 2"/>
          <p:cNvSpPr txBox="1"/>
          <p:nvPr/>
        </p:nvSpPr>
        <p:spPr>
          <a:xfrm>
            <a:off x="925372" y="1016812"/>
            <a:ext cx="10378440" cy="621792"/>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学習が進むと、答えが正解へ近づく</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40</a:t>
            </a:r>
          </a:p>
        </p:txBody>
      </p:sp>
      <p:pic>
        <p:nvPicPr>
          <p:cNvPr id="5" name="Picture 4" descr="fig7-21.jpg"/>
          <p:cNvPicPr>
            <a:picLocks noChangeAspect="1"/>
          </p:cNvPicPr>
          <p:nvPr/>
        </p:nvPicPr>
        <p:blipFill>
          <a:blip r:embed="rId3"/>
          <a:stretch>
            <a:fillRect/>
          </a:stretch>
        </p:blipFill>
        <p:spPr>
          <a:xfrm>
            <a:off x="804672" y="2171223"/>
            <a:ext cx="6382512" cy="3667697"/>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初期の出力</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正しく答えられない問題が多い。</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学習の進行</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重みが更新されるにつれ、</a:t>
            </a:r>
          </a:p>
          <a:p>
            <a:pPr algn="l">
              <a:lnSpc>
                <a:spcPct val="108000"/>
              </a:lnSpc>
              <a:spcBef>
                <a:spcPts val="0"/>
              </a:spcBef>
              <a:spcAft>
                <a:spcPts val="400"/>
              </a:spcAft>
            </a:pPr>
            <a:r>
              <a:rPr sz="1800" b="0" lang="ja-JP" altLang="en-US">
                <a:solidFill>
                  <a:srgbClr val="111111"/>
                </a:solidFill>
                <a:latin typeface="游ゴシック"/>
                <a:ea typeface="游ゴシック"/>
              </a:rPr>
              <a:t>正解になる問題が現れる。</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定量的に比較</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表示例だけで判断せず、</a:t>
            </a:r>
          </a:p>
          <a:p>
            <a:pPr algn="l">
              <a:lnSpc>
                <a:spcPct val="108000"/>
              </a:lnSpc>
              <a:spcBef>
                <a:spcPts val="0"/>
              </a:spcBef>
              <a:spcAft>
                <a:spcPts val="400"/>
              </a:spcAft>
            </a:pPr>
            <a:r>
              <a:rPr sz="1800" b="0" lang="ja-JP" altLang="en-US">
                <a:solidFill>
                  <a:srgbClr val="111111"/>
                </a:solidFill>
                <a:latin typeface="游ゴシック"/>
                <a:ea typeface="游ゴシック"/>
              </a:rPr>
              <a:t>全評価データの正解率を調べる。</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図7-21　学習に伴う出力の変化｜p.309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93115" y="423367"/>
            <a:ext cx="10789920" cy="585216"/>
          </a:xfrm>
          <a:prstGeom prst="rect">
            <a:avLst/>
          </a:prstGeom>
          <a:noFill/>
        </p:spPr>
        <p:txBody>
          <a:bodyPr wrap="square" lIns="54864" rIns="54864" tIns="54864" bIns="54864">
            <a:spAutoFit/>
          </a:bodyPr>
          <a:lstStyle/>
          <a:p>
            <a:pPr algn="l">
              <a:lnSpc>
                <a:spcPct val="108000"/>
              </a:lnSpc>
              <a:spcBef>
                <a:spcPts val="0"/>
              </a:spcBef>
              <a:spcAft>
                <a:spcPts val="400"/>
              </a:spcAft>
            </a:pPr>
            <a:r>
              <a:rPr sz="3200" b="0" lang="ja-JP" altLang="en-US">
                <a:solidFill>
                  <a:srgbClr val="111111"/>
                </a:solidFill>
                <a:latin typeface="游ゴシック"/>
                <a:ea typeface="游ゴシック"/>
              </a:rPr>
              <a:t>7.3.4 seq2seqの評価</a:t>
            </a:r>
          </a:p>
        </p:txBody>
      </p:sp>
      <p:sp>
        <p:nvSpPr>
          <p:cNvPr id="3" name="TextBox 2"/>
          <p:cNvSpPr txBox="1"/>
          <p:nvPr/>
        </p:nvSpPr>
        <p:spPr>
          <a:xfrm>
            <a:off x="925372" y="1016812"/>
            <a:ext cx="10378440" cy="621792"/>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通常のseq2seqでは、25エポックで約10%</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41</a:t>
            </a:r>
          </a:p>
        </p:txBody>
      </p:sp>
      <p:pic>
        <p:nvPicPr>
          <p:cNvPr id="5" name="Picture 4" descr="fig7-22.jpg"/>
          <p:cNvPicPr>
            <a:picLocks noChangeAspect="1"/>
          </p:cNvPicPr>
          <p:nvPr/>
        </p:nvPicPr>
        <p:blipFill>
          <a:blip r:embed="rId3"/>
          <a:stretch>
            <a:fillRect/>
          </a:stretch>
        </p:blipFill>
        <p:spPr>
          <a:xfrm>
            <a:off x="1103841" y="2011680"/>
            <a:ext cx="5784173" cy="3986784"/>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書籍の学習曲線</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横軸はエポック、</a:t>
            </a:r>
          </a:p>
          <a:p>
            <a:pPr algn="l">
              <a:lnSpc>
                <a:spcPct val="108000"/>
              </a:lnSpc>
              <a:spcBef>
                <a:spcPts val="0"/>
              </a:spcBef>
              <a:spcAft>
                <a:spcPts val="400"/>
              </a:spcAft>
            </a:pPr>
            <a:r>
              <a:rPr sz="1800" b="0" lang="ja-JP" altLang="en-US">
                <a:solidFill>
                  <a:srgbClr val="111111"/>
                </a:solidFill>
                <a:latin typeface="游ゴシック"/>
                <a:ea typeface="游ゴシック"/>
              </a:rPr>
              <a:t>縦軸は答えの完全一致率。</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結果の読み方</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正解率は上昇するが、</a:t>
            </a:r>
          </a:p>
          <a:p>
            <a:pPr algn="l">
              <a:lnSpc>
                <a:spcPct val="108000"/>
              </a:lnSpc>
              <a:spcBef>
                <a:spcPts val="0"/>
              </a:spcBef>
              <a:spcAft>
                <a:spcPts val="400"/>
              </a:spcAft>
            </a:pPr>
            <a:r>
              <a:rPr sz="1800" b="0" lang="ja-JP" altLang="en-US">
                <a:solidFill>
                  <a:srgbClr val="111111"/>
                </a:solidFill>
                <a:latin typeface="游ゴシック"/>
                <a:ea typeface="游ゴシック"/>
              </a:rPr>
              <a:t>25エポックで約10%にとどまる。</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次の改善</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入力の反転とPeekyを使い、</a:t>
            </a:r>
          </a:p>
          <a:p>
            <a:pPr algn="l">
              <a:lnSpc>
                <a:spcPct val="108000"/>
              </a:lnSpc>
              <a:spcBef>
                <a:spcPts val="0"/>
              </a:spcBef>
              <a:spcAft>
                <a:spcPts val="400"/>
              </a:spcAft>
            </a:pPr>
            <a:r>
              <a:rPr sz="1800" b="0" lang="ja-JP" altLang="en-US">
                <a:solidFill>
                  <a:srgbClr val="111111"/>
                </a:solidFill>
                <a:latin typeface="游ゴシック"/>
                <a:ea typeface="游ゴシック"/>
              </a:rPr>
              <a:t>学習の進み方を改善する。</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図7-22　通常のseq2seqの正解率（書籍）｜p.310</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93115" y="423367"/>
            <a:ext cx="10789920" cy="585216"/>
          </a:xfrm>
          <a:prstGeom prst="rect">
            <a:avLst/>
          </a:prstGeom>
          <a:noFill/>
        </p:spPr>
        <p:txBody>
          <a:bodyPr wrap="square" lIns="54864" rIns="54864" tIns="54864" bIns="54864">
            <a:spAutoFit/>
          </a:bodyPr>
          <a:lstStyle/>
          <a:p>
            <a:pPr algn="l">
              <a:lnSpc>
                <a:spcPct val="108000"/>
              </a:lnSpc>
              <a:spcBef>
                <a:spcPts val="0"/>
              </a:spcBef>
              <a:spcAft>
                <a:spcPts val="400"/>
              </a:spcAft>
            </a:pPr>
            <a:r>
              <a:rPr sz="3200" b="0" lang="ja-JP" altLang="en-US">
                <a:solidFill>
                  <a:srgbClr val="111111"/>
                </a:solidFill>
                <a:latin typeface="游ゴシック"/>
                <a:ea typeface="游ゴシック"/>
              </a:rPr>
              <a:t>7.4.1 入力データの反転（Reverse）</a:t>
            </a:r>
          </a:p>
        </p:txBody>
      </p:sp>
      <p:sp>
        <p:nvSpPr>
          <p:cNvPr id="3" name="TextBox 2"/>
          <p:cNvSpPr txBox="1"/>
          <p:nvPr/>
        </p:nvSpPr>
        <p:spPr>
          <a:xfrm>
            <a:off x="925372" y="1016812"/>
            <a:ext cx="10378440" cy="621792"/>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入力文字列の順番を反転する</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42</a:t>
            </a:r>
          </a:p>
        </p:txBody>
      </p:sp>
      <p:pic>
        <p:nvPicPr>
          <p:cNvPr id="5" name="Picture 4" descr="fig7-23.jpg"/>
          <p:cNvPicPr>
            <a:picLocks noChangeAspect="1"/>
          </p:cNvPicPr>
          <p:nvPr/>
        </p:nvPicPr>
        <p:blipFill>
          <a:blip r:embed="rId3"/>
          <a:stretch>
            <a:fillRect/>
          </a:stretch>
        </p:blipFill>
        <p:spPr>
          <a:xfrm>
            <a:off x="804672" y="2866151"/>
            <a:ext cx="6382512" cy="2277841"/>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変更する箇所</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入力の問題文だけを反転する。</a:t>
            </a:r>
          </a:p>
          <a:p>
            <a:pPr algn="l">
              <a:lnSpc>
                <a:spcPct val="108000"/>
              </a:lnSpc>
              <a:spcBef>
                <a:spcPts val="0"/>
              </a:spcBef>
              <a:spcAft>
                <a:spcPts val="400"/>
              </a:spcAft>
            </a:pPr>
            <a:r>
              <a:rPr sz="1800" b="0" lang="ja-JP" altLang="en-US">
                <a:solidFill>
                  <a:srgbClr val="111111"/>
                </a:solidFill>
                <a:latin typeface="游ゴシック"/>
                <a:ea typeface="游ゴシック"/>
              </a:rPr>
              <a:t>正解の答えは元の順番を使う。</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図の例</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「57+5」を空白も含めて逆順にし、</a:t>
            </a:r>
          </a:p>
          <a:p>
            <a:pPr algn="l">
              <a:lnSpc>
                <a:spcPct val="108000"/>
              </a:lnSpc>
              <a:spcBef>
                <a:spcPts val="0"/>
              </a:spcBef>
              <a:spcAft>
                <a:spcPts val="400"/>
              </a:spcAft>
            </a:pPr>
            <a:r>
              <a:rPr sz="1800" b="0" lang="ja-JP" altLang="en-US">
                <a:solidFill>
                  <a:srgbClr val="111111"/>
                </a:solidFill>
                <a:latin typeface="游ゴシック"/>
                <a:ea typeface="游ゴシック"/>
              </a:rPr>
              <a:t>「5+75」を末尾側に置く。</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モデルの構造</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EncoderとDecoderの構造は、</a:t>
            </a:r>
          </a:p>
          <a:p>
            <a:pPr algn="l">
              <a:lnSpc>
                <a:spcPct val="108000"/>
              </a:lnSpc>
              <a:spcBef>
                <a:spcPts val="0"/>
              </a:spcBef>
              <a:spcAft>
                <a:spcPts val="400"/>
              </a:spcAft>
            </a:pPr>
            <a:r>
              <a:rPr sz="1800" b="0" lang="ja-JP" altLang="en-US">
                <a:solidFill>
                  <a:srgbClr val="111111"/>
                </a:solidFill>
                <a:latin typeface="游ゴシック"/>
                <a:ea typeface="游ゴシック"/>
              </a:rPr>
              <a:t>通常のseq2seqと同じ。</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図7-23　入力データを反転させる例｜p.311</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93115" y="423367"/>
            <a:ext cx="10789920" cy="585216"/>
          </a:xfrm>
          <a:prstGeom prst="rect">
            <a:avLst/>
          </a:prstGeom>
          <a:noFill/>
        </p:spPr>
        <p:txBody>
          <a:bodyPr wrap="square" lIns="54864" rIns="54864" tIns="54864" bIns="54864">
            <a:spAutoFit/>
          </a:bodyPr>
          <a:lstStyle/>
          <a:p>
            <a:pPr algn="l">
              <a:lnSpc>
                <a:spcPct val="108000"/>
              </a:lnSpc>
              <a:spcBef>
                <a:spcPts val="0"/>
              </a:spcBef>
              <a:spcAft>
                <a:spcPts val="400"/>
              </a:spcAft>
            </a:pPr>
            <a:r>
              <a:rPr sz="3200" b="0" lang="ja-JP" altLang="en-US">
                <a:solidFill>
                  <a:srgbClr val="111111"/>
                </a:solidFill>
                <a:latin typeface="游ゴシック"/>
                <a:ea typeface="游ゴシック"/>
              </a:rPr>
              <a:t>7.4.1 入力データの反転（Reverse）</a:t>
            </a:r>
          </a:p>
        </p:txBody>
      </p:sp>
      <p:sp>
        <p:nvSpPr>
          <p:cNvPr id="3" name="TextBox 2"/>
          <p:cNvSpPr txBox="1"/>
          <p:nvPr/>
        </p:nvSpPr>
        <p:spPr>
          <a:xfrm>
            <a:off x="925372" y="1016812"/>
            <a:ext cx="10378440" cy="621792"/>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Reverseは、配列のスライスで実装できる</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43</a:t>
            </a:r>
          </a:p>
        </p:txBody>
      </p:sp>
      <p:pic>
        <p:nvPicPr>
          <p:cNvPr id="5" name="Picture 4" descr="reverse_code.jpg"/>
          <p:cNvPicPr>
            <a:picLocks noChangeAspect="1"/>
          </p:cNvPicPr>
          <p:nvPr/>
        </p:nvPicPr>
        <p:blipFill>
          <a:blip r:embed="rId3"/>
          <a:stretch>
            <a:fillRect/>
          </a:stretch>
        </p:blipFill>
        <p:spPr>
          <a:xfrm>
            <a:off x="804672" y="3772580"/>
            <a:ext cx="6382512" cy="464983"/>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反転する軸</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 ::-1]で文字の順番だけを</a:t>
            </a:r>
          </a:p>
          <a:p>
            <a:pPr algn="l">
              <a:lnSpc>
                <a:spcPct val="108000"/>
              </a:lnSpc>
              <a:spcBef>
                <a:spcPts val="0"/>
              </a:spcBef>
              <a:spcAft>
                <a:spcPts val="400"/>
              </a:spcAft>
            </a:pPr>
            <a:r>
              <a:rPr sz="1800" b="0" lang="ja-JP" altLang="en-US">
                <a:solidFill>
                  <a:srgbClr val="111111"/>
                </a:solidFill>
                <a:latin typeface="游ゴシック"/>
                <a:ea typeface="游ゴシック"/>
              </a:rPr>
              <a:t>逆にする。問題の並びは保つ。</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学習と評価の両方</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x_trainとx_testに、</a:t>
            </a:r>
          </a:p>
          <a:p>
            <a:pPr algn="l">
              <a:lnSpc>
                <a:spcPct val="108000"/>
              </a:lnSpc>
              <a:spcBef>
                <a:spcPts val="0"/>
              </a:spcBef>
              <a:spcAft>
                <a:spcPts val="400"/>
              </a:spcAft>
            </a:pPr>
            <a:r>
              <a:rPr sz="1800" b="0" lang="ja-JP" altLang="en-US">
                <a:solidFill>
                  <a:srgbClr val="111111"/>
                </a:solidFill>
                <a:latin typeface="游ゴシック"/>
                <a:ea typeface="游ゴシック"/>
              </a:rPr>
              <a:t>同じ前処理を適用する。</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勾配伝播の直感</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対応する語・文字の距離が</a:t>
            </a:r>
          </a:p>
          <a:p>
            <a:pPr algn="l">
              <a:lnSpc>
                <a:spcPct val="108000"/>
              </a:lnSpc>
              <a:spcBef>
                <a:spcPts val="0"/>
              </a:spcBef>
              <a:spcAft>
                <a:spcPts val="400"/>
              </a:spcAft>
            </a:pPr>
            <a:r>
              <a:rPr sz="1800" b="0" lang="ja-JP" altLang="en-US">
                <a:solidFill>
                  <a:srgbClr val="111111"/>
                </a:solidFill>
                <a:latin typeface="游ゴシック"/>
                <a:ea typeface="游ゴシック"/>
              </a:rPr>
              <a:t>短くなる箇所ができる。</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入力だけを反転するコード｜p.311</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93115" y="423367"/>
            <a:ext cx="10789920" cy="585216"/>
          </a:xfrm>
          <a:prstGeom prst="rect">
            <a:avLst/>
          </a:prstGeom>
          <a:noFill/>
        </p:spPr>
        <p:txBody>
          <a:bodyPr wrap="square" lIns="54864" rIns="54864" tIns="54864" bIns="54864">
            <a:spAutoFit/>
          </a:bodyPr>
          <a:lstStyle/>
          <a:p>
            <a:pPr algn="l">
              <a:lnSpc>
                <a:spcPct val="108000"/>
              </a:lnSpc>
              <a:spcBef>
                <a:spcPts val="0"/>
              </a:spcBef>
              <a:spcAft>
                <a:spcPts val="400"/>
              </a:spcAft>
            </a:pPr>
            <a:r>
              <a:rPr sz="3200" b="0" lang="ja-JP" altLang="en-US">
                <a:solidFill>
                  <a:srgbClr val="111111"/>
                </a:solidFill>
                <a:latin typeface="游ゴシック"/>
                <a:ea typeface="游ゴシック"/>
              </a:rPr>
              <a:t>7.4.1 入力データの反転（Reverse）</a:t>
            </a:r>
          </a:p>
        </p:txBody>
      </p:sp>
      <p:sp>
        <p:nvSpPr>
          <p:cNvPr id="3" name="TextBox 2"/>
          <p:cNvSpPr txBox="1"/>
          <p:nvPr/>
        </p:nvSpPr>
        <p:spPr>
          <a:xfrm>
            <a:off x="925372" y="1016812"/>
            <a:ext cx="10378440" cy="621792"/>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Reverseで正解率と学習速度が改善する</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44</a:t>
            </a:r>
          </a:p>
        </p:txBody>
      </p:sp>
      <p:pic>
        <p:nvPicPr>
          <p:cNvPr id="5" name="Picture 4" descr="fig7-24.jpg"/>
          <p:cNvPicPr>
            <a:picLocks noChangeAspect="1"/>
          </p:cNvPicPr>
          <p:nvPr/>
        </p:nvPicPr>
        <p:blipFill>
          <a:blip r:embed="rId3"/>
          <a:stretch>
            <a:fillRect/>
          </a:stretch>
        </p:blipFill>
        <p:spPr>
          <a:xfrm>
            <a:off x="1262924" y="2011680"/>
            <a:ext cx="5466007" cy="3986784"/>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書籍の比較</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青がbaseline、</a:t>
            </a:r>
          </a:p>
          <a:p>
            <a:pPr algn="l">
              <a:lnSpc>
                <a:spcPct val="108000"/>
              </a:lnSpc>
              <a:spcBef>
                <a:spcPts val="0"/>
              </a:spcBef>
              <a:spcAft>
                <a:spcPts val="400"/>
              </a:spcAft>
            </a:pPr>
            <a:r>
              <a:rPr sz="1800" b="0" lang="ja-JP" altLang="en-US">
                <a:solidFill>
                  <a:srgbClr val="111111"/>
                </a:solidFill>
                <a:latin typeface="游ゴシック"/>
                <a:ea typeface="游ゴシック"/>
              </a:rPr>
              <a:t>橙が入力を反転したreverse。</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改善の効果</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入力を反転しただけで、</a:t>
            </a:r>
          </a:p>
          <a:p>
            <a:pPr algn="l">
              <a:lnSpc>
                <a:spcPct val="108000"/>
              </a:lnSpc>
              <a:spcBef>
                <a:spcPts val="0"/>
              </a:spcBef>
              <a:spcAft>
                <a:spcPts val="400"/>
              </a:spcAft>
            </a:pPr>
            <a:r>
              <a:rPr sz="1800" b="0" lang="ja-JP" altLang="en-US">
                <a:solidFill>
                  <a:srgbClr val="111111"/>
                </a:solidFill>
                <a:latin typeface="游ゴシック"/>
                <a:ea typeface="游ゴシック"/>
              </a:rPr>
              <a:t>25エポックの正解率が約50%へ。</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残る課題</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さらにEncoderの情報を</a:t>
            </a:r>
          </a:p>
          <a:p>
            <a:pPr algn="l">
              <a:lnSpc>
                <a:spcPct val="108000"/>
              </a:lnSpc>
              <a:spcBef>
                <a:spcPts val="0"/>
              </a:spcBef>
              <a:spcAft>
                <a:spcPts val="400"/>
              </a:spcAft>
            </a:pPr>
            <a:r>
              <a:rPr sz="1800" b="0" lang="ja-JP" altLang="en-US">
                <a:solidFill>
                  <a:srgbClr val="111111"/>
                </a:solidFill>
                <a:latin typeface="游ゴシック"/>
                <a:ea typeface="游ゴシック"/>
              </a:rPr>
              <a:t>活用する方法を考える。</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図7-24　Reverseによる改善（書籍）｜p.312</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93115" y="423367"/>
            <a:ext cx="10789920" cy="585216"/>
          </a:xfrm>
          <a:prstGeom prst="rect">
            <a:avLst/>
          </a:prstGeom>
          <a:noFill/>
        </p:spPr>
        <p:txBody>
          <a:bodyPr wrap="square" lIns="54864" rIns="54864" tIns="54864" bIns="54864">
            <a:spAutoFit/>
          </a:bodyPr>
          <a:lstStyle/>
          <a:p>
            <a:pPr algn="l">
              <a:lnSpc>
                <a:spcPct val="108000"/>
              </a:lnSpc>
              <a:spcBef>
                <a:spcPts val="0"/>
              </a:spcBef>
              <a:spcAft>
                <a:spcPts val="400"/>
              </a:spcAft>
            </a:pPr>
            <a:r>
              <a:rPr sz="3200" b="0" lang="ja-JP" altLang="en-US">
                <a:solidFill>
                  <a:srgbClr val="111111"/>
                </a:solidFill>
                <a:latin typeface="游ゴシック"/>
                <a:ea typeface="游ゴシック"/>
              </a:rPr>
              <a:t>7.4.2 覗き見（Peeky）</a:t>
            </a:r>
          </a:p>
        </p:txBody>
      </p:sp>
      <p:sp>
        <p:nvSpPr>
          <p:cNvPr id="3" name="TextBox 2"/>
          <p:cNvSpPr txBox="1"/>
          <p:nvPr/>
        </p:nvSpPr>
        <p:spPr>
          <a:xfrm>
            <a:off x="925372" y="1016812"/>
            <a:ext cx="10378440" cy="621792"/>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通常はhを最初のLSTMにだけ渡していた</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45</a:t>
            </a:r>
          </a:p>
        </p:txBody>
      </p:sp>
      <p:pic>
        <p:nvPicPr>
          <p:cNvPr id="5" name="Picture 4" descr="fig7-25.jpg"/>
          <p:cNvPicPr>
            <a:picLocks noChangeAspect="1"/>
          </p:cNvPicPr>
          <p:nvPr/>
        </p:nvPicPr>
        <p:blipFill>
          <a:blip r:embed="rId3"/>
          <a:stretch>
            <a:fillRect/>
          </a:stretch>
        </p:blipFill>
        <p:spPr>
          <a:xfrm>
            <a:off x="804671" y="2256466"/>
            <a:ext cx="6382512" cy="3497211"/>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通常の受け渡し</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Encoderのhは、Decoderの</a:t>
            </a:r>
          </a:p>
          <a:p>
            <a:pPr algn="l">
              <a:lnSpc>
                <a:spcPct val="108000"/>
              </a:lnSpc>
              <a:spcBef>
                <a:spcPts val="0"/>
              </a:spcBef>
              <a:spcAft>
                <a:spcPts val="400"/>
              </a:spcAft>
            </a:pPr>
            <a:r>
              <a:rPr sz="1800" b="0" lang="ja-JP" altLang="en-US">
                <a:solidFill>
                  <a:srgbClr val="111111"/>
                </a:solidFill>
                <a:latin typeface="游ゴシック"/>
                <a:ea typeface="游ゴシック"/>
              </a:rPr>
              <a:t>初期隠れ状態に設定される。</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その後の時刻</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hの情報は、LSTMの</a:t>
            </a:r>
          </a:p>
          <a:p>
            <a:pPr algn="l">
              <a:lnSpc>
                <a:spcPct val="108000"/>
              </a:lnSpc>
              <a:spcBef>
                <a:spcPts val="0"/>
              </a:spcBef>
              <a:spcAft>
                <a:spcPts val="400"/>
              </a:spcAft>
            </a:pPr>
            <a:r>
              <a:rPr sz="1800" b="0" lang="ja-JP" altLang="en-US">
                <a:solidFill>
                  <a:srgbClr val="111111"/>
                </a:solidFill>
                <a:latin typeface="游ゴシック"/>
                <a:ea typeface="游ゴシック"/>
              </a:rPr>
              <a:t>時間方向のつながりで伝わる。</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改善の着眼点</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重要な情報hを、</a:t>
            </a:r>
          </a:p>
          <a:p>
            <a:pPr algn="l">
              <a:lnSpc>
                <a:spcPct val="108000"/>
              </a:lnSpc>
              <a:spcBef>
                <a:spcPts val="0"/>
              </a:spcBef>
              <a:spcAft>
                <a:spcPts val="400"/>
              </a:spcAft>
            </a:pPr>
            <a:r>
              <a:rPr sz="1800" b="0" lang="ja-JP" altLang="en-US">
                <a:solidFill>
                  <a:srgbClr val="111111"/>
                </a:solidFill>
                <a:latin typeface="游ゴシック"/>
                <a:ea typeface="游ゴシック"/>
              </a:rPr>
              <a:t>各時刻で直接参照できないか。</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図7-25　通常のseq2seq｜p.313</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93115" y="423367"/>
            <a:ext cx="10789920" cy="585216"/>
          </a:xfrm>
          <a:prstGeom prst="rect">
            <a:avLst/>
          </a:prstGeom>
          <a:noFill/>
        </p:spPr>
        <p:txBody>
          <a:bodyPr wrap="square" lIns="54864" rIns="54864" tIns="54864" bIns="54864">
            <a:spAutoFit/>
          </a:bodyPr>
          <a:lstStyle/>
          <a:p>
            <a:pPr algn="l">
              <a:lnSpc>
                <a:spcPct val="108000"/>
              </a:lnSpc>
              <a:spcBef>
                <a:spcPts val="0"/>
              </a:spcBef>
              <a:spcAft>
                <a:spcPts val="400"/>
              </a:spcAft>
            </a:pPr>
            <a:r>
              <a:rPr sz="3200" b="0" lang="ja-JP" altLang="en-US">
                <a:solidFill>
                  <a:srgbClr val="111111"/>
                </a:solidFill>
                <a:latin typeface="游ゴシック"/>
                <a:ea typeface="游ゴシック"/>
              </a:rPr>
              <a:t>7.4.2 覗き見（Peeky）</a:t>
            </a:r>
          </a:p>
        </p:txBody>
      </p:sp>
      <p:sp>
        <p:nvSpPr>
          <p:cNvPr id="3" name="TextBox 2"/>
          <p:cNvSpPr txBox="1"/>
          <p:nvPr/>
        </p:nvSpPr>
        <p:spPr>
          <a:xfrm>
            <a:off x="925372" y="1016812"/>
            <a:ext cx="10378440" cy="621792"/>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各時刻のLSTMとAffineに、hを直接渡す</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46</a:t>
            </a:r>
          </a:p>
        </p:txBody>
      </p:sp>
      <p:pic>
        <p:nvPicPr>
          <p:cNvPr id="5" name="Picture 4" descr="fig7-26.jpg"/>
          <p:cNvPicPr>
            <a:picLocks noChangeAspect="1"/>
          </p:cNvPicPr>
          <p:nvPr/>
        </p:nvPicPr>
        <p:blipFill>
          <a:blip r:embed="rId3"/>
          <a:stretch>
            <a:fillRect/>
          </a:stretch>
        </p:blipFill>
        <p:spPr>
          <a:xfrm>
            <a:off x="804672" y="2261679"/>
            <a:ext cx="6382512" cy="3486785"/>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Peeky Decoder</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全時刻のLSTMとAffineに、</a:t>
            </a:r>
          </a:p>
          <a:p>
            <a:pPr algn="l">
              <a:lnSpc>
                <a:spcPct val="108000"/>
              </a:lnSpc>
              <a:spcBef>
                <a:spcPts val="0"/>
              </a:spcBef>
              <a:spcAft>
                <a:spcPts val="400"/>
              </a:spcAft>
            </a:pPr>
            <a:r>
              <a:rPr sz="1800" b="0" lang="ja-JP" altLang="en-US">
                <a:solidFill>
                  <a:srgbClr val="111111"/>
                </a:solidFill>
                <a:latin typeface="游ゴシック"/>
                <a:ea typeface="游ゴシック"/>
              </a:rPr>
              <a:t>Encoderのhを与える。</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「覗き見」の意味</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生成中も、入力文の情報を</a:t>
            </a:r>
          </a:p>
          <a:p>
            <a:pPr algn="l">
              <a:lnSpc>
                <a:spcPct val="108000"/>
              </a:lnSpc>
              <a:spcBef>
                <a:spcPts val="0"/>
              </a:spcBef>
              <a:spcAft>
                <a:spcPts val="400"/>
              </a:spcAft>
            </a:pPr>
            <a:r>
              <a:rPr sz="1800" b="0" lang="ja-JP" altLang="en-US">
                <a:solidFill>
                  <a:srgbClr val="111111"/>
                </a:solidFill>
                <a:latin typeface="游ゴシック"/>
                <a:ea typeface="游ゴシック"/>
              </a:rPr>
              <a:t>各レイヤが直接参照できる。</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Encoder</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Encoderの実装は、</a:t>
            </a:r>
          </a:p>
          <a:p>
            <a:pPr algn="l">
              <a:lnSpc>
                <a:spcPct val="108000"/>
              </a:lnSpc>
              <a:spcBef>
                <a:spcPts val="0"/>
              </a:spcBef>
              <a:spcAft>
                <a:spcPts val="400"/>
              </a:spcAft>
            </a:pPr>
            <a:r>
              <a:rPr sz="1800" b="0" lang="ja-JP" altLang="en-US">
                <a:solidFill>
                  <a:srgbClr val="111111"/>
                </a:solidFill>
                <a:latin typeface="游ゴシック"/>
                <a:ea typeface="游ゴシック"/>
              </a:rPr>
              <a:t>そのまま再利用できる。</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図7-26　Encoderのhを各時刻へ渡す｜p.314</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93115" y="423367"/>
            <a:ext cx="10789920" cy="585216"/>
          </a:xfrm>
          <a:prstGeom prst="rect">
            <a:avLst/>
          </a:prstGeom>
          <a:noFill/>
        </p:spPr>
        <p:txBody>
          <a:bodyPr wrap="square" lIns="54864" rIns="54864" tIns="54864" bIns="54864">
            <a:spAutoFit/>
          </a:bodyPr>
          <a:lstStyle/>
          <a:p>
            <a:pPr algn="l">
              <a:lnSpc>
                <a:spcPct val="108000"/>
              </a:lnSpc>
              <a:spcBef>
                <a:spcPts val="0"/>
              </a:spcBef>
              <a:spcAft>
                <a:spcPts val="400"/>
              </a:spcAft>
            </a:pPr>
            <a:r>
              <a:rPr sz="3200" b="0" lang="ja-JP" altLang="en-US">
                <a:solidFill>
                  <a:srgbClr val="111111"/>
                </a:solidFill>
                <a:latin typeface="游ゴシック"/>
                <a:ea typeface="游ゴシック"/>
              </a:rPr>
              <a:t>7.4.2 覗き見（Peeky）</a:t>
            </a:r>
          </a:p>
        </p:txBody>
      </p:sp>
      <p:sp>
        <p:nvSpPr>
          <p:cNvPr id="3" name="TextBox 2"/>
          <p:cNvSpPr txBox="1"/>
          <p:nvPr/>
        </p:nvSpPr>
        <p:spPr>
          <a:xfrm>
            <a:off x="925372" y="1016812"/>
            <a:ext cx="10378440" cy="621792"/>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2本の入力は、ベクトルを連結して渡す</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47</a:t>
            </a:r>
          </a:p>
        </p:txBody>
      </p:sp>
      <p:pic>
        <p:nvPicPr>
          <p:cNvPr id="5" name="Picture 4" descr="fig7-27.jpg"/>
          <p:cNvPicPr>
            <a:picLocks noChangeAspect="1"/>
          </p:cNvPicPr>
          <p:nvPr/>
        </p:nvPicPr>
        <p:blipFill>
          <a:blip r:embed="rId3"/>
          <a:stretch>
            <a:fillRect/>
          </a:stretch>
        </p:blipFill>
        <p:spPr>
          <a:xfrm>
            <a:off x="804672" y="2302455"/>
            <a:ext cx="6382512" cy="3405233"/>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concatで連結</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hと、もう一方の入力を</a:t>
            </a:r>
          </a:p>
          <a:p>
            <a:pPr algn="l">
              <a:lnSpc>
                <a:spcPct val="108000"/>
              </a:lnSpc>
              <a:spcBef>
                <a:spcPts val="0"/>
              </a:spcBef>
              <a:spcAft>
                <a:spcPts val="400"/>
              </a:spcAft>
            </a:pPr>
            <a:r>
              <a:rPr sz="1800" b="0" lang="ja-JP" altLang="en-US">
                <a:solidFill>
                  <a:srgbClr val="111111"/>
                </a:solidFill>
                <a:latin typeface="游ゴシック"/>
                <a:ea typeface="游ゴシック"/>
              </a:rPr>
              <a:t>特徴量の方向に並べる。</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LSTMへの入力</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文字ベクトルDとhのHを合わせ、</a:t>
            </a:r>
          </a:p>
          <a:p>
            <a:pPr algn="l">
              <a:lnSpc>
                <a:spcPct val="108000"/>
              </a:lnSpc>
              <a:spcBef>
                <a:spcPts val="0"/>
              </a:spcBef>
              <a:spcAft>
                <a:spcPts val="400"/>
              </a:spcAft>
            </a:pPr>
            <a:r>
              <a:rPr sz="1800" b="0" lang="ja-JP" altLang="en-US">
                <a:solidFill>
                  <a:srgbClr val="111111"/>
                </a:solidFill>
                <a:latin typeface="游ゴシック"/>
                <a:ea typeface="游ゴシック"/>
              </a:rPr>
              <a:t>入力はD+H次元となる。</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Affineへの入力</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LSTMの出力HとhのHを合わせ、</a:t>
            </a:r>
          </a:p>
          <a:p>
            <a:pPr algn="l">
              <a:lnSpc>
                <a:spcPct val="108000"/>
              </a:lnSpc>
              <a:spcBef>
                <a:spcPts val="0"/>
              </a:spcBef>
              <a:spcAft>
                <a:spcPts val="400"/>
              </a:spcAft>
            </a:pPr>
            <a:r>
              <a:rPr sz="1800" b="0" lang="ja-JP" altLang="en-US">
                <a:solidFill>
                  <a:srgbClr val="111111"/>
                </a:solidFill>
                <a:latin typeface="游ゴシック"/>
                <a:ea typeface="游ゴシック"/>
              </a:rPr>
              <a:t>入力は2H次元となる。</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図7-27　2つのベクトルの連結｜p.315</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93115" y="423367"/>
            <a:ext cx="10789920" cy="585216"/>
          </a:xfrm>
          <a:prstGeom prst="rect">
            <a:avLst/>
          </a:prstGeom>
          <a:noFill/>
        </p:spPr>
        <p:txBody>
          <a:bodyPr wrap="square" lIns="54864" rIns="54864" tIns="54864" bIns="54864">
            <a:spAutoFit/>
          </a:bodyPr>
          <a:lstStyle/>
          <a:p>
            <a:pPr algn="l">
              <a:lnSpc>
                <a:spcPct val="108000"/>
              </a:lnSpc>
              <a:spcBef>
                <a:spcPts val="0"/>
              </a:spcBef>
              <a:spcAft>
                <a:spcPts val="400"/>
              </a:spcAft>
            </a:pPr>
            <a:r>
              <a:rPr sz="3200" b="0" lang="ja-JP" altLang="en-US">
                <a:solidFill>
                  <a:srgbClr val="111111"/>
                </a:solidFill>
                <a:latin typeface="游ゴシック"/>
                <a:ea typeface="游ゴシック"/>
              </a:rPr>
              <a:t>7.4.2 覗き見（Peeky）</a:t>
            </a:r>
          </a:p>
        </p:txBody>
      </p:sp>
      <p:sp>
        <p:nvSpPr>
          <p:cNvPr id="3" name="TextBox 2"/>
          <p:cNvSpPr txBox="1"/>
          <p:nvPr/>
        </p:nvSpPr>
        <p:spPr>
          <a:xfrm>
            <a:off x="925372" y="1016812"/>
            <a:ext cx="10378440" cy="621792"/>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PeekyDecoder.__init__：重みの形を変える</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48</a:t>
            </a:r>
          </a:p>
        </p:txBody>
      </p:sp>
      <p:pic>
        <p:nvPicPr>
          <p:cNvPr id="5" name="Picture 4" descr="peeky_init.jpg"/>
          <p:cNvPicPr>
            <a:picLocks noChangeAspect="1"/>
          </p:cNvPicPr>
          <p:nvPr/>
        </p:nvPicPr>
        <p:blipFill>
          <a:blip r:embed="rId3"/>
          <a:stretch>
            <a:fillRect/>
          </a:stretch>
        </p:blipFill>
        <p:spPr>
          <a:xfrm>
            <a:off x="1099452" y="2011680"/>
            <a:ext cx="5792951" cy="3986784"/>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LSTMの入力重み</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(D+H, 4H)の形にして、</a:t>
            </a:r>
          </a:p>
          <a:p>
            <a:pPr algn="l">
              <a:lnSpc>
                <a:spcPct val="108000"/>
              </a:lnSpc>
              <a:spcBef>
                <a:spcPts val="0"/>
              </a:spcBef>
              <a:spcAft>
                <a:spcPts val="400"/>
              </a:spcAft>
            </a:pPr>
            <a:r>
              <a:rPr sz="1800" b="0" lang="ja-JP" altLang="en-US">
                <a:solidFill>
                  <a:srgbClr val="111111"/>
                </a:solidFill>
                <a:latin typeface="游ゴシック"/>
                <a:ea typeface="游ゴシック"/>
              </a:rPr>
              <a:t>hの追加分を受け取る。</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Affineの重み</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(2H, V)の形にして、</a:t>
            </a:r>
          </a:p>
          <a:p>
            <a:pPr algn="l">
              <a:lnSpc>
                <a:spcPct val="108000"/>
              </a:lnSpc>
              <a:spcBef>
                <a:spcPts val="0"/>
              </a:spcBef>
              <a:spcAft>
                <a:spcPts val="400"/>
              </a:spcAft>
            </a:pPr>
            <a:r>
              <a:rPr sz="1800" b="0" lang="ja-JP" altLang="en-US">
                <a:solidFill>
                  <a:srgbClr val="111111"/>
                </a:solidFill>
                <a:latin typeface="游ゴシック"/>
                <a:ea typeface="游ゴシック"/>
              </a:rPr>
              <a:t>連結した2つのベクトルを使う。</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計算量との関係</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連結でパラメータ数が増え、</a:t>
            </a:r>
          </a:p>
          <a:p>
            <a:pPr algn="l">
              <a:lnSpc>
                <a:spcPct val="108000"/>
              </a:lnSpc>
              <a:spcBef>
                <a:spcPts val="0"/>
              </a:spcBef>
              <a:spcAft>
                <a:spcPts val="400"/>
              </a:spcAft>
            </a:pPr>
            <a:r>
              <a:rPr sz="1800" b="0" lang="ja-JP" altLang="en-US">
                <a:solidFill>
                  <a:srgbClr val="111111"/>
                </a:solidFill>
                <a:latin typeface="游ゴシック"/>
                <a:ea typeface="游ゴシック"/>
              </a:rPr>
              <a:t>計算量も大きくなる。</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PeekyDecoder.__init__｜p.315</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93115" y="423367"/>
            <a:ext cx="10789920" cy="585216"/>
          </a:xfrm>
          <a:prstGeom prst="rect">
            <a:avLst/>
          </a:prstGeom>
          <a:noFill/>
        </p:spPr>
        <p:txBody>
          <a:bodyPr wrap="square" lIns="54864" rIns="54864" tIns="54864" bIns="54864">
            <a:spAutoFit/>
          </a:bodyPr>
          <a:lstStyle/>
          <a:p>
            <a:pPr algn="l">
              <a:lnSpc>
                <a:spcPct val="108000"/>
              </a:lnSpc>
              <a:spcBef>
                <a:spcPts val="0"/>
              </a:spcBef>
              <a:spcAft>
                <a:spcPts val="400"/>
              </a:spcAft>
            </a:pPr>
            <a:r>
              <a:rPr sz="3200" b="0" lang="ja-JP" altLang="en-US">
                <a:solidFill>
                  <a:srgbClr val="111111"/>
                </a:solidFill>
                <a:latin typeface="游ゴシック"/>
                <a:ea typeface="游ゴシック"/>
              </a:rPr>
              <a:t>7.4.2 覗き見（Peeky）</a:t>
            </a:r>
          </a:p>
        </p:txBody>
      </p:sp>
      <p:sp>
        <p:nvSpPr>
          <p:cNvPr id="3" name="TextBox 2"/>
          <p:cNvSpPr txBox="1"/>
          <p:nvPr/>
        </p:nvSpPr>
        <p:spPr>
          <a:xfrm>
            <a:off x="925372" y="1016812"/>
            <a:ext cx="10378440" cy="621792"/>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PeekyDecoder.forward：hを全時刻へ複製</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49</a:t>
            </a:r>
          </a:p>
        </p:txBody>
      </p:sp>
      <p:pic>
        <p:nvPicPr>
          <p:cNvPr id="5" name="Picture 4" descr="peeky_forward.jpg"/>
          <p:cNvPicPr>
            <a:picLocks noChangeAspect="1"/>
          </p:cNvPicPr>
          <p:nvPr/>
        </p:nvPicPr>
        <p:blipFill>
          <a:blip r:embed="rId3"/>
          <a:stretch>
            <a:fillRect/>
          </a:stretch>
        </p:blipFill>
        <p:spPr>
          <a:xfrm>
            <a:off x="804672" y="2497824"/>
            <a:ext cx="6382512" cy="3014494"/>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hを並べる</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np.repeatとreshapeで、</a:t>
            </a:r>
          </a:p>
          <a:p>
            <a:pPr algn="l">
              <a:lnSpc>
                <a:spcPct val="108000"/>
              </a:lnSpc>
              <a:spcBef>
                <a:spcPts val="0"/>
              </a:spcBef>
              <a:spcAft>
                <a:spcPts val="400"/>
              </a:spcAft>
            </a:pPr>
            <a:r>
              <a:rPr sz="1800" b="0" lang="ja-JP" altLang="en-US">
                <a:solidFill>
                  <a:srgbClr val="111111"/>
                </a:solidFill>
                <a:latin typeface="游ゴシック"/>
                <a:ea typeface="游ゴシック"/>
              </a:rPr>
              <a:t>(N, T, H)のhsを作る。</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2回の連結</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Embedding後とLSTM後に、</a:t>
            </a:r>
          </a:p>
          <a:p>
            <a:pPr algn="l">
              <a:lnSpc>
                <a:spcPct val="108000"/>
              </a:lnSpc>
              <a:spcBef>
                <a:spcPts val="0"/>
              </a:spcBef>
              <a:spcAft>
                <a:spcPts val="400"/>
              </a:spcAft>
            </a:pPr>
            <a:r>
              <a:rPr sz="1800" b="0" lang="ja-JP" altLang="en-US">
                <a:solidFill>
                  <a:srgbClr val="111111"/>
                </a:solidFill>
                <a:latin typeface="游ゴシック"/>
                <a:ea typeface="游ゴシック"/>
              </a:rPr>
              <a:t>hsをaxis=2で連結する。</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スコアを返す</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連結したベクトルにAffineを適用。</a:t>
            </a:r>
          </a:p>
          <a:p>
            <a:pPr algn="l">
              <a:lnSpc>
                <a:spcPct val="108000"/>
              </a:lnSpc>
              <a:spcBef>
                <a:spcPts val="0"/>
              </a:spcBef>
              <a:spcAft>
                <a:spcPts val="400"/>
              </a:spcAft>
            </a:pPr>
            <a:r>
              <a:rPr sz="1800" b="0" lang="ja-JP" altLang="en-US">
                <a:solidFill>
                  <a:srgbClr val="111111"/>
                </a:solidFill>
                <a:latin typeface="游ゴシック"/>
                <a:ea typeface="游ゴシック"/>
              </a:rPr>
              <a:t>逆伝播用にHを保存する。</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PeekyDecoder.forward（続き）｜p.316</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93115" y="423367"/>
            <a:ext cx="10789920" cy="585216"/>
          </a:xfrm>
          <a:prstGeom prst="rect">
            <a:avLst/>
          </a:prstGeom>
          <a:noFill/>
        </p:spPr>
        <p:txBody>
          <a:bodyPr wrap="square" lIns="54864" rIns="54864" tIns="54864" bIns="54864">
            <a:spAutoFit/>
          </a:bodyPr>
          <a:lstStyle/>
          <a:p>
            <a:pPr algn="l">
              <a:lnSpc>
                <a:spcPct val="108000"/>
              </a:lnSpc>
              <a:spcBef>
                <a:spcPts val="0"/>
              </a:spcBef>
              <a:spcAft>
                <a:spcPts val="400"/>
              </a:spcAft>
            </a:pPr>
            <a:r>
              <a:rPr sz="3200" b="0" lang="ja-JP" altLang="en-US">
                <a:solidFill>
                  <a:srgbClr val="111111"/>
                </a:solidFill>
                <a:latin typeface="游ゴシック"/>
                <a:ea typeface="游ゴシック"/>
              </a:rPr>
              <a:t>7.4.2 覗き見（Peeky）</a:t>
            </a:r>
          </a:p>
        </p:txBody>
      </p:sp>
      <p:sp>
        <p:nvSpPr>
          <p:cNvPr id="3" name="TextBox 2"/>
          <p:cNvSpPr txBox="1"/>
          <p:nvPr/>
        </p:nvSpPr>
        <p:spPr>
          <a:xfrm>
            <a:off x="925372" y="1016812"/>
            <a:ext cx="10378440" cy="621792"/>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Peekyの逆伝播と生成で変わる箇所</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50</a:t>
            </a:r>
          </a:p>
        </p:txBody>
      </p:sp>
      <p:sp>
        <p:nvSpPr>
          <p:cNvPr id="5" name="TextBox 4"/>
          <p:cNvSpPr txBox="1"/>
          <p:nvPr/>
        </p:nvSpPr>
        <p:spPr>
          <a:xfrm>
            <a:off x="896112" y="2011680"/>
            <a:ext cx="6217920" cy="365760"/>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56082"/>
                </a:solidFill>
                <a:latin typeface="游ゴシック"/>
                <a:ea typeface="游ゴシック"/>
              </a:rPr>
              <a:t>逆伝播：分岐した勾配をhへ集める</a:t>
            </a:r>
          </a:p>
        </p:txBody>
      </p:sp>
      <p:sp>
        <p:nvSpPr>
          <p:cNvPr id="6" name="TextBox 5"/>
          <p:cNvSpPr txBox="1"/>
          <p:nvPr/>
        </p:nvSpPr>
        <p:spPr>
          <a:xfrm>
            <a:off x="896112" y="2468880"/>
            <a:ext cx="6291072" cy="1143000"/>
          </a:xfrm>
          <a:prstGeom prst="rect">
            <a:avLst/>
          </a:prstGeom>
          <a:solidFill>
            <a:srgbClr val="1E1E1E"/>
          </a:solidFill>
        </p:spPr>
        <p:txBody>
          <a:bodyPr wrap="square" lIns="146304" rIns="146304" tIns="146304" bIns="146304">
            <a:spAutoFit/>
          </a:bodyPr>
          <a:lstStyle/>
          <a:p>
            <a:pPr algn="l">
              <a:lnSpc>
                <a:spcPct val="108000"/>
              </a:lnSpc>
              <a:spcBef>
                <a:spcPts val="0"/>
              </a:spcBef>
              <a:spcAft>
                <a:spcPts val="400"/>
              </a:spcAft>
            </a:pPr>
            <a:r>
              <a:rPr sz="1600" b="0" lang="ja-JP" altLang="en-US">
                <a:solidFill>
                  <a:srgbClr val="D4D4D4"/>
                </a:solidFill>
                <a:latin typeface="Consolas"/>
                <a:ea typeface="游ゴシック"/>
              </a:rPr>
              <a:t>dhs = dhs0 + dhs1</a:t>
            </a:r>
          </a:p>
          <a:p>
            <a:pPr algn="l">
              <a:lnSpc>
                <a:spcPct val="108000"/>
              </a:lnSpc>
              <a:spcBef>
                <a:spcPts val="0"/>
              </a:spcBef>
              <a:spcAft>
                <a:spcPts val="400"/>
              </a:spcAft>
            </a:pPr>
            <a:r>
              <a:rPr sz="1600" b="0" lang="ja-JP" altLang="en-US">
                <a:solidFill>
                  <a:srgbClr val="D4D4D4"/>
                </a:solidFill>
                <a:latin typeface="Consolas"/>
                <a:ea typeface="游ゴシック"/>
              </a:rPr>
              <a:t>dh = self.lstm.dh + np.sum(dhs, axis=1)</a:t>
            </a:r>
          </a:p>
          <a:p>
            <a:pPr algn="l">
              <a:lnSpc>
                <a:spcPct val="108000"/>
              </a:lnSpc>
              <a:spcBef>
                <a:spcPts val="0"/>
              </a:spcBef>
              <a:spcAft>
                <a:spcPts val="400"/>
              </a:spcAft>
            </a:pPr>
            <a:r>
              <a:rPr sz="1600" b="0" lang="ja-JP" altLang="en-US">
                <a:solidFill>
                  <a:srgbClr val="D4D4D4"/>
                </a:solidFill>
                <a:latin typeface="Consolas"/>
                <a:ea typeface="游ゴシック"/>
              </a:rPr>
              <a:t>return dh</a:t>
            </a:r>
          </a:p>
        </p:txBody>
      </p:sp>
      <p:sp>
        <p:nvSpPr>
          <p:cNvPr id="7" name="TextBox 6"/>
          <p:cNvSpPr txBox="1"/>
          <p:nvPr/>
        </p:nvSpPr>
        <p:spPr>
          <a:xfrm>
            <a:off x="896112" y="3886200"/>
            <a:ext cx="6217920" cy="365760"/>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56082"/>
                </a:solidFill>
                <a:latin typeface="游ゴシック"/>
                <a:ea typeface="游ゴシック"/>
              </a:rPr>
              <a:t>生成：hを各時刻で連結する（抜粋）</a:t>
            </a:r>
          </a:p>
        </p:txBody>
      </p:sp>
      <p:sp>
        <p:nvSpPr>
          <p:cNvPr id="8" name="TextBox 7"/>
          <p:cNvSpPr txBox="1"/>
          <p:nvPr/>
        </p:nvSpPr>
        <p:spPr>
          <a:xfrm>
            <a:off x="896112" y="4343400"/>
            <a:ext cx="6291072" cy="1417320"/>
          </a:xfrm>
          <a:prstGeom prst="rect">
            <a:avLst/>
          </a:prstGeom>
          <a:solidFill>
            <a:srgbClr val="1E1E1E"/>
          </a:solidFill>
        </p:spPr>
        <p:txBody>
          <a:bodyPr wrap="square" lIns="146304" rIns="146304" tIns="146304" bIns="146304">
            <a:spAutoFit/>
          </a:bodyPr>
          <a:lstStyle/>
          <a:p>
            <a:pPr algn="l">
              <a:lnSpc>
                <a:spcPct val="108000"/>
              </a:lnSpc>
              <a:spcBef>
                <a:spcPts val="0"/>
              </a:spcBef>
              <a:spcAft>
                <a:spcPts val="400"/>
              </a:spcAft>
            </a:pPr>
            <a:r>
              <a:rPr sz="1600" b="0" lang="ja-JP" altLang="en-US">
                <a:solidFill>
                  <a:srgbClr val="D4D4D4"/>
                </a:solidFill>
                <a:latin typeface="Consolas"/>
                <a:ea typeface="游ゴシック"/>
              </a:rPr>
              <a:t>out = np.concatenate((peeky_h, out), axis=2)</a:t>
            </a:r>
          </a:p>
          <a:p>
            <a:pPr algn="l">
              <a:lnSpc>
                <a:spcPct val="108000"/>
              </a:lnSpc>
              <a:spcBef>
                <a:spcPts val="0"/>
              </a:spcBef>
              <a:spcAft>
                <a:spcPts val="400"/>
              </a:spcAft>
            </a:pPr>
            <a:r>
              <a:rPr sz="1600" b="0" lang="ja-JP" altLang="en-US">
                <a:solidFill>
                  <a:srgbClr val="D4D4D4"/>
                </a:solidFill>
                <a:latin typeface="Consolas"/>
                <a:ea typeface="游ゴシック"/>
              </a:rPr>
              <a:t>out = self.lstm.forward(out)</a:t>
            </a:r>
          </a:p>
          <a:p>
            <a:pPr algn="l">
              <a:lnSpc>
                <a:spcPct val="108000"/>
              </a:lnSpc>
              <a:spcBef>
                <a:spcPts val="0"/>
              </a:spcBef>
              <a:spcAft>
                <a:spcPts val="400"/>
              </a:spcAft>
            </a:pPr>
            <a:r>
              <a:rPr sz="1600" b="0" lang="ja-JP" altLang="en-US">
                <a:solidFill>
                  <a:srgbClr val="D4D4D4"/>
                </a:solidFill>
                <a:latin typeface="Consolas"/>
                <a:ea typeface="游ゴシック"/>
              </a:rPr>
              <a:t>out = np.concatenate((peeky_h, out), axis=2)</a:t>
            </a:r>
          </a:p>
          <a:p>
            <a:pPr algn="l">
              <a:lnSpc>
                <a:spcPct val="108000"/>
              </a:lnSpc>
              <a:spcBef>
                <a:spcPts val="0"/>
              </a:spcBef>
              <a:spcAft>
                <a:spcPts val="400"/>
              </a:spcAft>
            </a:pPr>
            <a:r>
              <a:rPr sz="1600" b="0" lang="ja-JP" altLang="en-US">
                <a:solidFill>
                  <a:srgbClr val="D4D4D4"/>
                </a:solidFill>
                <a:latin typeface="Consolas"/>
                <a:ea typeface="游ゴシック"/>
              </a:rPr>
              <a:t>score = self.affine.forward(out)</a:t>
            </a:r>
          </a:p>
        </p:txBody>
      </p:sp>
      <p:sp>
        <p:nvSpPr>
          <p:cNvPr id="9" name="Rounded Rectangle 8"/>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勾配を加算</a:t>
            </a:r>
          </a:p>
        </p:txBody>
      </p:sp>
      <p:sp>
        <p:nvSpPr>
          <p:cNvPr id="11" name="TextBox 10"/>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2つの連結経路と、</a:t>
            </a:r>
          </a:p>
          <a:p>
            <a:pPr algn="l">
              <a:lnSpc>
                <a:spcPct val="108000"/>
              </a:lnSpc>
              <a:spcBef>
                <a:spcPts val="0"/>
              </a:spcBef>
              <a:spcAft>
                <a:spcPts val="400"/>
              </a:spcAft>
            </a:pPr>
            <a:r>
              <a:rPr sz="1800" b="0" lang="ja-JP" altLang="en-US">
                <a:solidFill>
                  <a:srgbClr val="111111"/>
                </a:solidFill>
                <a:latin typeface="游ゴシック"/>
                <a:ea typeface="游ゴシック"/>
              </a:rPr>
              <a:t>初期状態への勾配を足す。</a:t>
            </a:r>
          </a:p>
        </p:txBody>
      </p:sp>
      <p:sp>
        <p:nvSpPr>
          <p:cNvPr id="12" name="Rounded Rectangle 11"/>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生成時もPeeky</a:t>
            </a:r>
          </a:p>
        </p:txBody>
      </p:sp>
      <p:sp>
        <p:nvSpPr>
          <p:cNvPr id="14" name="TextBox 13"/>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1文字ずつ生成するときも、</a:t>
            </a:r>
          </a:p>
          <a:p>
            <a:pPr algn="l">
              <a:lnSpc>
                <a:spcPct val="108000"/>
              </a:lnSpc>
              <a:spcBef>
                <a:spcPts val="0"/>
              </a:spcBef>
              <a:spcAft>
                <a:spcPts val="400"/>
              </a:spcAft>
            </a:pPr>
            <a:r>
              <a:rPr sz="1800" b="0" lang="ja-JP" altLang="en-US">
                <a:solidFill>
                  <a:srgbClr val="111111"/>
                </a:solidFill>
                <a:latin typeface="游ゴシック"/>
                <a:ea typeface="游ゴシック"/>
              </a:rPr>
              <a:t>同じhを入力に加える。</a:t>
            </a:r>
          </a:p>
        </p:txBody>
      </p:sp>
      <p:sp>
        <p:nvSpPr>
          <p:cNvPr id="15" name="Rounded Rectangle 14"/>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外側のモデル</a:t>
            </a:r>
          </a:p>
        </p:txBody>
      </p:sp>
      <p:sp>
        <p:nvSpPr>
          <p:cNvPr id="17" name="TextBox 16"/>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PeekySeq2seqでは、</a:t>
            </a:r>
          </a:p>
          <a:p>
            <a:pPr algn="l">
              <a:lnSpc>
                <a:spcPct val="108000"/>
              </a:lnSpc>
              <a:spcBef>
                <a:spcPts val="0"/>
              </a:spcBef>
              <a:spcAft>
                <a:spcPts val="400"/>
              </a:spcAft>
            </a:pPr>
            <a:r>
              <a:rPr sz="1800" b="0" lang="ja-JP" altLang="en-US">
                <a:solidFill>
                  <a:srgbClr val="111111"/>
                </a:solidFill>
                <a:latin typeface="游ゴシック"/>
                <a:ea typeface="游ゴシック"/>
              </a:rPr>
              <a:t>Decoderを差し替えて使う。</a:t>
            </a:r>
          </a:p>
        </p:txBody>
      </p:sp>
      <p:sp>
        <p:nvSpPr>
          <p:cNvPr id="18" name="TextBox 17"/>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出典：添付 peeky_seq2seq.py（該当箇所の抜粋。書籍で省略されたメソッド）</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93115" y="423367"/>
            <a:ext cx="10789920" cy="585216"/>
          </a:xfrm>
          <a:prstGeom prst="rect">
            <a:avLst/>
          </a:prstGeom>
          <a:noFill/>
        </p:spPr>
        <p:txBody>
          <a:bodyPr wrap="square" lIns="54864" rIns="54864" tIns="54864" bIns="54864">
            <a:spAutoFit/>
          </a:bodyPr>
          <a:lstStyle/>
          <a:p>
            <a:pPr algn="l">
              <a:lnSpc>
                <a:spcPct val="108000"/>
              </a:lnSpc>
              <a:spcBef>
                <a:spcPts val="0"/>
              </a:spcBef>
              <a:spcAft>
                <a:spcPts val="400"/>
              </a:spcAft>
            </a:pPr>
            <a:r>
              <a:rPr sz="3200" b="0" lang="ja-JP" altLang="en-US">
                <a:solidFill>
                  <a:srgbClr val="111111"/>
                </a:solidFill>
                <a:latin typeface="游ゴシック"/>
                <a:ea typeface="游ゴシック"/>
              </a:rPr>
              <a:t>7.4.2 覗き見（Peeky）</a:t>
            </a:r>
          </a:p>
        </p:txBody>
      </p:sp>
      <p:sp>
        <p:nvSpPr>
          <p:cNvPr id="3" name="TextBox 2"/>
          <p:cNvSpPr txBox="1"/>
          <p:nvPr/>
        </p:nvSpPr>
        <p:spPr>
          <a:xfrm>
            <a:off x="925372" y="1016812"/>
            <a:ext cx="10378440" cy="621792"/>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ReverseとPeekyを組み合わせた結果</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51</a:t>
            </a:r>
          </a:p>
        </p:txBody>
      </p:sp>
      <p:pic>
        <p:nvPicPr>
          <p:cNvPr id="5" name="Picture 4" descr="fig7-28.jpg"/>
          <p:cNvPicPr>
            <a:picLocks noChangeAspect="1"/>
          </p:cNvPicPr>
          <p:nvPr/>
        </p:nvPicPr>
        <p:blipFill>
          <a:blip r:embed="rId3"/>
          <a:stretch>
            <a:fillRect/>
          </a:stretch>
        </p:blipFill>
        <p:spPr>
          <a:xfrm>
            <a:off x="1132041" y="2011680"/>
            <a:ext cx="5727772" cy="3986784"/>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書籍の比較</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baseline、reverse、</a:t>
            </a:r>
          </a:p>
          <a:p>
            <a:pPr algn="l">
              <a:lnSpc>
                <a:spcPct val="108000"/>
              </a:lnSpc>
              <a:spcBef>
                <a:spcPts val="0"/>
              </a:spcBef>
              <a:spcAft>
                <a:spcPts val="400"/>
              </a:spcAft>
            </a:pPr>
            <a:r>
              <a:rPr sz="1800" b="0" lang="ja-JP" altLang="en-US">
                <a:solidFill>
                  <a:srgbClr val="111111"/>
                </a:solidFill>
                <a:latin typeface="游ゴシック"/>
                <a:ea typeface="游ゴシック"/>
              </a:rPr>
              <a:t>reverse＋peekyを比較する。</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改善後の曲線</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Reverse＋Peekyでは、</a:t>
            </a:r>
          </a:p>
          <a:p>
            <a:pPr algn="l">
              <a:lnSpc>
                <a:spcPct val="108000"/>
              </a:lnSpc>
              <a:spcBef>
                <a:spcPts val="0"/>
              </a:spcBef>
              <a:spcAft>
                <a:spcPts val="400"/>
              </a:spcAft>
            </a:pPr>
            <a:r>
              <a:rPr sz="1800" b="0" lang="ja-JP" altLang="en-US">
                <a:solidFill>
                  <a:srgbClr val="111111"/>
                </a:solidFill>
                <a:latin typeface="游ゴシック"/>
                <a:ea typeface="游ゴシック"/>
              </a:rPr>
              <a:t>10エポック過ぎで90%超へ。</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確認するポイント</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正解率だけでなく、</a:t>
            </a:r>
          </a:p>
          <a:p>
            <a:pPr algn="l">
              <a:lnSpc>
                <a:spcPct val="108000"/>
              </a:lnSpc>
              <a:spcBef>
                <a:spcPts val="0"/>
              </a:spcBef>
              <a:spcAft>
                <a:spcPts val="400"/>
              </a:spcAft>
            </a:pPr>
            <a:r>
              <a:rPr sz="1800" b="0" lang="ja-JP" altLang="en-US">
                <a:solidFill>
                  <a:srgbClr val="111111"/>
                </a:solidFill>
                <a:latin typeface="游ゴシック"/>
                <a:ea typeface="游ゴシック"/>
              </a:rPr>
              <a:t>学習の進み方も大きく変わる。</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図7-28　Reverse＋Peekyの正解率（書籍）｜p.317</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93115" y="423367"/>
            <a:ext cx="10789920" cy="585216"/>
          </a:xfrm>
          <a:prstGeom prst="rect">
            <a:avLst/>
          </a:prstGeom>
          <a:noFill/>
        </p:spPr>
        <p:txBody>
          <a:bodyPr wrap="square" lIns="54864" rIns="54864" tIns="54864" bIns="54864">
            <a:spAutoFit/>
          </a:bodyPr>
          <a:lstStyle/>
          <a:p>
            <a:pPr algn="l">
              <a:lnSpc>
                <a:spcPct val="108000"/>
              </a:lnSpc>
              <a:spcBef>
                <a:spcPts val="0"/>
              </a:spcBef>
              <a:spcAft>
                <a:spcPts val="400"/>
              </a:spcAft>
            </a:pPr>
            <a:r>
              <a:rPr sz="3200" b="0" lang="ja-JP" altLang="en-US">
                <a:solidFill>
                  <a:srgbClr val="111111"/>
                </a:solidFill>
                <a:latin typeface="游ゴシック"/>
                <a:ea typeface="游ゴシック"/>
              </a:rPr>
              <a:t>7.4.2 覗き見（Peeky）</a:t>
            </a:r>
          </a:p>
        </p:txBody>
      </p:sp>
      <p:sp>
        <p:nvSpPr>
          <p:cNvPr id="3" name="TextBox 2"/>
          <p:cNvSpPr txBox="1"/>
          <p:nvPr/>
        </p:nvSpPr>
        <p:spPr>
          <a:xfrm>
            <a:off x="925372" y="1016812"/>
            <a:ext cx="10378440" cy="621792"/>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添付コードの実行結果：同じ25エポックで比較</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52</a:t>
            </a:r>
          </a:p>
        </p:txBody>
      </p:sp>
      <p:pic>
        <p:nvPicPr>
          <p:cNvPr id="5" name="Picture 4" descr="accuracy_comparison.png"/>
          <p:cNvPicPr>
            <a:picLocks noChangeAspect="1"/>
          </p:cNvPicPr>
          <p:nvPr/>
        </p:nvPicPr>
        <p:blipFill>
          <a:blip r:embed="rId3"/>
          <a:stretch>
            <a:fillRect/>
          </a:stretch>
        </p:blipFill>
        <p:spPr>
          <a:xfrm>
            <a:off x="804672" y="2225810"/>
            <a:ext cx="6419088" cy="3549378"/>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通常版：10.38%</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5,000問中519問が正解。</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Reverse：54.06%</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5,000問中2,703問が正解。</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Reverse＋Peeky：98.80%</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5,000問中4,940問が正解。</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今回の実測｜訓練45,000件・評価5,000件／seed=1984／D=16・H=128／各25エポック／完全一致率</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93115" y="423367"/>
            <a:ext cx="10789920" cy="585216"/>
          </a:xfrm>
          <a:prstGeom prst="rect">
            <a:avLst/>
          </a:prstGeom>
          <a:noFill/>
        </p:spPr>
        <p:txBody>
          <a:bodyPr wrap="square" lIns="54864" rIns="54864" tIns="54864" bIns="54864">
            <a:spAutoFit/>
          </a:bodyPr>
          <a:lstStyle/>
          <a:p>
            <a:pPr algn="l">
              <a:lnSpc>
                <a:spcPct val="108000"/>
              </a:lnSpc>
              <a:spcBef>
                <a:spcPts val="0"/>
              </a:spcBef>
              <a:spcAft>
                <a:spcPts val="400"/>
              </a:spcAft>
            </a:pPr>
            <a:r>
              <a:rPr sz="3200" b="0" lang="ja-JP" altLang="en-US">
                <a:solidFill>
                  <a:srgbClr val="111111"/>
                </a:solidFill>
                <a:latin typeface="游ゴシック"/>
                <a:ea typeface="游ゴシック"/>
              </a:rPr>
              <a:t>7.5.1 チャットボット</a:t>
            </a:r>
          </a:p>
        </p:txBody>
      </p:sp>
      <p:sp>
        <p:nvSpPr>
          <p:cNvPr id="3" name="TextBox 2"/>
          <p:cNvSpPr txBox="1"/>
          <p:nvPr/>
        </p:nvSpPr>
        <p:spPr>
          <a:xfrm>
            <a:off x="925372" y="1016812"/>
            <a:ext cx="10378440" cy="621792"/>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相手の発言から、自分の返答を生成する</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53</a:t>
            </a:r>
          </a:p>
        </p:txBody>
      </p:sp>
      <p:pic>
        <p:nvPicPr>
          <p:cNvPr id="5" name="Picture 4" descr="fig7-29.jpg"/>
          <p:cNvPicPr>
            <a:picLocks noChangeAspect="1"/>
          </p:cNvPicPr>
          <p:nvPr/>
        </p:nvPicPr>
        <p:blipFill>
          <a:blip r:embed="rId3"/>
          <a:stretch>
            <a:fillRect/>
          </a:stretch>
        </p:blipFill>
        <p:spPr>
          <a:xfrm>
            <a:off x="1207133" y="2011680"/>
            <a:ext cx="5577588" cy="3986784"/>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系列の対応</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相手の発言を入力し、</a:t>
            </a:r>
          </a:p>
          <a:p>
            <a:pPr algn="l">
              <a:lnSpc>
                <a:spcPct val="108000"/>
              </a:lnSpc>
              <a:spcBef>
                <a:spcPts val="0"/>
              </a:spcBef>
              <a:spcAft>
                <a:spcPts val="400"/>
              </a:spcAft>
            </a:pPr>
            <a:r>
              <a:rPr sz="1800" b="0" lang="ja-JP" altLang="en-US">
                <a:solidFill>
                  <a:srgbClr val="111111"/>
                </a:solidFill>
                <a:latin typeface="游ゴシック"/>
                <a:ea typeface="游ゴシック"/>
              </a:rPr>
              <a:t>返答の文章を出力する。</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学習データ</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会話の発言と返答の組を、</a:t>
            </a:r>
          </a:p>
          <a:p>
            <a:pPr algn="l">
              <a:lnSpc>
                <a:spcPct val="108000"/>
              </a:lnSpc>
              <a:spcBef>
                <a:spcPts val="0"/>
              </a:spcBef>
              <a:spcAft>
                <a:spcPts val="400"/>
              </a:spcAft>
            </a:pPr>
            <a:r>
              <a:rPr sz="1800" b="0" lang="ja-JP" altLang="en-US">
                <a:solidFill>
                  <a:srgbClr val="111111"/>
                </a:solidFill>
                <a:latin typeface="游ゴシック"/>
                <a:ea typeface="游ゴシック"/>
              </a:rPr>
              <a:t>教師データとして学習する。</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書籍の例</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ITヘルプデスクで、</a:t>
            </a:r>
          </a:p>
          <a:p>
            <a:pPr algn="l">
              <a:lnSpc>
                <a:spcPct val="108000"/>
              </a:lnSpc>
              <a:spcBef>
                <a:spcPts val="0"/>
              </a:spcBef>
              <a:spcAft>
                <a:spcPts val="400"/>
              </a:spcAft>
            </a:pPr>
            <a:r>
              <a:rPr sz="1800" b="0" lang="ja-JP" altLang="en-US">
                <a:solidFill>
                  <a:srgbClr val="111111"/>
                </a:solidFill>
                <a:latin typeface="游ゴシック"/>
                <a:ea typeface="游ゴシック"/>
              </a:rPr>
              <a:t>VPN接続の問題に対応している。</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図7-29　チャットボットの会話例｜p.319</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93115" y="423367"/>
            <a:ext cx="10789920" cy="585216"/>
          </a:xfrm>
          <a:prstGeom prst="rect">
            <a:avLst/>
          </a:prstGeom>
          <a:noFill/>
        </p:spPr>
        <p:txBody>
          <a:bodyPr wrap="square" lIns="54864" rIns="54864" tIns="54864" bIns="54864">
            <a:spAutoFit/>
          </a:bodyPr>
          <a:lstStyle/>
          <a:p>
            <a:pPr algn="l">
              <a:lnSpc>
                <a:spcPct val="108000"/>
              </a:lnSpc>
              <a:spcBef>
                <a:spcPts val="0"/>
              </a:spcBef>
              <a:spcAft>
                <a:spcPts val="400"/>
              </a:spcAft>
            </a:pPr>
            <a:r>
              <a:rPr sz="3200" b="0" lang="ja-JP" altLang="en-US">
                <a:solidFill>
                  <a:srgbClr val="111111"/>
                </a:solidFill>
                <a:latin typeface="游ゴシック"/>
                <a:ea typeface="游ゴシック"/>
              </a:rPr>
              <a:t>7.5.2 アルゴリズムの学習</a:t>
            </a:r>
          </a:p>
        </p:txBody>
      </p:sp>
      <p:sp>
        <p:nvSpPr>
          <p:cNvPr id="3" name="TextBox 2"/>
          <p:cNvSpPr txBox="1"/>
          <p:nvPr/>
        </p:nvSpPr>
        <p:spPr>
          <a:xfrm>
            <a:off x="925372" y="1016812"/>
            <a:ext cx="10378440" cy="621792"/>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プログラムから、実行結果を予測する</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54</a:t>
            </a:r>
          </a:p>
        </p:txBody>
      </p:sp>
      <p:pic>
        <p:nvPicPr>
          <p:cNvPr id="5" name="Picture 4" descr="fig7-30.jpg"/>
          <p:cNvPicPr>
            <a:picLocks noChangeAspect="1"/>
          </p:cNvPicPr>
          <p:nvPr/>
        </p:nvPicPr>
        <p:blipFill>
          <a:blip r:embed="rId3"/>
          <a:stretch>
            <a:fillRect/>
          </a:stretch>
        </p:blipFill>
        <p:spPr>
          <a:xfrm>
            <a:off x="804672" y="2541753"/>
            <a:ext cx="6382512" cy="2926637"/>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入力も文字列</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Pythonコードも文字で書かれた</a:t>
            </a:r>
          </a:p>
          <a:p>
            <a:pPr algn="l">
              <a:lnSpc>
                <a:spcPct val="108000"/>
              </a:lnSpc>
              <a:spcBef>
                <a:spcPts val="0"/>
              </a:spcBef>
              <a:spcAft>
                <a:spcPts val="400"/>
              </a:spcAft>
            </a:pPr>
            <a:r>
              <a:rPr sz="1800" b="0" lang="ja-JP" altLang="en-US">
                <a:solidFill>
                  <a:srgbClr val="111111"/>
                </a:solidFill>
                <a:latin typeface="游ゴシック"/>
                <a:ea typeface="游ゴシック"/>
              </a:rPr>
              <a:t>系列として扱える。</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出力との組</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コードと実行結果の組から、</a:t>
            </a:r>
          </a:p>
          <a:p>
            <a:pPr algn="l">
              <a:lnSpc>
                <a:spcPct val="108000"/>
              </a:lnSpc>
              <a:spcBef>
                <a:spcPts val="0"/>
              </a:spcBef>
              <a:spcAft>
                <a:spcPts val="400"/>
              </a:spcAft>
            </a:pPr>
            <a:r>
              <a:rPr sz="1800" b="0" lang="ja-JP" altLang="en-US">
                <a:solidFill>
                  <a:srgbClr val="111111"/>
                </a:solidFill>
                <a:latin typeface="游ゴシック"/>
                <a:ea typeface="游ゴシック"/>
              </a:rPr>
              <a:t>対応を学習させる。</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より難しい課題</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for文やif文を含む計算へも、</a:t>
            </a:r>
          </a:p>
          <a:p>
            <a:pPr algn="l">
              <a:lnSpc>
                <a:spcPct val="108000"/>
              </a:lnSpc>
              <a:spcBef>
                <a:spcPts val="0"/>
              </a:spcBef>
              <a:spcAft>
                <a:spcPts val="400"/>
              </a:spcAft>
            </a:pPr>
            <a:r>
              <a:rPr sz="1800" b="0" lang="ja-JP" altLang="en-US">
                <a:solidFill>
                  <a:srgbClr val="111111"/>
                </a:solidFill>
                <a:latin typeface="游ゴシック"/>
                <a:ea typeface="游ゴシック"/>
              </a:rPr>
              <a:t>対象を広げられる。</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図7-30　Pythonコードを入力とする例｜p.320</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93115" y="423367"/>
            <a:ext cx="10789920" cy="585216"/>
          </a:xfrm>
          <a:prstGeom prst="rect">
            <a:avLst/>
          </a:prstGeom>
          <a:noFill/>
        </p:spPr>
        <p:txBody>
          <a:bodyPr wrap="square" lIns="54864" rIns="54864" tIns="54864" bIns="54864">
            <a:spAutoFit/>
          </a:bodyPr>
          <a:lstStyle/>
          <a:p>
            <a:pPr algn="l">
              <a:lnSpc>
                <a:spcPct val="108000"/>
              </a:lnSpc>
              <a:spcBef>
                <a:spcPts val="0"/>
              </a:spcBef>
              <a:spcAft>
                <a:spcPts val="400"/>
              </a:spcAft>
            </a:pPr>
            <a:r>
              <a:rPr sz="3200" b="0" lang="ja-JP" altLang="en-US">
                <a:solidFill>
                  <a:srgbClr val="111111"/>
                </a:solidFill>
                <a:latin typeface="游ゴシック"/>
                <a:ea typeface="游ゴシック"/>
              </a:rPr>
              <a:t>7.5.3 イメージキャプション</a:t>
            </a:r>
          </a:p>
        </p:txBody>
      </p:sp>
      <p:sp>
        <p:nvSpPr>
          <p:cNvPr id="3" name="TextBox 2"/>
          <p:cNvSpPr txBox="1"/>
          <p:nvPr/>
        </p:nvSpPr>
        <p:spPr>
          <a:xfrm>
            <a:off x="925372" y="1016812"/>
            <a:ext cx="10378440" cy="621792"/>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画像を入力し、説明文を生成する</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55</a:t>
            </a:r>
          </a:p>
        </p:txBody>
      </p:sp>
      <p:pic>
        <p:nvPicPr>
          <p:cNvPr id="5" name="Picture 4" descr="fig7-31.jpg"/>
          <p:cNvPicPr>
            <a:picLocks noChangeAspect="1"/>
          </p:cNvPicPr>
          <p:nvPr/>
        </p:nvPicPr>
        <p:blipFill>
          <a:blip r:embed="rId3"/>
          <a:stretch>
            <a:fillRect/>
          </a:stretch>
        </p:blipFill>
        <p:spPr>
          <a:xfrm>
            <a:off x="804672" y="2207096"/>
            <a:ext cx="6382512" cy="3595951"/>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画像のEncoder</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LSTMの代わりにCNNを使い、</a:t>
            </a:r>
          </a:p>
          <a:p>
            <a:pPr algn="l">
              <a:lnSpc>
                <a:spcPct val="108000"/>
              </a:lnSpc>
              <a:spcBef>
                <a:spcPts val="0"/>
              </a:spcBef>
              <a:spcAft>
                <a:spcPts val="400"/>
              </a:spcAft>
            </a:pPr>
            <a:r>
              <a:rPr sz="1800" b="0" lang="ja-JP" altLang="en-US">
                <a:solidFill>
                  <a:srgbClr val="111111"/>
                </a:solidFill>
                <a:latin typeface="游ゴシック"/>
                <a:ea typeface="游ゴシック"/>
              </a:rPr>
              <a:t>画像の特徴を抽出する。</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次元をそろえる</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特徴を平坦化し、Affineで</a:t>
            </a:r>
          </a:p>
          <a:p>
            <a:pPr algn="l">
              <a:lnSpc>
                <a:spcPct val="108000"/>
              </a:lnSpc>
              <a:spcBef>
                <a:spcPts val="0"/>
              </a:spcBef>
              <a:spcAft>
                <a:spcPts val="400"/>
              </a:spcAft>
            </a:pPr>
            <a:r>
              <a:rPr sz="1800" b="0" lang="ja-JP" altLang="en-US">
                <a:solidFill>
                  <a:srgbClr val="111111"/>
                </a:solidFill>
                <a:latin typeface="游ゴシック"/>
                <a:ea typeface="游ゴシック"/>
              </a:rPr>
              <a:t>Decoderに渡せる形にする。</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文章のDecoder</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画像の情報を初期状態として、</a:t>
            </a:r>
          </a:p>
          <a:p>
            <a:pPr algn="l">
              <a:lnSpc>
                <a:spcPct val="108000"/>
              </a:lnSpc>
              <a:spcBef>
                <a:spcPts val="0"/>
              </a:spcBef>
              <a:spcAft>
                <a:spcPts val="400"/>
              </a:spcAft>
            </a:pPr>
            <a:r>
              <a:rPr sz="1800" b="0" lang="ja-JP" altLang="en-US">
                <a:solidFill>
                  <a:srgbClr val="111111"/>
                </a:solidFill>
                <a:latin typeface="游ゴシック"/>
                <a:ea typeface="游ゴシック"/>
              </a:rPr>
              <a:t>説明文を1語ずつ生成する。</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図7-31　イメージキャプションのネットワーク｜p.321</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93115" y="423367"/>
            <a:ext cx="10789920" cy="585216"/>
          </a:xfrm>
          <a:prstGeom prst="rect">
            <a:avLst/>
          </a:prstGeom>
          <a:noFill/>
        </p:spPr>
        <p:txBody>
          <a:bodyPr wrap="square" lIns="54864" rIns="54864" tIns="54864" bIns="54864">
            <a:spAutoFit/>
          </a:bodyPr>
          <a:lstStyle/>
          <a:p>
            <a:pPr algn="l">
              <a:lnSpc>
                <a:spcPct val="108000"/>
              </a:lnSpc>
              <a:spcBef>
                <a:spcPts val="0"/>
              </a:spcBef>
              <a:spcAft>
                <a:spcPts val="400"/>
              </a:spcAft>
            </a:pPr>
            <a:r>
              <a:rPr sz="3200" b="0" lang="ja-JP" altLang="en-US">
                <a:solidFill>
                  <a:srgbClr val="111111"/>
                </a:solidFill>
                <a:latin typeface="游ゴシック"/>
                <a:ea typeface="游ゴシック"/>
              </a:rPr>
              <a:t>7.5.3 イメージキャプション</a:t>
            </a:r>
          </a:p>
        </p:txBody>
      </p:sp>
      <p:sp>
        <p:nvSpPr>
          <p:cNvPr id="3" name="TextBox 2"/>
          <p:cNvSpPr txBox="1"/>
          <p:nvPr/>
        </p:nvSpPr>
        <p:spPr>
          <a:xfrm>
            <a:off x="925372" y="1016812"/>
            <a:ext cx="10378440" cy="621792"/>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画像と説明文の組から学習する</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56</a:t>
            </a:r>
          </a:p>
        </p:txBody>
      </p:sp>
      <p:pic>
        <p:nvPicPr>
          <p:cNvPr id="5" name="Picture 4" descr="fig7-32.jpg"/>
          <p:cNvPicPr>
            <a:picLocks noChangeAspect="1"/>
          </p:cNvPicPr>
          <p:nvPr/>
        </p:nvPicPr>
        <p:blipFill>
          <a:blip r:embed="rId3"/>
          <a:stretch>
            <a:fillRect/>
          </a:stretch>
        </p:blipFill>
        <p:spPr>
          <a:xfrm>
            <a:off x="1529912" y="2011680"/>
            <a:ext cx="4932032" cy="3986784"/>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書籍の生成例</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凧を揚げる人、列車、スキー、</a:t>
            </a:r>
          </a:p>
          <a:p>
            <a:pPr algn="l">
              <a:lnSpc>
                <a:spcPct val="108000"/>
              </a:lnSpc>
              <a:spcBef>
                <a:spcPts val="0"/>
              </a:spcBef>
              <a:spcAft>
                <a:spcPts val="400"/>
              </a:spcAft>
            </a:pPr>
            <a:r>
              <a:rPr sz="1800" b="0" lang="ja-JP" altLang="en-US">
                <a:solidFill>
                  <a:srgbClr val="111111"/>
                </a:solidFill>
                <a:latin typeface="游ゴシック"/>
                <a:ea typeface="游ゴシック"/>
              </a:rPr>
              <a:t>キリンの画像に文が付く。</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必要な学習データ</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画像と、その内容を説明する</a:t>
            </a:r>
          </a:p>
          <a:p>
            <a:pPr algn="l">
              <a:lnSpc>
                <a:spcPct val="108000"/>
              </a:lnSpc>
              <a:spcBef>
                <a:spcPts val="0"/>
              </a:spcBef>
              <a:spcAft>
                <a:spcPts val="400"/>
              </a:spcAft>
            </a:pPr>
            <a:r>
              <a:rPr sz="1800" b="0" lang="ja-JP" altLang="en-US">
                <a:solidFill>
                  <a:srgbClr val="111111"/>
                </a:solidFill>
                <a:latin typeface="游ゴシック"/>
                <a:ea typeface="游ゴシック"/>
              </a:rPr>
              <a:t>文章を対にして用意する。</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seq2seqの広がり</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Encoderを変えると、</a:t>
            </a:r>
          </a:p>
          <a:p>
            <a:pPr algn="l">
              <a:lnSpc>
                <a:spcPct val="108000"/>
              </a:lnSpc>
              <a:spcBef>
                <a:spcPts val="0"/>
              </a:spcBef>
              <a:spcAft>
                <a:spcPts val="400"/>
              </a:spcAft>
            </a:pPr>
            <a:r>
              <a:rPr sz="1800" b="0" lang="ja-JP" altLang="en-US">
                <a:solidFill>
                  <a:srgbClr val="111111"/>
                </a:solidFill>
                <a:latin typeface="游ゴシック"/>
                <a:ea typeface="游ゴシック"/>
              </a:rPr>
              <a:t>文字以外の入力も扱える。</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図7-32　イメージキャプションの例｜p.322</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93115" y="423367"/>
            <a:ext cx="10789920" cy="585216"/>
          </a:xfrm>
          <a:prstGeom prst="rect">
            <a:avLst/>
          </a:prstGeom>
          <a:noFill/>
        </p:spPr>
        <p:txBody>
          <a:bodyPr wrap="square" lIns="54864" rIns="54864" tIns="54864" bIns="54864">
            <a:spAutoFit/>
          </a:bodyPr>
          <a:lstStyle/>
          <a:p>
            <a:pPr algn="l">
              <a:lnSpc>
                <a:spcPct val="108000"/>
              </a:lnSpc>
              <a:spcBef>
                <a:spcPts val="0"/>
              </a:spcBef>
              <a:spcAft>
                <a:spcPts val="400"/>
              </a:spcAft>
            </a:pPr>
            <a:r>
              <a:rPr sz="3200" b="0" lang="ja-JP" altLang="en-US">
                <a:solidFill>
                  <a:srgbClr val="111111"/>
                </a:solidFill>
                <a:latin typeface="游ゴシック"/>
                <a:ea typeface="游ゴシック"/>
              </a:rPr>
              <a:t>7.6 まとめ</a:t>
            </a:r>
          </a:p>
        </p:txBody>
      </p:sp>
      <p:sp>
        <p:nvSpPr>
          <p:cNvPr id="3" name="TextBox 2"/>
          <p:cNvSpPr txBox="1"/>
          <p:nvPr/>
        </p:nvSpPr>
        <p:spPr>
          <a:xfrm>
            <a:off x="925372" y="1016812"/>
            <a:ext cx="10378440" cy="621792"/>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文章生成から、系列を変換するモデルへ</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57</a:t>
            </a:r>
          </a:p>
        </p:txBody>
      </p:sp>
      <p:sp>
        <p:nvSpPr>
          <p:cNvPr id="5" name="TextBox 4"/>
          <p:cNvSpPr txBox="1"/>
          <p:nvPr/>
        </p:nvSpPr>
        <p:spPr>
          <a:xfrm>
            <a:off x="932688" y="2057400"/>
            <a:ext cx="1993392" cy="457200"/>
          </a:xfrm>
          <a:prstGeom prst="rect">
            <a:avLst/>
          </a:prstGeom>
          <a:noFill/>
        </p:spPr>
        <p:txBody>
          <a:bodyPr wrap="square" lIns="54864" rIns="54864" tIns="54864" bIns="54864">
            <a:spAutoFit/>
          </a:bodyPr>
          <a:lstStyle/>
          <a:p>
            <a:pPr algn="l">
              <a:lnSpc>
                <a:spcPct val="108000"/>
              </a:lnSpc>
              <a:spcBef>
                <a:spcPts val="0"/>
              </a:spcBef>
              <a:spcAft>
                <a:spcPts val="400"/>
              </a:spcAft>
            </a:pPr>
            <a:r>
              <a:rPr sz="2500" b="1" lang="ja-JP" altLang="en-US">
                <a:solidFill>
                  <a:srgbClr val="156082"/>
                </a:solidFill>
                <a:latin typeface="游ゴシック"/>
                <a:ea typeface="游ゴシック"/>
              </a:rPr>
              <a:t>文章生成</a:t>
            </a:r>
          </a:p>
        </p:txBody>
      </p:sp>
      <p:sp>
        <p:nvSpPr>
          <p:cNvPr id="6" name="TextBox 5"/>
          <p:cNvSpPr txBox="1"/>
          <p:nvPr/>
        </p:nvSpPr>
        <p:spPr>
          <a:xfrm>
            <a:off x="2971800" y="2057400"/>
            <a:ext cx="8046720" cy="658368"/>
          </a:xfrm>
          <a:prstGeom prst="rect">
            <a:avLst/>
          </a:prstGeom>
          <a:noFill/>
        </p:spPr>
        <p:txBody>
          <a:bodyPr wrap="square" lIns="54864" rIns="54864" tIns="54864" bIns="54864">
            <a:spAutoFit/>
          </a:bodyPr>
          <a:lstStyle/>
          <a:p>
            <a:pPr algn="l">
              <a:lnSpc>
                <a:spcPct val="108000"/>
              </a:lnSpc>
              <a:spcBef>
                <a:spcPts val="0"/>
              </a:spcBef>
              <a:spcAft>
                <a:spcPts val="400"/>
              </a:spcAft>
            </a:pPr>
            <a:r>
              <a:rPr sz="2300" b="0" lang="ja-JP" altLang="en-US">
                <a:solidFill>
                  <a:srgbClr val="111111"/>
                </a:solidFill>
                <a:latin typeface="游ゴシック"/>
                <a:ea typeface="游ゴシック"/>
              </a:rPr>
              <a:t>言語モデルが出す確率分布から単語を選び、次の入力にする。</a:t>
            </a:r>
          </a:p>
        </p:txBody>
      </p:sp>
      <p:sp>
        <p:nvSpPr>
          <p:cNvPr id="7" name="TextBox 6"/>
          <p:cNvSpPr txBox="1"/>
          <p:nvPr/>
        </p:nvSpPr>
        <p:spPr>
          <a:xfrm>
            <a:off x="932688" y="3035808"/>
            <a:ext cx="1993392" cy="457200"/>
          </a:xfrm>
          <a:prstGeom prst="rect">
            <a:avLst/>
          </a:prstGeom>
          <a:noFill/>
        </p:spPr>
        <p:txBody>
          <a:bodyPr wrap="square" lIns="54864" rIns="54864" tIns="54864" bIns="54864">
            <a:spAutoFit/>
          </a:bodyPr>
          <a:lstStyle/>
          <a:p>
            <a:pPr algn="l">
              <a:lnSpc>
                <a:spcPct val="108000"/>
              </a:lnSpc>
              <a:spcBef>
                <a:spcPts val="0"/>
              </a:spcBef>
              <a:spcAft>
                <a:spcPts val="400"/>
              </a:spcAft>
            </a:pPr>
            <a:r>
              <a:rPr sz="2500" b="1" lang="ja-JP" altLang="en-US">
                <a:solidFill>
                  <a:srgbClr val="156082"/>
                </a:solidFill>
                <a:latin typeface="游ゴシック"/>
                <a:ea typeface="游ゴシック"/>
              </a:rPr>
              <a:t>seq2seq</a:t>
            </a:r>
          </a:p>
        </p:txBody>
      </p:sp>
      <p:sp>
        <p:nvSpPr>
          <p:cNvPr id="8" name="TextBox 7"/>
          <p:cNvSpPr txBox="1"/>
          <p:nvPr/>
        </p:nvSpPr>
        <p:spPr>
          <a:xfrm>
            <a:off x="2971800" y="3035808"/>
            <a:ext cx="8046720" cy="658368"/>
          </a:xfrm>
          <a:prstGeom prst="rect">
            <a:avLst/>
          </a:prstGeom>
          <a:noFill/>
        </p:spPr>
        <p:txBody>
          <a:bodyPr wrap="square" lIns="54864" rIns="54864" tIns="54864" bIns="54864">
            <a:spAutoFit/>
          </a:bodyPr>
          <a:lstStyle/>
          <a:p>
            <a:pPr algn="l">
              <a:lnSpc>
                <a:spcPct val="108000"/>
              </a:lnSpc>
              <a:spcBef>
                <a:spcPts val="0"/>
              </a:spcBef>
              <a:spcAft>
                <a:spcPts val="400"/>
              </a:spcAft>
            </a:pPr>
            <a:r>
              <a:rPr sz="2300" b="0" lang="ja-JP" altLang="en-US">
                <a:solidFill>
                  <a:srgbClr val="111111"/>
                </a:solidFill>
                <a:latin typeface="游ゴシック"/>
                <a:ea typeface="游ゴシック"/>
              </a:rPr>
              <a:t>Encoderで入力をhにまとめ、Decoderで出力の系列へ変換する。</a:t>
            </a:r>
          </a:p>
        </p:txBody>
      </p:sp>
      <p:sp>
        <p:nvSpPr>
          <p:cNvPr id="9" name="TextBox 8"/>
          <p:cNvSpPr txBox="1"/>
          <p:nvPr/>
        </p:nvSpPr>
        <p:spPr>
          <a:xfrm>
            <a:off x="932688" y="4014216"/>
            <a:ext cx="1993392" cy="457200"/>
          </a:xfrm>
          <a:prstGeom prst="rect">
            <a:avLst/>
          </a:prstGeom>
          <a:noFill/>
        </p:spPr>
        <p:txBody>
          <a:bodyPr wrap="square" lIns="54864" rIns="54864" tIns="54864" bIns="54864">
            <a:spAutoFit/>
          </a:bodyPr>
          <a:lstStyle/>
          <a:p>
            <a:pPr algn="l">
              <a:lnSpc>
                <a:spcPct val="108000"/>
              </a:lnSpc>
              <a:spcBef>
                <a:spcPts val="0"/>
              </a:spcBef>
              <a:spcAft>
                <a:spcPts val="400"/>
              </a:spcAft>
            </a:pPr>
            <a:r>
              <a:rPr sz="2500" b="1" lang="ja-JP" altLang="en-US">
                <a:solidFill>
                  <a:srgbClr val="156082"/>
                </a:solidFill>
                <a:latin typeface="游ゴシック"/>
                <a:ea typeface="游ゴシック"/>
              </a:rPr>
              <a:t>評価と改善</a:t>
            </a:r>
          </a:p>
        </p:txBody>
      </p:sp>
      <p:sp>
        <p:nvSpPr>
          <p:cNvPr id="10" name="TextBox 9"/>
          <p:cNvSpPr txBox="1"/>
          <p:nvPr/>
        </p:nvSpPr>
        <p:spPr>
          <a:xfrm>
            <a:off x="2971800" y="4014216"/>
            <a:ext cx="8046720" cy="658368"/>
          </a:xfrm>
          <a:prstGeom prst="rect">
            <a:avLst/>
          </a:prstGeom>
          <a:noFill/>
        </p:spPr>
        <p:txBody>
          <a:bodyPr wrap="square" lIns="54864" rIns="54864" tIns="54864" bIns="54864">
            <a:spAutoFit/>
          </a:bodyPr>
          <a:lstStyle/>
          <a:p>
            <a:pPr algn="l">
              <a:lnSpc>
                <a:spcPct val="108000"/>
              </a:lnSpc>
              <a:spcBef>
                <a:spcPts val="0"/>
              </a:spcBef>
              <a:spcAft>
                <a:spcPts val="400"/>
              </a:spcAft>
            </a:pPr>
            <a:r>
              <a:rPr sz="2300" b="0" lang="ja-JP" altLang="en-US">
                <a:solidFill>
                  <a:srgbClr val="111111"/>
                </a:solidFill>
                <a:latin typeface="游ゴシック"/>
                <a:ea typeface="游ゴシック"/>
              </a:rPr>
              <a:t>足し算で完全一致率を測り、ReverseとPeekyの効果を確かめた。</a:t>
            </a:r>
          </a:p>
        </p:txBody>
      </p:sp>
      <p:sp>
        <p:nvSpPr>
          <p:cNvPr id="11" name="TextBox 10"/>
          <p:cNvSpPr txBox="1"/>
          <p:nvPr/>
        </p:nvSpPr>
        <p:spPr>
          <a:xfrm>
            <a:off x="932688" y="4992624"/>
            <a:ext cx="1993392" cy="457200"/>
          </a:xfrm>
          <a:prstGeom prst="rect">
            <a:avLst/>
          </a:prstGeom>
          <a:noFill/>
        </p:spPr>
        <p:txBody>
          <a:bodyPr wrap="square" lIns="54864" rIns="54864" tIns="54864" bIns="54864">
            <a:spAutoFit/>
          </a:bodyPr>
          <a:lstStyle/>
          <a:p>
            <a:pPr algn="l">
              <a:lnSpc>
                <a:spcPct val="108000"/>
              </a:lnSpc>
              <a:spcBef>
                <a:spcPts val="0"/>
              </a:spcBef>
              <a:spcAft>
                <a:spcPts val="400"/>
              </a:spcAft>
            </a:pPr>
            <a:r>
              <a:rPr sz="2500" b="1" lang="ja-JP" altLang="en-US">
                <a:solidFill>
                  <a:srgbClr val="156082"/>
                </a:solidFill>
                <a:latin typeface="游ゴシック"/>
                <a:ea typeface="游ゴシック"/>
              </a:rPr>
              <a:t>応用と次章</a:t>
            </a:r>
          </a:p>
        </p:txBody>
      </p:sp>
      <p:sp>
        <p:nvSpPr>
          <p:cNvPr id="12" name="TextBox 11"/>
          <p:cNvSpPr txBox="1"/>
          <p:nvPr/>
        </p:nvSpPr>
        <p:spPr>
          <a:xfrm>
            <a:off x="2971800" y="4992624"/>
            <a:ext cx="8046720" cy="658368"/>
          </a:xfrm>
          <a:prstGeom prst="rect">
            <a:avLst/>
          </a:prstGeom>
          <a:noFill/>
        </p:spPr>
        <p:txBody>
          <a:bodyPr wrap="square" lIns="54864" rIns="54864" tIns="54864" bIns="54864">
            <a:spAutoFit/>
          </a:bodyPr>
          <a:lstStyle/>
          <a:p>
            <a:pPr algn="l">
              <a:lnSpc>
                <a:spcPct val="108000"/>
              </a:lnSpc>
              <a:spcBef>
                <a:spcPts val="0"/>
              </a:spcBef>
              <a:spcAft>
                <a:spcPts val="400"/>
              </a:spcAft>
            </a:pPr>
            <a:r>
              <a:rPr sz="2300" b="0" lang="ja-JP" altLang="en-US">
                <a:solidFill>
                  <a:srgbClr val="111111"/>
                </a:solidFill>
                <a:latin typeface="游ゴシック"/>
                <a:ea typeface="游ゴシック"/>
              </a:rPr>
              <a:t>対話・アルゴリズム・画像説明へ広がる。次はAttentionを学ぶ。</a:t>
            </a:r>
          </a:p>
        </p:txBody>
      </p:sp>
      <p:sp>
        <p:nvSpPr>
          <p:cNvPr id="13" name="TextBox 12"/>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❷』第7章、p.323（説明を要約）</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93115" y="423367"/>
            <a:ext cx="10789920" cy="585216"/>
          </a:xfrm>
          <a:prstGeom prst="rect">
            <a:avLst/>
          </a:prstGeom>
          <a:noFill/>
        </p:spPr>
        <p:txBody>
          <a:bodyPr wrap="square" lIns="54864" rIns="54864" tIns="54864" bIns="54864">
            <a:spAutoFit/>
          </a:bodyPr>
          <a:lstStyle/>
          <a:p>
            <a:pPr algn="l">
              <a:lnSpc>
                <a:spcPct val="108000"/>
              </a:lnSpc>
              <a:spcBef>
                <a:spcPts val="0"/>
              </a:spcBef>
              <a:spcAft>
                <a:spcPts val="400"/>
              </a:spcAft>
            </a:pPr>
            <a:r>
              <a:rPr sz="3200" b="0" lang="ja-JP" altLang="en-US">
                <a:solidFill>
                  <a:srgbClr val="111111"/>
                </a:solidFill>
                <a:latin typeface="游ゴシック"/>
                <a:ea typeface="游ゴシック"/>
              </a:rPr>
              <a:t>出典</a:t>
            </a:r>
          </a:p>
        </p:txBody>
      </p:sp>
      <p:sp>
        <p:nvSpPr>
          <p:cNvPr id="3" name="TextBox 2"/>
          <p:cNvSpPr txBox="1"/>
          <p:nvPr/>
        </p:nvSpPr>
        <p:spPr>
          <a:xfrm>
            <a:off x="925372" y="1016812"/>
            <a:ext cx="10378440" cy="621792"/>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教科書・使用したコード・書式</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58</a:t>
            </a:r>
          </a:p>
        </p:txBody>
      </p:sp>
      <p:sp>
        <p:nvSpPr>
          <p:cNvPr id="5" name="TextBox 4"/>
          <p:cNvSpPr txBox="1"/>
          <p:nvPr/>
        </p:nvSpPr>
        <p:spPr>
          <a:xfrm>
            <a:off x="896112" y="2039112"/>
            <a:ext cx="1883664" cy="393192"/>
          </a:xfrm>
          <a:prstGeom prst="rect">
            <a:avLst/>
          </a:prstGeom>
          <a:noFill/>
        </p:spPr>
        <p:txBody>
          <a:bodyPr wrap="square" lIns="54864" rIns="54864" tIns="54864" bIns="54864">
            <a:spAutoFit/>
          </a:bodyPr>
          <a:lstStyle/>
          <a:p>
            <a:pPr algn="l">
              <a:lnSpc>
                <a:spcPct val="108000"/>
              </a:lnSpc>
              <a:spcBef>
                <a:spcPts val="0"/>
              </a:spcBef>
              <a:spcAft>
                <a:spcPts val="400"/>
              </a:spcAft>
            </a:pPr>
            <a:r>
              <a:rPr sz="2200" b="1" lang="ja-JP" altLang="en-US">
                <a:solidFill>
                  <a:srgbClr val="156082"/>
                </a:solidFill>
                <a:latin typeface="游ゴシック"/>
                <a:ea typeface="游ゴシック"/>
              </a:rPr>
              <a:t>教科書・図版</a:t>
            </a:r>
          </a:p>
        </p:txBody>
      </p:sp>
      <p:sp>
        <p:nvSpPr>
          <p:cNvPr id="6" name="TextBox 5"/>
          <p:cNvSpPr txBox="1"/>
          <p:nvPr/>
        </p:nvSpPr>
        <p:spPr>
          <a:xfrm>
            <a:off x="2852928" y="2039112"/>
            <a:ext cx="8321040" cy="758952"/>
          </a:xfrm>
          <a:prstGeom prst="rect">
            <a:avLst/>
          </a:prstGeom>
          <a:noFill/>
        </p:spPr>
        <p:txBody>
          <a:bodyPr wrap="square" lIns="54864" rIns="54864" tIns="54864" bIns="54864">
            <a:spAutoFit/>
          </a:bodyPr>
          <a:lstStyle/>
          <a:p>
            <a:pPr algn="l">
              <a:lnSpc>
                <a:spcPct val="108000"/>
              </a:lnSpc>
              <a:spcBef>
                <a:spcPts val="0"/>
              </a:spcBef>
              <a:spcAft>
                <a:spcPts val="400"/>
              </a:spcAft>
            </a:pPr>
            <a:r>
              <a:rPr sz="1900" b="0" lang="ja-JP" altLang="en-US">
                <a:solidFill>
                  <a:srgbClr val="111111"/>
                </a:solidFill>
                <a:latin typeface="游ゴシック"/>
                <a:ea typeface="游ゴシック"/>
              </a:rPr>
              <a:t>斎藤康毅『ゼロから作るDeep Learning ❷ ―自然言語処理編』</a:t>
            </a:r>
          </a:p>
          <a:p>
            <a:pPr algn="l">
              <a:lnSpc>
                <a:spcPct val="108000"/>
              </a:lnSpc>
              <a:spcBef>
                <a:spcPts val="0"/>
              </a:spcBef>
              <a:spcAft>
                <a:spcPts val="400"/>
              </a:spcAft>
            </a:pPr>
            <a:r>
              <a:rPr sz="1900" b="0" lang="ja-JP" altLang="en-US">
                <a:solidFill>
                  <a:srgbClr val="111111"/>
                </a:solidFill>
                <a:latin typeface="游ゴシック"/>
                <a:ea typeface="游ゴシック"/>
              </a:rPr>
              <a:t>オライリー・ジャパン、第7章。図版は添付PDFから切り出し。</a:t>
            </a:r>
          </a:p>
        </p:txBody>
      </p:sp>
      <p:sp>
        <p:nvSpPr>
          <p:cNvPr id="7" name="TextBox 6"/>
          <p:cNvSpPr txBox="1"/>
          <p:nvPr/>
        </p:nvSpPr>
        <p:spPr>
          <a:xfrm>
            <a:off x="896112" y="3044952"/>
            <a:ext cx="1883664" cy="393192"/>
          </a:xfrm>
          <a:prstGeom prst="rect">
            <a:avLst/>
          </a:prstGeom>
          <a:noFill/>
        </p:spPr>
        <p:txBody>
          <a:bodyPr wrap="square" lIns="54864" rIns="54864" tIns="54864" bIns="54864">
            <a:spAutoFit/>
          </a:bodyPr>
          <a:lstStyle/>
          <a:p>
            <a:pPr algn="l">
              <a:lnSpc>
                <a:spcPct val="108000"/>
              </a:lnSpc>
              <a:spcBef>
                <a:spcPts val="0"/>
              </a:spcBef>
              <a:spcAft>
                <a:spcPts val="400"/>
              </a:spcAft>
            </a:pPr>
            <a:r>
              <a:rPr sz="2200" b="1" lang="ja-JP" altLang="en-US">
                <a:solidFill>
                  <a:srgbClr val="156082"/>
                </a:solidFill>
                <a:latin typeface="游ゴシック"/>
                <a:ea typeface="游ゴシック"/>
              </a:rPr>
              <a:t>7章のコード</a:t>
            </a:r>
          </a:p>
        </p:txBody>
      </p:sp>
      <p:sp>
        <p:nvSpPr>
          <p:cNvPr id="8" name="TextBox 7"/>
          <p:cNvSpPr txBox="1"/>
          <p:nvPr/>
        </p:nvSpPr>
        <p:spPr>
          <a:xfrm>
            <a:off x="2852928" y="3044952"/>
            <a:ext cx="8321040" cy="758952"/>
          </a:xfrm>
          <a:prstGeom prst="rect">
            <a:avLst/>
          </a:prstGeom>
          <a:noFill/>
        </p:spPr>
        <p:txBody>
          <a:bodyPr wrap="square" lIns="54864" rIns="54864" tIns="54864" bIns="54864">
            <a:spAutoFit/>
          </a:bodyPr>
          <a:lstStyle/>
          <a:p>
            <a:pPr algn="l">
              <a:lnSpc>
                <a:spcPct val="108000"/>
              </a:lnSpc>
              <a:spcBef>
                <a:spcPts val="0"/>
              </a:spcBef>
              <a:spcAft>
                <a:spcPts val="400"/>
              </a:spcAft>
            </a:pPr>
            <a:r>
              <a:rPr sz="1700" b="0" lang="ja-JP" altLang="en-US">
                <a:solidFill>
                  <a:srgbClr val="111111"/>
                </a:solidFill>
                <a:latin typeface="游ゴシック"/>
                <a:ea typeface="游ゴシック"/>
              </a:rPr>
              <a:t>rnnlm_gen.py／generate_text.py／generate_better_text.py</a:t>
            </a:r>
          </a:p>
          <a:p>
            <a:pPr algn="l">
              <a:lnSpc>
                <a:spcPct val="108000"/>
              </a:lnSpc>
              <a:spcBef>
                <a:spcPts val="0"/>
              </a:spcBef>
              <a:spcAft>
                <a:spcPts val="400"/>
              </a:spcAft>
            </a:pPr>
            <a:r>
              <a:rPr sz="1700" b="0" lang="ja-JP" altLang="en-US">
                <a:solidFill>
                  <a:srgbClr val="111111"/>
                </a:solidFill>
                <a:latin typeface="游ゴシック"/>
                <a:ea typeface="游ゴシック"/>
              </a:rPr>
              <a:t>show_addition_dataset.py／seq2seq.py／peeky_seq2seq.py／train_seq2seq.py</a:t>
            </a:r>
          </a:p>
        </p:txBody>
      </p:sp>
      <p:sp>
        <p:nvSpPr>
          <p:cNvPr id="9" name="TextBox 8"/>
          <p:cNvSpPr txBox="1"/>
          <p:nvPr/>
        </p:nvSpPr>
        <p:spPr>
          <a:xfrm>
            <a:off x="896112" y="4050791"/>
            <a:ext cx="1883664" cy="393192"/>
          </a:xfrm>
          <a:prstGeom prst="rect">
            <a:avLst/>
          </a:prstGeom>
          <a:noFill/>
        </p:spPr>
        <p:txBody>
          <a:bodyPr wrap="square" lIns="54864" rIns="54864" tIns="54864" bIns="54864">
            <a:spAutoFit/>
          </a:bodyPr>
          <a:lstStyle/>
          <a:p>
            <a:pPr algn="l">
              <a:lnSpc>
                <a:spcPct val="108000"/>
              </a:lnSpc>
              <a:spcBef>
                <a:spcPts val="0"/>
              </a:spcBef>
              <a:spcAft>
                <a:spcPts val="400"/>
              </a:spcAft>
            </a:pPr>
            <a:r>
              <a:rPr sz="2200" b="1" lang="ja-JP" altLang="en-US">
                <a:solidFill>
                  <a:srgbClr val="156082"/>
                </a:solidFill>
                <a:latin typeface="游ゴシック"/>
                <a:ea typeface="游ゴシック"/>
              </a:rPr>
              <a:t>公式コード</a:t>
            </a:r>
          </a:p>
        </p:txBody>
      </p:sp>
      <p:sp>
        <p:nvSpPr>
          <p:cNvPr id="10" name="TextBox 9"/>
          <p:cNvSpPr txBox="1"/>
          <p:nvPr/>
        </p:nvSpPr>
        <p:spPr>
          <a:xfrm>
            <a:off x="2852928" y="4050791"/>
            <a:ext cx="8321040" cy="758952"/>
          </a:xfrm>
          <a:prstGeom prst="rect">
            <a:avLst/>
          </a:prstGeom>
          <a:noFill/>
        </p:spPr>
        <p:txBody>
          <a:bodyPr wrap="square" lIns="54864" rIns="54864" tIns="54864" bIns="54864">
            <a:spAutoFit/>
          </a:bodyPr>
          <a:lstStyle/>
          <a:p>
            <a:pPr algn="l">
              <a:lnSpc>
                <a:spcPct val="108000"/>
              </a:lnSpc>
              <a:spcBef>
                <a:spcPts val="0"/>
              </a:spcBef>
              <a:spcAft>
                <a:spcPts val="400"/>
              </a:spcAft>
            </a:pPr>
            <a:r>
              <a:rPr sz="1900" b="0" lang="ja-JP" altLang="en-US">
                <a:solidFill>
                  <a:srgbClr val="111111"/>
                </a:solidFill>
                <a:latin typeface="游ゴシック"/>
                <a:ea typeface="游ゴシック"/>
              </a:rPr>
              <a:t>https://github.com/oreilly-japan/deep-learning-from-scratch-2</a:t>
            </a:r>
          </a:p>
        </p:txBody>
      </p:sp>
      <p:sp>
        <p:nvSpPr>
          <p:cNvPr id="11" name="TextBox 10"/>
          <p:cNvSpPr txBox="1"/>
          <p:nvPr/>
        </p:nvSpPr>
        <p:spPr>
          <a:xfrm>
            <a:off x="896112" y="5056632"/>
            <a:ext cx="1883664" cy="393192"/>
          </a:xfrm>
          <a:prstGeom prst="rect">
            <a:avLst/>
          </a:prstGeom>
          <a:noFill/>
        </p:spPr>
        <p:txBody>
          <a:bodyPr wrap="square" lIns="54864" rIns="54864" tIns="54864" bIns="54864">
            <a:spAutoFit/>
          </a:bodyPr>
          <a:lstStyle/>
          <a:p>
            <a:pPr algn="l">
              <a:lnSpc>
                <a:spcPct val="108000"/>
              </a:lnSpc>
              <a:spcBef>
                <a:spcPts val="0"/>
              </a:spcBef>
              <a:spcAft>
                <a:spcPts val="400"/>
              </a:spcAft>
            </a:pPr>
            <a:r>
              <a:rPr sz="2200" b="1" lang="ja-JP" altLang="en-US">
                <a:solidFill>
                  <a:srgbClr val="156082"/>
                </a:solidFill>
                <a:latin typeface="游ゴシック"/>
                <a:ea typeface="游ゴシック"/>
              </a:rPr>
              <a:t>書式と実測</a:t>
            </a:r>
          </a:p>
        </p:txBody>
      </p:sp>
      <p:sp>
        <p:nvSpPr>
          <p:cNvPr id="12" name="TextBox 11"/>
          <p:cNvSpPr txBox="1"/>
          <p:nvPr/>
        </p:nvSpPr>
        <p:spPr>
          <a:xfrm>
            <a:off x="2852928" y="5056632"/>
            <a:ext cx="8321040" cy="758952"/>
          </a:xfrm>
          <a:prstGeom prst="rect">
            <a:avLst/>
          </a:prstGeom>
          <a:noFill/>
        </p:spPr>
        <p:txBody>
          <a:bodyPr wrap="square" lIns="54864" rIns="54864" tIns="54864" bIns="54864">
            <a:spAutoFit/>
          </a:bodyPr>
          <a:lstStyle/>
          <a:p>
            <a:pPr algn="l">
              <a:lnSpc>
                <a:spcPct val="108000"/>
              </a:lnSpc>
              <a:spcBef>
                <a:spcPts val="0"/>
              </a:spcBef>
              <a:spcAft>
                <a:spcPts val="400"/>
              </a:spcAft>
            </a:pPr>
            <a:r>
              <a:rPr sz="1900" b="0" lang="ja-JP" altLang="en-US">
                <a:solidFill>
                  <a:srgbClr val="111111"/>
                </a:solidFill>
                <a:latin typeface="游ゴシック"/>
                <a:ea typeface="游ゴシック"/>
              </a:rPr>
              <a:t>書式：S小林261014.pptx／S瀬林261007.pptx</a:t>
            </a:r>
          </a:p>
          <a:p>
            <a:pPr algn="l">
              <a:lnSpc>
                <a:spcPct val="108000"/>
              </a:lnSpc>
              <a:spcBef>
                <a:spcPts val="0"/>
              </a:spcBef>
              <a:spcAft>
                <a:spcPts val="400"/>
              </a:spcAft>
            </a:pPr>
            <a:r>
              <a:rPr sz="1900" b="0" lang="ja-JP" altLang="en-US">
                <a:solidFill>
                  <a:srgbClr val="111111"/>
                </a:solidFill>
                <a:latin typeface="游ゴシック"/>
                <a:ea typeface="游ゴシック"/>
              </a:rPr>
              <a:t>学習曲線の実測：normal・reverse・peekyの各metrics.json</a:t>
            </a:r>
          </a:p>
        </p:txBody>
      </p:sp>
    </p:spTree>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2274</TotalTime>
  <Words>12346</Words>
  <Application>Microsoft Office PowerPoint</Application>
  <PresentationFormat>ワイド画面</PresentationFormat>
  <Paragraphs>993</Paragraphs>
  <Slides>49</Slides>
  <Notes>49</Notes>
  <HiddenSlides>14</HiddenSlides>
  <MMClips>0</MMClips>
  <ScaleCrop>false</ScaleCrop>
  <HeadingPairs>
    <vt:vector size="6" baseType="variant">
      <vt:variant>
        <vt:lpstr>使用されているフォント</vt:lpstr>
      </vt:variant>
      <vt:variant>
        <vt:i4>8</vt:i4>
      </vt:variant>
      <vt:variant>
        <vt:lpstr>テーマ</vt:lpstr>
      </vt:variant>
      <vt:variant>
        <vt:i4>1</vt:i4>
      </vt:variant>
      <vt:variant>
        <vt:lpstr>スライド タイトル</vt:lpstr>
      </vt:variant>
      <vt:variant>
        <vt:i4>49</vt:i4>
      </vt:variant>
    </vt:vector>
  </HeadingPairs>
  <TitlesOfParts>
    <vt:vector size="58" baseType="lpstr">
      <vt:lpstr>Yu Gothic</vt:lpstr>
      <vt:lpstr>Yu Gothic</vt:lpstr>
      <vt:lpstr>游ゴシック Light</vt:lpstr>
      <vt:lpstr>游ゴシック 本文</vt:lpstr>
      <vt:lpstr>Arial</vt:lpstr>
      <vt:lpstr>Cambria Math</vt:lpstr>
      <vt:lpstr>Consolas</vt:lpstr>
      <vt:lpstr>Wingdings 3</vt:lpstr>
      <vt:lpstr>Office テーマ</vt:lpstr>
      <vt:lpstr>ゼロから作るDeep Learning2</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第7章 RNNによる文章生成｜教科書図版入り・58枚</dc:title>
  <dc:creator/>
  <cp:lastModifiedBy>小林 雅樹</cp:lastModifiedBy>
  <cp:revision>153</cp:revision>
  <dcterms:created xsi:type="dcterms:W3CDTF">2026-04-29T02:00:42Z</dcterms:created>
  <dcterms:modified xsi:type="dcterms:W3CDTF">2026-10-14T07:13:45Z</dcterms:modified>
  <dc:subject>7.1.1から開始。教科書の図・コードとseq2seqの実行結果</dc:subject>
  <cp:keywords>Deep Learning 2, chapter 7, seq2seq, Reverse, Peeky</cp:keywords>
  <dc:description>添付資料のテーマ・マスターを継承。ユーザー提供PDFの図版・コードを切り出して使用。</dc:description>
</cp:coreProperties>
</file>