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6"/>
    <p:sldId id="301" r:id="rId5"/>
    <p:sldId id="302" r:id="rId4"/>
    <p:sldId id="303" r:id="rId3"/>
    <p:sldId id="304" r:id="rId2"/>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6190" autoAdjust="0"/>
  </p:normalViewPr>
  <p:slideViewPr>
    <p:cSldViewPr snapToGrid="0">
      <p:cViewPr varScale="1">
        <p:scale>
          <a:sx n="122" d="100"/>
          <a:sy n="122" d="100"/>
        </p:scale>
        <p:origin x="132"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49.xml"/><Relationship Id="rId3" Type="http://schemas.openxmlformats.org/officeDocument/2006/relationships/slide" Target="slides/slide48.xml"/><Relationship Id="rId4" Type="http://schemas.openxmlformats.org/officeDocument/2006/relationships/slide" Target="slides/slide47.xml"/><Relationship Id="rId5" Type="http://schemas.openxmlformats.org/officeDocument/2006/relationships/slide" Target="slides/slide46.xml"/><Relationship Id="rId6" Type="http://schemas.openxmlformats.org/officeDocument/2006/relationships/slide" Target="slides/slide4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C19F48-BC63-41C7-B5A1-B08830F156DF}"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3FCFF9-40F2-49C3-9179-20E27165ABA4}" type="slidenum">
              <a:rPr kumimoji="1" lang="ja-JP" altLang="en-US" smtClean="0"/>
              <a:t>‹#›</a:t>
            </a:fld>
            <a:endParaRPr kumimoji="1" lang="ja-JP" altLang="en-US"/>
          </a:p>
        </p:txBody>
      </p:sp>
    </p:spTree>
    <p:extLst>
      <p:ext uri="{BB962C8B-B14F-4D97-AF65-F5344CB8AC3E}">
        <p14:creationId xmlns:p14="http://schemas.microsoft.com/office/powerpoint/2010/main" val="1967857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章全体を扱います。前半は言語モデルによる文章生成、後半はseq2seqと加算課題です。添付コードを実行し、通常版・Reverse・Peekyの学習を各25エポック行いました。発表者名は指定がないため記載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第7章 RNNによる文章生成｜この章で扱うこと</a:t>
            </a:r>
          </a:p>
          <a:p/>
          <a:p>
            <a:r>
              <a:t>話すポイント：</a:t>
            </a:r>
          </a:p>
          <a:p>
            <a:r>
              <a:t>第6章で学んだLSTMを使い、単語の確率分布から文章を作る。さらに、入力系列を別の出力系列へ変換するseq2seqへ進む。実装と加算の実験を往復して理解する。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第6章からのつながり｜LSTM言語モデルの復習</a:t>
            </a:r>
          </a:p>
          <a:p/>
          <a:p>
            <a:r>
              <a:t>話すポイント：</a:t>
            </a:r>
          </a:p>
          <a:p>
            <a:r>
              <a:t>言語モデルは次の単語のスコアを求める。Softmaxを通すと確率になる。hとcが過去の情報を保持し、同じ重みを時刻ごとに使う。学習済みモデルのこの出力を生成に利用する。</a:t>
            </a:r>
          </a:p>
          <a:p/>
          <a:p>
            <a:r>
              <a:t>出典：添付第7章資料・ch06/rnnlm.py・ch06/better_rnnlm.py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第7章の全体像｜「次を予測する」から「系列を作る」へ</a:t>
            </a:r>
          </a:p>
          <a:p/>
          <a:p>
            <a:r>
              <a:t>話すポイント：</a:t>
            </a:r>
          </a:p>
          <a:p>
            <a:r>
              <a:t>7.1では単一の言語モデルを使う。7.2以降では入力文という条件を加える。どちらも出力済みの単語・文字を次の入力として利用するが、条件の与え方が異なる。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言語モデルを使った文章生成｜7.1.1 次の単語の確率から文章を作る</a:t>
            </a:r>
          </a:p>
          <a:p/>
          <a:p>
            <a:r>
              <a:t>話すポイント：</a:t>
            </a:r>
          </a:p>
          <a:p>
            <a:r>
              <a:t>文章全体の確率は、各時刻の条件付き確率の積で表せる。文章生成ではこの分布から1語を選び、その語を含む文脈で次の分布を計算する。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言語モデルを使った文章生成｜確率的に選ぶことと、最大値を選ぶこと</a:t>
            </a:r>
          </a:p>
          <a:p/>
          <a:p>
            <a:r>
              <a:t>話すポイント：</a:t>
            </a:r>
          </a:p>
          <a:p>
            <a:r>
              <a:t>表の数値は仕組みを説明する例であり、学習済みモデルの実測値ではない。argmaxは常に最大確率の候補を選ぶ。サンプリングは高確率ほど選ばれやすいが、別の候補も選ばれる。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言語モデルを使った文章生成｜生成した単語を、次の入力へ戻す</a:t>
            </a:r>
          </a:p>
          <a:p/>
          <a:p>
            <a:r>
              <a:t>話すポイント：</a:t>
            </a:r>
          </a:p>
          <a:p>
            <a:r>
              <a:t>この循環が自己回帰的な生成である。前の時刻のh・cを引き継ぎながら、新しく選ばれた単語を入力する。図中の語は生成手順を示す例。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言語モデルを使った文章生成｜7.1.2 RnnlmGen.generate の中心部分</a:t>
            </a:r>
          </a:p>
          <a:p/>
          <a:p>
            <a:r>
              <a:t>話すポイント：</a:t>
            </a:r>
          </a:p>
          <a:p>
            <a:r>
              <a:t>入力はバッチ数1・時系列長1の配列にする。予測スコアを平坦化してSoftmaxへ渡し、np.random.choiceのp引数に確率を指定する。学習のための逆伝播は行わない。</a:t>
            </a:r>
          </a:p>
          <a:p/>
          <a:p>
            <a:r>
              <a:t>出典：添付 rnnlm_gen.py：RnnlmGen.generate</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言語モデルを使った文章生成｜生成を支える、単語IDと状態の管理</a:t>
            </a:r>
          </a:p>
          <a:p/>
          <a:p>
            <a:r>
              <a:t>話すポイント：</a:t>
            </a:r>
          </a:p>
          <a:p>
            <a:r>
              <a:t>生成結果はまずID列として保持し、最後にid_to_wordで単語列に変換する。get_stateとset_stateでLSTMの状態を取り出し、別の続き方を試せる。独立した文章の生成時はreset_stateを使う。</a:t>
            </a:r>
          </a:p>
          <a:p/>
          <a:p>
            <a:r>
              <a:t>出典：添付 generate_text.py・rnnlm_gen.py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言語モデルを使った文章生成｜7.1.3 より良い言語モデルを使う</a:t>
            </a:r>
          </a:p>
          <a:p/>
          <a:p>
            <a:r>
              <a:t>話すポイント：</a:t>
            </a:r>
          </a:p>
          <a:p>
            <a:r>
              <a:t>Rnnlmは第6章の1層LSTM。BetterRnnlmは2層LSTM、Dropout、重み共有を用いる。Dropoutは生成時には無効。品質は学習済み重みに依存する。今回、改善版の学習済み重みだけが通信制限で取得待ちとなっている。</a:t>
            </a:r>
          </a:p>
          <a:p/>
          <a:p>
            <a:r>
              <a:t>出典：添付 rnnlm_gen.py・公式 ch06/rnnlm.py／better_rnnlm.py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言語モデルを使った文章生成｜通常版の文章生成：今回の実行例</a:t>
            </a:r>
          </a:p>
          <a:p/>
          <a:p>
            <a:r>
              <a:t>話すポイント：</a:t>
            </a:r>
          </a:p>
          <a:p>
            <a:r>
              <a:t>本文はgenerate_text.pyを実際に実行した出力の抜粋。完全な100語の出力はコード一式のresults/generate_text.txtに保存した。局所的には英語らしいが、不自然なつながりもある。実行ごとにサンプリング結果は変わる。</a:t>
            </a:r>
          </a:p>
          <a:p/>
          <a:p>
            <a:r>
              <a:t>出典：実測：results/generate_text.txt（添付 generate_text.py を実行）</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言語モデルを使った文章生成｜書き出しを指定して、続きを生成する</a:t>
            </a:r>
          </a:p>
          <a:p/>
          <a:p>
            <a:r>
              <a:t>話すポイント：</a:t>
            </a:r>
          </a:p>
          <a:p>
            <a:r>
              <a:t>書き出しの最後以外の語をpredictへ順に渡し、その文脈をhとcへ蓄える。最後の語をgenerateの開始IDにする。全文をpredictへ渡した後で同じ最後の語をgenerateへ渡すと、二重に入力してしまう。コードの手順を示すもので、改善版の生成結果を示しているわけではない。</a:t>
            </a:r>
          </a:p>
          <a:p/>
          <a:p>
            <a:r>
              <a:t>出典：添付 generate_better_text.py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の整理｜文章生成で何をしているのか</a:t>
            </a:r>
          </a:p>
          <a:p/>
          <a:p>
            <a:r>
              <a:t>話すポイント：</a:t>
            </a:r>
          </a:p>
          <a:p>
            <a:r>
              <a:t>文章生成は、学習済みモデルの予測を利用する推論である。確率分布、サンプリング、状態の引き継ぎを分けて理解する。このあと、入力系列という条件を与えるseq2seqへ進む。</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seq2seq｜入力系列を、別の出力系列へ変換する</a:t>
            </a:r>
          </a:p>
          <a:p/>
          <a:p>
            <a:r>
              <a:t>話すポイント：</a:t>
            </a:r>
          </a:p>
          <a:p>
            <a:r>
              <a:t>seq2seqはsequence to sequenceの略。入力と出力の長さが異なってもよい。翻訳、加算、対話などを、系列を別の系列へ写す問題として考える。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seq2seq｜7.2.1 EncoderとDecoderの役割</a:t>
            </a:r>
          </a:p>
          <a:p/>
          <a:p>
            <a:r>
              <a:t>話すポイント：</a:t>
            </a:r>
          </a:p>
          <a:p>
            <a:r>
              <a:t>Encoderは入力系列を読み込み、最後の隠れ状態hへ集約する。Decoderはそのhを受け取り、出力系列を作る。本章の実装ではEncoderのcはDecoderへ渡さず、最後のhだけを受け渡す。</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seq2seq｜Encoder：文章を固定長のベクトルへ</a:t>
            </a:r>
          </a:p>
          <a:p/>
          <a:p>
            <a:r>
              <a:t>話すポイント：</a:t>
            </a:r>
          </a:p>
          <a:p>
            <a:r>
              <a:t>入力長Tが変わっても、出力hの形はN×Hで一定になる。入力ごとに状態を初期化するため、Encoder側のTimeLSTMはstateful=False。後続のDecoderには最後の時刻のhだけを渡す。</a:t>
            </a:r>
          </a:p>
          <a:p/>
          <a:p>
            <a:r>
              <a:t>出典：添付 seq2seq.py：Encoder</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seq2seq｜Decoder：hを条件に出力を1文字ずつ作る</a:t>
            </a:r>
          </a:p>
          <a:p/>
          <a:p>
            <a:r>
              <a:t>話すポイント：</a:t>
            </a:r>
          </a:p>
          <a:p>
            <a:r>
              <a:t>Decoderは開始記号を入力し、最初の答えの文字を生成する。生成した文字を次の入力にして、残りを順番に作る。ここでは答えの文字数が既知の加算問題を扱うため、サンプル長を指定している。</a:t>
            </a:r>
          </a:p>
          <a:p/>
          <a:p>
            <a:r>
              <a:t>出典：添付 seq2seq.py：Decoder.generate</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seq2seq｜7.2.2 加算を「文字列の変換」として学ぶ</a:t>
            </a:r>
          </a:p>
          <a:p/>
          <a:p>
            <a:r>
              <a:t>話すポイント：</a:t>
            </a:r>
          </a:p>
          <a:p>
            <a:r>
              <a:t>加算の規則をプログラムで教えるのではなく、問題文字列と答え文字列の組を与える。桁上がりもデータから学習する。一般の数学的加算器を保証する実験ではなく、与えられた分布での系列変換課題であ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seq2seq｜7.2.3 可変長データをパディングする</a:t>
            </a:r>
          </a:p>
          <a:p/>
          <a:p>
            <a:r>
              <a:t>話すポイント：</a:t>
            </a:r>
          </a:p>
          <a:p>
            <a:r>
              <a:t>バッチ処理のため、問題文を7文字、答えを開始記号込み5文字にそろえる。足りない部分は右側に空白を補う。本章のコードでは空白も語彙の1つで、TimeSoftmaxWithLossの無視ラベル-1とは別物である。</a:t>
            </a:r>
          </a:p>
          <a:p/>
          <a:p>
            <a:r>
              <a:t>出典：添付第7章資料・公式 dataset/addition.txt・添付 show_addition_dataset.py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seq2seq｜7.2.4 加算データセットを読み込む</a:t>
            </a:r>
          </a:p>
          <a:p/>
          <a:p>
            <a:r>
              <a:t>話すポイント：</a:t>
            </a:r>
          </a:p>
          <a:p>
            <a:r>
              <a:t>show_addition_dataset.pyを実際に実行した出力を示す。全50,000件を45,000件と5,000件に分割する。固定seed1984でシャッフルするため、例の71+118と_189も添付コードのコメントと一致した。</a:t>
            </a:r>
          </a:p>
          <a:p/>
          <a:p>
            <a:r>
              <a:t>出典：実測：results/show_addition_dataset.txt</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seq2seqの実装｜学習時：答えを1文字ずらして使う</a:t>
            </a:r>
          </a:p>
          <a:p/>
          <a:p>
            <a:r>
              <a:t>話すポイント：</a:t>
            </a:r>
          </a:p>
          <a:p>
            <a:r>
              <a:t>Teacher Forcingでは、Decoderへの入力に正解系列の直前の文字を使う。ts全体をそのまま正解にするのではなく、tsの先頭側と末尾側を1文字ずらす。開始記号は入力に含まれ、予測対象には含まれない。</a:t>
            </a:r>
          </a:p>
          <a:p/>
          <a:p>
            <a:r>
              <a:t>出典：添付 seq2seq.py：Seq2seq.forward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seq2seqの実装｜学習時と生成時の違い</a:t>
            </a:r>
          </a:p>
          <a:p/>
          <a:p>
            <a:r>
              <a:t>話すポイント：</a:t>
            </a:r>
          </a:p>
          <a:p>
            <a:r>
              <a:t>学習時は正解の直前文字を入力する。生成時には正解を見せられないため、自分が直前に出した文字を次の入力に使う。この条件の違いにより、1文字の誤りが後続の生成へ影響し得る。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seq2seqの実装｜損失と評価指標は、見ているものが違う</a:t>
            </a:r>
          </a:p>
          <a:p/>
          <a:p>
            <a:r>
              <a:t>話すポイント：</a:t>
            </a:r>
          </a:p>
          <a:p>
            <a:r>
              <a:t>学習の損失は、正解文字に割り当てた確率に基づく交差エントロピー。一方、eval_seq2seqの評価は、生成した文字列と正解文字列がすべて一致するかを調べる。文字単位の正解率ではない。</a:t>
            </a:r>
          </a:p>
          <a:p/>
          <a:p>
            <a:r>
              <a:t>出典：添付 seq2seq.py・train_seq2seq.py・公式 common/util.py：eval_seq2seq</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seq2seqの実装｜クラスのつながりを確認する</a:t>
            </a:r>
          </a:p>
          <a:p/>
          <a:p>
            <a:r>
              <a:t>話すポイント：</a:t>
            </a:r>
          </a:p>
          <a:p>
            <a:r>
              <a:t>Seq2seqはEncoder、Decoder、TimeSoftmaxWithLossを持つ。paramsとgradsを集約するため、Trainerはモデルの内部構造を意識せず最適化できる。PeekySeq2seqはDecoderを差し替える。</a:t>
            </a:r>
          </a:p>
          <a:p/>
          <a:p>
            <a:r>
              <a:t>出典：添付 seq2seq.py・peeky_seq2seq.py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seq2seqの実装｜7.3.1 Encoderのレイヤ構成</a:t>
            </a:r>
          </a:p>
          <a:p/>
          <a:p>
            <a:r>
              <a:t>話すポイント：</a:t>
            </a:r>
          </a:p>
          <a:p>
            <a:r>
              <a:t>EncoderにはEmbeddingとTimeLSTMがある。文字IDをD次元ベクトルへ変換し、H次元の状態へまとめる。Vは語彙数、Dは文字ベクトル次元、Hは隠れ状態次元、Nはバッチ数。</a:t>
            </a:r>
          </a:p>
          <a:p/>
          <a:p>
            <a:r>
              <a:t>出典：添付 seq2seq.py：Encoder.__init__</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seq2seqの実装｜Encoder.forward：最後のhを取り出す</a:t>
            </a:r>
          </a:p>
          <a:p/>
          <a:p>
            <a:r>
              <a:t>話すポイント：</a:t>
            </a:r>
          </a:p>
          <a:p>
            <a:r>
              <a:t>TimeLSTMは全時刻の状態hsを返す。その中からhs[:, -1, :]を選び、最後の状態だけをDecoderへ渡す。逆伝播で必要になるため、hsをself.hsに保存する。</a:t>
            </a:r>
          </a:p>
          <a:p/>
          <a:p>
            <a:r>
              <a:t>出典：添付 seq2seq.py：Encoder.forward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seq2seqの実装｜Encoder.backward：最後の時刻へdhを入れる</a:t>
            </a:r>
          </a:p>
          <a:p/>
          <a:p>
            <a:r>
              <a:t>話すポイント：</a:t>
            </a:r>
          </a:p>
          <a:p>
            <a:r>
              <a:t>Decoderから返るdhはEncoderの最後の状態に対する勾配。全時刻の勾配配列をゼロで用意し、最後の時刻にのみdhをセットする。その後、TimeLSTMのBPTTによって前の時刻へ勾配が伝わる。</a:t>
            </a:r>
          </a:p>
          <a:p/>
          <a:p>
            <a:r>
              <a:t>出典：添付 seq2seq.py：Encoder.backward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seq2seqの実装｜7.3.2 Decoderのレイヤ構成</a:t>
            </a:r>
          </a:p>
          <a:p/>
          <a:p>
            <a:r>
              <a:t>話すポイント：</a:t>
            </a:r>
          </a:p>
          <a:p>
            <a:r>
              <a:t>DecoderはEmbedding、TimeLSTM、TimeAffineの3つ。Encoderのhを初期値として使い、その後の時刻では状態を引き継ぐためstateful=Trueとする。これは無関係な問題文をまたいで状態を使い回すという意味ではない。</a:t>
            </a:r>
          </a:p>
          <a:p/>
          <a:p>
            <a:r>
              <a:t>出典：添付 seq2seq.py：Decoder.__init__</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seq2seqの実装｜Decoder.forward：初期状態をhに設定する</a:t>
            </a:r>
          </a:p>
          <a:p/>
          <a:p>
            <a:r>
              <a:t>話すポイント：</a:t>
            </a:r>
          </a:p>
          <a:p>
            <a:r>
              <a:t>set_state(h)を呼び、Encoderの出力でDecoderを条件付ける。ここではcを渡していないため、TimeLSTMのcはゼロから始まる。正解を1文字ずらした入力をまとめて計算する。</a:t>
            </a:r>
          </a:p>
          <a:p/>
          <a:p>
            <a:r>
              <a:t>出典：添付 seq2seq.py：Decoder.forward・公式 common/time_layers.py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seq2seqの実装｜Decoder.backward：Encoderへdhを返す</a:t>
            </a:r>
          </a:p>
          <a:p/>
          <a:p>
            <a:r>
              <a:t>話すポイント：</a:t>
            </a:r>
          </a:p>
          <a:p>
            <a:r>
              <a:t>Decoderの各レイヤを逆順にたどる。self.lstm.dhはDecoderの初期隠れ状態に対する勾配であり、Encoderから受け取ったhへの勾配に等しい。これをEncoder.backwardへ返す。</a:t>
            </a:r>
          </a:p>
          <a:p/>
          <a:p>
            <a:r>
              <a:t>出典：添付 seq2seq.py：Decoder.backward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seq2seqの実装｜Decoder.generate：1文字ずつ推論する</a:t>
            </a:r>
          </a:p>
          <a:p/>
          <a:p>
            <a:r>
              <a:t>話すポイント：</a:t>
            </a:r>
          </a:p>
          <a:p>
            <a:r>
              <a:t>学習時とは異なり、直前の正解文字を入力できない。開始記号から始め、スコアが最大の文字を選び、そのIDを次の入力にする。ここで選んだ文字に対する逆伝播は行わない。</a:t>
            </a:r>
          </a:p>
          <a:p/>
          <a:p>
            <a:r>
              <a:t>出典：添付 seq2seq.py：Decoder.generate</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seq2seqの実装｜7.3.3 Seq2seq.forward：全体をつなぐ</a:t>
            </a:r>
          </a:p>
          <a:p/>
          <a:p>
            <a:r>
              <a:t>話すポイント：</a:t>
            </a:r>
          </a:p>
          <a:p>
            <a:r>
              <a:t>Seq2seq.forwardは正解系列をずらし、Encoderで入力をまとめ、Decoderで出力スコアを求め、TimeSoftmaxWithLossで損失を計算する。入力のxsとDecoder入力のdecoder_xsは別の系列。</a:t>
            </a:r>
          </a:p>
          <a:p/>
          <a:p>
            <a:r>
              <a:t>出典：添付 seq2seq.py：Seq2seq.forward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seq2seqの実装｜Seq2seq.backward：損失から入力側へ戻る</a:t>
            </a:r>
          </a:p>
          <a:p/>
          <a:p>
            <a:r>
              <a:t>話すポイント：</a:t>
            </a:r>
          </a:p>
          <a:p>
            <a:r>
              <a:t>forwardの逆順にbackwardを呼ぶ。Decoder.backwardの戻り値dhが接続の要点。学習するパラメータはEncoderとDecoderの両方であり、両者を一緒に更新する。</a:t>
            </a:r>
          </a:p>
          <a:p/>
          <a:p>
            <a:r>
              <a:t>出典：添付 seq2seq.py：Seq2seq.backward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seq2seqの実装｜Seq2seq.generate：学習した変換を使う</a:t>
            </a:r>
          </a:p>
          <a:p/>
          <a:p>
            <a:r>
              <a:t>話すポイント：</a:t>
            </a:r>
          </a:p>
          <a:p>
            <a:r>
              <a:t>generateでは損失を計算しない。問題文をEncoderに渡し、そのhをDecoderに与えて答えを生成する。eval_seq2seqは開始記号と生成すべき文字数を正解データから取り出して呼び出す。</a:t>
            </a:r>
          </a:p>
          <a:p/>
          <a:p>
            <a:r>
              <a:t>出典：添付 seq2seq.py：Seq2seq.generate・公式 common/util.py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seq2seqの実装｜7.3.4 学習条件を確認する</a:t>
            </a:r>
          </a:p>
          <a:p/>
          <a:p>
            <a:r>
              <a:t>話すポイント：</a:t>
            </a:r>
          </a:p>
          <a:p>
            <a:r>
              <a:t>条件は添付train_seq2seq.pyに合わせた。通常版は添付の学習入口をそのまま実行。ReverseとPeekyは添付モデルクラスを使う外部実験スクリプトで比較した。評価には書籍のx_testを各エポック後に使用する。</a:t>
            </a:r>
          </a:p>
          <a:p/>
          <a:p>
            <a:r>
              <a:t>出典：添付 train_seq2seq.py・実測 results/*/metrics.json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seq2seqの実装｜1エポックごとに、答え全体を評価する</a:t>
            </a:r>
          </a:p>
          <a:p/>
          <a:p>
            <a:r>
              <a:t>話すポイント：</a:t>
            </a:r>
          </a:p>
          <a:p>
            <a:r>
              <a:t>Trainer.fitを1エポック実行し、5,000問に対してgenerateを呼ぶ。各問題で全文字が一致すればcorrect_numを1増やす。評価集合を毎エポック見るため、この曲線は学習進捗の監視に使う。</a:t>
            </a:r>
          </a:p>
          <a:p/>
          <a:p>
            <a:r>
              <a:t>出典：添付 train_seq2seq.py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seq2seqの実装｜通常版の学習結果</a:t>
            </a:r>
          </a:p>
          <a:p/>
          <a:p>
            <a:r>
              <a:t>話すポイント：</a:t>
            </a:r>
          </a:p>
          <a:p>
            <a:r>
              <a:t>書籍の図を転記したものではなく、今回のクラウド環境での実測。25エポック後に5,000問中519問が完全一致した。入力を1つのhにまとめて、最初の時刻だけからDecoderへ情報を与える通常版を基準にする。</a:t>
            </a:r>
          </a:p>
          <a:p/>
          <a:p>
            <a:r>
              <a:t>出典：実測：results/normal/metrics.json・添付 train_seq2seq.py を実行</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seq2seqの改善｜2つの工夫：入力順と情報の渡し方</a:t>
            </a:r>
          </a:p>
          <a:p/>
          <a:p>
            <a:r>
              <a:t>話すポイント：</a:t>
            </a:r>
          </a:p>
          <a:p>
            <a:r>
              <a:t>Reverseは入力文字列の順番を逆にするだけで、モデルのパラメータ数は変わらない。PeekyはEncoderのhを、Decoderの各時刻のLSTM入力とAffine入力にも連結する。今回はReverseを行った上でPeekyを比較する。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seq2seqの改善｜7.4.1 入力データの反転（Reverse）</a:t>
            </a:r>
          </a:p>
          <a:p/>
          <a:p>
            <a:r>
              <a:t>話すポイント：</a:t>
            </a:r>
          </a:p>
          <a:p>
            <a:r>
              <a:t>スライスの::-1で入力文字列の時刻方向だけを逆にする。答えの順序は変えない。右パディングも含めて逆順になるため、空白は先頭側へ移る。書籍の実装と同じ処理。</a:t>
            </a:r>
          </a:p>
          <a:p/>
          <a:p>
            <a:r>
              <a:t>出典：添付 train_seq2seq.py：is_reverse 分岐</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seq2seqの改善｜なぜ入力の反転が効くことがあるのか</a:t>
            </a:r>
          </a:p>
          <a:p/>
          <a:p>
            <a:r>
              <a:t>話すポイント：</a:t>
            </a:r>
          </a:p>
          <a:p>
            <a:r>
              <a:t>翻訳のように先頭どうしが対応しやすい場合、入力を逆にすると、最初の出力が参照したい入力がEncoderの終端に近づく。その結果、勾配の伝わる経路が短くなる場合がある。すべての対応やすべての問題で有効と保証されるわけではない。</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seq2seqの改善｜入力反転の学習結果</a:t>
            </a:r>
          </a:p>
          <a:p/>
          <a:p>
            <a:r>
              <a:t>話すポイント：</a:t>
            </a:r>
          </a:p>
          <a:p>
            <a:r>
              <a:t>Reverseも通常版と同じ構造、同じ隠れ次元、同じ25エポック。入力を反転した結果、5,000問中2,703問が完全一致した。最終値だけでなく、途中からの立ち上がりも比較する。</a:t>
            </a:r>
          </a:p>
          <a:p/>
          <a:p>
            <a:r>
              <a:t>出典：実測：results/reverse/metrics.json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seq2seqの改善｜7.4.2 覗き見（Peeky）の考え方</a:t>
            </a:r>
          </a:p>
          <a:p/>
          <a:p>
            <a:r>
              <a:t>話すポイント：</a:t>
            </a:r>
          </a:p>
          <a:p>
            <a:r>
              <a:t>通常版では入力文の情報hを初期状態としてのみ渡す。Peekyではその同じhを、Decoderのすべての時刻でLSTM入力とAffine入力に連結する。Encoderのすべての状態を時刻ごとに選ぶAttentionとは異なる。</a:t>
            </a:r>
          </a:p>
          <a:p/>
          <a:p>
            <a:r>
              <a:t>出典：添付 peeky_seq2seq.py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seq2seqの改善｜Peekyで変わるテンソルの形</a:t>
            </a:r>
          </a:p>
          <a:p/>
          <a:p>
            <a:r>
              <a:t>話すポイント：</a:t>
            </a:r>
          </a:p>
          <a:p>
            <a:r>
              <a:t>hをT回複製して、時刻ごとの入力へ連結する。LSTMへの入力次元はDからH+Dへ増える。Affineへの入力次元もHから2Hへ増えるため、PeekyはReverseと異なりパラメータ数が増える。</a:t>
            </a:r>
          </a:p>
          <a:p/>
          <a:p>
            <a:r>
              <a:t>出典：添付 peeky_seq2seq.py：PeekyDecoder.__init__／forward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seq2seqの改善｜PeekyDecoder.forward：hを連結する</a:t>
            </a:r>
          </a:p>
          <a:p/>
          <a:p>
            <a:r>
              <a:t>話すポイント：</a:t>
            </a:r>
          </a:p>
          <a:p>
            <a:r>
              <a:t>repeatでhを時刻ぶん並べ、Embedding出力へ連結してからLSTMへ渡す。LSTM出力にもhを連結してAffineへ渡す。連結順はhsが先であるため、backwardのスライスでも先頭H次元を取り出す。</a:t>
            </a:r>
          </a:p>
          <a:p/>
          <a:p>
            <a:r>
              <a:t>出典：添付 peeky_seq2seq.py：PeekyDecoder.forward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seq2seqの改善｜PeekyDecoder.backward：hへの勾配を合計</a:t>
            </a:r>
          </a:p>
          <a:p/>
          <a:p>
            <a:r>
              <a:t>話すポイント：</a:t>
            </a:r>
          </a:p>
          <a:p>
            <a:r>
              <a:t>concatした順序に合わせて、先頭H次元のh側と残りの通常経路へ分割する。hは全時刻で共有しているため、時刻方向に勾配を合計する。さらに初期状態として渡したhへの勾配self.lstm.dhも加える。</a:t>
            </a:r>
          </a:p>
          <a:p/>
          <a:p>
            <a:r>
              <a:t>出典：添付 peeky_seq2seq.py：PeekyDecoder.backward</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seq2seqの改善｜PeekyDecoder.generate：生成時も覗き見する</a:t>
            </a:r>
          </a:p>
          <a:p/>
          <a:p>
            <a:r>
              <a:t>話すポイント：</a:t>
            </a:r>
          </a:p>
          <a:p>
            <a:r>
              <a:t>生成時も学習時と同じ2か所へhを連結する。hは固定だが、Decoder自身の隠れ状態は文字を生成するごとに更新される。次の入力文字はargmaxで決める。</a:t>
            </a:r>
          </a:p>
          <a:p/>
          <a:p>
            <a:r>
              <a:t>出典：添付 peeky_seq2seq.py：PeekyDecoder.generate</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seq2seqの改善｜3方式の学習曲線：今回の実測結果</a:t>
            </a:r>
          </a:p>
          <a:p/>
          <a:p>
            <a:r>
              <a:t>話すポイント：</a:t>
            </a:r>
          </a:p>
          <a:p>
            <a:r>
              <a:t>グラフは今回各25エポック実行した値。学習条件と評価集合をそろえた。通常版10.38%、Reverse54.06%、Reverse+Peeky98.80%。Peekyは接続方法だけでなくパラメータ数も増える点に注意する。単一seedでの結果であり平均や信頼区間ではない。</a:t>
            </a:r>
          </a:p>
          <a:p/>
          <a:p>
            <a:r>
              <a:t>出典：実測：results/normal・reverse・peeky/metrics.json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seq2seqの改善｜25エポック後の完全一致率を比べる</a:t>
            </a:r>
          </a:p>
          <a:p/>
          <a:p>
            <a:r>
              <a:t>話すポイント：</a:t>
            </a:r>
          </a:p>
          <a:p>
            <a:r>
              <a:t>数値は各モデルが評価5,000問で答え全体を正しく出した割合。Reverseは通常版と同じパラメータ数。Peekyはhを連結するぶんパラメータが増え、同一計算量での比較ではない。100%ではない点も確認する。</a:t>
            </a:r>
          </a:p>
          <a:p/>
          <a:p>
            <a:r>
              <a:t>出典：実測：results/*/metrics.json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seq2seqの改善｜同じ問題に対する、実際の生成結果</a:t>
            </a:r>
          </a:p>
          <a:p/>
          <a:p>
            <a:r>
              <a:t>話すポイント：</a:t>
            </a:r>
          </a:p>
          <a:p>
            <a:r>
              <a:t>各モデルの学習終了後、同じ評価集合の最初の問題に対して再度generateを呼んだ結果。表示では右側の空白を除いた。正確な文字列と空白を含むデータはmetrics.jsonに保存している。</a:t>
            </a:r>
          </a:p>
          <a:p/>
          <a:p>
            <a:r>
              <a:t>出典：実測：results/*/metrics.json の samples</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seq2seqを用いるアプリケーション｜いろいろな課題を「系列の変換」として見る</a:t>
            </a:r>
          </a:p>
          <a:p/>
          <a:p>
            <a:r>
              <a:t>話すポイント：</a:t>
            </a:r>
          </a:p>
          <a:p>
            <a:r>
              <a:t>入力と出力の表現を変えると、同じEncoder–Decoderという考え方をさまざまな問題へ使える。ただし本章で実際に学習するのは加算課題であり、ここからの応用例を今回学習したと主張しているわけではない。</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seq2seqを用いるアプリケーション｜7.5.1 チャットボット</a:t>
            </a:r>
          </a:p>
          <a:p/>
          <a:p>
            <a:r>
              <a:t>話すポイント：</a:t>
            </a:r>
          </a:p>
          <a:p>
            <a:r>
              <a:t>発話と応答を対にした学習データを与える。Encoderが相手の発話を表現し、Decoderが返答を作る。翻訳と似た構造だが、正しい応答は1つとは限らない。加算と同じ完全一致率だけで品質を評価するのは難しい。</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seq2seqを用いるアプリケーション｜7.5.2 アルゴリズムの学習</a:t>
            </a:r>
          </a:p>
          <a:p/>
          <a:p>
            <a:r>
              <a:t>話すポイント：</a:t>
            </a:r>
          </a:p>
          <a:p>
            <a:r>
              <a:t>入出力の例を使って、計算や並べ替えの規則を学ぶ。今回の加算もこの一例。学習した長さや桁数を超えて同じ規則が使えるとは限らず、規則を完全に獲得したかは別途確認が必要。</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seq2seqを用いるアプリケーション｜7.5.3 イメージキャプション生成</a:t>
            </a:r>
          </a:p>
          <a:p/>
          <a:p>
            <a:r>
              <a:t>話すポイント：</a:t>
            </a:r>
          </a:p>
          <a:p>
            <a:r>
              <a:t>画像から説明文を作る。EncoderをLSTMからCNNへ置き換え、画像の特徴ベクトルをDecoderへ渡す。画像と説明文の対が学習データになる。Encoderの入力が文章に限られないことが大事。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seq2seqを用いるアプリケーション｜Encoderは、入力を表現する部品として考える</a:t>
            </a:r>
          </a:p>
          <a:p/>
          <a:p>
            <a:r>
              <a:t>話すポイント：</a:t>
            </a:r>
          </a:p>
          <a:p>
            <a:r>
              <a:t>同じDecoderでも、何を入力として受け取るかでEncoderを変える。文字列ならLSTM、画像ならCNNという使い分けができる。ただし表現次元の整合と、対応する訓練データの準備が必要。</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次章へのつながり｜固定長hの限界と、Attentionへの入口</a:t>
            </a:r>
          </a:p>
          <a:p/>
          <a:p>
            <a:r>
              <a:t>話すポイント：</a:t>
            </a:r>
          </a:p>
          <a:p>
            <a:r>
              <a:t>Encoderは入力の長さにかかわらず1つのhへまとめる。Peekyはそのhへアクセスしやすくするが、参照する内容自体は同じ固定ベクトル。次章のAttentionは入力の各時刻の表現を利用し、出力時刻ごとに重み付けして参照する。</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7.6 まとめ｜文章生成 → seq2seq → 改善</a:t>
            </a:r>
          </a:p>
          <a:p/>
          <a:p>
            <a:r>
              <a:t>話すポイント：</a:t>
            </a:r>
          </a:p>
          <a:p>
            <a:r>
              <a:t>LSTM言語モデルからサンプリングすることで文章を生成できる。seq2seqはEncoderが入力を表現し、Decoderが出力を生成する。学習時と推論時の入力条件の違いを押さえる。ReverseとPeekyでは情報の流れを変えるだけでも学習が大きく進むことを実験で確かめた。</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コードの実行結果｜今回、どこまで動作確認したか</a:t>
            </a:r>
          </a:p>
          <a:p/>
          <a:p>
            <a:r>
              <a:t>話すポイント：</a:t>
            </a:r>
          </a:p>
          <a:p>
            <a:r>
              <a:t>ファイルの役割ごとに実行の証拠を整理した。モデル定義だけのファイルは、単にimportできたという確認ではなく、順伝播・逆伝播・生成や状態復元を検証している。改善版の学習済み重みだけは未取得であり、文章生成が動いたとは扱わない。</a:t>
            </a:r>
          </a:p>
          <a:p/>
          <a:p>
            <a:r>
              <a:t>出典：results/ 各ログ・class_validation.json・入力コードのSHA256記録</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コードの再実行｜準備と実行を再現する</a:t>
            </a:r>
          </a:p>
          <a:p/>
          <a:p>
            <a:r>
              <a:t>話すポイント：</a:t>
            </a:r>
          </a:p>
          <a:p>
            <a:r>
              <a:t>コード一式はアップロードした7ファイルを変更せず、公式のcommon、dataset、ch06と組み合わせた。スライドと一緒に配布するZIPのルートでsetup.shを使う。クラウドでは既存の専用venvも利用できる。</a:t>
            </a:r>
          </a:p>
          <a:p/>
          <a:p>
            <a:r>
              <a:t>出典：同梱 README.md・setup.sh・run_experiment.py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実験結果の読み方｜実測値と、残る条件を分けて考える</a:t>
            </a:r>
          </a:p>
          <a:p/>
          <a:p>
            <a:r>
              <a:t>話すポイント：</a:t>
            </a:r>
          </a:p>
          <a:p>
            <a:r>
              <a:t>各25エポック、同一分割・同一評価集合の比較。単一seedなので分散は評価していない。評価集合を毎エポック参照しており、最終の独立したテスト結果とは区別する。通常版とReverseは同規模だが、Peekyはパラメータが増える。改善版の文章生成の未実行部分も明確に残す。</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参考資料｜本文・コード・書式の出典</a:t>
            </a:r>
          </a:p>
          <a:p/>
          <a:p>
            <a:r>
              <a:t>話すポイント：</a:t>
            </a:r>
          </a:p>
          <a:p>
            <a:r>
              <a:t>本文はユーザー提供の第7章スキャン資料と添付コードをもとに作成。公式サポートリポジトリを共通コードとデータの出典として使用。スライドのテーマとマスターを参照PPTXから継承し、説明用の図形を編集可能な形で作成した。</a:t>
            </a:r>
          </a:p>
          <a:p/>
          <a:p>
            <a:r>
              <a:t>出典：添付の第7章資料・添付コード</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補足① EncoderとDecoder｜hとcは、両方とも受け渡すのか</a:t>
            </a:r>
          </a:p>
          <a:p/>
          <a:p>
            <a:r>
              <a:t>話すポイント：</a:t>
            </a:r>
          </a:p>
          <a:p>
            <a:r>
              <a:t>LSTM自身はhとcの2つの状態を持つが、本章のEncoder.forwardの返り値は最後のhだけ。Decoder側はset_state(h)を呼び、cは指定しない。一般のseq2seqでは別の設計もあり得るが、添付実装の仕様を説明する。</a:t>
            </a:r>
          </a:p>
          <a:p/>
          <a:p>
            <a:r>
              <a:t>出典：添付 seq2seq.py・公式 common/time_layers.py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補足② 配列の形｜N=128の場合を具体的に追う</a:t>
            </a:r>
          </a:p>
          <a:p/>
          <a:p>
            <a:r>
              <a:t>話すポイント：</a:t>
            </a:r>
          </a:p>
          <a:p>
            <a:r>
              <a:t>Nはミニバッチ数。Encoderは入力長7、Decoderは開始記号を除く4文字を予測する。実際のパラメータはfloat32。通常版とPeekyでどこが異なるかを形で確認する。</a:t>
            </a:r>
          </a:p>
          <a:p/>
          <a:p>
            <a:r>
              <a:t>出典：添付 seq2seq.py・peeky_seq2seq.py・train_seq2seq.py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補足③ Peekyの勾配｜同じhを複数回使う → 勾配を足す</a:t>
            </a:r>
          </a:p>
          <a:p/>
          <a:p>
            <a:r>
              <a:t>話すポイント：</a:t>
            </a:r>
          </a:p>
          <a:p>
            <a:r>
              <a:t>分岐した計算グラフの逆伝播では、各経路から戻る勾配を加算する。hを全時刻へ複製しているため、各時刻からの寄与も合計する。小さいモデルで2か所の重みを数値微分し、添付実装の逆伝播と照合した。網羅的な数学的証明や全重みの検査ではない。</a:t>
            </a:r>
          </a:p>
          <a:p/>
          <a:p>
            <a:r>
              <a:t>出典：添付 peeky_seq2seq.py・実測 results/class_validation.json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補足④ 状態の保存・復元｜get_state / set_state を確かめる</a:t>
            </a:r>
          </a:p>
          <a:p/>
          <a:p>
            <a:r>
              <a:t>話すポイント：</a:t>
            </a:r>
          </a:p>
          <a:p>
            <a:r>
              <a:t>両方の言語モデルクラスについて小規模なランダム初期化モデルで構造を確認した。ある入力後の状態を保存し、次の入力に対する出力を記録してから状態を戻す。同じ入力で同じスコアになることを確認した。学習済みBetterRnnlmの文章品質の検証ではない。</a:t>
            </a:r>
          </a:p>
          <a:p/>
          <a:p>
            <a:r>
              <a:t>出典：添付 rnnlm_gen.py・実測 results/class_validation.json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補足⑤ 生成方法を比較｜サンプリングとargmaxを混同しない</a:t>
            </a:r>
          </a:p>
          <a:p/>
          <a:p>
            <a:r>
              <a:t>話すポイント：</a:t>
            </a:r>
          </a:p>
          <a:p>
            <a:r>
              <a:t>7.1は単語を確率的にサンプリングする。7.3以降の加算では正しい答えがほぼ一意なので、スコア最大の文字を選ぶ実装になっている。いずれも生成時には前に自分が出したトークンを使う。</a:t>
            </a:r>
          </a:p>
          <a:p/>
          <a:p>
            <a:r>
              <a:t>出典：添付 rnnlm_gen.py・seq2seq.py・peeky_seq2seq.py</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補足⑥ 結果の限界｜98.80%でも、加算規則の完全獲得ではない</a:t>
            </a:r>
          </a:p>
          <a:p/>
          <a:p>
            <a:r>
              <a:t>話すポイント：</a:t>
            </a:r>
          </a:p>
          <a:p>
            <a:r>
              <a:t>Peekyでも評価5,000問のうち60問は完全一致しなかった。学習分布の外の桁数、より長い式、別の算術演算への汎化は今回測定していない。本実験で示したのは、この固定長データセットと学習条件における改善である。</a:t>
            </a:r>
          </a:p>
          <a:p/>
          <a:p>
            <a:r>
              <a:t>出典：実測：results/peeky/metrics.json</a:t>
            </a:r>
          </a:p>
          <a:p>
            <a:r>
              <a:t>図は原典を参照し、PowerPoint図形で再構成。実験グラフは今回の実測値。書式参照：S小林261014.pptx／S瀬林261007.pptx。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F802FE-8CC3-A433-0203-45F83F5DB82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4DFDE46-8EA7-62F1-235D-70ED162C3C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599CE59-8AD6-7CFD-3B47-5357E48E8CDE}"/>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F229B88E-451E-E8F0-ED21-BEB1896431A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0B503D6-7F1C-18A5-CD2B-E3204C7CF21F}"/>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4127660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CAD4DF-5080-900A-1EA6-9BA673B292E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A471F03-0E43-F4D2-2CF5-CD7DADD0925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3114938-290B-1E50-C2F9-1C112EF9AAE3}"/>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CB271733-5DA9-A254-EC3E-451C7E2F8D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DC6C62-4456-EFF6-5E13-B389160A6152}"/>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250467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1ADCD6-A8C3-A718-58A9-39DC1D6D1A0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C7C5D45-79DD-3597-6912-E7EBBBF815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A0F0CF1-248D-9721-8C14-4D8F7DFBCEA7}"/>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3C6D8759-7605-9C6F-6BE7-CCE5BC141F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1A5EC12-3EE1-351A-E119-6206707B770B}"/>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1784641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5CF8D6-1E74-6EBB-1D89-806E786FAA7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CBC998-85BE-C9CD-2033-65988EE154E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42B0096-2937-B5E5-5B22-7EEC6E16F49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EAFB827-E9DE-9C1E-5D31-ADF3BFC9BA38}"/>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6" name="フッター プレースホルダー 5">
            <a:extLst>
              <a:ext uri="{FF2B5EF4-FFF2-40B4-BE49-F238E27FC236}">
                <a16:creationId xmlns:a16="http://schemas.microsoft.com/office/drawing/2014/main" id="{50B3AA0C-6CE4-F54C-AFD1-C3697F45D67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93D33DF-0A14-98D2-D37B-5BF761F6AB11}"/>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2952702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DF018-86E6-53F6-D14C-79A785FF8FC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369A4FC-E0C8-F3AB-9223-02AAD769C2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D46836B-124C-B3E3-6A74-E87F805430D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D652FC4-3E9C-4D90-3C8C-4CBB170521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70FFE8B-15BA-B5D9-3E5C-0CC4B8FEC06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CB49808-85D5-85FB-1974-C18D680187F0}"/>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8" name="フッター プレースホルダー 7">
            <a:extLst>
              <a:ext uri="{FF2B5EF4-FFF2-40B4-BE49-F238E27FC236}">
                <a16:creationId xmlns:a16="http://schemas.microsoft.com/office/drawing/2014/main" id="{8CC02887-4D26-CB00-09D4-710C11F16E0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6EC5300-C0CD-DC0F-7B6A-0E47B1D84F7B}"/>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1088973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D8C2AA-7489-333E-A44B-5D4FF489D7D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42B982C-7E8C-CC72-0111-EE92BC72BC86}"/>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4" name="フッター プレースホルダー 3">
            <a:extLst>
              <a:ext uri="{FF2B5EF4-FFF2-40B4-BE49-F238E27FC236}">
                <a16:creationId xmlns:a16="http://schemas.microsoft.com/office/drawing/2014/main" id="{33696B5B-41E2-7B8B-0A9C-3C48669397D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7E80927-CBB6-DE06-FBF3-845DB84153DC}"/>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2332614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07AB736-EC04-9082-10D0-C98BD9A9A008}"/>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3" name="フッター プレースホルダー 2">
            <a:extLst>
              <a:ext uri="{FF2B5EF4-FFF2-40B4-BE49-F238E27FC236}">
                <a16:creationId xmlns:a16="http://schemas.microsoft.com/office/drawing/2014/main" id="{3CB9D34F-FF2C-B0C5-7954-F4678B46784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A212C62-BB11-1204-9E44-519EF9B58B18}"/>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1422205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4DF801-64EF-A606-E7D7-07B9F36632E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261AD3-C66D-14E6-BE7E-051903CE41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8557DCE-4A73-C6CA-67ED-C366C5B456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6E2B489-8A95-0303-EB03-1CCC4A49C2AD}"/>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6" name="フッター プレースホルダー 5">
            <a:extLst>
              <a:ext uri="{FF2B5EF4-FFF2-40B4-BE49-F238E27FC236}">
                <a16:creationId xmlns:a16="http://schemas.microsoft.com/office/drawing/2014/main" id="{EEB68833-2A04-02AB-F102-0A9F051F86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5FEB380-D66B-F700-727C-27AD0B870DF9}"/>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2956310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40ECEB-67E8-D6DB-E7BC-341A76D60B6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E512265-1CA3-D0FE-2637-C7518D9DD9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AD490C1-36FC-76CE-5B59-D10A12791C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B4902CB-95B2-C529-46F7-A7DDB98104FB}"/>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6" name="フッター プレースホルダー 5">
            <a:extLst>
              <a:ext uri="{FF2B5EF4-FFF2-40B4-BE49-F238E27FC236}">
                <a16:creationId xmlns:a16="http://schemas.microsoft.com/office/drawing/2014/main" id="{35A7FCFA-B7D4-69EE-D956-08D4B81A0EC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F19A47C-3D9C-FDA6-FAA1-1596B849FEC1}"/>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3572009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E2116D-D00F-32D1-E364-B3390B63EFB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FBF682C-46BA-D189-A9D6-D75D021227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C1FAA6-C16A-063E-3373-C370E50826F1}"/>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38E20266-CDAC-2B8F-7CCC-FE47C455744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0747D53-42A4-ECE1-3896-C94A1E42A74F}"/>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127615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85EE515-ABD9-24B8-C94F-C5C64DED1FD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E4BCD82-65FC-2108-2909-888877C3B90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4896161-9C03-E892-A2BD-25368FC5E3F3}"/>
              </a:ext>
            </a:extLst>
          </p:cNvPr>
          <p:cNvSpPr>
            <a:spLocks noGrp="1"/>
          </p:cNvSpPr>
          <p:nvPr>
            <p:ph type="dt" sz="half" idx="10"/>
          </p:nvPr>
        </p:nvSpPr>
        <p:spPr/>
        <p:txBody>
          <a:bodyPr/>
          <a:lstStyle/>
          <a:p>
            <a:fld id="{A5417D00-1B28-4D29-AA81-767BB4CE3AC2}"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431A03A3-1C58-F8FD-8532-E4A88EAB7F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2712E32-B4ED-9D12-2E0A-3FA5C056AA0C}"/>
              </a:ext>
            </a:extLst>
          </p:cNvPr>
          <p:cNvSpPr>
            <a:spLocks noGrp="1"/>
          </p:cNvSpPr>
          <p:nvPr>
            <p:ph type="sldNum" sz="quarter" idx="12"/>
          </p:nvPr>
        </p:nvSpPr>
        <p:spPr/>
        <p:txBody>
          <a:body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29880412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9EA6844-8882-6D88-733B-E4F1C2ADEC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C339264-318E-BB97-21CC-4DF588CA77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E5C865-BBEA-8BE5-2023-6939021D9D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417D00-1B28-4D29-AA81-767BB4CE3AC2}"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DBE7763D-6BE4-A717-1AD7-FA228550F3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71404E6-E3FA-CFE5-AD45-D6D69D6351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1DD124-2DF2-4F11-98EA-DA5F6DCD9587}" type="slidenum">
              <a:rPr kumimoji="1" lang="ja-JP" altLang="en-US" smtClean="0"/>
              <a:t>‹#›</a:t>
            </a:fld>
            <a:endParaRPr kumimoji="1" lang="ja-JP" altLang="en-US"/>
          </a:p>
        </p:txBody>
      </p:sp>
    </p:spTree>
    <p:extLst>
      <p:ext uri="{BB962C8B-B14F-4D97-AF65-F5344CB8AC3E}">
        <p14:creationId xmlns:p14="http://schemas.microsoft.com/office/powerpoint/2010/main" val="1726769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24304" y="1121968"/>
            <a:ext cx="9144000" cy="2387498"/>
          </a:xfrm>
          <a:prstGeom prst="rect">
            <a:avLst/>
          </a:prstGeom>
          <a:noFill/>
        </p:spPr>
        <p:txBody>
          <a:bodyPr wrap="square" lIns="54864" rIns="54864" tIns="54864" bIns="54864">
            <a:spAutoFit/>
          </a:bodyPr>
          <a:lstStyle/>
          <a:p>
            <a:pPr algn="ctr">
              <a:lnSpc>
                <a:spcPct val="108000"/>
              </a:lnSpc>
              <a:spcBef>
                <a:spcPts val="0"/>
              </a:spcBef>
              <a:spcAft>
                <a:spcPts val="400"/>
              </a:spcAft>
            </a:pPr>
            <a:r>
              <a:rPr sz="5400" b="0" lang="ja-JP" altLang="en-US">
                <a:solidFill>
                  <a:srgbClr val="111111"/>
                </a:solidFill>
                <a:latin typeface="游ゴシック"/>
                <a:ea typeface="游ゴシック"/>
              </a:rPr>
              <a:t>ゼロから作るDeep Learning2</a:t>
            </a:r>
          </a:p>
        </p:txBody>
      </p:sp>
      <p:sp>
        <p:nvSpPr>
          <p:cNvPr id="3" name="TextBox 2"/>
          <p:cNvSpPr txBox="1"/>
          <p:nvPr/>
        </p:nvSpPr>
        <p:spPr>
          <a:xfrm>
            <a:off x="1524304" y="4080052"/>
            <a:ext cx="9144000" cy="594360"/>
          </a:xfrm>
          <a:prstGeom prst="rect">
            <a:avLst/>
          </a:prstGeom>
          <a:noFill/>
        </p:spPr>
        <p:txBody>
          <a:bodyPr wrap="square" lIns="54864" rIns="54864" tIns="54864" bIns="54864">
            <a:spAutoFit/>
          </a:bodyPr>
          <a:lstStyle/>
          <a:p>
            <a:pPr algn="ctr">
              <a:lnSpc>
                <a:spcPct val="108000"/>
              </a:lnSpc>
              <a:spcBef>
                <a:spcPts val="0"/>
              </a:spcBef>
              <a:spcAft>
                <a:spcPts val="400"/>
              </a:spcAft>
            </a:pPr>
            <a:r>
              <a:rPr sz="3000" b="0" lang="ja-JP" altLang="en-US">
                <a:solidFill>
                  <a:srgbClr val="111111"/>
                </a:solidFill>
                <a:latin typeface="游ゴシック"/>
                <a:ea typeface="游ゴシック"/>
              </a:rPr>
              <a:t>第7章 RNNによる文章生成</a:t>
            </a:r>
          </a:p>
        </p:txBody>
      </p:sp>
      <p:sp>
        <p:nvSpPr>
          <p:cNvPr id="4" name="TextBox 3"/>
          <p:cNvSpPr txBox="1"/>
          <p:nvPr/>
        </p:nvSpPr>
        <p:spPr>
          <a:xfrm>
            <a:off x="2834640" y="5120640"/>
            <a:ext cx="6492240" cy="502920"/>
          </a:xfrm>
          <a:prstGeom prst="rect">
            <a:avLst/>
          </a:prstGeom>
          <a:noFill/>
        </p:spPr>
        <p:txBody>
          <a:bodyPr wrap="square" lIns="54864" rIns="54864" tIns="54864" bIns="54864">
            <a:spAutoFit/>
          </a:bodyPr>
          <a:lstStyle/>
          <a:p>
            <a:pPr algn="ctr">
              <a:lnSpc>
                <a:spcPct val="108000"/>
              </a:lnSpc>
              <a:spcBef>
                <a:spcPts val="0"/>
              </a:spcBef>
              <a:spcAft>
                <a:spcPts val="400"/>
              </a:spcAft>
            </a:pPr>
            <a:r>
              <a:rPr sz="2000" b="0" lang="ja-JP" altLang="en-US">
                <a:solidFill>
                  <a:srgbClr val="111111"/>
                </a:solidFill>
                <a:latin typeface="游ゴシック"/>
                <a:ea typeface="游ゴシック"/>
              </a:rPr>
              <a:t>7.1 文章生成 ～ 7.6 まとめ</a:t>
            </a:r>
          </a:p>
        </p:txBody>
      </p:sp>
      <p:sp>
        <p:nvSpPr>
          <p:cNvPr id="5" name="TextBox 4"/>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第7章 RNNによる文章生成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この章で扱うこと</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a:t>
            </a:r>
          </a:p>
        </p:txBody>
      </p:sp>
      <p:graphicFrame>
        <p:nvGraphicFramePr>
          <p:cNvPr id="5" name="Table 4"/>
          <p:cNvGraphicFramePr>
            <a:graphicFrameLocks noGrp="1"/>
          </p:cNvGraphicFramePr>
          <p:nvPr/>
        </p:nvGraphicFramePr>
        <p:xfrm>
          <a:off x="868680" y="2103120"/>
          <a:ext cx="10469879" cy="3977639"/>
        </p:xfrm>
        <a:graphic>
          <a:graphicData uri="http://schemas.openxmlformats.org/drawingml/2006/table">
            <a:tbl>
              <a:tblPr firstRow="1" bandRow="1">
                <a:tableStyleId>{5C22544A-7EE6-4342-B048-85BDC9FD1C3A}</a:tableStyleId>
              </a:tblPr>
              <a:tblGrid>
                <a:gridCol w="1188720"/>
                <a:gridCol w="3749039"/>
                <a:gridCol w="5532120"/>
              </a:tblGrid>
              <a:tr h="662939">
                <a:tc>
                  <a:txBody>
                    <a:bodyPr/>
                    <a:lstStyle/>
                    <a:p>
                      <a:pPr>
                        <a:lnSpc>
                          <a:spcPct val="108000"/>
                        </a:lnSpc>
                        <a:spcAft>
                          <a:spcPts val="0"/>
                        </a:spcAft>
                      </a:pPr>
                      <a:r>
                        <a:rPr sz="2100" b="1" lang="ja-JP" altLang="en-US">
                          <a:solidFill>
                            <a:srgbClr val="111111"/>
                          </a:solidFill>
                          <a:latin typeface="游ゴシック"/>
                          <a:ea typeface="游ゴシック"/>
                        </a:rPr>
                        <a:t>節</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テーマ</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到達点</a:t>
                      </a:r>
                    </a:p>
                  </a:txBody>
                  <a:tcPr marL="91440" marR="91440" anchor="ctr">
                    <a:solidFill>
                      <a:srgbClr val="EAF2F6"/>
                    </a:solidFill>
                  </a:tcPr>
                </a:tc>
              </a:tr>
              <a:tr h="662939">
                <a:tc>
                  <a:txBody>
                    <a:bodyPr/>
                    <a:lstStyle/>
                    <a:p>
                      <a:pPr>
                        <a:lnSpc>
                          <a:spcPct val="108000"/>
                        </a:lnSpc>
                        <a:spcAft>
                          <a:spcPts val="0"/>
                        </a:spcAft>
                      </a:pPr>
                      <a:r>
                        <a:rPr sz="2100" b="0" lang="ja-JP" altLang="en-US">
                          <a:solidFill>
                            <a:srgbClr val="111111"/>
                          </a:solidFill>
                          <a:latin typeface="游ゴシック"/>
                          <a:ea typeface="游ゴシック"/>
                        </a:rPr>
                        <a:t>7.1</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言語モデルによる文章生成</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次の単語をサンプリングする</a:t>
                      </a:r>
                    </a:p>
                  </a:txBody>
                  <a:tcPr marL="91440" marR="91440" anchor="ctr">
                    <a:solidFill>
                      <a:srgbClr val="FFFFFF"/>
                    </a:solidFill>
                  </a:tcPr>
                </a:tc>
              </a:tr>
              <a:tr h="662939">
                <a:tc>
                  <a:txBody>
                    <a:bodyPr/>
                    <a:lstStyle/>
                    <a:p>
                      <a:pPr>
                        <a:lnSpc>
                          <a:spcPct val="108000"/>
                        </a:lnSpc>
                        <a:spcAft>
                          <a:spcPts val="0"/>
                        </a:spcAft>
                      </a:pPr>
                      <a:r>
                        <a:rPr sz="2100" b="0" lang="ja-JP" altLang="en-US">
                          <a:solidFill>
                            <a:srgbClr val="111111"/>
                          </a:solidFill>
                          <a:latin typeface="游ゴシック"/>
                          <a:ea typeface="游ゴシック"/>
                        </a:rPr>
                        <a:t>7.2</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seq2seqの原理</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EncoderとDecoderを理解する</a:t>
                      </a:r>
                    </a:p>
                  </a:txBody>
                  <a:tcPr marL="91440" marR="91440" anchor="ctr">
                    <a:solidFill>
                      <a:srgbClr val="FFFFFF"/>
                    </a:solidFill>
                  </a:tcPr>
                </a:tc>
              </a:tr>
              <a:tr h="662939">
                <a:tc>
                  <a:txBody>
                    <a:bodyPr/>
                    <a:lstStyle/>
                    <a:p>
                      <a:pPr>
                        <a:lnSpc>
                          <a:spcPct val="108000"/>
                        </a:lnSpc>
                        <a:spcAft>
                          <a:spcPts val="0"/>
                        </a:spcAft>
                      </a:pPr>
                      <a:r>
                        <a:rPr sz="2100" b="0" lang="ja-JP" altLang="en-US">
                          <a:solidFill>
                            <a:srgbClr val="111111"/>
                          </a:solidFill>
                          <a:latin typeface="游ゴシック"/>
                          <a:ea typeface="游ゴシック"/>
                        </a:rPr>
                        <a:t>7.3</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seq2seqの実装</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文字列の加算を学習する</a:t>
                      </a:r>
                    </a:p>
                  </a:txBody>
                  <a:tcPr marL="91440" marR="91440" anchor="ctr">
                    <a:solidFill>
                      <a:srgbClr val="FFFFFF"/>
                    </a:solidFill>
                  </a:tcPr>
                </a:tc>
              </a:tr>
              <a:tr h="662939">
                <a:tc>
                  <a:txBody>
                    <a:bodyPr/>
                    <a:lstStyle/>
                    <a:p>
                      <a:pPr>
                        <a:lnSpc>
                          <a:spcPct val="108000"/>
                        </a:lnSpc>
                        <a:spcAft>
                          <a:spcPts val="0"/>
                        </a:spcAft>
                      </a:pPr>
                      <a:r>
                        <a:rPr sz="2100" b="0" lang="ja-JP" altLang="en-US">
                          <a:solidFill>
                            <a:srgbClr val="111111"/>
                          </a:solidFill>
                          <a:latin typeface="游ゴシック"/>
                          <a:ea typeface="游ゴシック"/>
                        </a:rPr>
                        <a:t>7.4</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Reverse・Peeky</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学習の進み方を改善する</a:t>
                      </a:r>
                    </a:p>
                  </a:txBody>
                  <a:tcPr marL="91440" marR="91440" anchor="ctr">
                    <a:solidFill>
                      <a:srgbClr val="FFFFFF"/>
                    </a:solidFill>
                  </a:tcPr>
                </a:tc>
              </a:tr>
              <a:tr h="662944">
                <a:tc>
                  <a:txBody>
                    <a:bodyPr/>
                    <a:lstStyle/>
                    <a:p>
                      <a:pPr>
                        <a:lnSpc>
                          <a:spcPct val="108000"/>
                        </a:lnSpc>
                        <a:spcAft>
                          <a:spcPts val="0"/>
                        </a:spcAft>
                      </a:pPr>
                      <a:r>
                        <a:rPr sz="2100" b="0" lang="ja-JP" altLang="en-US">
                          <a:solidFill>
                            <a:srgbClr val="111111"/>
                          </a:solidFill>
                          <a:latin typeface="游ゴシック"/>
                          <a:ea typeface="游ゴシック"/>
                        </a:rPr>
                        <a:t>7.5・7.6</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応用・まとめ</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系列変換として捉え直す</a:t>
                      </a:r>
                    </a:p>
                  </a:txBody>
                  <a:tcPr marL="91440" marR="91440"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第6章からのつながり</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LSTM言語モデルの復習</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a:t>
            </a:r>
          </a:p>
        </p:txBody>
      </p:sp>
      <p:sp>
        <p:nvSpPr>
          <p:cNvPr id="5" name="Rectangle 4"/>
          <p:cNvSpPr/>
          <p:nvPr/>
        </p:nvSpPr>
        <p:spPr>
          <a:xfrm>
            <a:off x="868680"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単語ID</a:t>
            </a:r>
          </a:p>
        </p:txBody>
      </p:sp>
      <p:cxnSp>
        <p:nvCxnSpPr>
          <p:cNvPr id="6" name="Connector 5"/>
          <p:cNvCxnSpPr/>
          <p:nvPr/>
        </p:nvCxnSpPr>
        <p:spPr>
          <a:xfrm>
            <a:off x="2587752"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Embedding</a:t>
            </a:r>
          </a:p>
        </p:txBody>
      </p:sp>
      <p:cxnSp>
        <p:nvCxnSpPr>
          <p:cNvPr id="8" name="Connector 7"/>
          <p:cNvCxnSpPr/>
          <p:nvPr/>
        </p:nvCxnSpPr>
        <p:spPr>
          <a:xfrm>
            <a:off x="4764024"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LSTM</a:t>
            </a:r>
          </a:p>
        </p:txBody>
      </p:sp>
      <p:cxnSp>
        <p:nvCxnSpPr>
          <p:cNvPr id="10" name="Connector 9"/>
          <p:cNvCxnSpPr/>
          <p:nvPr/>
        </p:nvCxnSpPr>
        <p:spPr>
          <a:xfrm>
            <a:off x="6940296"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Affine</a:t>
            </a:r>
          </a:p>
        </p:txBody>
      </p:sp>
      <p:cxnSp>
        <p:nvCxnSpPr>
          <p:cNvPr id="12" name="Connector 11"/>
          <p:cNvCxnSpPr/>
          <p:nvPr/>
        </p:nvCxnSpPr>
        <p:spPr>
          <a:xfrm>
            <a:off x="9116568"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Softmax</a:t>
            </a:r>
          </a:p>
        </p:txBody>
      </p:sp>
      <p:sp>
        <p:nvSpPr>
          <p:cNvPr id="14" name="TextBox 13"/>
          <p:cNvSpPr txBox="1"/>
          <p:nvPr/>
        </p:nvSpPr>
        <p:spPr>
          <a:xfrm>
            <a:off x="3337560" y="3950208"/>
            <a:ext cx="557784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56082"/>
                </a:solidFill>
                <a:latin typeface="游ゴシック"/>
                <a:ea typeface="游ゴシック"/>
              </a:rPr>
              <a:t>過去の情報を h・c に保持</a:t>
            </a:r>
          </a:p>
        </p:txBody>
      </p:sp>
      <p:sp>
        <p:nvSpPr>
          <p:cNvPr id="15" name="TextBox 14"/>
          <p:cNvSpPr txBox="1"/>
          <p:nvPr/>
        </p:nvSpPr>
        <p:spPr>
          <a:xfrm>
            <a:off x="914400" y="5166360"/>
            <a:ext cx="1042416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600" b="0" lang="ja-JP" altLang="en-US">
                <a:solidFill>
                  <a:srgbClr val="111111"/>
                </a:solidFill>
                <a:latin typeface="游ゴシック"/>
                <a:ea typeface="游ゴシック"/>
              </a:rPr>
              <a:t>次の単語ごとの確率 →「どの単語を出すか」を選べる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第7章の全体像</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「次を予測する」から「系列を作る」へ</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a:t>
            </a:r>
          </a:p>
        </p:txBody>
      </p:sp>
      <p:graphicFrame>
        <p:nvGraphicFramePr>
          <p:cNvPr id="5" name="Table 4"/>
          <p:cNvGraphicFramePr>
            <a:graphicFrameLocks noGrp="1"/>
          </p:cNvGraphicFramePr>
          <p:nvPr/>
        </p:nvGraphicFramePr>
        <p:xfrm>
          <a:off x="868680" y="2103120"/>
          <a:ext cx="10469880" cy="3291840"/>
        </p:xfrm>
        <a:graphic>
          <a:graphicData uri="http://schemas.openxmlformats.org/drawingml/2006/table">
            <a:tbl>
              <a:tblPr firstRow="1" bandRow="1">
                <a:tableStyleId>{5C22544A-7EE6-4342-B048-85BDC9FD1C3A}</a:tableStyleId>
              </a:tblPr>
              <a:tblGrid>
                <a:gridCol w="1508760"/>
                <a:gridCol w="4480560"/>
                <a:gridCol w="4480560"/>
              </a:tblGrid>
              <a:tr h="658368">
                <a:tc>
                  <a:txBody>
                    <a:bodyPr/>
                    <a:lstStyle/>
                    <a:p>
                      <a:pPr>
                        <a:lnSpc>
                          <a:spcPct val="108000"/>
                        </a:lnSpc>
                        <a:spcAft>
                          <a:spcPts val="0"/>
                        </a:spcAft>
                      </a:pP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言語モデル</a:t>
                      </a: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seq2seq</a:t>
                      </a:r>
                    </a:p>
                  </a:txBody>
                  <a:tcPr marL="91440" marR="91440" anchor="ctr">
                    <a:solidFill>
                      <a:srgbClr val="EAF2F6"/>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入力</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開始単語・それまでの文脈</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変換元の系列</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出力</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続きの文章</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変換後の系列</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例</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you → were → …</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71+118 → 189</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本章の生成方法</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確率的サンプリング</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最大スコアを選ぶ</a:t>
                      </a:r>
                    </a:p>
                  </a:txBody>
                  <a:tcPr marL="91440" marR="91440" anchor="ctr">
                    <a:solidFill>
                      <a:srgbClr val="FFFFFF"/>
                    </a:solidFill>
                  </a:tcPr>
                </a:tc>
              </a:tr>
            </a:tbl>
          </a:graphicData>
        </a:graphic>
      </p:graphicFrame>
      <p:sp>
        <p:nvSpPr>
          <p:cNvPr id="6" name="TextBox 5"/>
          <p:cNvSpPr txBox="1"/>
          <p:nvPr/>
        </p:nvSpPr>
        <p:spPr>
          <a:xfrm>
            <a:off x="914400" y="5715000"/>
            <a:ext cx="1051560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200" b="0" lang="ja-JP" altLang="en-US">
                <a:solidFill>
                  <a:srgbClr val="111111"/>
                </a:solidFill>
                <a:latin typeface="游ゴシック"/>
                <a:ea typeface="游ゴシック"/>
              </a:rPr>
              <a:t>同じLSTMを、「文章の続きを作る」「入力を別の系列に変える」に使う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言語モデルを使った文章生成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7.1.1 次の単語の確率から文章を作る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a:t>
            </a:r>
          </a:p>
        </p:txBody>
      </p:sp>
      <p:sp>
        <p:nvSpPr>
          <p:cNvPr id="5" name="TextBox 4"/>
          <p:cNvSpPr txBox="1"/>
          <p:nvPr/>
        </p:nvSpPr>
        <p:spPr>
          <a:xfrm>
            <a:off x="1005840" y="2377440"/>
            <a:ext cx="10241280" cy="731520"/>
          </a:xfrm>
          <a:prstGeom prst="rect">
            <a:avLst/>
          </a:prstGeom>
          <a:noFill/>
        </p:spPr>
        <p:txBody>
          <a:bodyPr wrap="square" lIns="54864" rIns="54864" tIns="54864" bIns="54864">
            <a:spAutoFit/>
          </a:bodyPr>
          <a:lstStyle/>
          <a:p>
            <a:pPr algn="ctr">
              <a:lnSpc>
                <a:spcPct val="108000"/>
              </a:lnSpc>
              <a:spcBef>
                <a:spcPts val="0"/>
              </a:spcBef>
              <a:spcAft>
                <a:spcPts val="400"/>
              </a:spcAft>
            </a:pPr>
            <a:r>
              <a:rPr sz="3200" b="0" lang="ja-JP" altLang="en-US">
                <a:solidFill>
                  <a:srgbClr val="111111"/>
                </a:solidFill>
                <a:latin typeface="游ゴシック"/>
                <a:ea typeface="游ゴシック"/>
              </a:rPr>
              <a:t>P(w₁, …, wₜ) = ∏ P(wᵢ | w₁, …, wᵢ₋₁)</a:t>
            </a:r>
          </a:p>
        </p:txBody>
      </p:sp>
      <p:sp>
        <p:nvSpPr>
          <p:cNvPr id="6" name="TextBox 5"/>
          <p:cNvSpPr txBox="1"/>
          <p:nvPr/>
        </p:nvSpPr>
        <p:spPr>
          <a:xfrm>
            <a:off x="868680" y="3520440"/>
            <a:ext cx="1042416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① 言語モデルが、次の単語の確率分布を出す</a:t>
            </a:r>
          </a:p>
        </p:txBody>
      </p:sp>
      <p:sp>
        <p:nvSpPr>
          <p:cNvPr id="7" name="TextBox 6"/>
          <p:cNvSpPr txBox="1"/>
          <p:nvPr/>
        </p:nvSpPr>
        <p:spPr>
          <a:xfrm>
            <a:off x="868680" y="4361688"/>
            <a:ext cx="1042416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② その確率に従って単語を1つ選ぶ</a:t>
            </a:r>
          </a:p>
        </p:txBody>
      </p:sp>
      <p:sp>
        <p:nvSpPr>
          <p:cNvPr id="8" name="TextBox 7"/>
          <p:cNvSpPr txBox="1"/>
          <p:nvPr/>
        </p:nvSpPr>
        <p:spPr>
          <a:xfrm>
            <a:off x="868680" y="5202936"/>
            <a:ext cx="1042416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③ 選んだ単語を次の入力にして繰り返す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言語モデルを使った文章生成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確率的に選ぶことと、最大値を選ぶこと</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a:t>
            </a:r>
          </a:p>
        </p:txBody>
      </p:sp>
      <p:graphicFrame>
        <p:nvGraphicFramePr>
          <p:cNvPr id="5" name="Table 4"/>
          <p:cNvGraphicFramePr>
            <a:graphicFrameLocks noGrp="1"/>
          </p:cNvGraphicFramePr>
          <p:nvPr/>
        </p:nvGraphicFramePr>
        <p:xfrm>
          <a:off x="1005840" y="2331720"/>
          <a:ext cx="5303520" cy="2331720"/>
        </p:xfrm>
        <a:graphic>
          <a:graphicData uri="http://schemas.openxmlformats.org/drawingml/2006/table">
            <a:tbl>
              <a:tblPr firstRow="1" bandRow="1">
                <a:tableStyleId>{5C22544A-7EE6-4342-B048-85BDC9FD1C3A}</a:tableStyleId>
              </a:tblPr>
              <a:tblGrid>
                <a:gridCol w="3291840"/>
                <a:gridCol w="2011680"/>
              </a:tblGrid>
              <a:tr h="582930">
                <a:tc>
                  <a:txBody>
                    <a:bodyPr/>
                    <a:lstStyle/>
                    <a:p>
                      <a:pPr>
                        <a:lnSpc>
                          <a:spcPct val="108000"/>
                        </a:lnSpc>
                        <a:spcAft>
                          <a:spcPts val="0"/>
                        </a:spcAft>
                      </a:pPr>
                      <a:r>
                        <a:rPr sz="2500" b="1" lang="ja-JP" altLang="en-US">
                          <a:solidFill>
                            <a:srgbClr val="111111"/>
                          </a:solidFill>
                          <a:latin typeface="游ゴシック"/>
                          <a:ea typeface="游ゴシック"/>
                        </a:rPr>
                        <a:t>候補の例</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確率</a:t>
                      </a:r>
                    </a:p>
                  </a:txBody>
                  <a:tcPr marL="91440" marR="91440" anchor="ctr">
                    <a:solidFill>
                      <a:srgbClr val="EAF2F6"/>
                    </a:solidFill>
                  </a:tcPr>
                </a:tc>
              </a:tr>
              <a:tr h="582930">
                <a:tc>
                  <a:txBody>
                    <a:bodyPr/>
                    <a:lstStyle/>
                    <a:p>
                      <a:pPr>
                        <a:lnSpc>
                          <a:spcPct val="108000"/>
                        </a:lnSpc>
                        <a:spcAft>
                          <a:spcPts val="0"/>
                        </a:spcAft>
                      </a:pPr>
                      <a:r>
                        <a:rPr sz="2500" b="0" lang="ja-JP" altLang="en-US">
                          <a:solidFill>
                            <a:srgbClr val="111111"/>
                          </a:solidFill>
                          <a:latin typeface="游ゴシック"/>
                          <a:ea typeface="游ゴシック"/>
                        </a:rPr>
                        <a:t>say</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0.60</a:t>
                      </a:r>
                    </a:p>
                  </a:txBody>
                  <a:tcPr marL="91440" marR="91440" anchor="ctr">
                    <a:solidFill>
                      <a:srgbClr val="FFFFFF"/>
                    </a:solidFill>
                  </a:tcPr>
                </a:tc>
              </a:tr>
              <a:tr h="582930">
                <a:tc>
                  <a:txBody>
                    <a:bodyPr/>
                    <a:lstStyle/>
                    <a:p>
                      <a:pPr>
                        <a:lnSpc>
                          <a:spcPct val="108000"/>
                        </a:lnSpc>
                        <a:spcAft>
                          <a:spcPts val="0"/>
                        </a:spcAft>
                      </a:pPr>
                      <a:r>
                        <a:rPr sz="2500" b="0" lang="ja-JP" altLang="en-US">
                          <a:solidFill>
                            <a:srgbClr val="111111"/>
                          </a:solidFill>
                          <a:latin typeface="游ゴシック"/>
                          <a:ea typeface="游ゴシック"/>
                        </a:rPr>
                        <a:t>are</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0.30</a:t>
                      </a:r>
                    </a:p>
                  </a:txBody>
                  <a:tcPr marL="91440" marR="91440" anchor="ctr">
                    <a:solidFill>
                      <a:srgbClr val="FFFFFF"/>
                    </a:solidFill>
                  </a:tcPr>
                </a:tc>
              </a:tr>
              <a:tr h="582930">
                <a:tc>
                  <a:txBody>
                    <a:bodyPr/>
                    <a:lstStyle/>
                    <a:p>
                      <a:pPr>
                        <a:lnSpc>
                          <a:spcPct val="108000"/>
                        </a:lnSpc>
                        <a:spcAft>
                          <a:spcPts val="0"/>
                        </a:spcAft>
                      </a:pPr>
                      <a:r>
                        <a:rPr sz="2500" b="0" lang="ja-JP" altLang="en-US">
                          <a:solidFill>
                            <a:srgbClr val="111111"/>
                          </a:solidFill>
                          <a:latin typeface="游ゴシック"/>
                          <a:ea typeface="游ゴシック"/>
                        </a:rPr>
                        <a:t>look</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0.10</a:t>
                      </a:r>
                    </a:p>
                  </a:txBody>
                  <a:tcPr marL="91440" marR="91440" anchor="ctr">
                    <a:solidFill>
                      <a:srgbClr val="FFFFFF"/>
                    </a:solidFill>
                  </a:tcPr>
                </a:tc>
              </a:tr>
            </a:tbl>
          </a:graphicData>
        </a:graphic>
      </p:graphicFrame>
      <p:sp>
        <p:nvSpPr>
          <p:cNvPr id="6" name="Rounded Rectangle 5"/>
          <p:cNvSpPr/>
          <p:nvPr/>
        </p:nvSpPr>
        <p:spPr>
          <a:xfrm>
            <a:off x="6858000" y="2331720"/>
            <a:ext cx="4251960" cy="12801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2386584"/>
            <a:ext cx="40690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argmax</a:t>
            </a:r>
          </a:p>
        </p:txBody>
      </p:sp>
      <p:sp>
        <p:nvSpPr>
          <p:cNvPr id="8" name="TextBox 7"/>
          <p:cNvSpPr txBox="1"/>
          <p:nvPr/>
        </p:nvSpPr>
        <p:spPr>
          <a:xfrm>
            <a:off x="6949440" y="2752344"/>
            <a:ext cx="4069080" cy="841247"/>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この例では常に say を選ぶ。</a:t>
            </a:r>
          </a:p>
        </p:txBody>
      </p:sp>
      <p:sp>
        <p:nvSpPr>
          <p:cNvPr id="9" name="Rounded Rectangle 8"/>
          <p:cNvSpPr/>
          <p:nvPr/>
        </p:nvSpPr>
        <p:spPr>
          <a:xfrm>
            <a:off x="6858000" y="3886200"/>
            <a:ext cx="4251960" cy="14630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3941063"/>
            <a:ext cx="40690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サンプリング</a:t>
            </a:r>
          </a:p>
        </p:txBody>
      </p:sp>
      <p:sp>
        <p:nvSpPr>
          <p:cNvPr id="11" name="TextBox 10"/>
          <p:cNvSpPr txBox="1"/>
          <p:nvPr/>
        </p:nvSpPr>
        <p:spPr>
          <a:xfrm>
            <a:off x="6949440" y="4306824"/>
            <a:ext cx="4069080" cy="10241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say が多いが、are や look も選ばれる。</a:t>
            </a:r>
          </a:p>
        </p:txBody>
      </p:sp>
      <p:sp>
        <p:nvSpPr>
          <p:cNvPr id="12" name="TextBox 11"/>
          <p:cNvSpPr txBox="1"/>
          <p:nvPr/>
        </p:nvSpPr>
        <p:spPr>
          <a:xfrm>
            <a:off x="1005840" y="5806440"/>
            <a:ext cx="1014984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900" b="0" lang="ja-JP" altLang="en-US">
                <a:solidFill>
                  <a:srgbClr val="111111"/>
                </a:solidFill>
                <a:latin typeface="游ゴシック"/>
                <a:ea typeface="游ゴシック"/>
              </a:rPr>
              <a:t>※ 数値は説明用の例。多様性と文章の自然さは同じではない。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言語モデルを使った文章生成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生成した単語を、次の入力へ戻す</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7</a:t>
            </a:r>
          </a:p>
        </p:txBody>
      </p:sp>
      <p:sp>
        <p:nvSpPr>
          <p:cNvPr id="5" name="Rectangle 4"/>
          <p:cNvSpPr/>
          <p:nvPr/>
        </p:nvSpPr>
        <p:spPr>
          <a:xfrm>
            <a:off x="1143000" y="502920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you</a:t>
            </a:r>
          </a:p>
        </p:txBody>
      </p:sp>
      <p:sp>
        <p:nvSpPr>
          <p:cNvPr id="6" name="Rectangle 5"/>
          <p:cNvSpPr/>
          <p:nvPr/>
        </p:nvSpPr>
        <p:spPr>
          <a:xfrm>
            <a:off x="1143000" y="3858768"/>
            <a:ext cx="150876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LSTM</a:t>
            </a:r>
          </a:p>
        </p:txBody>
      </p:sp>
      <p:sp>
        <p:nvSpPr>
          <p:cNvPr id="7" name="Rectangle 6"/>
          <p:cNvSpPr/>
          <p:nvPr/>
        </p:nvSpPr>
        <p:spPr>
          <a:xfrm>
            <a:off x="1143000" y="278892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確率分布</a:t>
            </a:r>
          </a:p>
        </p:txBody>
      </p:sp>
      <p:sp>
        <p:nvSpPr>
          <p:cNvPr id="8" name="Rectangle 7"/>
          <p:cNvSpPr/>
          <p:nvPr/>
        </p:nvSpPr>
        <p:spPr>
          <a:xfrm>
            <a:off x="1143000" y="1965960"/>
            <a:ext cx="150876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say</a:t>
            </a:r>
          </a:p>
        </p:txBody>
      </p:sp>
      <p:cxnSp>
        <p:nvCxnSpPr>
          <p:cNvPr id="9" name="Connector 8"/>
          <p:cNvCxnSpPr/>
          <p:nvPr/>
        </p:nvCxnSpPr>
        <p:spPr>
          <a:xfrm flipV="1">
            <a:off x="1897380" y="4526280"/>
            <a:ext cx="0" cy="5029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897380" y="3419856"/>
            <a:ext cx="0" cy="438912"/>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897380" y="2560320"/>
            <a:ext cx="0" cy="22860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4178808"/>
            <a:ext cx="45720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172968" y="502920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say</a:t>
            </a:r>
          </a:p>
        </p:txBody>
      </p:sp>
      <p:sp>
        <p:nvSpPr>
          <p:cNvPr id="14" name="Rectangle 13"/>
          <p:cNvSpPr/>
          <p:nvPr/>
        </p:nvSpPr>
        <p:spPr>
          <a:xfrm>
            <a:off x="3172968" y="3858768"/>
            <a:ext cx="150876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LSTM</a:t>
            </a:r>
          </a:p>
        </p:txBody>
      </p:sp>
      <p:sp>
        <p:nvSpPr>
          <p:cNvPr id="15" name="Rectangle 14"/>
          <p:cNvSpPr/>
          <p:nvPr/>
        </p:nvSpPr>
        <p:spPr>
          <a:xfrm>
            <a:off x="3172968" y="278892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確率分布</a:t>
            </a:r>
          </a:p>
        </p:txBody>
      </p:sp>
      <p:sp>
        <p:nvSpPr>
          <p:cNvPr id="16" name="Rectangle 15"/>
          <p:cNvSpPr/>
          <p:nvPr/>
        </p:nvSpPr>
        <p:spPr>
          <a:xfrm>
            <a:off x="3172968" y="1965960"/>
            <a:ext cx="150876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goodbye</a:t>
            </a:r>
          </a:p>
        </p:txBody>
      </p:sp>
      <p:cxnSp>
        <p:nvCxnSpPr>
          <p:cNvPr id="17" name="Connector 16"/>
          <p:cNvCxnSpPr/>
          <p:nvPr/>
        </p:nvCxnSpPr>
        <p:spPr>
          <a:xfrm flipV="1">
            <a:off x="3927348" y="4526280"/>
            <a:ext cx="0" cy="5029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927348" y="3419856"/>
            <a:ext cx="0" cy="438912"/>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927348" y="2560320"/>
            <a:ext cx="0" cy="22860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81728" y="4178808"/>
            <a:ext cx="45720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202936" y="502920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goodbye</a:t>
            </a:r>
          </a:p>
        </p:txBody>
      </p:sp>
      <p:sp>
        <p:nvSpPr>
          <p:cNvPr id="22" name="Rectangle 21"/>
          <p:cNvSpPr/>
          <p:nvPr/>
        </p:nvSpPr>
        <p:spPr>
          <a:xfrm>
            <a:off x="5202936" y="3858768"/>
            <a:ext cx="150876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LSTM</a:t>
            </a:r>
          </a:p>
        </p:txBody>
      </p:sp>
      <p:sp>
        <p:nvSpPr>
          <p:cNvPr id="23" name="Rectangle 22"/>
          <p:cNvSpPr/>
          <p:nvPr/>
        </p:nvSpPr>
        <p:spPr>
          <a:xfrm>
            <a:off x="5202936" y="2788920"/>
            <a:ext cx="1508760"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確率分布</a:t>
            </a:r>
          </a:p>
        </p:txBody>
      </p:sp>
      <p:sp>
        <p:nvSpPr>
          <p:cNvPr id="24" name="Rectangle 23"/>
          <p:cNvSpPr/>
          <p:nvPr/>
        </p:nvSpPr>
        <p:spPr>
          <a:xfrm>
            <a:off x="5202936" y="1965960"/>
            <a:ext cx="150876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t>
            </a:r>
          </a:p>
        </p:txBody>
      </p:sp>
      <p:cxnSp>
        <p:nvCxnSpPr>
          <p:cNvPr id="25" name="Connector 24"/>
          <p:cNvCxnSpPr/>
          <p:nvPr/>
        </p:nvCxnSpPr>
        <p:spPr>
          <a:xfrm flipV="1">
            <a:off x="5957316" y="4526280"/>
            <a:ext cx="0" cy="5029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957316" y="3419856"/>
            <a:ext cx="0" cy="438912"/>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957316" y="2560320"/>
            <a:ext cx="0" cy="22860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h・c を引き継ぐ</a:t>
            </a:r>
          </a:p>
        </p:txBody>
      </p:sp>
      <p:sp>
        <p:nvSpPr>
          <p:cNvPr id="30" name="TextBox 29"/>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過去の文脈を状態に保持する。</a:t>
            </a:r>
          </a:p>
        </p:txBody>
      </p:sp>
      <p:sp>
        <p:nvSpPr>
          <p:cNvPr id="31" name="Rounded Rectangle 30"/>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出力を次の入力へ</a:t>
            </a:r>
          </a:p>
        </p:txBody>
      </p:sp>
      <p:sp>
        <p:nvSpPr>
          <p:cNvPr id="33" name="TextBox 32"/>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選んだ単語IDを再び渡す。</a:t>
            </a:r>
          </a:p>
        </p:txBody>
      </p:sp>
      <p:sp>
        <p:nvSpPr>
          <p:cNvPr id="34" name="Rounded Rectangle 33"/>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終了条件</a:t>
            </a:r>
          </a:p>
        </p:txBody>
      </p:sp>
      <p:sp>
        <p:nvSpPr>
          <p:cNvPr id="36" name="TextBox 35"/>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添付コードでは100語。EOS停止は別途設計できる。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言語モデルを使った文章生成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7.1.2 RnnlmGen.generate の中心部分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8</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600" b="0" lang="ja-JP" altLang="en-US">
                <a:solidFill>
                  <a:srgbClr val="D4D4D4"/>
                </a:solidFill>
                <a:latin typeface="Consolas"/>
                <a:ea typeface="游ゴシック"/>
              </a:rPr>
              <a:t>x = np.array(x).reshape(1, 1)</a:t>
            </a:r>
          </a:p>
          <a:p>
            <a:pPr algn="l">
              <a:lnSpc>
                <a:spcPct val="108000"/>
              </a:lnSpc>
              <a:spcBef>
                <a:spcPts val="0"/>
              </a:spcBef>
              <a:spcAft>
                <a:spcPts val="400"/>
              </a:spcAft>
            </a:pPr>
            <a:r>
              <a:rPr sz="1600" b="0" lang="ja-JP" altLang="en-US">
                <a:solidFill>
                  <a:srgbClr val="D4D4D4"/>
                </a:solidFill>
                <a:latin typeface="Consolas"/>
                <a:ea typeface="游ゴシック"/>
              </a:rPr>
              <a:t>score = self.predict(x)</a:t>
            </a:r>
          </a:p>
          <a:p>
            <a:pPr algn="l">
              <a:lnSpc>
                <a:spcPct val="108000"/>
              </a:lnSpc>
              <a:spcBef>
                <a:spcPts val="0"/>
              </a:spcBef>
              <a:spcAft>
                <a:spcPts val="400"/>
              </a:spcAft>
            </a:pPr>
            <a:r>
              <a:rPr sz="1600" b="0" lang="ja-JP" altLang="en-US">
                <a:solidFill>
                  <a:srgbClr val="D4D4D4"/>
                </a:solidFill>
                <a:latin typeface="Consolas"/>
                <a:ea typeface="游ゴシック"/>
              </a:rPr>
              <a:t>p = softmax(score.flatten())</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sampled = np.random.choice(</a:t>
            </a:r>
          </a:p>
          <a:p>
            <a:pPr algn="l">
              <a:lnSpc>
                <a:spcPct val="108000"/>
              </a:lnSpc>
              <a:spcBef>
                <a:spcPts val="0"/>
              </a:spcBef>
              <a:spcAft>
                <a:spcPts val="400"/>
              </a:spcAft>
            </a:pPr>
            <a:r>
              <a:rPr sz="1600" b="0" lang="ja-JP" altLang="en-US">
                <a:solidFill>
                  <a:srgbClr val="D4D4D4"/>
                </a:solidFill>
                <a:latin typeface="Consolas"/>
                <a:ea typeface="游ゴシック"/>
              </a:rPr>
              <a:t>    len(p), size=1, p=p)</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if skip_ids is None or sampled not in skip_ids:</a:t>
            </a:r>
          </a:p>
          <a:p>
            <a:pPr algn="l">
              <a:lnSpc>
                <a:spcPct val="108000"/>
              </a:lnSpc>
              <a:spcBef>
                <a:spcPts val="0"/>
              </a:spcBef>
              <a:spcAft>
                <a:spcPts val="400"/>
              </a:spcAft>
            </a:pPr>
            <a:r>
              <a:rPr sz="1600" b="0" lang="ja-JP" altLang="en-US">
                <a:solidFill>
                  <a:srgbClr val="D4D4D4"/>
                </a:solidFill>
                <a:latin typeface="Consolas"/>
                <a:ea typeface="游ゴシック"/>
              </a:rPr>
              <a:t>    x = sampled</a:t>
            </a:r>
          </a:p>
          <a:p>
            <a:pPr algn="l">
              <a:lnSpc>
                <a:spcPct val="108000"/>
              </a:lnSpc>
              <a:spcBef>
                <a:spcPts val="0"/>
              </a:spcBef>
              <a:spcAft>
                <a:spcPts val="400"/>
              </a:spcAft>
            </a:pPr>
            <a:r>
              <a:rPr sz="1600" b="0" lang="ja-JP" altLang="en-US">
                <a:solidFill>
                  <a:srgbClr val="D4D4D4"/>
                </a:solidFill>
                <a:latin typeface="Consolas"/>
                <a:ea typeface="游ゴシック"/>
              </a:rPr>
              <a:t>    word_ids.append(int(x))</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(1, 1) の入力</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1単語ずつモデルに入れる。</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p は単語の確率分布</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語彙数ぶんの候補から1語選ぶ。</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skip_ids</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指定したIDを出力列に追加しない。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言語モデルを使った文章生成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生成を支える、単語IDと状態の管理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9</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start_id = word_to_id['you']</a:t>
            </a:r>
          </a:p>
          <a:p>
            <a:pPr algn="l">
              <a:lnSpc>
                <a:spcPct val="108000"/>
              </a:lnSpc>
              <a:spcBef>
                <a:spcPts val="0"/>
              </a:spcBef>
              <a:spcAft>
                <a:spcPts val="400"/>
              </a:spcAft>
            </a:pPr>
            <a:r>
              <a:rPr sz="1700" b="0" lang="ja-JP" altLang="en-US">
                <a:solidFill>
                  <a:srgbClr val="D4D4D4"/>
                </a:solidFill>
                <a:latin typeface="Consolas"/>
                <a:ea typeface="游ゴシック"/>
              </a:rPr>
              <a:t>skip_words = ['N', '&lt;unk&gt;', '$']</a:t>
            </a:r>
          </a:p>
          <a:p>
            <a:pPr algn="l">
              <a:lnSpc>
                <a:spcPct val="108000"/>
              </a:lnSpc>
              <a:spcBef>
                <a:spcPts val="0"/>
              </a:spcBef>
              <a:spcAft>
                <a:spcPts val="400"/>
              </a:spcAft>
            </a:pPr>
            <a:r>
              <a:rPr sz="1700" b="0" lang="ja-JP" altLang="en-US">
                <a:solidFill>
                  <a:srgbClr val="D4D4D4"/>
                </a:solidFill>
                <a:latin typeface="Consolas"/>
                <a:ea typeface="游ゴシック"/>
              </a:rPr>
              <a:t>skip_ids = [word_to_id[w]</a:t>
            </a:r>
          </a:p>
          <a:p>
            <a:pPr algn="l">
              <a:lnSpc>
                <a:spcPct val="108000"/>
              </a:lnSpc>
              <a:spcBef>
                <a:spcPts val="0"/>
              </a:spcBef>
              <a:spcAft>
                <a:spcPts val="400"/>
              </a:spcAft>
            </a:pPr>
            <a:r>
              <a:rPr sz="1700" b="0" lang="ja-JP" altLang="en-US">
                <a:solidFill>
                  <a:srgbClr val="D4D4D4"/>
                </a:solidFill>
                <a:latin typeface="Consolas"/>
                <a:ea typeface="游ゴシック"/>
              </a:rPr>
              <a:t>            for w in skip_words]</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word_ids = model.generate(start_id, skip_ids)</a:t>
            </a:r>
          </a:p>
          <a:p>
            <a:pPr algn="l">
              <a:lnSpc>
                <a:spcPct val="108000"/>
              </a:lnSpc>
              <a:spcBef>
                <a:spcPts val="0"/>
              </a:spcBef>
              <a:spcAft>
                <a:spcPts val="400"/>
              </a:spcAft>
            </a:pPr>
            <a:r>
              <a:rPr sz="1700" b="0" lang="ja-JP" altLang="en-US">
                <a:solidFill>
                  <a:srgbClr val="D4D4D4"/>
                </a:solidFill>
                <a:latin typeface="Consolas"/>
                <a:ea typeface="游ゴシック"/>
              </a:rPr>
              <a:t>txt = ' '.join(id_to_word[i]</a:t>
            </a:r>
          </a:p>
          <a:p>
            <a:pPr algn="l">
              <a:lnSpc>
                <a:spcPct val="108000"/>
              </a:lnSpc>
              <a:spcBef>
                <a:spcPts val="0"/>
              </a:spcBef>
              <a:spcAft>
                <a:spcPts val="400"/>
              </a:spcAft>
            </a:pPr>
            <a:r>
              <a:rPr sz="1700" b="0" lang="ja-JP" altLang="en-US">
                <a:solidFill>
                  <a:srgbClr val="D4D4D4"/>
                </a:solidFill>
                <a:latin typeface="Consolas"/>
                <a:ea typeface="游ゴシック"/>
              </a:rPr>
              <a:t>               for i in word_ids)</a:t>
            </a:r>
          </a:p>
          <a:p>
            <a:pPr algn="l">
              <a:lnSpc>
                <a:spcPct val="108000"/>
              </a:lnSpc>
              <a:spcBef>
                <a:spcPts val="0"/>
              </a:spcBef>
              <a:spcAft>
                <a:spcPts val="400"/>
              </a:spcAft>
            </a:pPr>
            <a:r>
              <a:rPr sz="1700" b="0" lang="ja-JP" altLang="en-US">
                <a:solidFill>
                  <a:srgbClr val="D4D4D4"/>
                </a:solidFill>
                <a:latin typeface="Consolas"/>
                <a:ea typeface="游ゴシック"/>
              </a:rPr>
              <a:t>txt = txt.replace(' &lt;eos&gt;', '.\n')</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語彙の対応表</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word_to_id / id_to_word で変換する。</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h・c は毎語更新</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モデルの重み自体は更新しない。</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文章を独立に始める</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reset_state() で前の文脈を消す。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言語モデルを使った文章生成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7.1.3 より良い言語モデルを使う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10</a:t>
            </a:r>
          </a:p>
        </p:txBody>
      </p:sp>
      <p:graphicFrame>
        <p:nvGraphicFramePr>
          <p:cNvPr id="5" name="Table 4"/>
          <p:cNvGraphicFramePr>
            <a:graphicFrameLocks noGrp="1"/>
          </p:cNvGraphicFramePr>
          <p:nvPr/>
        </p:nvGraphicFramePr>
        <p:xfrm>
          <a:off x="868680" y="2103120"/>
          <a:ext cx="10469879" cy="3291840"/>
        </p:xfrm>
        <a:graphic>
          <a:graphicData uri="http://schemas.openxmlformats.org/drawingml/2006/table">
            <a:tbl>
              <a:tblPr firstRow="1" bandRow="1">
                <a:tableStyleId>{5C22544A-7EE6-4342-B048-85BDC9FD1C3A}</a:tableStyleId>
              </a:tblPr>
              <a:tblGrid>
                <a:gridCol w="1874519"/>
                <a:gridCol w="3886200"/>
                <a:gridCol w="4709160"/>
              </a:tblGrid>
              <a:tr h="658368">
                <a:tc>
                  <a:txBody>
                    <a:bodyPr/>
                    <a:lstStyle/>
                    <a:p>
                      <a:pPr>
                        <a:lnSpc>
                          <a:spcPct val="108000"/>
                        </a:lnSpc>
                        <a:spcAft>
                          <a:spcPts val="0"/>
                        </a:spcAft>
                      </a:pPr>
                      <a:r>
                        <a:rPr sz="2000" b="1" lang="ja-JP" altLang="en-US">
                          <a:solidFill>
                            <a:srgbClr val="111111"/>
                          </a:solidFill>
                          <a:latin typeface="游ゴシック"/>
                          <a:ea typeface="游ゴシック"/>
                        </a:rPr>
                        <a:t>項目</a:t>
                      </a: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RnnlmGen</a:t>
                      </a: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BetterRnnlmGen</a:t>
                      </a:r>
                    </a:p>
                  </a:txBody>
                  <a:tcPr marL="91440" marR="91440" anchor="ctr">
                    <a:solidFill>
                      <a:srgbClr val="EAF2F6"/>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基になるモデル</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Rnnlm</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BetterRnnlm</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LSTM</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1層・隠れ次元100</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2層・隠れ次元650</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特徴</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Embedding → LSTM → Affine</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Dropout・重み共有を追加</a:t>
                      </a:r>
                    </a:p>
                  </a:txBody>
                  <a:tcPr marL="91440" marR="91440" anchor="ctr">
                    <a:solidFill>
                      <a:srgbClr val="FFFFFF"/>
                    </a:solidFill>
                  </a:tcPr>
                </a:tc>
              </a:tr>
              <a:tr h="658368">
                <a:tc>
                  <a:txBody>
                    <a:bodyPr/>
                    <a:lstStyle/>
                    <a:p>
                      <a:pPr>
                        <a:lnSpc>
                          <a:spcPct val="108000"/>
                        </a:lnSpc>
                        <a:spcAft>
                          <a:spcPts val="0"/>
                        </a:spcAft>
                      </a:pPr>
                      <a:r>
                        <a:rPr sz="2000" b="0" lang="ja-JP" altLang="en-US">
                          <a:solidFill>
                            <a:srgbClr val="111111"/>
                          </a:solidFill>
                          <a:latin typeface="游ゴシック"/>
                          <a:ea typeface="游ゴシック"/>
                        </a:rPr>
                        <a:t>生成の手順</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確率的にサンプリング</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確率的にサンプリング</a:t>
                      </a:r>
                    </a:p>
                  </a:txBody>
                  <a:tcPr marL="91440" marR="91440" anchor="ctr">
                    <a:solidFill>
                      <a:srgbClr val="FFFFFF"/>
                    </a:solidFill>
                  </a:tcPr>
                </a:tc>
              </a:tr>
            </a:tbl>
          </a:graphicData>
        </a:graphic>
      </p:graphicFrame>
      <p:sp>
        <p:nvSpPr>
          <p:cNvPr id="6" name="TextBox 5"/>
          <p:cNvSpPr txBox="1"/>
          <p:nvPr/>
        </p:nvSpPr>
        <p:spPr>
          <a:xfrm>
            <a:off x="1005840" y="5806440"/>
            <a:ext cx="10149840" cy="50292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改善版の公式重みを使う文章生成は、取得先の通信許可待ち。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言語モデルを使った文章生成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通常版の文章生成：今回の実行例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11</a:t>
            </a:r>
          </a:p>
        </p:txBody>
      </p:sp>
      <p:sp>
        <p:nvSpPr>
          <p:cNvPr id="5" name="TextBox 4"/>
          <p:cNvSpPr txBox="1"/>
          <p:nvPr/>
        </p:nvSpPr>
        <p:spPr>
          <a:xfrm>
            <a:off x="960120" y="2148840"/>
            <a:ext cx="6446520" cy="3017520"/>
          </a:xfrm>
          <a:prstGeom prst="rect">
            <a:avLst/>
          </a:prstGeom>
          <a:solidFill>
            <a:srgbClr val="F5F5F5"/>
          </a:solidFill>
        </p:spPr>
        <p:txBody>
          <a:bodyPr wrap="square" lIns="164592" rIns="164592" tIns="164592" bIns="164592">
            <a:spAutoFit/>
          </a:bodyPr>
          <a:lstStyle/>
          <a:p>
            <a:pPr algn="l">
              <a:lnSpc>
                <a:spcPct val="108000"/>
              </a:lnSpc>
              <a:spcBef>
                <a:spcPts val="0"/>
              </a:spcBef>
              <a:spcAft>
                <a:spcPts val="400"/>
              </a:spcAft>
            </a:pPr>
            <a:r>
              <a:rPr sz="2400" b="0" lang="ja-JP" altLang="en-US">
                <a:solidFill>
                  <a:srgbClr val="111111"/>
                </a:solidFill>
                <a:latin typeface="Aptos"/>
                <a:ea typeface="游ゴシック"/>
              </a:rPr>
              <a:t>you were impossible.</a:t>
            </a:r>
          </a:p>
          <a:p>
            <a:pPr algn="l">
              <a:lnSpc>
                <a:spcPct val="108000"/>
              </a:lnSpc>
              <a:spcBef>
                <a:spcPts val="0"/>
              </a:spcBef>
              <a:spcAft>
                <a:spcPts val="400"/>
              </a:spcAft>
            </a:pPr>
            <a:r>
              <a:rPr sz="2400" b="0" lang="ja-JP" altLang="en-US">
                <a:solidFill>
                  <a:srgbClr val="111111"/>
                </a:solidFill>
                <a:latin typeface="Aptos"/>
                <a:ea typeface="游ゴシック"/>
              </a:rPr>
              <a:t> the carrier began to kentucky ethical stake to remain to make national common.</a:t>
            </a:r>
          </a:p>
          <a:p>
            <a:pPr algn="l">
              <a:lnSpc>
                <a:spcPct val="108000"/>
              </a:lnSpc>
              <a:spcBef>
                <a:spcPts val="0"/>
              </a:spcBef>
              <a:spcAft>
                <a:spcPts val="400"/>
              </a:spcAft>
            </a:pPr>
            <a:r>
              <a:rPr sz="2400" b="0" lang="ja-JP" altLang="en-US">
                <a:solidFill>
                  <a:srgbClr val="111111"/>
                </a:solidFill>
                <a:latin typeface="Aptos"/>
                <a:ea typeface="游ゴシック"/>
              </a:rPr>
              <a:t> mr. bergsma said he would put up financing approve a national security regulators representing corporate contractor said.</a:t>
            </a:r>
          </a:p>
        </p:txBody>
      </p:sp>
      <p:sp>
        <p:nvSpPr>
          <p:cNvPr id="6" name="Rounded Rectangle 5"/>
          <p:cNvSpPr/>
          <p:nvPr/>
        </p:nvSpPr>
        <p:spPr>
          <a:xfrm>
            <a:off x="7726679" y="2148840"/>
            <a:ext cx="3611880" cy="14630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19" y="2203704"/>
            <a:ext cx="342900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確認できたこと</a:t>
            </a:r>
          </a:p>
        </p:txBody>
      </p:sp>
      <p:sp>
        <p:nvSpPr>
          <p:cNvPr id="8" name="TextBox 7"/>
          <p:cNvSpPr txBox="1"/>
          <p:nvPr/>
        </p:nvSpPr>
        <p:spPr>
          <a:xfrm>
            <a:off x="7818119" y="2569464"/>
            <a:ext cx="3429000" cy="10241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公式の学習済み重みを読み込み、100語を生成。</a:t>
            </a:r>
          </a:p>
        </p:txBody>
      </p:sp>
      <p:sp>
        <p:nvSpPr>
          <p:cNvPr id="9" name="Rounded Rectangle 8"/>
          <p:cNvSpPr/>
          <p:nvPr/>
        </p:nvSpPr>
        <p:spPr>
          <a:xfrm>
            <a:off x="7726679" y="3886200"/>
            <a:ext cx="3611880" cy="164592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19" y="3941063"/>
            <a:ext cx="342900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読み取れること</a:t>
            </a:r>
          </a:p>
        </p:txBody>
      </p:sp>
      <p:sp>
        <p:nvSpPr>
          <p:cNvPr id="11" name="TextBox 10"/>
          <p:cNvSpPr txBox="1"/>
          <p:nvPr/>
        </p:nvSpPr>
        <p:spPr>
          <a:xfrm>
            <a:off x="7818119" y="4306824"/>
            <a:ext cx="3429000" cy="120700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単語のつながりは学ぶが、意味の一貫性は保証しない。</a:t>
            </a:r>
          </a:p>
        </p:txBody>
      </p:sp>
      <p:sp>
        <p:nvSpPr>
          <p:cNvPr id="12" name="TextBox 11"/>
          <p:cNvSpPr txBox="1"/>
          <p:nvPr/>
        </p:nvSpPr>
        <p:spPr>
          <a:xfrm>
            <a:off x="960120" y="5897880"/>
            <a:ext cx="102870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生成例は全文の抜粋。確率的な処理のため、同じ文章の再現を前提にしない。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言語モデルを使った文章生成</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書き出しを指定して、続きを生成する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12</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600" b="0" lang="ja-JP" altLang="en-US">
                <a:solidFill>
                  <a:srgbClr val="D4D4D4"/>
                </a:solidFill>
                <a:latin typeface="Consolas"/>
                <a:ea typeface="游ゴシック"/>
              </a:rPr>
              <a:t>model.reset_state()</a:t>
            </a:r>
          </a:p>
          <a:p>
            <a:pPr algn="l">
              <a:lnSpc>
                <a:spcPct val="108000"/>
              </a:lnSpc>
              <a:spcBef>
                <a:spcPts val="0"/>
              </a:spcBef>
              <a:spcAft>
                <a:spcPts val="400"/>
              </a:spcAft>
            </a:pPr>
            <a:r>
              <a:rPr sz="1600" b="0" lang="ja-JP" altLang="en-US">
                <a:solidFill>
                  <a:srgbClr val="D4D4D4"/>
                </a:solidFill>
                <a:latin typeface="Consolas"/>
                <a:ea typeface="游ゴシック"/>
              </a:rPr>
              <a:t>start_words = 'the meaning of life is'</a:t>
            </a:r>
          </a:p>
          <a:p>
            <a:pPr algn="l">
              <a:lnSpc>
                <a:spcPct val="108000"/>
              </a:lnSpc>
              <a:spcBef>
                <a:spcPts val="0"/>
              </a:spcBef>
              <a:spcAft>
                <a:spcPts val="400"/>
              </a:spcAft>
            </a:pPr>
            <a:r>
              <a:rPr sz="1600" b="0" lang="ja-JP" altLang="en-US">
                <a:solidFill>
                  <a:srgbClr val="D4D4D4"/>
                </a:solidFill>
                <a:latin typeface="Consolas"/>
                <a:ea typeface="游ゴシック"/>
              </a:rPr>
              <a:t>start_ids = [word_to_id[w]</a:t>
            </a:r>
          </a:p>
          <a:p>
            <a:pPr algn="l">
              <a:lnSpc>
                <a:spcPct val="108000"/>
              </a:lnSpc>
              <a:spcBef>
                <a:spcPts val="0"/>
              </a:spcBef>
              <a:spcAft>
                <a:spcPts val="400"/>
              </a:spcAft>
            </a:pPr>
            <a:r>
              <a:rPr sz="1600" b="0" lang="ja-JP" altLang="en-US">
                <a:solidFill>
                  <a:srgbClr val="D4D4D4"/>
                </a:solidFill>
                <a:latin typeface="Consolas"/>
                <a:ea typeface="游ゴシック"/>
              </a:rPr>
              <a:t>             for w in start_words.split(' ')]</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for x in start_ids[:-1]:</a:t>
            </a:r>
          </a:p>
          <a:p>
            <a:pPr algn="l">
              <a:lnSpc>
                <a:spcPct val="108000"/>
              </a:lnSpc>
              <a:spcBef>
                <a:spcPts val="0"/>
              </a:spcBef>
              <a:spcAft>
                <a:spcPts val="400"/>
              </a:spcAft>
            </a:pPr>
            <a:r>
              <a:rPr sz="1600" b="0" lang="ja-JP" altLang="en-US">
                <a:solidFill>
                  <a:srgbClr val="D4D4D4"/>
                </a:solidFill>
                <a:latin typeface="Consolas"/>
                <a:ea typeface="游ゴシック"/>
              </a:rPr>
              <a:t>    x = np.array(x).reshape(1, 1)</a:t>
            </a:r>
          </a:p>
          <a:p>
            <a:pPr algn="l">
              <a:lnSpc>
                <a:spcPct val="108000"/>
              </a:lnSpc>
              <a:spcBef>
                <a:spcPts val="0"/>
              </a:spcBef>
              <a:spcAft>
                <a:spcPts val="400"/>
              </a:spcAft>
            </a:pPr>
            <a:r>
              <a:rPr sz="1600" b="0" lang="ja-JP" altLang="en-US">
                <a:solidFill>
                  <a:srgbClr val="D4D4D4"/>
                </a:solidFill>
                <a:latin typeface="Consolas"/>
                <a:ea typeface="游ゴシック"/>
              </a:rPr>
              <a:t>    model.predict(x)</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word_ids = model.generate(</a:t>
            </a:r>
          </a:p>
          <a:p>
            <a:pPr algn="l">
              <a:lnSpc>
                <a:spcPct val="108000"/>
              </a:lnSpc>
              <a:spcBef>
                <a:spcPts val="0"/>
              </a:spcBef>
              <a:spcAft>
                <a:spcPts val="400"/>
              </a:spcAft>
            </a:pPr>
            <a:r>
              <a:rPr sz="1600" b="0" lang="ja-JP" altLang="en-US">
                <a:solidFill>
                  <a:srgbClr val="D4D4D4"/>
                </a:solidFill>
                <a:latin typeface="Consolas"/>
                <a:ea typeface="游ゴシック"/>
              </a:rPr>
              <a:t>    start_ids[-1], skip_ids)</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まず状態を初期化</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前の生成の文脈を混ぜない。</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最後以外を読み込む</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the → meaning → of → life</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最後の語から生成</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is を開始語にして続ける。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7.1 の整理</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文章生成で何をしているのか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13</a:t>
            </a:r>
          </a:p>
        </p:txBody>
      </p:sp>
      <p:sp>
        <p:nvSpPr>
          <p:cNvPr id="5" name="TextBox 4"/>
          <p:cNvSpPr txBox="1"/>
          <p:nvPr/>
        </p:nvSpPr>
        <p:spPr>
          <a:xfrm>
            <a:off x="868680" y="2057400"/>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言語モデル：それまでの文脈から、次の単語の確率を出す</a:t>
            </a:r>
          </a:p>
        </p:txBody>
      </p:sp>
      <p:sp>
        <p:nvSpPr>
          <p:cNvPr id="6" name="TextBox 5"/>
          <p:cNvSpPr txBox="1"/>
          <p:nvPr/>
        </p:nvSpPr>
        <p:spPr>
          <a:xfrm>
            <a:off x="868680" y="2999232"/>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生成：確率分布から1語を選び、その語を次の入力にする</a:t>
            </a:r>
          </a:p>
        </p:txBody>
      </p:sp>
      <p:sp>
        <p:nvSpPr>
          <p:cNvPr id="7" name="TextBox 6"/>
          <p:cNvSpPr txBox="1"/>
          <p:nvPr/>
        </p:nvSpPr>
        <p:spPr>
          <a:xfrm>
            <a:off x="868680" y="3941064"/>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状態：h・c が文脈を保持する。重みは推論中に更新しない</a:t>
            </a:r>
          </a:p>
        </p:txBody>
      </p:sp>
      <p:sp>
        <p:nvSpPr>
          <p:cNvPr id="8" name="TextBox 7"/>
          <p:cNvSpPr txBox="1"/>
          <p:nvPr/>
        </p:nvSpPr>
        <p:spPr>
          <a:xfrm>
            <a:off x="868680" y="4882896"/>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次の課題：入力文を条件として、別の系列を生成したい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7.2 seq2seq</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入力系列を、別の出力系列へ変換する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14</a:t>
            </a:r>
          </a:p>
        </p:txBody>
      </p:sp>
      <p:sp>
        <p:nvSpPr>
          <p:cNvPr id="5" name="Rectangle 4"/>
          <p:cNvSpPr/>
          <p:nvPr/>
        </p:nvSpPr>
        <p:spPr>
          <a:xfrm>
            <a:off x="868680"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入力系列</a:t>
            </a:r>
          </a:p>
        </p:txBody>
      </p:sp>
      <p:cxnSp>
        <p:nvCxnSpPr>
          <p:cNvPr id="6" name="Connector 5"/>
          <p:cNvCxnSpPr/>
          <p:nvPr/>
        </p:nvCxnSpPr>
        <p:spPr>
          <a:xfrm>
            <a:off x="2587752"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Encoder</a:t>
            </a:r>
          </a:p>
        </p:txBody>
      </p:sp>
      <p:cxnSp>
        <p:nvCxnSpPr>
          <p:cNvPr id="8" name="Connector 7"/>
          <p:cNvCxnSpPr/>
          <p:nvPr/>
        </p:nvCxnSpPr>
        <p:spPr>
          <a:xfrm>
            <a:off x="4764024"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h</a:t>
            </a:r>
          </a:p>
        </p:txBody>
      </p:sp>
      <p:cxnSp>
        <p:nvCxnSpPr>
          <p:cNvPr id="10" name="Connector 9"/>
          <p:cNvCxnSpPr/>
          <p:nvPr/>
        </p:nvCxnSpPr>
        <p:spPr>
          <a:xfrm>
            <a:off x="6940296"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Decoder</a:t>
            </a:r>
          </a:p>
        </p:txBody>
      </p:sp>
      <p:cxnSp>
        <p:nvCxnSpPr>
          <p:cNvPr id="12" name="Connector 11"/>
          <p:cNvCxnSpPr/>
          <p:nvPr/>
        </p:nvCxnSpPr>
        <p:spPr>
          <a:xfrm>
            <a:off x="9116568"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出力系列</a:t>
            </a:r>
          </a:p>
        </p:txBody>
      </p:sp>
      <p:graphicFrame>
        <p:nvGraphicFramePr>
          <p:cNvPr id="14" name="Table 13"/>
          <p:cNvGraphicFramePr>
            <a:graphicFrameLocks noGrp="1"/>
          </p:cNvGraphicFramePr>
          <p:nvPr/>
        </p:nvGraphicFramePr>
        <p:xfrm>
          <a:off x="1097280" y="4206240"/>
          <a:ext cx="9875520" cy="1828800"/>
        </p:xfrm>
        <a:graphic>
          <a:graphicData uri="http://schemas.openxmlformats.org/drawingml/2006/table">
            <a:tbl>
              <a:tblPr firstRow="1" bandRow="1">
                <a:tableStyleId>{5C22544A-7EE6-4342-B048-85BDC9FD1C3A}</a:tableStyleId>
              </a:tblPr>
              <a:tblGrid>
                <a:gridCol w="1828800"/>
                <a:gridCol w="4023360"/>
                <a:gridCol w="4023360"/>
              </a:tblGrid>
              <a:tr h="457200">
                <a:tc>
                  <a:txBody>
                    <a:bodyPr/>
                    <a:lstStyle/>
                    <a:p>
                      <a:pPr>
                        <a:lnSpc>
                          <a:spcPct val="108000"/>
                        </a:lnSpc>
                        <a:spcAft>
                          <a:spcPts val="0"/>
                        </a:spcAft>
                      </a:pPr>
                      <a:r>
                        <a:rPr sz="2100" b="1" lang="ja-JP" altLang="en-US">
                          <a:solidFill>
                            <a:srgbClr val="111111"/>
                          </a:solidFill>
                          <a:latin typeface="游ゴシック"/>
                          <a:ea typeface="游ゴシック"/>
                        </a:rPr>
                        <a:t>問題</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入力</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出力</a:t>
                      </a:r>
                    </a:p>
                  </a:txBody>
                  <a:tcPr marL="91440" marR="91440" anchor="ctr">
                    <a:solidFill>
                      <a:srgbClr val="EAF2F6"/>
                    </a:solidFill>
                  </a:tcPr>
                </a:tc>
              </a:tr>
              <a:tr h="457200">
                <a:tc>
                  <a:txBody>
                    <a:bodyPr/>
                    <a:lstStyle/>
                    <a:p>
                      <a:pPr>
                        <a:lnSpc>
                          <a:spcPct val="108000"/>
                        </a:lnSpc>
                        <a:spcAft>
                          <a:spcPts val="0"/>
                        </a:spcAft>
                      </a:pPr>
                      <a:r>
                        <a:rPr sz="2100" b="0" lang="ja-JP" altLang="en-US">
                          <a:solidFill>
                            <a:srgbClr val="111111"/>
                          </a:solidFill>
                          <a:latin typeface="游ゴシック"/>
                          <a:ea typeface="游ゴシック"/>
                        </a:rPr>
                        <a:t>翻訳</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吾輩は猫である</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I am a cat</a:t>
                      </a:r>
                    </a:p>
                  </a:txBody>
                  <a:tcPr marL="91440" marR="91440" anchor="ctr">
                    <a:solidFill>
                      <a:srgbClr val="FFFFFF"/>
                    </a:solidFill>
                  </a:tcPr>
                </a:tc>
              </a:tr>
              <a:tr h="457200">
                <a:tc>
                  <a:txBody>
                    <a:bodyPr/>
                    <a:lstStyle/>
                    <a:p>
                      <a:pPr>
                        <a:lnSpc>
                          <a:spcPct val="108000"/>
                        </a:lnSpc>
                        <a:spcAft>
                          <a:spcPts val="0"/>
                        </a:spcAft>
                      </a:pPr>
                      <a:r>
                        <a:rPr sz="2100" b="0" lang="ja-JP" altLang="en-US">
                          <a:solidFill>
                            <a:srgbClr val="111111"/>
                          </a:solidFill>
                          <a:latin typeface="游ゴシック"/>
                          <a:ea typeface="游ゴシック"/>
                        </a:rPr>
                        <a:t>加算</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71+118</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189</a:t>
                      </a:r>
                    </a:p>
                  </a:txBody>
                  <a:tcPr marL="91440" marR="91440" anchor="ctr">
                    <a:solidFill>
                      <a:srgbClr val="FFFFFF"/>
                    </a:solidFill>
                  </a:tcPr>
                </a:tc>
              </a:tr>
              <a:tr h="457200">
                <a:tc>
                  <a:txBody>
                    <a:bodyPr/>
                    <a:lstStyle/>
                    <a:p>
                      <a:pPr>
                        <a:lnSpc>
                          <a:spcPct val="108000"/>
                        </a:lnSpc>
                        <a:spcAft>
                          <a:spcPts val="0"/>
                        </a:spcAft>
                      </a:pPr>
                      <a:r>
                        <a:rPr sz="2100" b="0" lang="ja-JP" altLang="en-US">
                          <a:solidFill>
                            <a:srgbClr val="111111"/>
                          </a:solidFill>
                          <a:latin typeface="游ゴシック"/>
                          <a:ea typeface="游ゴシック"/>
                        </a:rPr>
                        <a:t>対話</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こんにちは</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こんにちは！</a:t>
                      </a:r>
                    </a:p>
                  </a:txBody>
                  <a:tcPr marL="91440" marR="9144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7.2 seq2seq</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7.2.1 EncoderとDecoderの役割</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15</a:t>
            </a:r>
          </a:p>
        </p:txBody>
      </p:sp>
      <p:sp>
        <p:nvSpPr>
          <p:cNvPr id="5" name="TextBox 4"/>
          <p:cNvSpPr txBox="1"/>
          <p:nvPr/>
        </p:nvSpPr>
        <p:spPr>
          <a:xfrm>
            <a:off x="1005840" y="2075688"/>
            <a:ext cx="44805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1" lang="ja-JP" altLang="en-US">
                <a:solidFill>
                  <a:srgbClr val="111111"/>
                </a:solidFill>
                <a:latin typeface="游ゴシック"/>
                <a:ea typeface="游ゴシック"/>
              </a:rPr>
              <a:t>Encoder</a:t>
            </a:r>
          </a:p>
        </p:txBody>
      </p:sp>
      <p:sp>
        <p:nvSpPr>
          <p:cNvPr id="6" name="Rectangle 5"/>
          <p:cNvSpPr/>
          <p:nvPr/>
        </p:nvSpPr>
        <p:spPr>
          <a:xfrm>
            <a:off x="1005840" y="4389120"/>
            <a:ext cx="438912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Embedding</a:t>
            </a:r>
          </a:p>
        </p:txBody>
      </p:sp>
      <p:sp>
        <p:nvSpPr>
          <p:cNvPr id="7" name="Rectangle 6"/>
          <p:cNvSpPr/>
          <p:nvPr/>
        </p:nvSpPr>
        <p:spPr>
          <a:xfrm>
            <a:off x="1005840" y="3383280"/>
            <a:ext cx="438912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LSTM</a:t>
            </a:r>
          </a:p>
        </p:txBody>
      </p:sp>
      <p:cxnSp>
        <p:nvCxnSpPr>
          <p:cNvPr id="8" name="Connector 7"/>
          <p:cNvCxnSpPr/>
          <p:nvPr/>
        </p:nvCxnSpPr>
        <p:spPr>
          <a:xfrm flipV="1">
            <a:off x="3200400" y="4050791"/>
            <a:ext cx="0" cy="338329"/>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05840" y="5074920"/>
            <a:ext cx="4389120" cy="548640"/>
          </a:xfrm>
          <a:prstGeom prst="rect">
            <a:avLst/>
          </a:prstGeom>
          <a:noFill/>
        </p:spPr>
        <p:txBody>
          <a:bodyPr wrap="square" lIns="54864" rIns="54864" tIns="54864" bIns="54864">
            <a:spAutoFit/>
          </a:bodyPr>
          <a:lstStyle/>
          <a:p>
            <a:pPr algn="ctr">
              <a:lnSpc>
                <a:spcPct val="108000"/>
              </a:lnSpc>
              <a:spcBef>
                <a:spcPts val="0"/>
              </a:spcBef>
              <a:spcAft>
                <a:spcPts val="400"/>
              </a:spcAft>
            </a:pPr>
            <a:r>
              <a:rPr sz="2200" b="0" lang="ja-JP" altLang="en-US">
                <a:solidFill>
                  <a:srgbClr val="111111"/>
                </a:solidFill>
                <a:latin typeface="游ゴシック"/>
                <a:ea typeface="游ゴシック"/>
              </a:rPr>
              <a:t>7   1   +   1   1   8   ␣</a:t>
            </a:r>
          </a:p>
        </p:txBody>
      </p:sp>
      <p:cxnSp>
        <p:nvCxnSpPr>
          <p:cNvPr id="10" name="Connector 9"/>
          <p:cNvCxnSpPr/>
          <p:nvPr/>
        </p:nvCxnSpPr>
        <p:spPr>
          <a:xfrm flipV="1">
            <a:off x="3200400" y="4937760"/>
            <a:ext cx="0" cy="13716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0" y="2075688"/>
            <a:ext cx="44805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1" lang="ja-JP" altLang="en-US">
                <a:solidFill>
                  <a:srgbClr val="111111"/>
                </a:solidFill>
                <a:latin typeface="游ゴシック"/>
                <a:ea typeface="游ゴシック"/>
              </a:rPr>
              <a:t>Decoder</a:t>
            </a:r>
          </a:p>
        </p:txBody>
      </p:sp>
      <p:sp>
        <p:nvSpPr>
          <p:cNvPr id="12" name="Rectangle 11"/>
          <p:cNvSpPr/>
          <p:nvPr/>
        </p:nvSpPr>
        <p:spPr>
          <a:xfrm>
            <a:off x="6583680" y="4389120"/>
            <a:ext cx="438912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Embedding</a:t>
            </a:r>
          </a:p>
        </p:txBody>
      </p:sp>
      <p:sp>
        <p:nvSpPr>
          <p:cNvPr id="13" name="Rectangle 12"/>
          <p:cNvSpPr/>
          <p:nvPr/>
        </p:nvSpPr>
        <p:spPr>
          <a:xfrm>
            <a:off x="6583680" y="3383280"/>
            <a:ext cx="438912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LSTM</a:t>
            </a:r>
          </a:p>
        </p:txBody>
      </p:sp>
      <p:cxnSp>
        <p:nvCxnSpPr>
          <p:cNvPr id="14" name="Connector 13"/>
          <p:cNvCxnSpPr/>
          <p:nvPr/>
        </p:nvCxnSpPr>
        <p:spPr>
          <a:xfrm flipV="1">
            <a:off x="8778240" y="4050791"/>
            <a:ext cx="0" cy="338329"/>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0" y="5074920"/>
            <a:ext cx="4389120" cy="548640"/>
          </a:xfrm>
          <a:prstGeom prst="rect">
            <a:avLst/>
          </a:prstGeom>
          <a:noFill/>
        </p:spPr>
        <p:txBody>
          <a:bodyPr wrap="square" lIns="54864" rIns="54864" tIns="54864" bIns="54864">
            <a:spAutoFit/>
          </a:bodyPr>
          <a:lstStyle/>
          <a:p>
            <a:pPr algn="ctr">
              <a:lnSpc>
                <a:spcPct val="108000"/>
              </a:lnSpc>
              <a:spcBef>
                <a:spcPts val="0"/>
              </a:spcBef>
              <a:spcAft>
                <a:spcPts val="400"/>
              </a:spcAft>
            </a:pPr>
            <a:r>
              <a:rPr sz="2200" b="0" lang="ja-JP" altLang="en-US">
                <a:solidFill>
                  <a:srgbClr val="111111"/>
                </a:solidFill>
                <a:latin typeface="游ゴシック"/>
                <a:ea typeface="游ゴシック"/>
              </a:rPr>
              <a:t>_   1   8   9   ␣</a:t>
            </a:r>
          </a:p>
        </p:txBody>
      </p:sp>
      <p:cxnSp>
        <p:nvCxnSpPr>
          <p:cNvPr id="16" name="Connector 15"/>
          <p:cNvCxnSpPr/>
          <p:nvPr/>
        </p:nvCxnSpPr>
        <p:spPr>
          <a:xfrm flipV="1">
            <a:off x="8778240" y="4937760"/>
            <a:ext cx="0" cy="13716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22392" y="3675887"/>
            <a:ext cx="1115568" cy="0"/>
          </a:xfrm>
          <a:prstGeom prst="line">
            <a:avLst/>
          </a:prstGeom>
          <a:ln w="2540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15000" y="3182112"/>
            <a:ext cx="4572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56082"/>
                </a:solidFill>
                <a:latin typeface="游ゴシック"/>
                <a:ea typeface="游ゴシック"/>
              </a:rPr>
              <a:t>h</a:t>
            </a:r>
          </a:p>
        </p:txBody>
      </p:sp>
      <p:sp>
        <p:nvSpPr>
          <p:cNvPr id="19" name="Rectangle 18"/>
          <p:cNvSpPr/>
          <p:nvPr/>
        </p:nvSpPr>
        <p:spPr>
          <a:xfrm>
            <a:off x="6583680" y="2606040"/>
            <a:ext cx="4389120" cy="50292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Affine → Softmax</a:t>
            </a:r>
          </a:p>
        </p:txBody>
      </p:sp>
      <p:cxnSp>
        <p:nvCxnSpPr>
          <p:cNvPr id="20" name="Connector 19"/>
          <p:cNvCxnSpPr/>
          <p:nvPr/>
        </p:nvCxnSpPr>
        <p:spPr>
          <a:xfrm flipV="1">
            <a:off x="8778240" y="3136392"/>
            <a:ext cx="0" cy="246888"/>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05840" y="5852160"/>
            <a:ext cx="1014984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100" b="0" lang="ja-JP" altLang="en-US">
                <a:solidFill>
                  <a:srgbClr val="111111"/>
                </a:solidFill>
                <a:latin typeface="游ゴシック"/>
                <a:ea typeface="游ゴシック"/>
              </a:rPr>
              <a:t>入力系列を1つの固定長ベクトル h に変換し、出力系列を生成する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7.2 seq2seq</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Encoder：文章を固定長のベクトルへ</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16</a:t>
            </a:r>
          </a:p>
        </p:txBody>
      </p:sp>
      <p:sp>
        <p:nvSpPr>
          <p:cNvPr id="5" name="Rectangle 4"/>
          <p:cNvSpPr/>
          <p:nvPr/>
        </p:nvSpPr>
        <p:spPr>
          <a:xfrm>
            <a:off x="914400"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7</a:t>
            </a:r>
          </a:p>
        </p:txBody>
      </p:sp>
      <p:sp>
        <p:nvSpPr>
          <p:cNvPr id="6" name="Rectangle 5"/>
          <p:cNvSpPr/>
          <p:nvPr/>
        </p:nvSpPr>
        <p:spPr>
          <a:xfrm>
            <a:off x="914400"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7" name="Connector 6"/>
          <p:cNvCxnSpPr/>
          <p:nvPr/>
        </p:nvCxnSpPr>
        <p:spPr>
          <a:xfrm flipV="1">
            <a:off x="1229868"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600200"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773936"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1</a:t>
            </a:r>
          </a:p>
        </p:txBody>
      </p:sp>
      <p:sp>
        <p:nvSpPr>
          <p:cNvPr id="10" name="Rectangle 9"/>
          <p:cNvSpPr/>
          <p:nvPr/>
        </p:nvSpPr>
        <p:spPr>
          <a:xfrm>
            <a:off x="1773936"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11" name="Connector 10"/>
          <p:cNvCxnSpPr/>
          <p:nvPr/>
        </p:nvCxnSpPr>
        <p:spPr>
          <a:xfrm flipV="1">
            <a:off x="2089404"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59736"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633472"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t>
            </a:r>
          </a:p>
        </p:txBody>
      </p:sp>
      <p:sp>
        <p:nvSpPr>
          <p:cNvPr id="14" name="Rectangle 13"/>
          <p:cNvSpPr/>
          <p:nvPr/>
        </p:nvSpPr>
        <p:spPr>
          <a:xfrm>
            <a:off x="2633472"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15" name="Connector 14"/>
          <p:cNvCxnSpPr/>
          <p:nvPr/>
        </p:nvCxnSpPr>
        <p:spPr>
          <a:xfrm flipV="1">
            <a:off x="2948939"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319272"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493008"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1</a:t>
            </a:r>
          </a:p>
        </p:txBody>
      </p:sp>
      <p:sp>
        <p:nvSpPr>
          <p:cNvPr id="18" name="Rectangle 17"/>
          <p:cNvSpPr/>
          <p:nvPr/>
        </p:nvSpPr>
        <p:spPr>
          <a:xfrm>
            <a:off x="3493008"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19" name="Connector 18"/>
          <p:cNvCxnSpPr/>
          <p:nvPr/>
        </p:nvCxnSpPr>
        <p:spPr>
          <a:xfrm flipV="1">
            <a:off x="3808476"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178808"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352544"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1</a:t>
            </a:r>
          </a:p>
        </p:txBody>
      </p:sp>
      <p:sp>
        <p:nvSpPr>
          <p:cNvPr id="22" name="Rectangle 21"/>
          <p:cNvSpPr/>
          <p:nvPr/>
        </p:nvSpPr>
        <p:spPr>
          <a:xfrm>
            <a:off x="4352544"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23" name="Connector 22"/>
          <p:cNvCxnSpPr/>
          <p:nvPr/>
        </p:nvCxnSpPr>
        <p:spPr>
          <a:xfrm flipV="1">
            <a:off x="4668012"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38344" y="3703320"/>
            <a:ext cx="137160"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212079"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8</a:t>
            </a:r>
          </a:p>
        </p:txBody>
      </p:sp>
      <p:sp>
        <p:nvSpPr>
          <p:cNvPr id="26" name="Rectangle 25"/>
          <p:cNvSpPr/>
          <p:nvPr/>
        </p:nvSpPr>
        <p:spPr>
          <a:xfrm>
            <a:off x="5212079"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27" name="Connector 26"/>
          <p:cNvCxnSpPr/>
          <p:nvPr/>
        </p:nvCxnSpPr>
        <p:spPr>
          <a:xfrm flipV="1">
            <a:off x="5527547"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897879" y="3703320"/>
            <a:ext cx="137161"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071616" y="4800600"/>
            <a:ext cx="630936" cy="59436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t>
            </a:r>
          </a:p>
        </p:txBody>
      </p:sp>
      <p:sp>
        <p:nvSpPr>
          <p:cNvPr id="30" name="Rectangle 29"/>
          <p:cNvSpPr/>
          <p:nvPr/>
        </p:nvSpPr>
        <p:spPr>
          <a:xfrm>
            <a:off x="6071616" y="3383280"/>
            <a:ext cx="685800" cy="64008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400" lang="ja-JP" altLang="en-US">
                <a:solidFill>
                  <a:srgbClr val="111111"/>
                </a:solidFill>
                <a:latin typeface="游ゴシック"/>
                <a:ea typeface="游ゴシック"/>
              </a:rPr>
              <a:t>LSTM</a:t>
            </a:r>
          </a:p>
        </p:txBody>
      </p:sp>
      <p:cxnSp>
        <p:nvCxnSpPr>
          <p:cNvPr id="31" name="Connector 30"/>
          <p:cNvCxnSpPr/>
          <p:nvPr/>
        </p:nvCxnSpPr>
        <p:spPr>
          <a:xfrm flipV="1">
            <a:off x="6387083" y="4069080"/>
            <a:ext cx="0" cy="73152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14400" y="5632704"/>
            <a:ext cx="63093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Embedding を通した文字ベクトル</a:t>
            </a:r>
          </a:p>
        </p:txBody>
      </p:sp>
      <p:sp>
        <p:nvSpPr>
          <p:cNvPr id="33" name="Rounded Rectangle 32"/>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入力長は T</a:t>
            </a:r>
          </a:p>
        </p:txBody>
      </p:sp>
      <p:sp>
        <p:nvSpPr>
          <p:cNvPr id="35" name="TextBox 34"/>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文字列を左から順番に読む。</a:t>
            </a:r>
          </a:p>
        </p:txBody>
      </p:sp>
      <p:sp>
        <p:nvSpPr>
          <p:cNvPr id="36" name="Rounded Rectangle 35"/>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隠れ次元は H</a:t>
            </a:r>
          </a:p>
        </p:txBody>
      </p:sp>
      <p:sp>
        <p:nvSpPr>
          <p:cNvPr id="38" name="TextBox 37"/>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最後の h が入力全体の表現になる。</a:t>
            </a:r>
          </a:p>
        </p:txBody>
      </p:sp>
      <p:sp>
        <p:nvSpPr>
          <p:cNvPr id="39" name="Rounded Rectangle 38"/>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系列ごとに初期化</a:t>
            </a:r>
          </a:p>
        </p:txBody>
      </p:sp>
      <p:sp>
        <p:nvSpPr>
          <p:cNvPr id="41" name="TextBox 40"/>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別の問題文の状態を混ぜない。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7.2 seq2seq</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Decoder：hを条件に出力を1文字ずつ作る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17</a:t>
            </a:r>
          </a:p>
        </p:txBody>
      </p:sp>
      <p:sp>
        <p:nvSpPr>
          <p:cNvPr id="5" name="Rectangle 4"/>
          <p:cNvSpPr/>
          <p:nvPr/>
        </p:nvSpPr>
        <p:spPr>
          <a:xfrm>
            <a:off x="868680"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_</a:t>
            </a:r>
          </a:p>
        </p:txBody>
      </p:sp>
      <p:cxnSp>
        <p:nvCxnSpPr>
          <p:cNvPr id="6" name="Connector 5"/>
          <p:cNvCxnSpPr/>
          <p:nvPr/>
        </p:nvCxnSpPr>
        <p:spPr>
          <a:xfrm>
            <a:off x="2587752" y="3177539"/>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1</a:t>
            </a:r>
          </a:p>
        </p:txBody>
      </p:sp>
      <p:cxnSp>
        <p:nvCxnSpPr>
          <p:cNvPr id="8" name="Connector 7"/>
          <p:cNvCxnSpPr/>
          <p:nvPr/>
        </p:nvCxnSpPr>
        <p:spPr>
          <a:xfrm>
            <a:off x="4764024" y="3177539"/>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8</a:t>
            </a:r>
          </a:p>
        </p:txBody>
      </p:sp>
      <p:cxnSp>
        <p:nvCxnSpPr>
          <p:cNvPr id="10" name="Connector 9"/>
          <p:cNvCxnSpPr/>
          <p:nvPr/>
        </p:nvCxnSpPr>
        <p:spPr>
          <a:xfrm>
            <a:off x="6940296" y="3177539"/>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9</a:t>
            </a:r>
          </a:p>
        </p:txBody>
      </p:sp>
      <p:cxnSp>
        <p:nvCxnSpPr>
          <p:cNvPr id="12" name="Connector 11"/>
          <p:cNvCxnSpPr/>
          <p:nvPr/>
        </p:nvCxnSpPr>
        <p:spPr>
          <a:xfrm>
            <a:off x="9116568" y="3177539"/>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8892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a:t>
            </a:r>
          </a:p>
        </p:txBody>
      </p:sp>
      <p:sp>
        <p:nvSpPr>
          <p:cNvPr id="14" name="TextBox 13"/>
          <p:cNvSpPr txBox="1"/>
          <p:nvPr/>
        </p:nvSpPr>
        <p:spPr>
          <a:xfrm>
            <a:off x="1051560" y="3886200"/>
            <a:ext cx="1828800" cy="548640"/>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開始記号</a:t>
            </a:r>
          </a:p>
        </p:txBody>
      </p:sp>
      <p:sp>
        <p:nvSpPr>
          <p:cNvPr id="15" name="TextBox 14"/>
          <p:cNvSpPr txBox="1"/>
          <p:nvPr/>
        </p:nvSpPr>
        <p:spPr>
          <a:xfrm>
            <a:off x="3794760" y="3886200"/>
            <a:ext cx="667512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直前に生成した文字を、次の入力に使う</a:t>
            </a:r>
          </a:p>
        </p:txBody>
      </p:sp>
      <p:sp>
        <p:nvSpPr>
          <p:cNvPr id="16" name="Rectangle 15"/>
          <p:cNvSpPr/>
          <p:nvPr/>
        </p:nvSpPr>
        <p:spPr>
          <a:xfrm>
            <a:off x="1005840" y="5120640"/>
            <a:ext cx="10149840" cy="82296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Encoderの最後の h → Decoderの初期隠れ状態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7.2 seq2seq</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7.2.2 加算を「文字列の変換」として学ぶ</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18</a:t>
            </a:r>
          </a:p>
        </p:txBody>
      </p:sp>
      <p:graphicFrame>
        <p:nvGraphicFramePr>
          <p:cNvPr id="5" name="Table 4"/>
          <p:cNvGraphicFramePr>
            <a:graphicFrameLocks noGrp="1"/>
          </p:cNvGraphicFramePr>
          <p:nvPr/>
        </p:nvGraphicFramePr>
        <p:xfrm>
          <a:off x="1188720" y="2286000"/>
          <a:ext cx="6400800" cy="3108960"/>
        </p:xfrm>
        <a:graphic>
          <a:graphicData uri="http://schemas.openxmlformats.org/drawingml/2006/table">
            <a:tbl>
              <a:tblPr firstRow="1" bandRow="1">
                <a:tableStyleId>{5C22544A-7EE6-4342-B048-85BDC9FD1C3A}</a:tableStyleId>
              </a:tblPr>
              <a:tblGrid>
                <a:gridCol w="3200400"/>
                <a:gridCol w="3200400"/>
              </a:tblGrid>
              <a:tr h="621792">
                <a:tc>
                  <a:txBody>
                    <a:bodyPr/>
                    <a:lstStyle/>
                    <a:p>
                      <a:pPr>
                        <a:lnSpc>
                          <a:spcPct val="108000"/>
                        </a:lnSpc>
                        <a:spcAft>
                          <a:spcPts val="0"/>
                        </a:spcAft>
                      </a:pPr>
                      <a:r>
                        <a:rPr sz="2700" b="1" lang="ja-JP" altLang="en-US">
                          <a:solidFill>
                            <a:srgbClr val="111111"/>
                          </a:solidFill>
                          <a:latin typeface="游ゴシック"/>
                          <a:ea typeface="游ゴシック"/>
                        </a:rPr>
                        <a:t>入力文字列</a:t>
                      </a:r>
                    </a:p>
                  </a:txBody>
                  <a:tcPr marL="91440" marR="91440" anchor="ctr">
                    <a:solidFill>
                      <a:srgbClr val="EAF2F6"/>
                    </a:solidFill>
                  </a:tcPr>
                </a:tc>
                <a:tc>
                  <a:txBody>
                    <a:bodyPr/>
                    <a:lstStyle/>
                    <a:p>
                      <a:pPr>
                        <a:lnSpc>
                          <a:spcPct val="108000"/>
                        </a:lnSpc>
                        <a:spcAft>
                          <a:spcPts val="0"/>
                        </a:spcAft>
                      </a:pPr>
                      <a:r>
                        <a:rPr sz="2700" b="1" lang="ja-JP" altLang="en-US">
                          <a:solidFill>
                            <a:srgbClr val="111111"/>
                          </a:solidFill>
                          <a:latin typeface="游ゴシック"/>
                          <a:ea typeface="游ゴシック"/>
                        </a:rPr>
                        <a:t>出力文字列</a:t>
                      </a:r>
                    </a:p>
                  </a:txBody>
                  <a:tcPr marL="91440" marR="91440" anchor="ctr">
                    <a:solidFill>
                      <a:srgbClr val="EAF2F6"/>
                    </a:solidFill>
                  </a:tcPr>
                </a:tc>
              </a:tr>
              <a:tr h="621792">
                <a:tc>
                  <a:txBody>
                    <a:bodyPr/>
                    <a:lstStyle/>
                    <a:p>
                      <a:pPr>
                        <a:lnSpc>
                          <a:spcPct val="108000"/>
                        </a:lnSpc>
                        <a:spcAft>
                          <a:spcPts val="0"/>
                        </a:spcAft>
                      </a:pPr>
                      <a:r>
                        <a:rPr sz="2700" b="0" lang="ja-JP" altLang="en-US">
                          <a:solidFill>
                            <a:srgbClr val="111111"/>
                          </a:solidFill>
                          <a:latin typeface="游ゴシック"/>
                          <a:ea typeface="游ゴシック"/>
                        </a:rPr>
                        <a:t>57+5</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62</a:t>
                      </a:r>
                    </a:p>
                  </a:txBody>
                  <a:tcPr marL="91440" marR="91440" anchor="ctr">
                    <a:solidFill>
                      <a:srgbClr val="FFFFFF"/>
                    </a:solidFill>
                  </a:tcPr>
                </a:tc>
              </a:tr>
              <a:tr h="621792">
                <a:tc>
                  <a:txBody>
                    <a:bodyPr/>
                    <a:lstStyle/>
                    <a:p>
                      <a:pPr>
                        <a:lnSpc>
                          <a:spcPct val="108000"/>
                        </a:lnSpc>
                        <a:spcAft>
                          <a:spcPts val="0"/>
                        </a:spcAft>
                      </a:pPr>
                      <a:r>
                        <a:rPr sz="2700" b="0" lang="ja-JP" altLang="en-US">
                          <a:solidFill>
                            <a:srgbClr val="111111"/>
                          </a:solidFill>
                          <a:latin typeface="游ゴシック"/>
                          <a:ea typeface="游ゴシック"/>
                        </a:rPr>
                        <a:t>628+521</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1149</a:t>
                      </a:r>
                    </a:p>
                  </a:txBody>
                  <a:tcPr marL="91440" marR="91440" anchor="ctr">
                    <a:solidFill>
                      <a:srgbClr val="FFFFFF"/>
                    </a:solidFill>
                  </a:tcPr>
                </a:tc>
              </a:tr>
              <a:tr h="621792">
                <a:tc>
                  <a:txBody>
                    <a:bodyPr/>
                    <a:lstStyle/>
                    <a:p>
                      <a:pPr>
                        <a:lnSpc>
                          <a:spcPct val="108000"/>
                        </a:lnSpc>
                        <a:spcAft>
                          <a:spcPts val="0"/>
                        </a:spcAft>
                      </a:pPr>
                      <a:r>
                        <a:rPr sz="2700" b="0" lang="ja-JP" altLang="en-US">
                          <a:solidFill>
                            <a:srgbClr val="111111"/>
                          </a:solidFill>
                          <a:latin typeface="游ゴシック"/>
                          <a:ea typeface="游ゴシック"/>
                        </a:rPr>
                        <a:t>71+118</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189</a:t>
                      </a:r>
                    </a:p>
                  </a:txBody>
                  <a:tcPr marL="91440" marR="91440" anchor="ctr">
                    <a:solidFill>
                      <a:srgbClr val="FFFFFF"/>
                    </a:solidFill>
                  </a:tcPr>
                </a:tc>
              </a:tr>
              <a:tr h="621792">
                <a:tc>
                  <a:txBody>
                    <a:bodyPr/>
                    <a:lstStyle/>
                    <a:p>
                      <a:pPr>
                        <a:lnSpc>
                          <a:spcPct val="108000"/>
                        </a:lnSpc>
                        <a:spcAft>
                          <a:spcPts val="0"/>
                        </a:spcAft>
                      </a:pPr>
                      <a:r>
                        <a:rPr sz="2700" b="0" lang="ja-JP" altLang="en-US">
                          <a:solidFill>
                            <a:srgbClr val="111111"/>
                          </a:solidFill>
                          <a:latin typeface="游ゴシック"/>
                          <a:ea typeface="游ゴシック"/>
                        </a:rPr>
                        <a:t>123+89</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212</a:t>
                      </a:r>
                    </a:p>
                  </a:txBody>
                  <a:tcPr marL="91440" marR="91440" anchor="ctr">
                    <a:solidFill>
                      <a:srgbClr val="FFFFFF"/>
                    </a:solidFill>
                  </a:tcPr>
                </a:tc>
              </a:tr>
            </a:tbl>
          </a:graphicData>
        </a:graphic>
      </p:graphicFrame>
      <p:sp>
        <p:nvSpPr>
          <p:cNvPr id="6" name="Rounded Rectangle 5"/>
          <p:cNvSpPr/>
          <p:nvPr/>
        </p:nvSpPr>
        <p:spPr>
          <a:xfrm>
            <a:off x="7909560" y="2286000"/>
            <a:ext cx="3337560" cy="15087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2340864"/>
            <a:ext cx="315467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1文字が1トークン</a:t>
            </a:r>
          </a:p>
        </p:txBody>
      </p:sp>
      <p:sp>
        <p:nvSpPr>
          <p:cNvPr id="8" name="TextBox 7"/>
          <p:cNvSpPr txBox="1"/>
          <p:nvPr/>
        </p:nvSpPr>
        <p:spPr>
          <a:xfrm>
            <a:off x="8001000" y="2706624"/>
            <a:ext cx="3154679" cy="106984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単語ではなく、数字・記号・空白を扱う。</a:t>
            </a:r>
          </a:p>
        </p:txBody>
      </p:sp>
      <p:sp>
        <p:nvSpPr>
          <p:cNvPr id="9" name="Rounded Rectangle 8"/>
          <p:cNvSpPr/>
          <p:nvPr/>
        </p:nvSpPr>
        <p:spPr>
          <a:xfrm>
            <a:off x="7909560" y="4069080"/>
            <a:ext cx="3337560" cy="15087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4123944"/>
            <a:ext cx="315467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入力と出力の長さ</a:t>
            </a:r>
          </a:p>
        </p:txBody>
      </p:sp>
      <p:sp>
        <p:nvSpPr>
          <p:cNvPr id="11" name="TextBox 10"/>
          <p:cNvSpPr txBox="1"/>
          <p:nvPr/>
        </p:nvSpPr>
        <p:spPr>
          <a:xfrm>
            <a:off x="8001000" y="4489704"/>
            <a:ext cx="3154679" cy="106984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問題文と答えは、長さが一致しなくてよい。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7.2 seq2seq</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7.2.3 可変長データをパディングする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19</a:t>
            </a:r>
          </a:p>
        </p:txBody>
      </p:sp>
      <p:sp>
        <p:nvSpPr>
          <p:cNvPr id="5" name="TextBox 4"/>
          <p:cNvSpPr txBox="1"/>
          <p:nvPr/>
        </p:nvSpPr>
        <p:spPr>
          <a:xfrm>
            <a:off x="1005840" y="2057400"/>
            <a:ext cx="64008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問題文：7文字</a:t>
            </a:r>
          </a:p>
        </p:txBody>
      </p:sp>
      <p:sp>
        <p:nvSpPr>
          <p:cNvPr id="6" name="Rectangle 5"/>
          <p:cNvSpPr/>
          <p:nvPr/>
        </p:nvSpPr>
        <p:spPr>
          <a:xfrm>
            <a:off x="1005840"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7</a:t>
            </a:r>
          </a:p>
        </p:txBody>
      </p:sp>
      <p:sp>
        <p:nvSpPr>
          <p:cNvPr id="7" name="Rectangle 6"/>
          <p:cNvSpPr/>
          <p:nvPr/>
        </p:nvSpPr>
        <p:spPr>
          <a:xfrm>
            <a:off x="1947672"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1</a:t>
            </a:r>
          </a:p>
        </p:txBody>
      </p:sp>
      <p:sp>
        <p:nvSpPr>
          <p:cNvPr id="8" name="Rectangle 7"/>
          <p:cNvSpPr/>
          <p:nvPr/>
        </p:nvSpPr>
        <p:spPr>
          <a:xfrm>
            <a:off x="2889504"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a:t>
            </a:r>
          </a:p>
        </p:txBody>
      </p:sp>
      <p:sp>
        <p:nvSpPr>
          <p:cNvPr id="9" name="Rectangle 8"/>
          <p:cNvSpPr/>
          <p:nvPr/>
        </p:nvSpPr>
        <p:spPr>
          <a:xfrm>
            <a:off x="3831335"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1</a:t>
            </a:r>
          </a:p>
        </p:txBody>
      </p:sp>
      <p:sp>
        <p:nvSpPr>
          <p:cNvPr id="10" name="Rectangle 9"/>
          <p:cNvSpPr/>
          <p:nvPr/>
        </p:nvSpPr>
        <p:spPr>
          <a:xfrm>
            <a:off x="4773168"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1</a:t>
            </a:r>
          </a:p>
        </p:txBody>
      </p:sp>
      <p:sp>
        <p:nvSpPr>
          <p:cNvPr id="11" name="Rectangle 10"/>
          <p:cNvSpPr/>
          <p:nvPr/>
        </p:nvSpPr>
        <p:spPr>
          <a:xfrm>
            <a:off x="5715000" y="278892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8</a:t>
            </a:r>
          </a:p>
        </p:txBody>
      </p:sp>
      <p:sp>
        <p:nvSpPr>
          <p:cNvPr id="12" name="Rectangle 11"/>
          <p:cNvSpPr/>
          <p:nvPr/>
        </p:nvSpPr>
        <p:spPr>
          <a:xfrm>
            <a:off x="6656831" y="2788920"/>
            <a:ext cx="786384" cy="685800"/>
          </a:xfrm>
          <a:prstGeom prst="rect">
            <a:avLst/>
          </a:prstGeom>
          <a:solidFill>
            <a:srgbClr val="EAF2F6"/>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a:t>
            </a:r>
          </a:p>
        </p:txBody>
      </p:sp>
      <p:sp>
        <p:nvSpPr>
          <p:cNvPr id="13" name="TextBox 12"/>
          <p:cNvSpPr txBox="1"/>
          <p:nvPr/>
        </p:nvSpPr>
        <p:spPr>
          <a:xfrm>
            <a:off x="1005840" y="3931920"/>
            <a:ext cx="91440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答え：5文字（開始記号を含む）</a:t>
            </a:r>
          </a:p>
        </p:txBody>
      </p:sp>
      <p:sp>
        <p:nvSpPr>
          <p:cNvPr id="14" name="Rectangle 13"/>
          <p:cNvSpPr/>
          <p:nvPr/>
        </p:nvSpPr>
        <p:spPr>
          <a:xfrm>
            <a:off x="1005840" y="4663440"/>
            <a:ext cx="786384" cy="685800"/>
          </a:xfrm>
          <a:prstGeom prst="rect">
            <a:avLst/>
          </a:prstGeom>
          <a:solidFill>
            <a:srgbClr val="EAF2F6"/>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_</a:t>
            </a:r>
          </a:p>
        </p:txBody>
      </p:sp>
      <p:sp>
        <p:nvSpPr>
          <p:cNvPr id="15" name="Rectangle 14"/>
          <p:cNvSpPr/>
          <p:nvPr/>
        </p:nvSpPr>
        <p:spPr>
          <a:xfrm>
            <a:off x="1947672" y="466344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1</a:t>
            </a:r>
          </a:p>
        </p:txBody>
      </p:sp>
      <p:sp>
        <p:nvSpPr>
          <p:cNvPr id="16" name="Rectangle 15"/>
          <p:cNvSpPr/>
          <p:nvPr/>
        </p:nvSpPr>
        <p:spPr>
          <a:xfrm>
            <a:off x="2889504" y="466344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8</a:t>
            </a:r>
          </a:p>
        </p:txBody>
      </p:sp>
      <p:sp>
        <p:nvSpPr>
          <p:cNvPr id="17" name="Rectangle 16"/>
          <p:cNvSpPr/>
          <p:nvPr/>
        </p:nvSpPr>
        <p:spPr>
          <a:xfrm>
            <a:off x="3831335" y="4663440"/>
            <a:ext cx="786384" cy="68580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9</a:t>
            </a:r>
          </a:p>
        </p:txBody>
      </p:sp>
      <p:sp>
        <p:nvSpPr>
          <p:cNvPr id="18" name="Rectangle 17"/>
          <p:cNvSpPr/>
          <p:nvPr/>
        </p:nvSpPr>
        <p:spPr>
          <a:xfrm>
            <a:off x="4773168" y="4663440"/>
            <a:ext cx="786384" cy="685800"/>
          </a:xfrm>
          <a:prstGeom prst="rect">
            <a:avLst/>
          </a:prstGeom>
          <a:solidFill>
            <a:srgbClr val="EAF2F6"/>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600" lang="ja-JP" altLang="en-US">
                <a:solidFill>
                  <a:srgbClr val="111111"/>
                </a:solidFill>
                <a:latin typeface="游ゴシック"/>
                <a:ea typeface="游ゴシック"/>
              </a:rPr>
              <a:t>␣</a:t>
            </a:r>
          </a:p>
        </p:txBody>
      </p:sp>
      <p:sp>
        <p:nvSpPr>
          <p:cNvPr id="19" name="TextBox 18"/>
          <p:cNvSpPr txBox="1"/>
          <p:nvPr/>
        </p:nvSpPr>
        <p:spPr>
          <a:xfrm>
            <a:off x="1005840" y="5760720"/>
            <a:ext cx="1014984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 は空白を見える形で表したもの。開始記号 _ は答えの生成開始を表す。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7.2 seq2seq</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7.2.4 加算データセットを読み込む</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20</a:t>
            </a:r>
          </a:p>
        </p:txBody>
      </p:sp>
      <p:sp>
        <p:nvSpPr>
          <p:cNvPr id="5" name="TextBox 4"/>
          <p:cNvSpPr txBox="1"/>
          <p:nvPr/>
        </p:nvSpPr>
        <p:spPr>
          <a:xfrm>
            <a:off x="868680" y="2029968"/>
            <a:ext cx="640080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100" b="0" lang="ja-JP" altLang="en-US">
                <a:solidFill>
                  <a:srgbClr val="D4D4D4"/>
                </a:solidFill>
                <a:latin typeface="Consolas"/>
                <a:ea typeface="游ゴシック"/>
              </a:rPr>
              <a:t>(45000, 7) (45000, 5)</a:t>
            </a:r>
          </a:p>
          <a:p>
            <a:pPr algn="l">
              <a:lnSpc>
                <a:spcPct val="108000"/>
              </a:lnSpc>
              <a:spcBef>
                <a:spcPts val="0"/>
              </a:spcBef>
              <a:spcAft>
                <a:spcPts val="400"/>
              </a:spcAft>
            </a:pPr>
            <a:r>
              <a:rPr sz="2100" b="0" lang="ja-JP" altLang="en-US">
                <a:solidFill>
                  <a:srgbClr val="D4D4D4"/>
                </a:solidFill>
                <a:latin typeface="Consolas"/>
                <a:ea typeface="游ゴシック"/>
              </a:rPr>
              <a:t>(5000, 7) (5000, 5)</a:t>
            </a:r>
          </a:p>
          <a:p>
            <a:pPr algn="l">
              <a:lnSpc>
                <a:spcPct val="108000"/>
              </a:lnSpc>
              <a:spcBef>
                <a:spcPts val="0"/>
              </a:spcBef>
              <a:spcAft>
                <a:spcPts val="400"/>
              </a:spcAft>
            </a:pPr>
            <a:r>
              <a:rPr sz="2100" b="0" lang="ja-JP" altLang="en-US">
                <a:solidFill>
                  <a:srgbClr val="D4D4D4"/>
                </a:solidFill>
                <a:latin typeface="Consolas"/>
                <a:ea typeface="游ゴシック"/>
              </a:rPr>
              <a:t>[ 3  0  2  0  0 11  5]</a:t>
            </a:r>
          </a:p>
          <a:p>
            <a:pPr algn="l">
              <a:lnSpc>
                <a:spcPct val="108000"/>
              </a:lnSpc>
              <a:spcBef>
                <a:spcPts val="0"/>
              </a:spcBef>
              <a:spcAft>
                <a:spcPts val="400"/>
              </a:spcAft>
            </a:pPr>
            <a:r>
              <a:rPr sz="2100" b="0" lang="ja-JP" altLang="en-US">
                <a:solidFill>
                  <a:srgbClr val="D4D4D4"/>
                </a:solidFill>
                <a:latin typeface="Consolas"/>
                <a:ea typeface="游ゴシック"/>
              </a:rPr>
              <a:t>[ 6  0 11  7  5]</a:t>
            </a:r>
          </a:p>
          <a:p>
            <a:pPr algn="l">
              <a:lnSpc>
                <a:spcPct val="108000"/>
              </a:lnSpc>
              <a:spcBef>
                <a:spcPts val="0"/>
              </a:spcBef>
              <a:spcAft>
                <a:spcPts val="400"/>
              </a:spcAft>
            </a:pPr>
            <a:r>
              <a:rPr sz="2100" b="0" lang="ja-JP" altLang="en-US">
                <a:solidFill>
                  <a:srgbClr val="D4D4D4"/>
                </a:solidFill>
                <a:latin typeface="Consolas"/>
                <a:ea typeface="游ゴシック"/>
              </a:rPr>
              <a:t>71+118 </a:t>
            </a:r>
          </a:p>
          <a:p>
            <a:pPr algn="l">
              <a:lnSpc>
                <a:spcPct val="108000"/>
              </a:lnSpc>
              <a:spcBef>
                <a:spcPts val="0"/>
              </a:spcBef>
              <a:spcAft>
                <a:spcPts val="400"/>
              </a:spcAft>
            </a:pPr>
            <a:r>
              <a:rPr sz="2100" b="0" lang="ja-JP" altLang="en-US">
                <a:solidFill>
                  <a:srgbClr val="D4D4D4"/>
                </a:solidFill>
                <a:latin typeface="Consolas"/>
                <a:ea typeface="游ゴシック"/>
              </a:rPr>
              <a:t>_189</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訓練データ</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x：(45000, 7)</a:t>
            </a:r>
          </a:p>
          <a:p>
            <a:pPr algn="l">
              <a:lnSpc>
                <a:spcPct val="108000"/>
              </a:lnSpc>
              <a:spcBef>
                <a:spcPts val="0"/>
              </a:spcBef>
              <a:spcAft>
                <a:spcPts val="400"/>
              </a:spcAft>
            </a:pPr>
            <a:r>
              <a:rPr sz="1800" b="0" lang="ja-JP" altLang="en-US">
                <a:solidFill>
                  <a:srgbClr val="111111"/>
                </a:solidFill>
                <a:latin typeface="游ゴシック"/>
                <a:ea typeface="游ゴシック"/>
              </a:rPr>
              <a:t>t：(45000, 5)</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評価データ</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x：(5000, 7)</a:t>
            </a:r>
          </a:p>
          <a:p>
            <a:pPr algn="l">
              <a:lnSpc>
                <a:spcPct val="108000"/>
              </a:lnSpc>
              <a:spcBef>
                <a:spcPts val="0"/>
              </a:spcBef>
              <a:spcAft>
                <a:spcPts val="400"/>
              </a:spcAft>
            </a:pPr>
            <a:r>
              <a:rPr sz="1800" b="0" lang="ja-JP" altLang="en-US">
                <a:solidFill>
                  <a:srgbClr val="111111"/>
                </a:solidFill>
                <a:latin typeface="游ゴシック"/>
                <a:ea typeface="游ゴシック"/>
              </a:rPr>
              <a:t>t：(5000, 5)</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語彙は13文字</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数字10種類・+・_・空白。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学習時：答えを1文字ずらして使う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21</a:t>
            </a:r>
          </a:p>
        </p:txBody>
      </p:sp>
      <p:sp>
        <p:nvSpPr>
          <p:cNvPr id="5" name="TextBox 4"/>
          <p:cNvSpPr txBox="1"/>
          <p:nvPr/>
        </p:nvSpPr>
        <p:spPr>
          <a:xfrm>
            <a:off x="1097280" y="2103120"/>
            <a:ext cx="9144000" cy="548640"/>
          </a:xfrm>
          <a:prstGeom prst="rect">
            <a:avLst/>
          </a:prstGeom>
          <a:noFill/>
        </p:spPr>
        <p:txBody>
          <a:bodyPr wrap="square" lIns="54864" rIns="54864" tIns="54864" bIns="54864">
            <a:spAutoFit/>
          </a:bodyPr>
          <a:lstStyle/>
          <a:p>
            <a:pPr algn="l">
              <a:lnSpc>
                <a:spcPct val="108000"/>
              </a:lnSpc>
              <a:spcBef>
                <a:spcPts val="0"/>
              </a:spcBef>
              <a:spcAft>
                <a:spcPts val="400"/>
              </a:spcAft>
            </a:pPr>
            <a:r>
              <a:rPr sz="2900" b="0" lang="ja-JP" altLang="en-US">
                <a:solidFill>
                  <a:srgbClr val="111111"/>
                </a:solidFill>
                <a:latin typeface="游ゴシック"/>
                <a:ea typeface="游ゴシック"/>
              </a:rPr>
              <a:t>ts =「_189␣」</a:t>
            </a:r>
          </a:p>
        </p:txBody>
      </p:sp>
      <p:graphicFrame>
        <p:nvGraphicFramePr>
          <p:cNvPr id="6" name="Table 5"/>
          <p:cNvGraphicFramePr>
            <a:graphicFrameLocks noGrp="1"/>
          </p:cNvGraphicFramePr>
          <p:nvPr/>
        </p:nvGraphicFramePr>
        <p:xfrm>
          <a:off x="1005840" y="2971800"/>
          <a:ext cx="10149840" cy="1737360"/>
        </p:xfrm>
        <a:graphic>
          <a:graphicData uri="http://schemas.openxmlformats.org/drawingml/2006/table">
            <a:tbl>
              <a:tblPr firstRow="1" bandRow="1">
                <a:tableStyleId>{5C22544A-7EE6-4342-B048-85BDC9FD1C3A}</a:tableStyleId>
              </a:tblPr>
              <a:tblGrid>
                <a:gridCol w="2834640"/>
                <a:gridCol w="1828800"/>
                <a:gridCol w="1828800"/>
                <a:gridCol w="1828800"/>
                <a:gridCol w="1828800"/>
              </a:tblGrid>
              <a:tr h="579120">
                <a:tc>
                  <a:txBody>
                    <a:bodyPr/>
                    <a:lstStyle/>
                    <a:p>
                      <a:pPr>
                        <a:lnSpc>
                          <a:spcPct val="108000"/>
                        </a:lnSpc>
                        <a:spcAft>
                          <a:spcPts val="0"/>
                        </a:spcAft>
                      </a:pP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時刻0</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時刻1</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時刻2</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時刻3</a:t>
                      </a:r>
                    </a:p>
                  </a:txBody>
                  <a:tcPr marL="91440" marR="91440" anchor="ctr">
                    <a:solidFill>
                      <a:srgbClr val="EAF2F6"/>
                    </a:solidFill>
                  </a:tcPr>
                </a:tc>
              </a:tr>
              <a:tr h="579120">
                <a:tc>
                  <a:txBody>
                    <a:bodyPr/>
                    <a:lstStyle/>
                    <a:p>
                      <a:pPr>
                        <a:lnSpc>
                          <a:spcPct val="108000"/>
                        </a:lnSpc>
                        <a:spcAft>
                          <a:spcPts val="0"/>
                        </a:spcAft>
                      </a:pPr>
                      <a:r>
                        <a:rPr sz="2500" b="0" lang="ja-JP" altLang="en-US">
                          <a:solidFill>
                            <a:srgbClr val="111111"/>
                          </a:solidFill>
                          <a:latin typeface="游ゴシック"/>
                          <a:ea typeface="游ゴシック"/>
                        </a:rPr>
                        <a:t>Decoder入力</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_</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1</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8</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9</a:t>
                      </a:r>
                    </a:p>
                  </a:txBody>
                  <a:tcPr marL="91440" marR="91440" anchor="ctr">
                    <a:solidFill>
                      <a:srgbClr val="FFFFFF"/>
                    </a:solidFill>
                  </a:tcPr>
                </a:tc>
              </a:tr>
              <a:tr h="579120">
                <a:tc>
                  <a:txBody>
                    <a:bodyPr/>
                    <a:lstStyle/>
                    <a:p>
                      <a:pPr>
                        <a:lnSpc>
                          <a:spcPct val="108000"/>
                        </a:lnSpc>
                        <a:spcAft>
                          <a:spcPts val="0"/>
                        </a:spcAft>
                      </a:pPr>
                      <a:r>
                        <a:rPr sz="2500" b="0" lang="ja-JP" altLang="en-US">
                          <a:solidFill>
                            <a:srgbClr val="111111"/>
                          </a:solidFill>
                          <a:latin typeface="游ゴシック"/>
                          <a:ea typeface="游ゴシック"/>
                        </a:rPr>
                        <a:t>予測する正解</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1</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8</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9</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a:t>
                      </a:r>
                    </a:p>
                  </a:txBody>
                  <a:tcPr marL="91440" marR="91440" anchor="ctr">
                    <a:solidFill>
                      <a:srgbClr val="FFFFFF"/>
                    </a:solidFill>
                  </a:tcPr>
                </a:tc>
              </a:tr>
            </a:tbl>
          </a:graphicData>
        </a:graphic>
      </p:graphicFrame>
      <p:sp>
        <p:nvSpPr>
          <p:cNvPr id="7" name="TextBox 6"/>
          <p:cNvSpPr txBox="1"/>
          <p:nvPr/>
        </p:nvSpPr>
        <p:spPr>
          <a:xfrm>
            <a:off x="1097280" y="5303520"/>
            <a:ext cx="1005840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Consolas"/>
                <a:ea typeface="游ゴシック"/>
              </a:rPr>
              <a:t>decoder_xs = ts[:, :-1]     decoder_ts = ts[:, 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学習時と生成時の違い</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22</a:t>
            </a:r>
          </a:p>
        </p:txBody>
      </p:sp>
      <p:graphicFrame>
        <p:nvGraphicFramePr>
          <p:cNvPr id="5" name="Table 4"/>
          <p:cNvGraphicFramePr>
            <a:graphicFrameLocks noGrp="1"/>
          </p:cNvGraphicFramePr>
          <p:nvPr/>
        </p:nvGraphicFramePr>
        <p:xfrm>
          <a:off x="868680" y="2103120"/>
          <a:ext cx="10469880" cy="3383280"/>
        </p:xfrm>
        <a:graphic>
          <a:graphicData uri="http://schemas.openxmlformats.org/drawingml/2006/table">
            <a:tbl>
              <a:tblPr firstRow="1" bandRow="1">
                <a:tableStyleId>{5C22544A-7EE6-4342-B048-85BDC9FD1C3A}</a:tableStyleId>
              </a:tblPr>
              <a:tblGrid>
                <a:gridCol w="1828800"/>
                <a:gridCol w="4297680"/>
                <a:gridCol w="4343400"/>
              </a:tblGrid>
              <a:tr h="676656">
                <a:tc>
                  <a:txBody>
                    <a:bodyPr/>
                    <a:lstStyle/>
                    <a:p>
                      <a:pPr>
                        <a:lnSpc>
                          <a:spcPct val="108000"/>
                        </a:lnSpc>
                        <a:spcAft>
                          <a:spcPts val="0"/>
                        </a:spcAft>
                      </a:pPr>
                      <a:r>
                        <a:rPr sz="2100" b="1" lang="ja-JP" altLang="en-US">
                          <a:solidFill>
                            <a:srgbClr val="111111"/>
                          </a:solidFill>
                          <a:latin typeface="游ゴシック"/>
                          <a:ea typeface="游ゴシック"/>
                        </a:rPr>
                        <a:t>項目</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学習時</a:t>
                      </a:r>
                    </a:p>
                  </a:txBody>
                  <a:tcPr marL="91440" marR="91440" anchor="ctr">
                    <a:solidFill>
                      <a:srgbClr val="EAF2F6"/>
                    </a:solidFill>
                  </a:tcPr>
                </a:tc>
                <a:tc>
                  <a:txBody>
                    <a:bodyPr/>
                    <a:lstStyle/>
                    <a:p>
                      <a:pPr>
                        <a:lnSpc>
                          <a:spcPct val="108000"/>
                        </a:lnSpc>
                        <a:spcAft>
                          <a:spcPts val="0"/>
                        </a:spcAft>
                      </a:pPr>
                      <a:r>
                        <a:rPr sz="2100" b="1" lang="ja-JP" altLang="en-US">
                          <a:solidFill>
                            <a:srgbClr val="111111"/>
                          </a:solidFill>
                          <a:latin typeface="游ゴシック"/>
                          <a:ea typeface="游ゴシック"/>
                        </a:rPr>
                        <a:t>生成時</a:t>
                      </a:r>
                    </a:p>
                  </a:txBody>
                  <a:tcPr marL="91440" marR="91440" anchor="ctr">
                    <a:solidFill>
                      <a:srgbClr val="EAF2F6"/>
                    </a:solidFill>
                  </a:tcPr>
                </a:tc>
              </a:tr>
              <a:tr h="676656">
                <a:tc>
                  <a:txBody>
                    <a:bodyPr/>
                    <a:lstStyle/>
                    <a:p>
                      <a:pPr>
                        <a:lnSpc>
                          <a:spcPct val="108000"/>
                        </a:lnSpc>
                        <a:spcAft>
                          <a:spcPts val="0"/>
                        </a:spcAft>
                      </a:pPr>
                      <a:r>
                        <a:rPr sz="2100" b="0" lang="ja-JP" altLang="en-US">
                          <a:solidFill>
                            <a:srgbClr val="111111"/>
                          </a:solidFill>
                          <a:latin typeface="游ゴシック"/>
                          <a:ea typeface="游ゴシック"/>
                        </a:rPr>
                        <a:t>次の入力</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正解の直前文字</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自分が生成した直前文字</a:t>
                      </a:r>
                    </a:p>
                  </a:txBody>
                  <a:tcPr marL="91440" marR="91440" anchor="ctr">
                    <a:solidFill>
                      <a:srgbClr val="FFFFFF"/>
                    </a:solidFill>
                  </a:tcPr>
                </a:tc>
              </a:tr>
              <a:tr h="676656">
                <a:tc>
                  <a:txBody>
                    <a:bodyPr/>
                    <a:lstStyle/>
                    <a:p>
                      <a:pPr>
                        <a:lnSpc>
                          <a:spcPct val="108000"/>
                        </a:lnSpc>
                        <a:spcAft>
                          <a:spcPts val="0"/>
                        </a:spcAft>
                      </a:pPr>
                      <a:r>
                        <a:rPr sz="2100" b="0" lang="ja-JP" altLang="en-US">
                          <a:solidFill>
                            <a:srgbClr val="111111"/>
                          </a:solidFill>
                          <a:latin typeface="游ゴシック"/>
                          <a:ea typeface="游ゴシック"/>
                        </a:rPr>
                        <a:t>出力の扱い</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正解と比較して損失を計算</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argmaxで1文字を決める</a:t>
                      </a:r>
                    </a:p>
                  </a:txBody>
                  <a:tcPr marL="91440" marR="91440" anchor="ctr">
                    <a:solidFill>
                      <a:srgbClr val="FFFFFF"/>
                    </a:solidFill>
                  </a:tcPr>
                </a:tc>
              </a:tr>
              <a:tr h="676656">
                <a:tc>
                  <a:txBody>
                    <a:bodyPr/>
                    <a:lstStyle/>
                    <a:p>
                      <a:pPr>
                        <a:lnSpc>
                          <a:spcPct val="108000"/>
                        </a:lnSpc>
                        <a:spcAft>
                          <a:spcPts val="0"/>
                        </a:spcAft>
                      </a:pPr>
                      <a:r>
                        <a:rPr sz="2100" b="0" lang="ja-JP" altLang="en-US">
                          <a:solidFill>
                            <a:srgbClr val="111111"/>
                          </a:solidFill>
                          <a:latin typeface="游ゴシック"/>
                          <a:ea typeface="游ゴシック"/>
                        </a:rPr>
                        <a:t>重み</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逆伝播とAdamで更新</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更新しない</a:t>
                      </a:r>
                    </a:p>
                  </a:txBody>
                  <a:tcPr marL="91440" marR="91440" anchor="ctr">
                    <a:solidFill>
                      <a:srgbClr val="FFFFFF"/>
                    </a:solidFill>
                  </a:tcPr>
                </a:tc>
              </a:tr>
              <a:tr h="676656">
                <a:tc>
                  <a:txBody>
                    <a:bodyPr/>
                    <a:lstStyle/>
                    <a:p>
                      <a:pPr>
                        <a:lnSpc>
                          <a:spcPct val="108000"/>
                        </a:lnSpc>
                        <a:spcAft>
                          <a:spcPts val="0"/>
                        </a:spcAft>
                      </a:pPr>
                      <a:r>
                        <a:rPr sz="2100" b="0" lang="ja-JP" altLang="en-US">
                          <a:solidFill>
                            <a:srgbClr val="111111"/>
                          </a:solidFill>
                          <a:latin typeface="游ゴシック"/>
                          <a:ea typeface="游ゴシック"/>
                        </a:rPr>
                        <a:t>目的</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次の文字を正しく予測</a:t>
                      </a:r>
                    </a:p>
                  </a:txBody>
                  <a:tcPr marL="91440" marR="91440" anchor="ctr">
                    <a:solidFill>
                      <a:srgbClr val="FFFFFF"/>
                    </a:solidFill>
                  </a:tcPr>
                </a:tc>
                <a:tc>
                  <a:txBody>
                    <a:bodyPr/>
                    <a:lstStyle/>
                    <a:p>
                      <a:pPr>
                        <a:lnSpc>
                          <a:spcPct val="108000"/>
                        </a:lnSpc>
                        <a:spcAft>
                          <a:spcPts val="0"/>
                        </a:spcAft>
                      </a:pPr>
                      <a:r>
                        <a:rPr sz="2100" b="0" lang="ja-JP" altLang="en-US">
                          <a:solidFill>
                            <a:srgbClr val="111111"/>
                          </a:solidFill>
                          <a:latin typeface="游ゴシック"/>
                          <a:ea typeface="游ゴシック"/>
                        </a:rPr>
                        <a:t>答え全体を生成</a:t>
                      </a:r>
                    </a:p>
                  </a:txBody>
                  <a:tcPr marL="91440" marR="91440" anchor="ctr">
                    <a:solidFill>
                      <a:srgbClr val="FFFFFF"/>
                    </a:solidFill>
                  </a:tcPr>
                </a:tc>
              </a:tr>
            </a:tbl>
          </a:graphicData>
        </a:graphic>
      </p:graphicFrame>
      <p:sp>
        <p:nvSpPr>
          <p:cNvPr id="6" name="TextBox 5"/>
          <p:cNvSpPr txBox="1"/>
          <p:nvPr/>
        </p:nvSpPr>
        <p:spPr>
          <a:xfrm>
            <a:off x="914400" y="5852160"/>
            <a:ext cx="104241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900" b="0" lang="ja-JP" altLang="en-US">
                <a:solidFill>
                  <a:srgbClr val="111111"/>
                </a:solidFill>
                <a:latin typeface="游ゴシック"/>
                <a:ea typeface="游ゴシック"/>
              </a:rPr>
              <a:t>本章のDecoderはargmax。7.1の文章生成のサンプリングとは選び方が異なる。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損失と評価指標は、見ているものが違う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23</a:t>
            </a:r>
          </a:p>
        </p:txBody>
      </p:sp>
      <p:sp>
        <p:nvSpPr>
          <p:cNvPr id="5" name="Rounded Rectangle 4"/>
          <p:cNvSpPr/>
          <p:nvPr/>
        </p:nvSpPr>
        <p:spPr>
          <a:xfrm>
            <a:off x="1005840" y="2286000"/>
            <a:ext cx="4846320" cy="18288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340864"/>
            <a:ext cx="466344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学習：交差エントロピー</a:t>
            </a:r>
          </a:p>
        </p:txBody>
      </p:sp>
      <p:sp>
        <p:nvSpPr>
          <p:cNvPr id="7" name="TextBox 6"/>
          <p:cNvSpPr txBox="1"/>
          <p:nvPr/>
        </p:nvSpPr>
        <p:spPr>
          <a:xfrm>
            <a:off x="1097280" y="2706624"/>
            <a:ext cx="4663440" cy="13898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L = −平均 log P(正解の文字)</a:t>
            </a:r>
          </a:p>
          <a:p>
            <a:pPr algn="l">
              <a:lnSpc>
                <a:spcPct val="108000"/>
              </a:lnSpc>
              <a:spcBef>
                <a:spcPts val="0"/>
              </a:spcBef>
              <a:spcAft>
                <a:spcPts val="400"/>
              </a:spcAft>
            </a:pPr>
            <a:r>
              <a:rPr sz="1800" b="0" lang="ja-JP" altLang="en-US">
                <a:solidFill>
                  <a:srgbClr val="111111"/>
                </a:solidFill>
                <a:latin typeface="游ゴシック"/>
                <a:ea typeface="游ゴシック"/>
              </a:rPr>
              <a:t>各時刻の確率を使い、勾配で学習する。</a:t>
            </a:r>
          </a:p>
        </p:txBody>
      </p:sp>
      <p:sp>
        <p:nvSpPr>
          <p:cNvPr id="8" name="Rounded Rectangle 7"/>
          <p:cNvSpPr/>
          <p:nvPr/>
        </p:nvSpPr>
        <p:spPr>
          <a:xfrm>
            <a:off x="6263640" y="2286000"/>
            <a:ext cx="4846320" cy="18288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2340864"/>
            <a:ext cx="466344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評価：完全一致率</a:t>
            </a:r>
          </a:p>
        </p:txBody>
      </p:sp>
      <p:sp>
        <p:nvSpPr>
          <p:cNvPr id="10" name="TextBox 9"/>
          <p:cNvSpPr txBox="1"/>
          <p:nvPr/>
        </p:nvSpPr>
        <p:spPr>
          <a:xfrm>
            <a:off x="6355079" y="2706624"/>
            <a:ext cx="4663440" cy="13898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答え全体が正しい問題数 ÷ 評価問題数</a:t>
            </a:r>
          </a:p>
          <a:p>
            <a:pPr algn="l">
              <a:lnSpc>
                <a:spcPct val="108000"/>
              </a:lnSpc>
              <a:spcBef>
                <a:spcPts val="0"/>
              </a:spcBef>
              <a:spcAft>
                <a:spcPts val="400"/>
              </a:spcAft>
            </a:pPr>
            <a:r>
              <a:rPr sz="1800" b="0" lang="ja-JP" altLang="en-US">
                <a:solidFill>
                  <a:srgbClr val="111111"/>
                </a:solidFill>
                <a:latin typeface="游ゴシック"/>
                <a:ea typeface="游ゴシック"/>
              </a:rPr>
              <a:t>1文字でも違えば、その問題は不正解。</a:t>
            </a:r>
          </a:p>
        </p:txBody>
      </p:sp>
      <p:sp>
        <p:nvSpPr>
          <p:cNvPr id="11" name="TextBox 10"/>
          <p:cNvSpPr txBox="1"/>
          <p:nvPr/>
        </p:nvSpPr>
        <p:spPr>
          <a:xfrm>
            <a:off x="1005840" y="4892040"/>
            <a:ext cx="1014984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600" b="0" lang="ja-JP" altLang="en-US">
                <a:solidFill>
                  <a:srgbClr val="111111"/>
                </a:solidFill>
                <a:latin typeface="游ゴシック"/>
                <a:ea typeface="游ゴシック"/>
              </a:rPr>
              <a:t>例：正解「189␣」に対し「188␣」→ この問題は0点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クラスのつながりを確認する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24</a:t>
            </a:r>
          </a:p>
        </p:txBody>
      </p:sp>
      <p:sp>
        <p:nvSpPr>
          <p:cNvPr id="5" name="Rectangle 4"/>
          <p:cNvSpPr/>
          <p:nvPr/>
        </p:nvSpPr>
        <p:spPr>
          <a:xfrm>
            <a:off x="868680" y="2743200"/>
            <a:ext cx="3169920"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Encoder</a:t>
            </a:r>
          </a:p>
        </p:txBody>
      </p:sp>
      <p:cxnSp>
        <p:nvCxnSpPr>
          <p:cNvPr id="6" name="Connector 5"/>
          <p:cNvCxnSpPr/>
          <p:nvPr/>
        </p:nvCxnSpPr>
        <p:spPr>
          <a:xfrm>
            <a:off x="4038600"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495800" y="2743200"/>
            <a:ext cx="3169920"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Decoder</a:t>
            </a:r>
          </a:p>
        </p:txBody>
      </p:sp>
      <p:cxnSp>
        <p:nvCxnSpPr>
          <p:cNvPr id="8" name="Connector 7"/>
          <p:cNvCxnSpPr/>
          <p:nvPr/>
        </p:nvCxnSpPr>
        <p:spPr>
          <a:xfrm>
            <a:off x="7665720" y="3131820"/>
            <a:ext cx="393191"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122920" y="2743200"/>
            <a:ext cx="3169920"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TimeSoftmax</a:t>
            </a:r>
          </a:p>
          <a:p>
            <a:pPr algn="ctr">
              <a:lnSpc>
                <a:spcPct val="106000"/>
              </a:lnSpc>
              <a:spcAft>
                <a:spcPts val="0"/>
              </a:spcAft>
            </a:pPr>
            <a:r>
              <a:rPr sz="2300" lang="ja-JP" altLang="en-US">
                <a:solidFill>
                  <a:srgbClr val="111111"/>
                </a:solidFill>
                <a:latin typeface="游ゴシック"/>
                <a:ea typeface="游ゴシック"/>
              </a:rPr>
              <a:t>WithLoss</a:t>
            </a:r>
          </a:p>
        </p:txBody>
      </p:sp>
      <p:sp>
        <p:nvSpPr>
          <p:cNvPr id="10" name="TextBox 9"/>
          <p:cNvSpPr txBox="1"/>
          <p:nvPr/>
        </p:nvSpPr>
        <p:spPr>
          <a:xfrm>
            <a:off x="1828800" y="2011680"/>
            <a:ext cx="9144000" cy="548640"/>
          </a:xfrm>
          <a:prstGeom prst="rect">
            <a:avLst/>
          </a:prstGeom>
          <a:noFill/>
        </p:spPr>
        <p:txBody>
          <a:bodyPr wrap="square" lIns="54864" rIns="54864" tIns="54864" bIns="54864">
            <a:spAutoFit/>
          </a:bodyPr>
          <a:lstStyle/>
          <a:p>
            <a:pPr algn="l">
              <a:lnSpc>
                <a:spcPct val="108000"/>
              </a:lnSpc>
              <a:spcBef>
                <a:spcPts val="0"/>
              </a:spcBef>
              <a:spcAft>
                <a:spcPts val="400"/>
              </a:spcAft>
            </a:pPr>
            <a:r>
              <a:rPr sz="2700" b="0" lang="ja-JP" altLang="en-US">
                <a:solidFill>
                  <a:srgbClr val="111111"/>
                </a:solidFill>
                <a:latin typeface="游ゴシック"/>
                <a:ea typeface="游ゴシック"/>
              </a:rPr>
              <a:t>Seq2seq が3つをまとめる</a:t>
            </a:r>
          </a:p>
        </p:txBody>
      </p:sp>
      <p:sp>
        <p:nvSpPr>
          <p:cNvPr id="11" name="TextBox 10"/>
          <p:cNvSpPr txBox="1"/>
          <p:nvPr/>
        </p:nvSpPr>
        <p:spPr>
          <a:xfrm>
            <a:off x="914400" y="4617720"/>
            <a:ext cx="1060704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forward() で損失 → backward() で勾配 → Adam で重みを更新</a:t>
            </a:r>
          </a:p>
        </p:txBody>
      </p:sp>
      <p:sp>
        <p:nvSpPr>
          <p:cNvPr id="12" name="TextBox 11"/>
          <p:cNvSpPr txBox="1"/>
          <p:nvPr/>
        </p:nvSpPr>
        <p:spPr>
          <a:xfrm>
            <a:off x="914400" y="5669280"/>
            <a:ext cx="1060704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200" b="0" lang="ja-JP" altLang="en-US">
                <a:solidFill>
                  <a:srgbClr val="111111"/>
                </a:solidFill>
                <a:latin typeface="游ゴシック"/>
                <a:ea typeface="游ゴシック"/>
              </a:rPr>
              <a:t>params / grads を集約することで、共通の Trainer が利用できる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7.3.1 Encoderのレイヤ構成</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25</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900" b="0" lang="ja-JP" altLang="en-US">
                <a:solidFill>
                  <a:srgbClr val="D4D4D4"/>
                </a:solidFill>
                <a:latin typeface="Consolas"/>
                <a:ea typeface="游ゴシック"/>
              </a:rPr>
              <a:t>self.embed = TimeEmbedding(embed_W)</a:t>
            </a:r>
          </a:p>
          <a:p>
            <a:pPr algn="l">
              <a:lnSpc>
                <a:spcPct val="108000"/>
              </a:lnSpc>
              <a:spcBef>
                <a:spcPts val="0"/>
              </a:spcBef>
              <a:spcAft>
                <a:spcPts val="400"/>
              </a:spcAft>
            </a:pPr>
            <a:r>
              <a:rPr sz="1900" b="0" lang="ja-JP" altLang="en-US">
                <a:solidFill>
                  <a:srgbClr val="D4D4D4"/>
                </a:solidFill>
                <a:latin typeface="Consolas"/>
                <a:ea typeface="游ゴシック"/>
              </a:rPr>
              <a:t>self.lstm = TimeLSTM(</a:t>
            </a:r>
          </a:p>
          <a:p>
            <a:pPr algn="l">
              <a:lnSpc>
                <a:spcPct val="108000"/>
              </a:lnSpc>
              <a:spcBef>
                <a:spcPts val="0"/>
              </a:spcBef>
              <a:spcAft>
                <a:spcPts val="400"/>
              </a:spcAft>
            </a:pPr>
            <a:r>
              <a:rPr sz="1900" b="0" lang="ja-JP" altLang="en-US">
                <a:solidFill>
                  <a:srgbClr val="D4D4D4"/>
                </a:solidFill>
                <a:latin typeface="Consolas"/>
                <a:ea typeface="游ゴシック"/>
              </a:rPr>
              <a:t>    lstm_Wx, lstm_Wh, lstm_b,</a:t>
            </a:r>
          </a:p>
          <a:p>
            <a:pPr algn="l">
              <a:lnSpc>
                <a:spcPct val="108000"/>
              </a:lnSpc>
              <a:spcBef>
                <a:spcPts val="0"/>
              </a:spcBef>
              <a:spcAft>
                <a:spcPts val="400"/>
              </a:spcAft>
            </a:pPr>
            <a:r>
              <a:rPr sz="1900" b="0" lang="ja-JP" altLang="en-US">
                <a:solidFill>
                  <a:srgbClr val="D4D4D4"/>
                </a:solidFill>
                <a:latin typeface="Consolas"/>
                <a:ea typeface="游ゴシック"/>
              </a:rPr>
              <a:t>    stateful=False)</a:t>
            </a:r>
          </a:p>
          <a:p>
            <a:pPr algn="l">
              <a:lnSpc>
                <a:spcPct val="108000"/>
              </a:lnSpc>
              <a:spcBef>
                <a:spcPts val="0"/>
              </a:spcBef>
              <a:spcAft>
                <a:spcPts val="400"/>
              </a:spcAft>
            </a:pPr>
            <a:r>
              <a:rPr sz="1900" b="0" lang="ja-JP" altLang="en-US">
                <a:solidFill>
                  <a:srgbClr val="D4D4D4"/>
                </a:solidFill>
                <a:latin typeface="Consolas"/>
                <a:ea typeface="游ゴシック"/>
              </a:rPr>
              <a:t/>
            </a:r>
          </a:p>
          <a:p>
            <a:pPr algn="l">
              <a:lnSpc>
                <a:spcPct val="108000"/>
              </a:lnSpc>
              <a:spcBef>
                <a:spcPts val="0"/>
              </a:spcBef>
              <a:spcAft>
                <a:spcPts val="400"/>
              </a:spcAft>
            </a:pPr>
            <a:r>
              <a:rPr sz="1900" b="0" lang="ja-JP" altLang="en-US">
                <a:solidFill>
                  <a:srgbClr val="D4D4D4"/>
                </a:solidFill>
                <a:latin typeface="Consolas"/>
                <a:ea typeface="游ゴシック"/>
              </a:rPr>
              <a:t># 今回の実験</a:t>
            </a:r>
          </a:p>
          <a:p>
            <a:pPr algn="l">
              <a:lnSpc>
                <a:spcPct val="108000"/>
              </a:lnSpc>
              <a:spcBef>
                <a:spcPts val="0"/>
              </a:spcBef>
              <a:spcAft>
                <a:spcPts val="400"/>
              </a:spcAft>
            </a:pPr>
            <a:r>
              <a:rPr sz="1900" b="0" lang="ja-JP" altLang="en-US">
                <a:solidFill>
                  <a:srgbClr val="D4D4D4"/>
                </a:solidFill>
                <a:latin typeface="Consolas"/>
                <a:ea typeface="游ゴシック"/>
              </a:rPr>
              <a:t>V = 13</a:t>
            </a:r>
          </a:p>
          <a:p>
            <a:pPr algn="l">
              <a:lnSpc>
                <a:spcPct val="108000"/>
              </a:lnSpc>
              <a:spcBef>
                <a:spcPts val="0"/>
              </a:spcBef>
              <a:spcAft>
                <a:spcPts val="400"/>
              </a:spcAft>
            </a:pPr>
            <a:r>
              <a:rPr sz="1900" b="0" lang="ja-JP" altLang="en-US">
                <a:solidFill>
                  <a:srgbClr val="D4D4D4"/>
                </a:solidFill>
                <a:latin typeface="Consolas"/>
                <a:ea typeface="游ゴシック"/>
              </a:rPr>
              <a:t>D = 16</a:t>
            </a:r>
          </a:p>
          <a:p>
            <a:pPr algn="l">
              <a:lnSpc>
                <a:spcPct val="108000"/>
              </a:lnSpc>
              <a:spcBef>
                <a:spcPts val="0"/>
              </a:spcBef>
              <a:spcAft>
                <a:spcPts val="400"/>
              </a:spcAft>
            </a:pPr>
            <a:r>
              <a:rPr sz="1900" b="0" lang="ja-JP" altLang="en-US">
                <a:solidFill>
                  <a:srgbClr val="D4D4D4"/>
                </a:solidFill>
                <a:latin typeface="Consolas"/>
                <a:ea typeface="游ゴシック"/>
              </a:rPr>
              <a:t>H = 128</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Embedding の重み</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embed_W：(V, D)</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LSTM の重み</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Wx：(D, 4H)</a:t>
            </a:r>
          </a:p>
          <a:p>
            <a:pPr algn="l">
              <a:lnSpc>
                <a:spcPct val="108000"/>
              </a:lnSpc>
              <a:spcBef>
                <a:spcPts val="0"/>
              </a:spcBef>
              <a:spcAft>
                <a:spcPts val="400"/>
              </a:spcAft>
            </a:pPr>
            <a:r>
              <a:rPr sz="1800" b="0" lang="ja-JP" altLang="en-US">
                <a:solidFill>
                  <a:srgbClr val="111111"/>
                </a:solidFill>
                <a:latin typeface="游ゴシック"/>
                <a:ea typeface="游ゴシック"/>
              </a:rPr>
              <a:t>Wh：(H, 4H)</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stateful=False</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問題文ごとに状態を初期化する。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Encoder.forward：最後のhを取り出す</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26</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000" b="0" lang="ja-JP" altLang="en-US">
                <a:solidFill>
                  <a:srgbClr val="D4D4D4"/>
                </a:solidFill>
                <a:latin typeface="Consolas"/>
                <a:ea typeface="游ゴシック"/>
              </a:rPr>
              <a:t>def forward(self, xs):</a:t>
            </a:r>
          </a:p>
          <a:p>
            <a:pPr algn="l">
              <a:lnSpc>
                <a:spcPct val="108000"/>
              </a:lnSpc>
              <a:spcBef>
                <a:spcPts val="0"/>
              </a:spcBef>
              <a:spcAft>
                <a:spcPts val="400"/>
              </a:spcAft>
            </a:pPr>
            <a:r>
              <a:rPr sz="2000" b="0" lang="ja-JP" altLang="en-US">
                <a:solidFill>
                  <a:srgbClr val="D4D4D4"/>
                </a:solidFill>
                <a:latin typeface="Consolas"/>
                <a:ea typeface="游ゴシック"/>
              </a:rPr>
              <a:t>    xs = self.embed.forward(xs)</a:t>
            </a:r>
          </a:p>
          <a:p>
            <a:pPr algn="l">
              <a:lnSpc>
                <a:spcPct val="108000"/>
              </a:lnSpc>
              <a:spcBef>
                <a:spcPts val="0"/>
              </a:spcBef>
              <a:spcAft>
                <a:spcPts val="400"/>
              </a:spcAft>
            </a:pPr>
            <a:r>
              <a:rPr sz="2000" b="0" lang="ja-JP" altLang="en-US">
                <a:solidFill>
                  <a:srgbClr val="D4D4D4"/>
                </a:solidFill>
                <a:latin typeface="Consolas"/>
                <a:ea typeface="游ゴシック"/>
              </a:rPr>
              <a:t>    hs = self.lstm.forward(xs)</a:t>
            </a:r>
          </a:p>
          <a:p>
            <a:pPr algn="l">
              <a:lnSpc>
                <a:spcPct val="108000"/>
              </a:lnSpc>
              <a:spcBef>
                <a:spcPts val="0"/>
              </a:spcBef>
              <a:spcAft>
                <a:spcPts val="400"/>
              </a:spcAft>
            </a:pPr>
            <a:r>
              <a:rPr sz="2000" b="0" lang="ja-JP" altLang="en-US">
                <a:solidFill>
                  <a:srgbClr val="D4D4D4"/>
                </a:solidFill>
                <a:latin typeface="Consolas"/>
                <a:ea typeface="游ゴシック"/>
              </a:rPr>
              <a:t>    self.hs = hs</a:t>
            </a:r>
          </a:p>
          <a:p>
            <a:pPr algn="l">
              <a:lnSpc>
                <a:spcPct val="108000"/>
              </a:lnSpc>
              <a:spcBef>
                <a:spcPts val="0"/>
              </a:spcBef>
              <a:spcAft>
                <a:spcPts val="400"/>
              </a:spcAft>
            </a:pPr>
            <a:r>
              <a:rPr sz="2000" b="0" lang="ja-JP" altLang="en-US">
                <a:solidFill>
                  <a:srgbClr val="D4D4D4"/>
                </a:solidFill>
                <a:latin typeface="Consolas"/>
                <a:ea typeface="游ゴシック"/>
              </a:rPr>
              <a:t>    return hs[:, -1, :]</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入力の文字ID</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xs：(N, 7)</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LSTM への入力</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Embedding後：(N, 7, 16)</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Encoder の出力</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hs：(N, 7, 128)</a:t>
            </a:r>
          </a:p>
          <a:p>
            <a:pPr algn="l">
              <a:lnSpc>
                <a:spcPct val="108000"/>
              </a:lnSpc>
              <a:spcBef>
                <a:spcPts val="0"/>
              </a:spcBef>
              <a:spcAft>
                <a:spcPts val="400"/>
              </a:spcAft>
            </a:pPr>
            <a:r>
              <a:rPr sz="1800" b="0" lang="ja-JP" altLang="en-US">
                <a:solidFill>
                  <a:srgbClr val="111111"/>
                </a:solidFill>
                <a:latin typeface="游ゴシック"/>
                <a:ea typeface="游ゴシック"/>
              </a:rPr>
              <a:t>最後の h：(N, 128)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Encoder.backward：最後の時刻へdhを入れる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27</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100" b="0" lang="ja-JP" altLang="en-US">
                <a:solidFill>
                  <a:srgbClr val="D4D4D4"/>
                </a:solidFill>
                <a:latin typeface="Consolas"/>
                <a:ea typeface="游ゴシック"/>
              </a:rPr>
              <a:t>dhs = np.zeros_like(self.hs)</a:t>
            </a:r>
          </a:p>
          <a:p>
            <a:pPr algn="l">
              <a:lnSpc>
                <a:spcPct val="108000"/>
              </a:lnSpc>
              <a:spcBef>
                <a:spcPts val="0"/>
              </a:spcBef>
              <a:spcAft>
                <a:spcPts val="400"/>
              </a:spcAft>
            </a:pPr>
            <a:r>
              <a:rPr sz="2100" b="0" lang="ja-JP" altLang="en-US">
                <a:solidFill>
                  <a:srgbClr val="D4D4D4"/>
                </a:solidFill>
                <a:latin typeface="Consolas"/>
                <a:ea typeface="游ゴシック"/>
              </a:rPr>
              <a:t>dhs[:, -1, :] = dh</a:t>
            </a:r>
          </a:p>
          <a:p>
            <a:pPr algn="l">
              <a:lnSpc>
                <a:spcPct val="108000"/>
              </a:lnSpc>
              <a:spcBef>
                <a:spcPts val="0"/>
              </a:spcBef>
              <a:spcAft>
                <a:spcPts val="400"/>
              </a:spcAft>
            </a:pPr>
            <a:r>
              <a:rPr sz="2100" b="0" lang="ja-JP" altLang="en-US">
                <a:solidFill>
                  <a:srgbClr val="D4D4D4"/>
                </a:solidFill>
                <a:latin typeface="Consolas"/>
                <a:ea typeface="游ゴシック"/>
              </a:rPr>
              <a:t/>
            </a:r>
          </a:p>
          <a:p>
            <a:pPr algn="l">
              <a:lnSpc>
                <a:spcPct val="108000"/>
              </a:lnSpc>
              <a:spcBef>
                <a:spcPts val="0"/>
              </a:spcBef>
              <a:spcAft>
                <a:spcPts val="400"/>
              </a:spcAft>
            </a:pPr>
            <a:r>
              <a:rPr sz="2100" b="0" lang="ja-JP" altLang="en-US">
                <a:solidFill>
                  <a:srgbClr val="D4D4D4"/>
                </a:solidFill>
                <a:latin typeface="Consolas"/>
                <a:ea typeface="游ゴシック"/>
              </a:rPr>
              <a:t>dout = self.lstm.backward(dhs)</a:t>
            </a:r>
          </a:p>
          <a:p>
            <a:pPr algn="l">
              <a:lnSpc>
                <a:spcPct val="108000"/>
              </a:lnSpc>
              <a:spcBef>
                <a:spcPts val="0"/>
              </a:spcBef>
              <a:spcAft>
                <a:spcPts val="400"/>
              </a:spcAft>
            </a:pPr>
            <a:r>
              <a:rPr sz="2100" b="0" lang="ja-JP" altLang="en-US">
                <a:solidFill>
                  <a:srgbClr val="D4D4D4"/>
                </a:solidFill>
                <a:latin typeface="Consolas"/>
                <a:ea typeface="游ゴシック"/>
              </a:rPr>
              <a:t>dout = self.embed.backward(dout)</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最後のhが接続点</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Decoderの入力に使った場所へ勾配を返す。</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前の時刻は不要？</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ゼロから始めても、BPTTで過去へ伝わる。</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戻り値と重みの勾配</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grads に各レイヤの勾配が蓄えられる。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7.3.2 Decoderのレイヤ構成</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28</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000" b="0" lang="ja-JP" altLang="en-US">
                <a:solidFill>
                  <a:srgbClr val="D4D4D4"/>
                </a:solidFill>
                <a:latin typeface="Consolas"/>
                <a:ea typeface="游ゴシック"/>
              </a:rPr>
              <a:t>self.embed = TimeEmbedding(embed_W)</a:t>
            </a:r>
          </a:p>
          <a:p>
            <a:pPr algn="l">
              <a:lnSpc>
                <a:spcPct val="108000"/>
              </a:lnSpc>
              <a:spcBef>
                <a:spcPts val="0"/>
              </a:spcBef>
              <a:spcAft>
                <a:spcPts val="400"/>
              </a:spcAft>
            </a:pPr>
            <a:r>
              <a:rPr sz="2000" b="0" lang="ja-JP" altLang="en-US">
                <a:solidFill>
                  <a:srgbClr val="D4D4D4"/>
                </a:solidFill>
                <a:latin typeface="Consolas"/>
                <a:ea typeface="游ゴシック"/>
              </a:rPr>
              <a:t>self.lstm = TimeLSTM(</a:t>
            </a:r>
          </a:p>
          <a:p>
            <a:pPr algn="l">
              <a:lnSpc>
                <a:spcPct val="108000"/>
              </a:lnSpc>
              <a:spcBef>
                <a:spcPts val="0"/>
              </a:spcBef>
              <a:spcAft>
                <a:spcPts val="400"/>
              </a:spcAft>
            </a:pPr>
            <a:r>
              <a:rPr sz="2000" b="0" lang="ja-JP" altLang="en-US">
                <a:solidFill>
                  <a:srgbClr val="D4D4D4"/>
                </a:solidFill>
                <a:latin typeface="Consolas"/>
                <a:ea typeface="游ゴシック"/>
              </a:rPr>
              <a:t>    lstm_Wx, lstm_Wh, lstm_b,</a:t>
            </a:r>
          </a:p>
          <a:p>
            <a:pPr algn="l">
              <a:lnSpc>
                <a:spcPct val="108000"/>
              </a:lnSpc>
              <a:spcBef>
                <a:spcPts val="0"/>
              </a:spcBef>
              <a:spcAft>
                <a:spcPts val="400"/>
              </a:spcAft>
            </a:pPr>
            <a:r>
              <a:rPr sz="2000" b="0" lang="ja-JP" altLang="en-US">
                <a:solidFill>
                  <a:srgbClr val="D4D4D4"/>
                </a:solidFill>
                <a:latin typeface="Consolas"/>
                <a:ea typeface="游ゴシック"/>
              </a:rPr>
              <a:t>    stateful=True)</a:t>
            </a:r>
          </a:p>
          <a:p>
            <a:pPr algn="l">
              <a:lnSpc>
                <a:spcPct val="108000"/>
              </a:lnSpc>
              <a:spcBef>
                <a:spcPts val="0"/>
              </a:spcBef>
              <a:spcAft>
                <a:spcPts val="400"/>
              </a:spcAft>
            </a:pPr>
            <a:r>
              <a:rPr sz="2000" b="0" lang="ja-JP" altLang="en-US">
                <a:solidFill>
                  <a:srgbClr val="D4D4D4"/>
                </a:solidFill>
                <a:latin typeface="Consolas"/>
                <a:ea typeface="游ゴシック"/>
              </a:rPr>
              <a:t>self.affine = TimeAffine(</a:t>
            </a:r>
          </a:p>
          <a:p>
            <a:pPr algn="l">
              <a:lnSpc>
                <a:spcPct val="108000"/>
              </a:lnSpc>
              <a:spcBef>
                <a:spcPts val="0"/>
              </a:spcBef>
              <a:spcAft>
                <a:spcPts val="400"/>
              </a:spcAft>
            </a:pPr>
            <a:r>
              <a:rPr sz="2000" b="0" lang="ja-JP" altLang="en-US">
                <a:solidFill>
                  <a:srgbClr val="D4D4D4"/>
                </a:solidFill>
                <a:latin typeface="Consolas"/>
                <a:ea typeface="游ゴシック"/>
              </a:rPr>
              <a:t>    affine_W, affine_b)</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Embedding</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直前の文字ID → D次元ベクトル</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TimeLSTM</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初期hにEncoderの出力を使う。</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TimeAffine</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H次元 → 語彙数Vのスコア</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Decoder.forward：初期状態をhに設定する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29</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900" b="0" lang="ja-JP" altLang="en-US">
                <a:solidFill>
                  <a:srgbClr val="D4D4D4"/>
                </a:solidFill>
                <a:latin typeface="Consolas"/>
                <a:ea typeface="游ゴシック"/>
              </a:rPr>
              <a:t>def forward(self, xs, h):</a:t>
            </a:r>
          </a:p>
          <a:p>
            <a:pPr algn="l">
              <a:lnSpc>
                <a:spcPct val="108000"/>
              </a:lnSpc>
              <a:spcBef>
                <a:spcPts val="0"/>
              </a:spcBef>
              <a:spcAft>
                <a:spcPts val="400"/>
              </a:spcAft>
            </a:pPr>
            <a:r>
              <a:rPr sz="1900" b="0" lang="ja-JP" altLang="en-US">
                <a:solidFill>
                  <a:srgbClr val="D4D4D4"/>
                </a:solidFill>
                <a:latin typeface="Consolas"/>
                <a:ea typeface="游ゴシック"/>
              </a:rPr>
              <a:t>    self.lstm.set_state(h)</a:t>
            </a:r>
          </a:p>
          <a:p>
            <a:pPr algn="l">
              <a:lnSpc>
                <a:spcPct val="108000"/>
              </a:lnSpc>
              <a:spcBef>
                <a:spcPts val="0"/>
              </a:spcBef>
              <a:spcAft>
                <a:spcPts val="400"/>
              </a:spcAft>
            </a:pPr>
            <a:r>
              <a:rPr sz="1900" b="0" lang="ja-JP" altLang="en-US">
                <a:solidFill>
                  <a:srgbClr val="D4D4D4"/>
                </a:solidFill>
                <a:latin typeface="Consolas"/>
                <a:ea typeface="游ゴシック"/>
              </a:rPr>
              <a:t/>
            </a:r>
          </a:p>
          <a:p>
            <a:pPr algn="l">
              <a:lnSpc>
                <a:spcPct val="108000"/>
              </a:lnSpc>
              <a:spcBef>
                <a:spcPts val="0"/>
              </a:spcBef>
              <a:spcAft>
                <a:spcPts val="400"/>
              </a:spcAft>
            </a:pPr>
            <a:r>
              <a:rPr sz="1900" b="0" lang="ja-JP" altLang="en-US">
                <a:solidFill>
                  <a:srgbClr val="D4D4D4"/>
                </a:solidFill>
                <a:latin typeface="Consolas"/>
                <a:ea typeface="游ゴシック"/>
              </a:rPr>
              <a:t>    out = self.embed.forward(xs)</a:t>
            </a:r>
          </a:p>
          <a:p>
            <a:pPr algn="l">
              <a:lnSpc>
                <a:spcPct val="108000"/>
              </a:lnSpc>
              <a:spcBef>
                <a:spcPts val="0"/>
              </a:spcBef>
              <a:spcAft>
                <a:spcPts val="400"/>
              </a:spcAft>
            </a:pPr>
            <a:r>
              <a:rPr sz="1900" b="0" lang="ja-JP" altLang="en-US">
                <a:solidFill>
                  <a:srgbClr val="D4D4D4"/>
                </a:solidFill>
                <a:latin typeface="Consolas"/>
                <a:ea typeface="游ゴシック"/>
              </a:rPr>
              <a:t>    out = self.lstm.forward(out)</a:t>
            </a:r>
          </a:p>
          <a:p>
            <a:pPr algn="l">
              <a:lnSpc>
                <a:spcPct val="108000"/>
              </a:lnSpc>
              <a:spcBef>
                <a:spcPts val="0"/>
              </a:spcBef>
              <a:spcAft>
                <a:spcPts val="400"/>
              </a:spcAft>
            </a:pPr>
            <a:r>
              <a:rPr sz="1900" b="0" lang="ja-JP" altLang="en-US">
                <a:solidFill>
                  <a:srgbClr val="D4D4D4"/>
                </a:solidFill>
                <a:latin typeface="Consolas"/>
                <a:ea typeface="游ゴシック"/>
              </a:rPr>
              <a:t>    score = self.affine.forward(out)</a:t>
            </a:r>
          </a:p>
          <a:p>
            <a:pPr algn="l">
              <a:lnSpc>
                <a:spcPct val="108000"/>
              </a:lnSpc>
              <a:spcBef>
                <a:spcPts val="0"/>
              </a:spcBef>
              <a:spcAft>
                <a:spcPts val="400"/>
              </a:spcAft>
            </a:pPr>
            <a:r>
              <a:rPr sz="1900" b="0" lang="ja-JP" altLang="en-US">
                <a:solidFill>
                  <a:srgbClr val="D4D4D4"/>
                </a:solidFill>
                <a:latin typeface="Consolas"/>
                <a:ea typeface="游ゴシック"/>
              </a:rPr>
              <a:t>    return score</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 xs</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答えの先頭側：(N, 4)</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中間表現</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(N, 4, 16) → (N, 4, 128)</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出力 score</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各文字のスコア：(N, 4, 13)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Decoder.backward：Encoderへdhを返す</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30</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900" b="0" lang="ja-JP" altLang="en-US">
                <a:solidFill>
                  <a:srgbClr val="D4D4D4"/>
                </a:solidFill>
                <a:latin typeface="Consolas"/>
                <a:ea typeface="游ゴシック"/>
              </a:rPr>
              <a:t>def backward(self, dscore):</a:t>
            </a:r>
          </a:p>
          <a:p>
            <a:pPr algn="l">
              <a:lnSpc>
                <a:spcPct val="108000"/>
              </a:lnSpc>
              <a:spcBef>
                <a:spcPts val="0"/>
              </a:spcBef>
              <a:spcAft>
                <a:spcPts val="400"/>
              </a:spcAft>
            </a:pPr>
            <a:r>
              <a:rPr sz="1900" b="0" lang="ja-JP" altLang="en-US">
                <a:solidFill>
                  <a:srgbClr val="D4D4D4"/>
                </a:solidFill>
                <a:latin typeface="Consolas"/>
                <a:ea typeface="游ゴシック"/>
              </a:rPr>
              <a:t>    dout = self.affine.backward(dscore)</a:t>
            </a:r>
          </a:p>
          <a:p>
            <a:pPr algn="l">
              <a:lnSpc>
                <a:spcPct val="108000"/>
              </a:lnSpc>
              <a:spcBef>
                <a:spcPts val="0"/>
              </a:spcBef>
              <a:spcAft>
                <a:spcPts val="400"/>
              </a:spcAft>
            </a:pPr>
            <a:r>
              <a:rPr sz="1900" b="0" lang="ja-JP" altLang="en-US">
                <a:solidFill>
                  <a:srgbClr val="D4D4D4"/>
                </a:solidFill>
                <a:latin typeface="Consolas"/>
                <a:ea typeface="游ゴシック"/>
              </a:rPr>
              <a:t>    dout = self.lstm.backward(dout)</a:t>
            </a:r>
          </a:p>
          <a:p>
            <a:pPr algn="l">
              <a:lnSpc>
                <a:spcPct val="108000"/>
              </a:lnSpc>
              <a:spcBef>
                <a:spcPts val="0"/>
              </a:spcBef>
              <a:spcAft>
                <a:spcPts val="400"/>
              </a:spcAft>
            </a:pPr>
            <a:r>
              <a:rPr sz="1900" b="0" lang="ja-JP" altLang="en-US">
                <a:solidFill>
                  <a:srgbClr val="D4D4D4"/>
                </a:solidFill>
                <a:latin typeface="Consolas"/>
                <a:ea typeface="游ゴシック"/>
              </a:rPr>
              <a:t>    dout = self.embed.backward(dout)</a:t>
            </a:r>
          </a:p>
          <a:p>
            <a:pPr algn="l">
              <a:lnSpc>
                <a:spcPct val="108000"/>
              </a:lnSpc>
              <a:spcBef>
                <a:spcPts val="0"/>
              </a:spcBef>
              <a:spcAft>
                <a:spcPts val="400"/>
              </a:spcAft>
            </a:pPr>
            <a:r>
              <a:rPr sz="1900" b="0" lang="ja-JP" altLang="en-US">
                <a:solidFill>
                  <a:srgbClr val="D4D4D4"/>
                </a:solidFill>
                <a:latin typeface="Consolas"/>
                <a:ea typeface="游ゴシック"/>
              </a:rPr>
              <a:t/>
            </a:r>
          </a:p>
          <a:p>
            <a:pPr algn="l">
              <a:lnSpc>
                <a:spcPct val="108000"/>
              </a:lnSpc>
              <a:spcBef>
                <a:spcPts val="0"/>
              </a:spcBef>
              <a:spcAft>
                <a:spcPts val="400"/>
              </a:spcAft>
            </a:pPr>
            <a:r>
              <a:rPr sz="1900" b="0" lang="ja-JP" altLang="en-US">
                <a:solidFill>
                  <a:srgbClr val="D4D4D4"/>
                </a:solidFill>
                <a:latin typeface="Consolas"/>
                <a:ea typeface="游ゴシック"/>
              </a:rPr>
              <a:t>    dh = self.lstm.dh</a:t>
            </a:r>
          </a:p>
          <a:p>
            <a:pPr algn="l">
              <a:lnSpc>
                <a:spcPct val="108000"/>
              </a:lnSpc>
              <a:spcBef>
                <a:spcPts val="0"/>
              </a:spcBef>
              <a:spcAft>
                <a:spcPts val="400"/>
              </a:spcAft>
            </a:pPr>
            <a:r>
              <a:rPr sz="1900" b="0" lang="ja-JP" altLang="en-US">
                <a:solidFill>
                  <a:srgbClr val="D4D4D4"/>
                </a:solidFill>
                <a:latin typeface="Consolas"/>
                <a:ea typeface="游ゴシック"/>
              </a:rPr>
              <a:t>    return dh</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出力側から戻す</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Affine → LSTM → Embedding</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初期hへの勾配</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self.lstm.dh に保持される。</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Encoderとつながる</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dh をEncoder.backwardへ渡す。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Decoder.generate：1文字ずつ推論する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31</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self.lstm.set_state(h)</a:t>
            </a:r>
          </a:p>
          <a:p>
            <a:pPr algn="l">
              <a:lnSpc>
                <a:spcPct val="108000"/>
              </a:lnSpc>
              <a:spcBef>
                <a:spcPts val="0"/>
              </a:spcBef>
              <a:spcAft>
                <a:spcPts val="400"/>
              </a:spcAft>
            </a:pPr>
            <a:r>
              <a:rPr sz="1700" b="0" lang="ja-JP" altLang="en-US">
                <a:solidFill>
                  <a:srgbClr val="D4D4D4"/>
                </a:solidFill>
                <a:latin typeface="Consolas"/>
                <a:ea typeface="游ゴシック"/>
              </a:rPr>
              <a:t>sample_id = start_id</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for _ in range(sample_size):</a:t>
            </a:r>
          </a:p>
          <a:p>
            <a:pPr algn="l">
              <a:lnSpc>
                <a:spcPct val="108000"/>
              </a:lnSpc>
              <a:spcBef>
                <a:spcPts val="0"/>
              </a:spcBef>
              <a:spcAft>
                <a:spcPts val="400"/>
              </a:spcAft>
            </a:pPr>
            <a:r>
              <a:rPr sz="1700" b="0" lang="ja-JP" altLang="en-US">
                <a:solidFill>
                  <a:srgbClr val="D4D4D4"/>
                </a:solidFill>
                <a:latin typeface="Consolas"/>
                <a:ea typeface="游ゴシック"/>
              </a:rPr>
              <a:t>    x = np.array(sample_id).reshape(1, 1)</a:t>
            </a:r>
          </a:p>
          <a:p>
            <a:pPr algn="l">
              <a:lnSpc>
                <a:spcPct val="108000"/>
              </a:lnSpc>
              <a:spcBef>
                <a:spcPts val="0"/>
              </a:spcBef>
              <a:spcAft>
                <a:spcPts val="400"/>
              </a:spcAft>
            </a:pPr>
            <a:r>
              <a:rPr sz="1700" b="0" lang="ja-JP" altLang="en-US">
                <a:solidFill>
                  <a:srgbClr val="D4D4D4"/>
                </a:solidFill>
                <a:latin typeface="Consolas"/>
                <a:ea typeface="游ゴシック"/>
              </a:rPr>
              <a:t>    out = self.embed.forward(x)</a:t>
            </a:r>
          </a:p>
          <a:p>
            <a:pPr algn="l">
              <a:lnSpc>
                <a:spcPct val="108000"/>
              </a:lnSpc>
              <a:spcBef>
                <a:spcPts val="0"/>
              </a:spcBef>
              <a:spcAft>
                <a:spcPts val="400"/>
              </a:spcAft>
            </a:pPr>
            <a:r>
              <a:rPr sz="1700" b="0" lang="ja-JP" altLang="en-US">
                <a:solidFill>
                  <a:srgbClr val="D4D4D4"/>
                </a:solidFill>
                <a:latin typeface="Consolas"/>
                <a:ea typeface="游ゴシック"/>
              </a:rPr>
              <a:t>    out = self.lstm.forward(out)</a:t>
            </a:r>
          </a:p>
          <a:p>
            <a:pPr algn="l">
              <a:lnSpc>
                <a:spcPct val="108000"/>
              </a:lnSpc>
              <a:spcBef>
                <a:spcPts val="0"/>
              </a:spcBef>
              <a:spcAft>
                <a:spcPts val="400"/>
              </a:spcAft>
            </a:pPr>
            <a:r>
              <a:rPr sz="1700" b="0" lang="ja-JP" altLang="en-US">
                <a:solidFill>
                  <a:srgbClr val="D4D4D4"/>
                </a:solidFill>
                <a:latin typeface="Consolas"/>
                <a:ea typeface="游ゴシック"/>
              </a:rPr>
              <a:t>    score = self.affine.forward(out)</a:t>
            </a:r>
          </a:p>
          <a:p>
            <a:pPr algn="l">
              <a:lnSpc>
                <a:spcPct val="108000"/>
              </a:lnSpc>
              <a:spcBef>
                <a:spcPts val="0"/>
              </a:spcBef>
              <a:spcAft>
                <a:spcPts val="400"/>
              </a:spcAft>
            </a:pPr>
            <a:r>
              <a:rPr sz="1700" b="0" lang="ja-JP" altLang="en-US">
                <a:solidFill>
                  <a:srgbClr val="D4D4D4"/>
                </a:solidFill>
                <a:latin typeface="Consolas"/>
                <a:ea typeface="游ゴシック"/>
              </a:rPr>
              <a:t>    sample_id = np.argmax(score.flatten())</a:t>
            </a:r>
          </a:p>
          <a:p>
            <a:pPr algn="l">
              <a:lnSpc>
                <a:spcPct val="108000"/>
              </a:lnSpc>
              <a:spcBef>
                <a:spcPts val="0"/>
              </a:spcBef>
              <a:spcAft>
                <a:spcPts val="400"/>
              </a:spcAft>
            </a:pPr>
            <a:r>
              <a:rPr sz="1700" b="0" lang="ja-JP" altLang="en-US">
                <a:solidFill>
                  <a:srgbClr val="D4D4D4"/>
                </a:solidFill>
                <a:latin typeface="Consolas"/>
                <a:ea typeface="游ゴシック"/>
              </a:rPr>
              <a:t>    sampled.append(int(sample_id))</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start_id</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答えの開始記号 _ のID</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sample_size</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この加算課題では4文字を生成。</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argmax</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毎回、最大スコアの文字を選ぶ。</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7.3.3 Seq2seq.forward：全体をつなぐ</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32</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800" b="0" lang="ja-JP" altLang="en-US">
                <a:solidFill>
                  <a:srgbClr val="D4D4D4"/>
                </a:solidFill>
                <a:latin typeface="Consolas"/>
                <a:ea typeface="游ゴシック"/>
              </a:rPr>
              <a:t>decoder_xs = ts[:, :-1]</a:t>
            </a:r>
          </a:p>
          <a:p>
            <a:pPr algn="l">
              <a:lnSpc>
                <a:spcPct val="108000"/>
              </a:lnSpc>
              <a:spcBef>
                <a:spcPts val="0"/>
              </a:spcBef>
              <a:spcAft>
                <a:spcPts val="400"/>
              </a:spcAft>
            </a:pPr>
            <a:r>
              <a:rPr sz="1800" b="0" lang="ja-JP" altLang="en-US">
                <a:solidFill>
                  <a:srgbClr val="D4D4D4"/>
                </a:solidFill>
                <a:latin typeface="Consolas"/>
                <a:ea typeface="游ゴシック"/>
              </a:rPr>
              <a:t>decoder_ts = ts[:, 1:]</a:t>
            </a:r>
          </a:p>
          <a:p>
            <a:pPr algn="l">
              <a:lnSpc>
                <a:spcPct val="108000"/>
              </a:lnSpc>
              <a:spcBef>
                <a:spcPts val="0"/>
              </a:spcBef>
              <a:spcAft>
                <a:spcPts val="400"/>
              </a:spcAft>
            </a:pPr>
            <a:r>
              <a:rPr sz="1800" b="0" lang="ja-JP" altLang="en-US">
                <a:solidFill>
                  <a:srgbClr val="D4D4D4"/>
                </a:solidFill>
                <a:latin typeface="Consolas"/>
                <a:ea typeface="游ゴシック"/>
              </a:rPr>
              <a:t/>
            </a:r>
          </a:p>
          <a:p>
            <a:pPr algn="l">
              <a:lnSpc>
                <a:spcPct val="108000"/>
              </a:lnSpc>
              <a:spcBef>
                <a:spcPts val="0"/>
              </a:spcBef>
              <a:spcAft>
                <a:spcPts val="400"/>
              </a:spcAft>
            </a:pPr>
            <a:r>
              <a:rPr sz="1800" b="0" lang="ja-JP" altLang="en-US">
                <a:solidFill>
                  <a:srgbClr val="D4D4D4"/>
                </a:solidFill>
                <a:latin typeface="Consolas"/>
                <a:ea typeface="游ゴシック"/>
              </a:rPr>
              <a:t>h = self.encoder.forward(xs)</a:t>
            </a:r>
          </a:p>
          <a:p>
            <a:pPr algn="l">
              <a:lnSpc>
                <a:spcPct val="108000"/>
              </a:lnSpc>
              <a:spcBef>
                <a:spcPts val="0"/>
              </a:spcBef>
              <a:spcAft>
                <a:spcPts val="400"/>
              </a:spcAft>
            </a:pPr>
            <a:r>
              <a:rPr sz="1800" b="0" lang="ja-JP" altLang="en-US">
                <a:solidFill>
                  <a:srgbClr val="D4D4D4"/>
                </a:solidFill>
                <a:latin typeface="Consolas"/>
                <a:ea typeface="游ゴシック"/>
              </a:rPr>
              <a:t>score = self.decoder.forward(decoder_xs, h)</a:t>
            </a:r>
          </a:p>
          <a:p>
            <a:pPr algn="l">
              <a:lnSpc>
                <a:spcPct val="108000"/>
              </a:lnSpc>
              <a:spcBef>
                <a:spcPts val="0"/>
              </a:spcBef>
              <a:spcAft>
                <a:spcPts val="400"/>
              </a:spcAft>
            </a:pPr>
            <a:r>
              <a:rPr sz="1800" b="0" lang="ja-JP" altLang="en-US">
                <a:solidFill>
                  <a:srgbClr val="D4D4D4"/>
                </a:solidFill>
                <a:latin typeface="Consolas"/>
                <a:ea typeface="游ゴシック"/>
              </a:rPr>
              <a:t>loss = self.softmax.forward(</a:t>
            </a:r>
          </a:p>
          <a:p>
            <a:pPr algn="l">
              <a:lnSpc>
                <a:spcPct val="108000"/>
              </a:lnSpc>
              <a:spcBef>
                <a:spcPts val="0"/>
              </a:spcBef>
              <a:spcAft>
                <a:spcPts val="400"/>
              </a:spcAft>
            </a:pPr>
            <a:r>
              <a:rPr sz="1800" b="0" lang="ja-JP" altLang="en-US">
                <a:solidFill>
                  <a:srgbClr val="D4D4D4"/>
                </a:solidFill>
                <a:latin typeface="Consolas"/>
                <a:ea typeface="游ゴシック"/>
              </a:rPr>
              <a:t>    score, decoder_ts)</a:t>
            </a:r>
          </a:p>
          <a:p>
            <a:pPr algn="l">
              <a:lnSpc>
                <a:spcPct val="108000"/>
              </a:lnSpc>
              <a:spcBef>
                <a:spcPts val="0"/>
              </a:spcBef>
              <a:spcAft>
                <a:spcPts val="400"/>
              </a:spcAft>
            </a:pPr>
            <a:r>
              <a:rPr sz="1800" b="0" lang="ja-JP" altLang="en-US">
                <a:solidFill>
                  <a:srgbClr val="D4D4D4"/>
                </a:solidFill>
                <a:latin typeface="Consolas"/>
                <a:ea typeface="游ゴシック"/>
              </a:rPr>
              <a:t>return loss</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Encoderの入力</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xs：問題文の文字列</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Decoderの入力</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decoder_xs：答えの先頭側</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予測対象</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decoder_ts：答えを1文字ずらした列</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Seq2seq.backward：損失から入力側へ戻る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33</a:t>
            </a:r>
          </a:p>
        </p:txBody>
      </p:sp>
      <p:sp>
        <p:nvSpPr>
          <p:cNvPr id="5" name="TextBox 4"/>
          <p:cNvSpPr txBox="1"/>
          <p:nvPr/>
        </p:nvSpPr>
        <p:spPr>
          <a:xfrm>
            <a:off x="868680" y="2029968"/>
            <a:ext cx="6263640" cy="2560320"/>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000" b="0" lang="ja-JP" altLang="en-US">
                <a:solidFill>
                  <a:srgbClr val="D4D4D4"/>
                </a:solidFill>
                <a:latin typeface="Consolas"/>
                <a:ea typeface="游ゴシック"/>
              </a:rPr>
              <a:t>def backward(self, dout=1):</a:t>
            </a:r>
          </a:p>
          <a:p>
            <a:pPr algn="l">
              <a:lnSpc>
                <a:spcPct val="108000"/>
              </a:lnSpc>
              <a:spcBef>
                <a:spcPts val="0"/>
              </a:spcBef>
              <a:spcAft>
                <a:spcPts val="400"/>
              </a:spcAft>
            </a:pPr>
            <a:r>
              <a:rPr sz="2000" b="0" lang="ja-JP" altLang="en-US">
                <a:solidFill>
                  <a:srgbClr val="D4D4D4"/>
                </a:solidFill>
                <a:latin typeface="Consolas"/>
                <a:ea typeface="游ゴシック"/>
              </a:rPr>
              <a:t>    dout = self.softmax.backward(dout)</a:t>
            </a:r>
          </a:p>
          <a:p>
            <a:pPr algn="l">
              <a:lnSpc>
                <a:spcPct val="108000"/>
              </a:lnSpc>
              <a:spcBef>
                <a:spcPts val="0"/>
              </a:spcBef>
              <a:spcAft>
                <a:spcPts val="400"/>
              </a:spcAft>
            </a:pPr>
            <a:r>
              <a:rPr sz="2000" b="0" lang="ja-JP" altLang="en-US">
                <a:solidFill>
                  <a:srgbClr val="D4D4D4"/>
                </a:solidFill>
                <a:latin typeface="Consolas"/>
                <a:ea typeface="游ゴシック"/>
              </a:rPr>
              <a:t>    dh = self.decoder.backward(dout)</a:t>
            </a:r>
          </a:p>
          <a:p>
            <a:pPr algn="l">
              <a:lnSpc>
                <a:spcPct val="108000"/>
              </a:lnSpc>
              <a:spcBef>
                <a:spcPts val="0"/>
              </a:spcBef>
              <a:spcAft>
                <a:spcPts val="400"/>
              </a:spcAft>
            </a:pPr>
            <a:r>
              <a:rPr sz="2000" b="0" lang="ja-JP" altLang="en-US">
                <a:solidFill>
                  <a:srgbClr val="D4D4D4"/>
                </a:solidFill>
                <a:latin typeface="Consolas"/>
                <a:ea typeface="游ゴシック"/>
              </a:rPr>
              <a:t>    dout = self.encoder.backward(dh)</a:t>
            </a:r>
          </a:p>
          <a:p>
            <a:pPr algn="l">
              <a:lnSpc>
                <a:spcPct val="108000"/>
              </a:lnSpc>
              <a:spcBef>
                <a:spcPts val="0"/>
              </a:spcBef>
              <a:spcAft>
                <a:spcPts val="400"/>
              </a:spcAft>
            </a:pPr>
            <a:r>
              <a:rPr sz="2000" b="0" lang="ja-JP" altLang="en-US">
                <a:solidFill>
                  <a:srgbClr val="D4D4D4"/>
                </a:solidFill>
                <a:latin typeface="Consolas"/>
                <a:ea typeface="游ゴシック"/>
              </a:rPr>
              <a:t>    return dout</a:t>
            </a:r>
          </a:p>
        </p:txBody>
      </p:sp>
      <p:sp>
        <p:nvSpPr>
          <p:cNvPr id="6" name="Rectangle 5"/>
          <p:cNvSpPr/>
          <p:nvPr/>
        </p:nvSpPr>
        <p:spPr>
          <a:xfrm>
            <a:off x="1051560" y="5074920"/>
            <a:ext cx="1074420" cy="68580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700" lang="ja-JP" altLang="en-US">
                <a:solidFill>
                  <a:srgbClr val="111111"/>
                </a:solidFill>
                <a:latin typeface="游ゴシック"/>
                <a:ea typeface="游ゴシック"/>
              </a:rPr>
              <a:t>損失</a:t>
            </a:r>
          </a:p>
        </p:txBody>
      </p:sp>
      <p:cxnSp>
        <p:nvCxnSpPr>
          <p:cNvPr id="7" name="Connector 6"/>
          <p:cNvCxnSpPr/>
          <p:nvPr/>
        </p:nvCxnSpPr>
        <p:spPr>
          <a:xfrm>
            <a:off x="2125980" y="5417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583180" y="5074920"/>
            <a:ext cx="1074420" cy="68580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700" lang="ja-JP" altLang="en-US">
                <a:solidFill>
                  <a:srgbClr val="111111"/>
                </a:solidFill>
                <a:latin typeface="游ゴシック"/>
                <a:ea typeface="游ゴシック"/>
              </a:rPr>
              <a:t>Decoder</a:t>
            </a:r>
          </a:p>
        </p:txBody>
      </p:sp>
      <p:cxnSp>
        <p:nvCxnSpPr>
          <p:cNvPr id="9" name="Connector 8"/>
          <p:cNvCxnSpPr/>
          <p:nvPr/>
        </p:nvCxnSpPr>
        <p:spPr>
          <a:xfrm>
            <a:off x="3657600" y="5417820"/>
            <a:ext cx="393191"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114800" y="5074920"/>
            <a:ext cx="1074420" cy="68580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700" lang="ja-JP" altLang="en-US">
                <a:solidFill>
                  <a:srgbClr val="111111"/>
                </a:solidFill>
                <a:latin typeface="游ゴシック"/>
                <a:ea typeface="游ゴシック"/>
              </a:rPr>
              <a:t>dh</a:t>
            </a:r>
          </a:p>
        </p:txBody>
      </p:sp>
      <p:cxnSp>
        <p:nvCxnSpPr>
          <p:cNvPr id="11" name="Connector 10"/>
          <p:cNvCxnSpPr/>
          <p:nvPr/>
        </p:nvCxnSpPr>
        <p:spPr>
          <a:xfrm>
            <a:off x="5189220" y="5417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646420" y="5074920"/>
            <a:ext cx="1074420" cy="68580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1700" lang="ja-JP" altLang="en-US">
                <a:solidFill>
                  <a:srgbClr val="111111"/>
                </a:solidFill>
                <a:latin typeface="游ゴシック"/>
                <a:ea typeface="游ゴシック"/>
              </a:rPr>
              <a:t>Encoder</a:t>
            </a:r>
          </a:p>
        </p:txBody>
      </p:sp>
      <p:sp>
        <p:nvSpPr>
          <p:cNvPr id="13" name="Rounded Rectangle 12"/>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Decoderへ</a:t>
            </a:r>
          </a:p>
        </p:txBody>
      </p:sp>
      <p:sp>
        <p:nvSpPr>
          <p:cNvPr id="15" name="TextBox 14"/>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全出力時刻の誤差を戻す。</a:t>
            </a:r>
          </a:p>
        </p:txBody>
      </p:sp>
      <p:sp>
        <p:nvSpPr>
          <p:cNvPr id="16" name="Rounded Rectangle 15"/>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dhを受け渡す</a:t>
            </a:r>
          </a:p>
        </p:txBody>
      </p:sp>
      <p:sp>
        <p:nvSpPr>
          <p:cNvPr id="18" name="TextBox 17"/>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Encoderの最後のhへの勾配。</a:t>
            </a:r>
          </a:p>
        </p:txBody>
      </p:sp>
      <p:sp>
        <p:nvSpPr>
          <p:cNvPr id="19" name="Rounded Rectangle 18"/>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一緒に学習する</a:t>
            </a:r>
          </a:p>
        </p:txBody>
      </p:sp>
      <p:sp>
        <p:nvSpPr>
          <p:cNvPr id="21" name="TextBox 20"/>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入力のまとめ方も出力の作り方も更新。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Seq2seq.generate：学習した変換を使う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34</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800" b="0" lang="ja-JP" altLang="en-US">
                <a:solidFill>
                  <a:srgbClr val="D4D4D4"/>
                </a:solidFill>
                <a:latin typeface="Consolas"/>
                <a:ea typeface="游ゴシック"/>
              </a:rPr>
              <a:t>def generate(self, xs, start_id, sample_size):</a:t>
            </a:r>
          </a:p>
          <a:p>
            <a:pPr algn="l">
              <a:lnSpc>
                <a:spcPct val="108000"/>
              </a:lnSpc>
              <a:spcBef>
                <a:spcPts val="0"/>
              </a:spcBef>
              <a:spcAft>
                <a:spcPts val="400"/>
              </a:spcAft>
            </a:pPr>
            <a:r>
              <a:rPr sz="1800" b="0" lang="ja-JP" altLang="en-US">
                <a:solidFill>
                  <a:srgbClr val="D4D4D4"/>
                </a:solidFill>
                <a:latin typeface="Consolas"/>
                <a:ea typeface="游ゴシック"/>
              </a:rPr>
              <a:t>    h = self.encoder.forward(xs)</a:t>
            </a:r>
          </a:p>
          <a:p>
            <a:pPr algn="l">
              <a:lnSpc>
                <a:spcPct val="108000"/>
              </a:lnSpc>
              <a:spcBef>
                <a:spcPts val="0"/>
              </a:spcBef>
              <a:spcAft>
                <a:spcPts val="400"/>
              </a:spcAft>
            </a:pPr>
            <a:r>
              <a:rPr sz="1800" b="0" lang="ja-JP" altLang="en-US">
                <a:solidFill>
                  <a:srgbClr val="D4D4D4"/>
                </a:solidFill>
                <a:latin typeface="Consolas"/>
                <a:ea typeface="游ゴシック"/>
              </a:rPr>
              <a:t>    sampled = self.decoder.generate(</a:t>
            </a:r>
          </a:p>
          <a:p>
            <a:pPr algn="l">
              <a:lnSpc>
                <a:spcPct val="108000"/>
              </a:lnSpc>
              <a:spcBef>
                <a:spcPts val="0"/>
              </a:spcBef>
              <a:spcAft>
                <a:spcPts val="400"/>
              </a:spcAft>
            </a:pPr>
            <a:r>
              <a:rPr sz="1800" b="0" lang="ja-JP" altLang="en-US">
                <a:solidFill>
                  <a:srgbClr val="D4D4D4"/>
                </a:solidFill>
                <a:latin typeface="Consolas"/>
                <a:ea typeface="游ゴシック"/>
              </a:rPr>
              <a:t>        h, start_id, sample_size)</a:t>
            </a:r>
          </a:p>
          <a:p>
            <a:pPr algn="l">
              <a:lnSpc>
                <a:spcPct val="108000"/>
              </a:lnSpc>
              <a:spcBef>
                <a:spcPts val="0"/>
              </a:spcBef>
              <a:spcAft>
                <a:spcPts val="400"/>
              </a:spcAft>
            </a:pPr>
            <a:r>
              <a:rPr sz="1800" b="0" lang="ja-JP" altLang="en-US">
                <a:solidFill>
                  <a:srgbClr val="D4D4D4"/>
                </a:solidFill>
                <a:latin typeface="Consolas"/>
                <a:ea typeface="游ゴシック"/>
              </a:rPr>
              <a:t>    return sampled</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入力は問題文</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正解の文字列そのものは渡さない。</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生成する長さ</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本章では固定長の答えを使う。</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実用時には</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EOSなどの終了条件を別に設計する。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7.3.4 学習条件を確認する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35</a:t>
            </a:r>
          </a:p>
        </p:txBody>
      </p:sp>
      <p:graphicFrame>
        <p:nvGraphicFramePr>
          <p:cNvPr id="5" name="Table 4"/>
          <p:cNvGraphicFramePr>
            <a:graphicFrameLocks noGrp="1"/>
          </p:cNvGraphicFramePr>
          <p:nvPr/>
        </p:nvGraphicFramePr>
        <p:xfrm>
          <a:off x="868680" y="2103120"/>
          <a:ext cx="10469880" cy="3840480"/>
        </p:xfrm>
        <a:graphic>
          <a:graphicData uri="http://schemas.openxmlformats.org/drawingml/2006/table">
            <a:tbl>
              <a:tblPr firstRow="1" bandRow="1">
                <a:tableStyleId>{5C22544A-7EE6-4342-B048-85BDC9FD1C3A}</a:tableStyleId>
              </a:tblPr>
              <a:tblGrid>
                <a:gridCol w="4023360"/>
                <a:gridCol w="6446520"/>
              </a:tblGrid>
              <a:tr h="640080">
                <a:tc>
                  <a:txBody>
                    <a:bodyPr/>
                    <a:lstStyle/>
                    <a:p>
                      <a:pPr>
                        <a:lnSpc>
                          <a:spcPct val="108000"/>
                        </a:lnSpc>
                        <a:spcAft>
                          <a:spcPts val="0"/>
                        </a:spcAft>
                      </a:pPr>
                      <a:r>
                        <a:rPr sz="2300" b="1" lang="ja-JP" altLang="en-US">
                          <a:solidFill>
                            <a:srgbClr val="111111"/>
                          </a:solidFill>
                          <a:latin typeface="游ゴシック"/>
                          <a:ea typeface="游ゴシック"/>
                        </a:rPr>
                        <a:t>項目</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設定</a:t>
                      </a:r>
                    </a:p>
                  </a:txBody>
                  <a:tcPr marL="91440" marR="91440" anchor="ctr">
                    <a:solidFill>
                      <a:srgbClr val="EAF2F6"/>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データ</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訓練45,000件／評価5,000件</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文字ベクトル・隠れ次元</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D=16／H=128</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バッチ数・学習回数</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128／25エポック</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最適化・勾配の上限</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Adam／max_grad=5.0</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分割・実行環境</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seed=1984／CPU・NumPy 1.26.4</a:t>
                      </a:r>
                    </a:p>
                  </a:txBody>
                  <a:tcPr marL="91440" marR="91440"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1エポックごとに、答え全体を評価する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36</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for epoch in range(max_epoch):</a:t>
            </a:r>
          </a:p>
          <a:p>
            <a:pPr algn="l">
              <a:lnSpc>
                <a:spcPct val="108000"/>
              </a:lnSpc>
              <a:spcBef>
                <a:spcPts val="0"/>
              </a:spcBef>
              <a:spcAft>
                <a:spcPts val="400"/>
              </a:spcAft>
            </a:pPr>
            <a:r>
              <a:rPr sz="1700" b="0" lang="ja-JP" altLang="en-US">
                <a:solidFill>
                  <a:srgbClr val="D4D4D4"/>
                </a:solidFill>
                <a:latin typeface="Consolas"/>
                <a:ea typeface="游ゴシック"/>
              </a:rPr>
              <a:t>    trainer.fit(x_train, t_train,</a:t>
            </a:r>
          </a:p>
          <a:p>
            <a:pPr algn="l">
              <a:lnSpc>
                <a:spcPct val="108000"/>
              </a:lnSpc>
              <a:spcBef>
                <a:spcPts val="0"/>
              </a:spcBef>
              <a:spcAft>
                <a:spcPts val="400"/>
              </a:spcAft>
            </a:pPr>
            <a:r>
              <a:rPr sz="1700" b="0" lang="ja-JP" altLang="en-US">
                <a:solidFill>
                  <a:srgbClr val="D4D4D4"/>
                </a:solidFill>
                <a:latin typeface="Consolas"/>
                <a:ea typeface="游ゴシック"/>
              </a:rPr>
              <a:t>        max_epoch=1, batch_size=128,</a:t>
            </a:r>
          </a:p>
          <a:p>
            <a:pPr algn="l">
              <a:lnSpc>
                <a:spcPct val="108000"/>
              </a:lnSpc>
              <a:spcBef>
                <a:spcPts val="0"/>
              </a:spcBef>
              <a:spcAft>
                <a:spcPts val="400"/>
              </a:spcAft>
            </a:pPr>
            <a:r>
              <a:rPr sz="1700" b="0" lang="ja-JP" altLang="en-US">
                <a:solidFill>
                  <a:srgbClr val="D4D4D4"/>
                </a:solidFill>
                <a:latin typeface="Consolas"/>
                <a:ea typeface="游ゴシック"/>
              </a:rPr>
              <a:t>        max_grad=5.0)</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correct_num = 0</a:t>
            </a:r>
          </a:p>
          <a:p>
            <a:pPr algn="l">
              <a:lnSpc>
                <a:spcPct val="108000"/>
              </a:lnSpc>
              <a:spcBef>
                <a:spcPts val="0"/>
              </a:spcBef>
              <a:spcAft>
                <a:spcPts val="400"/>
              </a:spcAft>
            </a:pPr>
            <a:r>
              <a:rPr sz="1700" b="0" lang="ja-JP" altLang="en-US">
                <a:solidFill>
                  <a:srgbClr val="D4D4D4"/>
                </a:solidFill>
                <a:latin typeface="Consolas"/>
                <a:ea typeface="游ゴシック"/>
              </a:rPr>
              <a:t>    for i in range(len(x_test)):</a:t>
            </a:r>
          </a:p>
          <a:p>
            <a:pPr algn="l">
              <a:lnSpc>
                <a:spcPct val="108000"/>
              </a:lnSpc>
              <a:spcBef>
                <a:spcPts val="0"/>
              </a:spcBef>
              <a:spcAft>
                <a:spcPts val="400"/>
              </a:spcAft>
            </a:pPr>
            <a:r>
              <a:rPr sz="1700" b="0" lang="ja-JP" altLang="en-US">
                <a:solidFill>
                  <a:srgbClr val="D4D4D4"/>
                </a:solidFill>
                <a:latin typeface="Consolas"/>
                <a:ea typeface="游ゴシック"/>
              </a:rPr>
              <a:t>        # eval_seq2seqで完全一致を判定</a:t>
            </a:r>
          </a:p>
          <a:p>
            <a:pPr algn="l">
              <a:lnSpc>
                <a:spcPct val="108000"/>
              </a:lnSpc>
              <a:spcBef>
                <a:spcPts val="0"/>
              </a:spcBef>
              <a:spcAft>
                <a:spcPts val="400"/>
              </a:spcAft>
            </a:pPr>
            <a:r>
              <a:rPr sz="1700" b="0" lang="ja-JP" altLang="en-US">
                <a:solidFill>
                  <a:srgbClr val="D4D4D4"/>
                </a:solidFill>
                <a:latin typeface="Consolas"/>
                <a:ea typeface="游ゴシック"/>
              </a:rPr>
              <a:t>        correct_num += eval_seq2seq(...)</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acc = correct_num / len(x_test)</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fit：重みを更新</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ミニバッチで順伝播と逆伝播。</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generate：重みは固定</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1問ずつ答えを生成して比べる。</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accuracy</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文字単位ではなく、問題単位の完全一致率。</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7.3 seq2seqの実装</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通常版の学習結果</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37</a:t>
            </a:r>
          </a:p>
        </p:txBody>
      </p:sp>
      <p:pic>
        <p:nvPicPr>
          <p:cNvPr id="5" name="Picture 4" descr="accuracy_normal.png"/>
          <p:cNvPicPr>
            <a:picLocks noChangeAspect="1"/>
          </p:cNvPicPr>
          <p:nvPr/>
        </p:nvPicPr>
        <p:blipFill>
          <a:blip r:embed="rId3"/>
          <a:stretch>
            <a:fillRect/>
          </a:stretch>
        </p:blipFill>
        <p:spPr>
          <a:xfrm>
            <a:off x="731520" y="2153126"/>
            <a:ext cx="6812279" cy="3831907"/>
          </a:xfrm>
          <a:prstGeom prst="rect">
            <a:avLst/>
          </a:prstGeom>
        </p:spPr>
      </p:pic>
      <p:sp>
        <p:nvSpPr>
          <p:cNvPr id="6" name="Rounded Rectangle 5"/>
          <p:cNvSpPr/>
          <p:nvPr/>
        </p:nvSpPr>
        <p:spPr>
          <a:xfrm>
            <a:off x="7863840" y="2286000"/>
            <a:ext cx="3474720" cy="15087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2340864"/>
            <a:ext cx="329183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25エポック後</a:t>
            </a:r>
          </a:p>
        </p:txBody>
      </p:sp>
      <p:sp>
        <p:nvSpPr>
          <p:cNvPr id="8" name="TextBox 7"/>
          <p:cNvSpPr txBox="1"/>
          <p:nvPr/>
        </p:nvSpPr>
        <p:spPr>
          <a:xfrm>
            <a:off x="7955279" y="2706624"/>
            <a:ext cx="3291839" cy="106984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完全一致率：10.38%</a:t>
            </a:r>
          </a:p>
          <a:p>
            <a:pPr algn="l">
              <a:lnSpc>
                <a:spcPct val="108000"/>
              </a:lnSpc>
              <a:spcBef>
                <a:spcPts val="0"/>
              </a:spcBef>
              <a:spcAft>
                <a:spcPts val="400"/>
              </a:spcAft>
            </a:pPr>
            <a:r>
              <a:rPr sz="1800" b="0" lang="ja-JP" altLang="en-US">
                <a:solidFill>
                  <a:srgbClr val="111111"/>
                </a:solidFill>
                <a:latin typeface="游ゴシック"/>
                <a:ea typeface="游ゴシック"/>
              </a:rPr>
              <a:t>519 / 5,000 問</a:t>
            </a:r>
          </a:p>
        </p:txBody>
      </p:sp>
      <p:sp>
        <p:nvSpPr>
          <p:cNvPr id="9" name="Rounded Rectangle 8"/>
          <p:cNvSpPr/>
          <p:nvPr/>
        </p:nvSpPr>
        <p:spPr>
          <a:xfrm>
            <a:off x="7863840" y="4114800"/>
            <a:ext cx="3474720" cy="16002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4169663"/>
            <a:ext cx="329183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次の課題</a:t>
            </a:r>
          </a:p>
        </p:txBody>
      </p:sp>
      <p:sp>
        <p:nvSpPr>
          <p:cNvPr id="11" name="TextBox 10"/>
          <p:cNvSpPr txBox="1"/>
          <p:nvPr/>
        </p:nvSpPr>
        <p:spPr>
          <a:xfrm>
            <a:off x="7955279" y="4535424"/>
            <a:ext cx="3291839" cy="11612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モデルの規模を変えず、情報の伝わり方を改善したい。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2つの工夫：入力順と情報の渡し方</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38</a:t>
            </a:r>
          </a:p>
        </p:txBody>
      </p:sp>
      <p:graphicFrame>
        <p:nvGraphicFramePr>
          <p:cNvPr id="5" name="Table 4"/>
          <p:cNvGraphicFramePr>
            <a:graphicFrameLocks noGrp="1"/>
          </p:cNvGraphicFramePr>
          <p:nvPr/>
        </p:nvGraphicFramePr>
        <p:xfrm>
          <a:off x="868680" y="2103120"/>
          <a:ext cx="10469880" cy="2560320"/>
        </p:xfrm>
        <a:graphic>
          <a:graphicData uri="http://schemas.openxmlformats.org/drawingml/2006/table">
            <a:tbl>
              <a:tblPr firstRow="1" bandRow="1">
                <a:tableStyleId>{5C22544A-7EE6-4342-B048-85BDC9FD1C3A}</a:tableStyleId>
              </a:tblPr>
              <a:tblGrid>
                <a:gridCol w="2743200"/>
                <a:gridCol w="4572000"/>
                <a:gridCol w="3154680"/>
              </a:tblGrid>
              <a:tr h="640080">
                <a:tc>
                  <a:txBody>
                    <a:bodyPr/>
                    <a:lstStyle/>
                    <a:p>
                      <a:pPr>
                        <a:lnSpc>
                          <a:spcPct val="108000"/>
                        </a:lnSpc>
                        <a:spcAft>
                          <a:spcPts val="0"/>
                        </a:spcAft>
                      </a:pPr>
                      <a:r>
                        <a:rPr sz="2200" b="1" lang="ja-JP" altLang="en-US">
                          <a:solidFill>
                            <a:srgbClr val="111111"/>
                          </a:solidFill>
                          <a:latin typeface="游ゴシック"/>
                          <a:ea typeface="游ゴシック"/>
                        </a:rPr>
                        <a:t>方式</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変えるところ</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モデル</a:t>
                      </a:r>
                    </a:p>
                  </a:txBody>
                  <a:tcPr marL="91440" marR="91440" anchor="ctr">
                    <a:solidFill>
                      <a:srgbClr val="EAF2F6"/>
                    </a:solidFill>
                  </a:tcPr>
                </a:tc>
              </a:tr>
              <a:tr h="640080">
                <a:tc>
                  <a:txBody>
                    <a:bodyPr/>
                    <a:lstStyle/>
                    <a:p>
                      <a:pPr>
                        <a:lnSpc>
                          <a:spcPct val="108000"/>
                        </a:lnSpc>
                        <a:spcAft>
                          <a:spcPts val="0"/>
                        </a:spcAft>
                      </a:pPr>
                      <a:r>
                        <a:rPr sz="2200" b="0" lang="ja-JP" altLang="en-US">
                          <a:solidFill>
                            <a:srgbClr val="111111"/>
                          </a:solidFill>
                          <a:latin typeface="游ゴシック"/>
                          <a:ea typeface="游ゴシック"/>
                        </a:rPr>
                        <a:t>Baseline</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変更なし</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Seq2seq</a:t>
                      </a:r>
                    </a:p>
                  </a:txBody>
                  <a:tcPr marL="91440" marR="91440" anchor="ctr">
                    <a:solidFill>
                      <a:srgbClr val="FFFFFF"/>
                    </a:solidFill>
                  </a:tcPr>
                </a:tc>
              </a:tr>
              <a:tr h="640080">
                <a:tc>
                  <a:txBody>
                    <a:bodyPr/>
                    <a:lstStyle/>
                    <a:p>
                      <a:pPr>
                        <a:lnSpc>
                          <a:spcPct val="108000"/>
                        </a:lnSpc>
                        <a:spcAft>
                          <a:spcPts val="0"/>
                        </a:spcAft>
                      </a:pPr>
                      <a:r>
                        <a:rPr sz="2200" b="0" lang="ja-JP" altLang="en-US">
                          <a:solidFill>
                            <a:srgbClr val="111111"/>
                          </a:solidFill>
                          <a:latin typeface="游ゴシック"/>
                          <a:ea typeface="游ゴシック"/>
                        </a:rPr>
                        <a:t>Reverse</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問題文の文字順を反転</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Seq2seq（同じ構造）</a:t>
                      </a:r>
                    </a:p>
                  </a:txBody>
                  <a:tcPr marL="91440" marR="91440" anchor="ctr">
                    <a:solidFill>
                      <a:srgbClr val="FFFFFF"/>
                    </a:solidFill>
                  </a:tcPr>
                </a:tc>
              </a:tr>
              <a:tr h="640080">
                <a:tc>
                  <a:txBody>
                    <a:bodyPr/>
                    <a:lstStyle/>
                    <a:p>
                      <a:pPr>
                        <a:lnSpc>
                          <a:spcPct val="108000"/>
                        </a:lnSpc>
                        <a:spcAft>
                          <a:spcPts val="0"/>
                        </a:spcAft>
                      </a:pPr>
                      <a:r>
                        <a:rPr sz="2200" b="0" lang="ja-JP" altLang="en-US">
                          <a:solidFill>
                            <a:srgbClr val="111111"/>
                          </a:solidFill>
                          <a:latin typeface="游ゴシック"/>
                          <a:ea typeface="游ゴシック"/>
                        </a:rPr>
                        <a:t>Reverse + Peeky</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反転＋各時刻からhを参照</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PeekySeq2seq</a:t>
                      </a:r>
                    </a:p>
                  </a:txBody>
                  <a:tcPr marL="91440" marR="91440" anchor="ctr">
                    <a:solidFill>
                      <a:srgbClr val="FFFFFF"/>
                    </a:solidFill>
                  </a:tcPr>
                </a:tc>
              </a:tr>
            </a:tbl>
          </a:graphicData>
        </a:graphic>
      </p:graphicFrame>
      <p:sp>
        <p:nvSpPr>
          <p:cNvPr id="6" name="TextBox 5"/>
          <p:cNvSpPr txBox="1"/>
          <p:nvPr/>
        </p:nvSpPr>
        <p:spPr>
          <a:xfrm>
            <a:off x="960120" y="5486400"/>
            <a:ext cx="1024128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比較する条件をそろえ、学習曲線と完全一致率で効果を確かめる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7.4.1 入力データの反転（Reverse）</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39</a:t>
            </a:r>
          </a:p>
        </p:txBody>
      </p:sp>
      <p:sp>
        <p:nvSpPr>
          <p:cNvPr id="5" name="TextBox 4"/>
          <p:cNvSpPr txBox="1"/>
          <p:nvPr/>
        </p:nvSpPr>
        <p:spPr>
          <a:xfrm>
            <a:off x="868680" y="2029968"/>
            <a:ext cx="6263640" cy="3108960"/>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2000" b="0" lang="ja-JP" altLang="en-US">
                <a:solidFill>
                  <a:srgbClr val="D4D4D4"/>
                </a:solidFill>
                <a:latin typeface="Consolas"/>
                <a:ea typeface="游ゴシック"/>
              </a:rPr>
              <a:t>x_train = x_train[:, ::-1]</a:t>
            </a:r>
          </a:p>
          <a:p>
            <a:pPr algn="l">
              <a:lnSpc>
                <a:spcPct val="108000"/>
              </a:lnSpc>
              <a:spcBef>
                <a:spcPts val="0"/>
              </a:spcBef>
              <a:spcAft>
                <a:spcPts val="400"/>
              </a:spcAft>
            </a:pPr>
            <a:r>
              <a:rPr sz="2000" b="0" lang="ja-JP" altLang="en-US">
                <a:solidFill>
                  <a:srgbClr val="D4D4D4"/>
                </a:solidFill>
                <a:latin typeface="Consolas"/>
                <a:ea typeface="游ゴシック"/>
              </a:rPr>
              <a:t>x_test  = x_test[:, ::-1]</a:t>
            </a:r>
          </a:p>
          <a:p>
            <a:pPr algn="l">
              <a:lnSpc>
                <a:spcPct val="108000"/>
              </a:lnSpc>
              <a:spcBef>
                <a:spcPts val="0"/>
              </a:spcBef>
              <a:spcAft>
                <a:spcPts val="400"/>
              </a:spcAft>
            </a:pPr>
            <a:r>
              <a:rPr sz="2000" b="0" lang="ja-JP" altLang="en-US">
                <a:solidFill>
                  <a:srgbClr val="D4D4D4"/>
                </a:solidFill>
                <a:latin typeface="Consolas"/>
                <a:ea typeface="游ゴシック"/>
              </a:rPr>
              <a:t/>
            </a:r>
          </a:p>
          <a:p>
            <a:pPr algn="l">
              <a:lnSpc>
                <a:spcPct val="108000"/>
              </a:lnSpc>
              <a:spcBef>
                <a:spcPts val="0"/>
              </a:spcBef>
              <a:spcAft>
                <a:spcPts val="400"/>
              </a:spcAft>
            </a:pPr>
            <a:r>
              <a:rPr sz="2000" b="0" lang="ja-JP" altLang="en-US">
                <a:solidFill>
                  <a:srgbClr val="D4D4D4"/>
                </a:solidFill>
                <a:latin typeface="Consolas"/>
                <a:ea typeface="游ゴシック"/>
              </a:rPr>
              <a:t># 入力だけを反転する</a:t>
            </a:r>
          </a:p>
          <a:p>
            <a:pPr algn="l">
              <a:lnSpc>
                <a:spcPct val="108000"/>
              </a:lnSpc>
              <a:spcBef>
                <a:spcPts val="0"/>
              </a:spcBef>
              <a:spcAft>
                <a:spcPts val="400"/>
              </a:spcAft>
            </a:pPr>
            <a:r>
              <a:rPr sz="2000" b="0" lang="ja-JP" altLang="en-US">
                <a:solidFill>
                  <a:srgbClr val="D4D4D4"/>
                </a:solidFill>
                <a:latin typeface="Consolas"/>
                <a:ea typeface="游ゴシック"/>
              </a:rPr>
              <a:t># 答え t_train / t_test はそのまま</a:t>
            </a:r>
          </a:p>
        </p:txBody>
      </p:sp>
      <p:sp>
        <p:nvSpPr>
          <p:cNvPr id="6" name="Rounded Rectangle 5"/>
          <p:cNvSpPr/>
          <p:nvPr/>
        </p:nvSpPr>
        <p:spPr>
          <a:xfrm>
            <a:off x="7406640" y="2148840"/>
            <a:ext cx="4023360" cy="118872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20370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元の入力</a:t>
            </a:r>
          </a:p>
        </p:txBody>
      </p:sp>
      <p:sp>
        <p:nvSpPr>
          <p:cNvPr id="8" name="TextBox 7"/>
          <p:cNvSpPr txBox="1"/>
          <p:nvPr/>
        </p:nvSpPr>
        <p:spPr>
          <a:xfrm>
            <a:off x="7498079" y="2569464"/>
            <a:ext cx="3840480" cy="74980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「71+118␣」</a:t>
            </a:r>
          </a:p>
        </p:txBody>
      </p:sp>
      <p:sp>
        <p:nvSpPr>
          <p:cNvPr id="9" name="Rounded Rectangle 8"/>
          <p:cNvSpPr/>
          <p:nvPr/>
        </p:nvSpPr>
        <p:spPr>
          <a:xfrm>
            <a:off x="7406640" y="3657600"/>
            <a:ext cx="4023360" cy="118872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712463"/>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反転した入力</a:t>
            </a:r>
          </a:p>
        </p:txBody>
      </p:sp>
      <p:sp>
        <p:nvSpPr>
          <p:cNvPr id="11" name="TextBox 10"/>
          <p:cNvSpPr txBox="1"/>
          <p:nvPr/>
        </p:nvSpPr>
        <p:spPr>
          <a:xfrm>
            <a:off x="7498079" y="4078224"/>
            <a:ext cx="3840480" cy="74980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「␣811+17」</a:t>
            </a:r>
          </a:p>
        </p:txBody>
      </p:sp>
      <p:sp>
        <p:nvSpPr>
          <p:cNvPr id="12" name="TextBox 11"/>
          <p:cNvSpPr txBox="1"/>
          <p:nvPr/>
        </p:nvSpPr>
        <p:spPr>
          <a:xfrm>
            <a:off x="914400" y="5715000"/>
            <a:ext cx="10424160" cy="54864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モデルを大きくせず、データの見せ方だけを変える。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なぜ入力の反転が効くことがあるのか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40</a:t>
            </a:r>
          </a:p>
        </p:txBody>
      </p:sp>
      <p:sp>
        <p:nvSpPr>
          <p:cNvPr id="5" name="TextBox 4"/>
          <p:cNvSpPr txBox="1"/>
          <p:nvPr/>
        </p:nvSpPr>
        <p:spPr>
          <a:xfrm>
            <a:off x="914400" y="2331720"/>
            <a:ext cx="10515600" cy="77724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通常：吾輩 → は → 猫 → で → ある → I → am → a → cat</a:t>
            </a:r>
          </a:p>
        </p:txBody>
      </p:sp>
      <p:sp>
        <p:nvSpPr>
          <p:cNvPr id="6" name="TextBox 5"/>
          <p:cNvSpPr txBox="1"/>
          <p:nvPr/>
        </p:nvSpPr>
        <p:spPr>
          <a:xfrm>
            <a:off x="914400" y="3611880"/>
            <a:ext cx="10515600" cy="777240"/>
          </a:xfrm>
          <a:prstGeom prst="rect">
            <a:avLst/>
          </a:prstGeom>
          <a:noFill/>
        </p:spPr>
        <p:txBody>
          <a:bodyPr wrap="square" lIns="54864" rIns="54864" tIns="54864" bIns="54864">
            <a:spAutoFit/>
          </a:bodyPr>
          <a:lstStyle/>
          <a:p>
            <a:pPr algn="l">
              <a:lnSpc>
                <a:spcPct val="108000"/>
              </a:lnSpc>
              <a:spcBef>
                <a:spcPts val="0"/>
              </a:spcBef>
              <a:spcAft>
                <a:spcPts val="400"/>
              </a:spcAft>
            </a:pPr>
            <a:r>
              <a:rPr sz="2500" b="0" lang="ja-JP" altLang="en-US">
                <a:solidFill>
                  <a:srgbClr val="111111"/>
                </a:solidFill>
                <a:latin typeface="游ゴシック"/>
                <a:ea typeface="游ゴシック"/>
              </a:rPr>
              <a:t>反転：ある → で → 猫 → は → 吾輩 → I → am → a → cat</a:t>
            </a:r>
          </a:p>
        </p:txBody>
      </p:sp>
      <p:sp>
        <p:nvSpPr>
          <p:cNvPr id="7" name="Rectangle 6"/>
          <p:cNvSpPr/>
          <p:nvPr/>
        </p:nvSpPr>
        <p:spPr>
          <a:xfrm>
            <a:off x="1005840" y="5029200"/>
            <a:ext cx="10149840" cy="82296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対応する「吾輩」と「I」が近くなる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入力反転の学習結果</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41</a:t>
            </a:r>
          </a:p>
        </p:txBody>
      </p:sp>
      <p:pic>
        <p:nvPicPr>
          <p:cNvPr id="5" name="Picture 4" descr="accuracy_reverse.png"/>
          <p:cNvPicPr>
            <a:picLocks noChangeAspect="1"/>
          </p:cNvPicPr>
          <p:nvPr/>
        </p:nvPicPr>
        <p:blipFill>
          <a:blip r:embed="rId3"/>
          <a:stretch>
            <a:fillRect/>
          </a:stretch>
        </p:blipFill>
        <p:spPr>
          <a:xfrm>
            <a:off x="731520" y="2153126"/>
            <a:ext cx="6812279" cy="3831907"/>
          </a:xfrm>
          <a:prstGeom prst="rect">
            <a:avLst/>
          </a:prstGeom>
        </p:spPr>
      </p:pic>
      <p:sp>
        <p:nvSpPr>
          <p:cNvPr id="6" name="Rounded Rectangle 5"/>
          <p:cNvSpPr/>
          <p:nvPr/>
        </p:nvSpPr>
        <p:spPr>
          <a:xfrm>
            <a:off x="7863840" y="2286000"/>
            <a:ext cx="3474720" cy="150876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2340864"/>
            <a:ext cx="329183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25エポック後</a:t>
            </a:r>
          </a:p>
        </p:txBody>
      </p:sp>
      <p:sp>
        <p:nvSpPr>
          <p:cNvPr id="8" name="TextBox 7"/>
          <p:cNvSpPr txBox="1"/>
          <p:nvPr/>
        </p:nvSpPr>
        <p:spPr>
          <a:xfrm>
            <a:off x="7955279" y="2706624"/>
            <a:ext cx="3291839" cy="106984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完全一致率：54.06%</a:t>
            </a:r>
          </a:p>
          <a:p>
            <a:pPr algn="l">
              <a:lnSpc>
                <a:spcPct val="108000"/>
              </a:lnSpc>
              <a:spcBef>
                <a:spcPts val="0"/>
              </a:spcBef>
              <a:spcAft>
                <a:spcPts val="400"/>
              </a:spcAft>
            </a:pPr>
            <a:r>
              <a:rPr sz="1800" b="0" lang="ja-JP" altLang="en-US">
                <a:solidFill>
                  <a:srgbClr val="111111"/>
                </a:solidFill>
                <a:latin typeface="游ゴシック"/>
                <a:ea typeface="游ゴシック"/>
              </a:rPr>
              <a:t>2,703 / 5,000 問</a:t>
            </a:r>
          </a:p>
        </p:txBody>
      </p:sp>
      <p:sp>
        <p:nvSpPr>
          <p:cNvPr id="9" name="Rounded Rectangle 8"/>
          <p:cNvSpPr/>
          <p:nvPr/>
        </p:nvSpPr>
        <p:spPr>
          <a:xfrm>
            <a:off x="7863840" y="4114800"/>
            <a:ext cx="3474720" cy="16002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4169663"/>
            <a:ext cx="3291839"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Baselineとの比較</a:t>
            </a:r>
          </a:p>
        </p:txBody>
      </p:sp>
      <p:sp>
        <p:nvSpPr>
          <p:cNvPr id="11" name="TextBox 10"/>
          <p:cNvSpPr txBox="1"/>
          <p:nvPr/>
        </p:nvSpPr>
        <p:spPr>
          <a:xfrm>
            <a:off x="7955279" y="4535424"/>
            <a:ext cx="3291839" cy="11612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10.38% → 54.06%</a:t>
            </a:r>
          </a:p>
          <a:p>
            <a:pPr algn="l">
              <a:lnSpc>
                <a:spcPct val="108000"/>
              </a:lnSpc>
              <a:spcBef>
                <a:spcPts val="0"/>
              </a:spcBef>
              <a:spcAft>
                <a:spcPts val="400"/>
              </a:spcAft>
            </a:pPr>
            <a:r>
              <a:rPr sz="1800" b="0" lang="ja-JP" altLang="en-US">
                <a:solidFill>
                  <a:srgbClr val="111111"/>
                </a:solidFill>
                <a:latin typeface="游ゴシック"/>
                <a:ea typeface="游ゴシック"/>
              </a:rPr>
              <a:t>+43.68ポイント</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7.4.2 覗き見（Peeky）の考え方</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42</a:t>
            </a:r>
          </a:p>
        </p:txBody>
      </p:sp>
      <p:sp>
        <p:nvSpPr>
          <p:cNvPr id="5" name="TextBox 4"/>
          <p:cNvSpPr txBox="1"/>
          <p:nvPr/>
        </p:nvSpPr>
        <p:spPr>
          <a:xfrm>
            <a:off x="1005840" y="2075688"/>
            <a:ext cx="44805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1" lang="ja-JP" altLang="en-US">
                <a:solidFill>
                  <a:srgbClr val="111111"/>
                </a:solidFill>
                <a:latin typeface="游ゴシック"/>
                <a:ea typeface="游ゴシック"/>
              </a:rPr>
              <a:t>Encoder</a:t>
            </a:r>
          </a:p>
        </p:txBody>
      </p:sp>
      <p:sp>
        <p:nvSpPr>
          <p:cNvPr id="6" name="Rectangle 5"/>
          <p:cNvSpPr/>
          <p:nvPr/>
        </p:nvSpPr>
        <p:spPr>
          <a:xfrm>
            <a:off x="1005840" y="4389120"/>
            <a:ext cx="438912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Embedding</a:t>
            </a:r>
          </a:p>
        </p:txBody>
      </p:sp>
      <p:sp>
        <p:nvSpPr>
          <p:cNvPr id="7" name="Rectangle 6"/>
          <p:cNvSpPr/>
          <p:nvPr/>
        </p:nvSpPr>
        <p:spPr>
          <a:xfrm>
            <a:off x="1005840" y="3383280"/>
            <a:ext cx="438912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LSTM</a:t>
            </a:r>
          </a:p>
        </p:txBody>
      </p:sp>
      <p:cxnSp>
        <p:nvCxnSpPr>
          <p:cNvPr id="8" name="Connector 7"/>
          <p:cNvCxnSpPr/>
          <p:nvPr/>
        </p:nvCxnSpPr>
        <p:spPr>
          <a:xfrm flipV="1">
            <a:off x="3200400" y="4050791"/>
            <a:ext cx="0" cy="338329"/>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05840" y="5074920"/>
            <a:ext cx="4389120" cy="548640"/>
          </a:xfrm>
          <a:prstGeom prst="rect">
            <a:avLst/>
          </a:prstGeom>
          <a:noFill/>
        </p:spPr>
        <p:txBody>
          <a:bodyPr wrap="square" lIns="54864" rIns="54864" tIns="54864" bIns="54864">
            <a:spAutoFit/>
          </a:bodyPr>
          <a:lstStyle/>
          <a:p>
            <a:pPr algn="ctr">
              <a:lnSpc>
                <a:spcPct val="108000"/>
              </a:lnSpc>
              <a:spcBef>
                <a:spcPts val="0"/>
              </a:spcBef>
              <a:spcAft>
                <a:spcPts val="400"/>
              </a:spcAft>
            </a:pPr>
            <a:r>
              <a:rPr sz="2200" b="0" lang="ja-JP" altLang="en-US">
                <a:solidFill>
                  <a:srgbClr val="111111"/>
                </a:solidFill>
                <a:latin typeface="游ゴシック"/>
                <a:ea typeface="游ゴシック"/>
              </a:rPr>
              <a:t>7   1   +   1   1   8   ␣</a:t>
            </a:r>
          </a:p>
        </p:txBody>
      </p:sp>
      <p:cxnSp>
        <p:nvCxnSpPr>
          <p:cNvPr id="10" name="Connector 9"/>
          <p:cNvCxnSpPr/>
          <p:nvPr/>
        </p:nvCxnSpPr>
        <p:spPr>
          <a:xfrm flipV="1">
            <a:off x="3200400" y="4937760"/>
            <a:ext cx="0" cy="13716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0" y="2075688"/>
            <a:ext cx="448056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1" lang="ja-JP" altLang="en-US">
                <a:solidFill>
                  <a:srgbClr val="111111"/>
                </a:solidFill>
                <a:latin typeface="游ゴシック"/>
                <a:ea typeface="游ゴシック"/>
              </a:rPr>
              <a:t>Decoder</a:t>
            </a:r>
          </a:p>
        </p:txBody>
      </p:sp>
      <p:sp>
        <p:nvSpPr>
          <p:cNvPr id="12" name="Rectangle 11"/>
          <p:cNvSpPr/>
          <p:nvPr/>
        </p:nvSpPr>
        <p:spPr>
          <a:xfrm>
            <a:off x="6583680" y="4389120"/>
            <a:ext cx="4389120" cy="54864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000" lang="ja-JP" altLang="en-US">
                <a:solidFill>
                  <a:srgbClr val="111111"/>
                </a:solidFill>
                <a:latin typeface="游ゴシック"/>
                <a:ea typeface="游ゴシック"/>
              </a:rPr>
              <a:t>Embedding</a:t>
            </a:r>
          </a:p>
        </p:txBody>
      </p:sp>
      <p:sp>
        <p:nvSpPr>
          <p:cNvPr id="13" name="Rectangle 12"/>
          <p:cNvSpPr/>
          <p:nvPr/>
        </p:nvSpPr>
        <p:spPr>
          <a:xfrm>
            <a:off x="6583680" y="3383280"/>
            <a:ext cx="4389120" cy="64008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400" lang="ja-JP" altLang="en-US">
                <a:solidFill>
                  <a:srgbClr val="111111"/>
                </a:solidFill>
                <a:latin typeface="游ゴシック"/>
                <a:ea typeface="游ゴシック"/>
              </a:rPr>
              <a:t>LSTM</a:t>
            </a:r>
          </a:p>
        </p:txBody>
      </p:sp>
      <p:cxnSp>
        <p:nvCxnSpPr>
          <p:cNvPr id="14" name="Connector 13"/>
          <p:cNvCxnSpPr/>
          <p:nvPr/>
        </p:nvCxnSpPr>
        <p:spPr>
          <a:xfrm flipV="1">
            <a:off x="8778240" y="4050791"/>
            <a:ext cx="0" cy="338329"/>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0" y="5074920"/>
            <a:ext cx="4389120" cy="548640"/>
          </a:xfrm>
          <a:prstGeom prst="rect">
            <a:avLst/>
          </a:prstGeom>
          <a:noFill/>
        </p:spPr>
        <p:txBody>
          <a:bodyPr wrap="square" lIns="54864" rIns="54864" tIns="54864" bIns="54864">
            <a:spAutoFit/>
          </a:bodyPr>
          <a:lstStyle/>
          <a:p>
            <a:pPr algn="ctr">
              <a:lnSpc>
                <a:spcPct val="108000"/>
              </a:lnSpc>
              <a:spcBef>
                <a:spcPts val="0"/>
              </a:spcBef>
              <a:spcAft>
                <a:spcPts val="400"/>
              </a:spcAft>
            </a:pPr>
            <a:r>
              <a:rPr sz="2200" b="0" lang="ja-JP" altLang="en-US">
                <a:solidFill>
                  <a:srgbClr val="111111"/>
                </a:solidFill>
                <a:latin typeface="游ゴシック"/>
                <a:ea typeface="游ゴシック"/>
              </a:rPr>
              <a:t>_   1   8   9   ␣</a:t>
            </a:r>
          </a:p>
        </p:txBody>
      </p:sp>
      <p:cxnSp>
        <p:nvCxnSpPr>
          <p:cNvPr id="16" name="Connector 15"/>
          <p:cNvCxnSpPr/>
          <p:nvPr/>
        </p:nvCxnSpPr>
        <p:spPr>
          <a:xfrm flipV="1">
            <a:off x="8778240" y="4937760"/>
            <a:ext cx="0" cy="137160"/>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22392" y="3675887"/>
            <a:ext cx="1115568" cy="0"/>
          </a:xfrm>
          <a:prstGeom prst="line">
            <a:avLst/>
          </a:prstGeom>
          <a:ln w="2540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15000" y="3182112"/>
            <a:ext cx="45720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56082"/>
                </a:solidFill>
                <a:latin typeface="游ゴシック"/>
                <a:ea typeface="游ゴシック"/>
              </a:rPr>
              <a:t>h</a:t>
            </a:r>
          </a:p>
        </p:txBody>
      </p:sp>
      <p:sp>
        <p:nvSpPr>
          <p:cNvPr id="19" name="Rectangle 18"/>
          <p:cNvSpPr/>
          <p:nvPr/>
        </p:nvSpPr>
        <p:spPr>
          <a:xfrm>
            <a:off x="6583680" y="2606040"/>
            <a:ext cx="4389120" cy="502920"/>
          </a:xfrm>
          <a:prstGeom prst="rect">
            <a:avLst/>
          </a:prstGeom>
          <a:solidFill>
            <a:srgbClr val="F5F5F5"/>
          </a:solidFill>
          <a:ln w="1651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Affine → Softmax</a:t>
            </a:r>
          </a:p>
        </p:txBody>
      </p:sp>
      <p:cxnSp>
        <p:nvCxnSpPr>
          <p:cNvPr id="20" name="Connector 19"/>
          <p:cNvCxnSpPr/>
          <p:nvPr/>
        </p:nvCxnSpPr>
        <p:spPr>
          <a:xfrm flipV="1">
            <a:off x="8778240" y="3136392"/>
            <a:ext cx="0" cy="246888"/>
          </a:xfrm>
          <a:prstGeom prst="line">
            <a:avLst/>
          </a:prstGeom>
          <a:ln w="2032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852160" y="2852928"/>
            <a:ext cx="0" cy="832104"/>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52160" y="2852928"/>
            <a:ext cx="66751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52160" y="3749039"/>
            <a:ext cx="0" cy="896113"/>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2160" y="4645152"/>
            <a:ext cx="66751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05840" y="5852160"/>
            <a:ext cx="1014984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2100" b="0" lang="ja-JP" altLang="en-US">
                <a:solidFill>
                  <a:srgbClr val="111111"/>
                </a:solidFill>
                <a:latin typeface="游ゴシック"/>
                <a:ea typeface="游ゴシック"/>
              </a:rPr>
              <a:t>入力系列を1つの固定長ベクトル h に変換し、出力系列を生成する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Peekyで変わるテンソルの形</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43</a:t>
            </a:r>
          </a:p>
        </p:txBody>
      </p:sp>
      <p:graphicFrame>
        <p:nvGraphicFramePr>
          <p:cNvPr id="5" name="Table 4"/>
          <p:cNvGraphicFramePr>
            <a:graphicFrameLocks noGrp="1"/>
          </p:cNvGraphicFramePr>
          <p:nvPr/>
        </p:nvGraphicFramePr>
        <p:xfrm>
          <a:off x="868680" y="2103120"/>
          <a:ext cx="10469880" cy="3200400"/>
        </p:xfrm>
        <a:graphic>
          <a:graphicData uri="http://schemas.openxmlformats.org/drawingml/2006/table">
            <a:tbl>
              <a:tblPr firstRow="1" bandRow="1">
                <a:tableStyleId>{5C22544A-7EE6-4342-B048-85BDC9FD1C3A}</a:tableStyleId>
              </a:tblPr>
              <a:tblGrid>
                <a:gridCol w="2834640"/>
                <a:gridCol w="3794760"/>
                <a:gridCol w="3840480"/>
              </a:tblGrid>
              <a:tr h="640080">
                <a:tc>
                  <a:txBody>
                    <a:bodyPr/>
                    <a:lstStyle/>
                    <a:p>
                      <a:pPr>
                        <a:lnSpc>
                          <a:spcPct val="108000"/>
                        </a:lnSpc>
                        <a:spcAft>
                          <a:spcPts val="0"/>
                        </a:spcAft>
                      </a:pPr>
                      <a:r>
                        <a:rPr sz="2300" b="1" lang="ja-JP" altLang="en-US">
                          <a:solidFill>
                            <a:srgbClr val="111111"/>
                          </a:solidFill>
                          <a:latin typeface="游ゴシック"/>
                          <a:ea typeface="游ゴシック"/>
                        </a:rPr>
                        <a:t>場所</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通常版</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Peeky</a:t>
                      </a:r>
                    </a:p>
                  </a:txBody>
                  <a:tcPr marL="91440" marR="91440" anchor="ctr">
                    <a:solidFill>
                      <a:srgbClr val="EAF2F6"/>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文字ベクトル</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D)</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D)</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LSTM入力</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D)</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H+D)</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LSTM出力</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H)</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H)</a:t>
                      </a:r>
                    </a:p>
                  </a:txBody>
                  <a:tcPr marL="91440" marR="91440" anchor="ctr">
                    <a:solidFill>
                      <a:srgbClr val="FFFFFF"/>
                    </a:solidFill>
                  </a:tcPr>
                </a:tc>
              </a:tr>
              <a:tr h="640080">
                <a:tc>
                  <a:txBody>
                    <a:bodyPr/>
                    <a:lstStyle/>
                    <a:p>
                      <a:pPr>
                        <a:lnSpc>
                          <a:spcPct val="108000"/>
                        </a:lnSpc>
                        <a:spcAft>
                          <a:spcPts val="0"/>
                        </a:spcAft>
                      </a:pPr>
                      <a:r>
                        <a:rPr sz="2300" b="0" lang="ja-JP" altLang="en-US">
                          <a:solidFill>
                            <a:srgbClr val="111111"/>
                          </a:solidFill>
                          <a:latin typeface="游ゴシック"/>
                          <a:ea typeface="游ゴシック"/>
                        </a:rPr>
                        <a:t>Affine入力</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H)</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(N, T, 2H)</a:t>
                      </a:r>
                    </a:p>
                  </a:txBody>
                  <a:tcPr marL="91440" marR="91440" anchor="ctr">
                    <a:solidFill>
                      <a:srgbClr val="FFFFFF"/>
                    </a:solidFill>
                  </a:tcPr>
                </a:tc>
              </a:tr>
            </a:tbl>
          </a:graphicData>
        </a:graphic>
      </p:graphicFrame>
      <p:sp>
        <p:nvSpPr>
          <p:cNvPr id="6" name="TextBox 5"/>
          <p:cNvSpPr txBox="1"/>
          <p:nvPr/>
        </p:nvSpPr>
        <p:spPr>
          <a:xfrm>
            <a:off x="960120" y="5715000"/>
            <a:ext cx="1024128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200" b="0" lang="ja-JP" altLang="en-US">
                <a:solidFill>
                  <a:srgbClr val="111111"/>
                </a:solidFill>
                <a:latin typeface="游ゴシック"/>
                <a:ea typeface="游ゴシック"/>
              </a:rPr>
              <a:t>今回：D=16、H=128 → LSTM入力144次元、Affine入力256次元</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PeekyDecoder.forward：hを連結する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44</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self.lstm.set_state(h)</a:t>
            </a:r>
          </a:p>
          <a:p>
            <a:pPr algn="l">
              <a:lnSpc>
                <a:spcPct val="108000"/>
              </a:lnSpc>
              <a:spcBef>
                <a:spcPts val="0"/>
              </a:spcBef>
              <a:spcAft>
                <a:spcPts val="400"/>
              </a:spcAft>
            </a:pPr>
            <a:r>
              <a:rPr sz="1700" b="0" lang="ja-JP" altLang="en-US">
                <a:solidFill>
                  <a:srgbClr val="D4D4D4"/>
                </a:solidFill>
                <a:latin typeface="Consolas"/>
                <a:ea typeface="游ゴシック"/>
              </a:rPr>
              <a:t>out = self.embed.forward(xs)</a:t>
            </a:r>
          </a:p>
          <a:p>
            <a:pPr algn="l">
              <a:lnSpc>
                <a:spcPct val="108000"/>
              </a:lnSpc>
              <a:spcBef>
                <a:spcPts val="0"/>
              </a:spcBef>
              <a:spcAft>
                <a:spcPts val="400"/>
              </a:spcAft>
            </a:pPr>
            <a:r>
              <a:rPr sz="1700" b="0" lang="ja-JP" altLang="en-US">
                <a:solidFill>
                  <a:srgbClr val="D4D4D4"/>
                </a:solidFill>
                <a:latin typeface="Consolas"/>
                <a:ea typeface="游ゴシック"/>
              </a:rPr>
              <a:t>hs = np.repeat(h, T, axis=0)</a:t>
            </a:r>
          </a:p>
          <a:p>
            <a:pPr algn="l">
              <a:lnSpc>
                <a:spcPct val="108000"/>
              </a:lnSpc>
              <a:spcBef>
                <a:spcPts val="0"/>
              </a:spcBef>
              <a:spcAft>
                <a:spcPts val="400"/>
              </a:spcAft>
            </a:pPr>
            <a:r>
              <a:rPr sz="1700" b="0" lang="ja-JP" altLang="en-US">
                <a:solidFill>
                  <a:srgbClr val="D4D4D4"/>
                </a:solidFill>
                <a:latin typeface="Consolas"/>
                <a:ea typeface="游ゴシック"/>
              </a:rPr>
              <a:t>hs = hs.reshape(N, T, H)</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out = np.concatenate((hs, out), axis=2)</a:t>
            </a:r>
          </a:p>
          <a:p>
            <a:pPr algn="l">
              <a:lnSpc>
                <a:spcPct val="108000"/>
              </a:lnSpc>
              <a:spcBef>
                <a:spcPts val="0"/>
              </a:spcBef>
              <a:spcAft>
                <a:spcPts val="400"/>
              </a:spcAft>
            </a:pPr>
            <a:r>
              <a:rPr sz="1700" b="0" lang="ja-JP" altLang="en-US">
                <a:solidFill>
                  <a:srgbClr val="D4D4D4"/>
                </a:solidFill>
                <a:latin typeface="Consolas"/>
                <a:ea typeface="游ゴシック"/>
              </a:rPr>
              <a:t>out = self.lstm.forward(out)</a:t>
            </a:r>
          </a:p>
          <a:p>
            <a:pPr algn="l">
              <a:lnSpc>
                <a:spcPct val="108000"/>
              </a:lnSpc>
              <a:spcBef>
                <a:spcPts val="0"/>
              </a:spcBef>
              <a:spcAft>
                <a:spcPts val="400"/>
              </a:spcAft>
            </a:pPr>
            <a:r>
              <a:rPr sz="1700" b="0" lang="ja-JP" altLang="en-US">
                <a:solidFill>
                  <a:srgbClr val="D4D4D4"/>
                </a:solidFill>
                <a:latin typeface="Consolas"/>
                <a:ea typeface="游ゴシック"/>
              </a:rPr>
              <a:t>out = np.concatenate((hs, out), axis=2)</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score = self.affine.forward(out)</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複製</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同じ h を全時刻に配る。</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1回目の連結</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LSTM入力に、入力文の情報を加える。</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2回目の連結</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文字のスコアを出す直前にも h を渡す。</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PeekyDecoder.backward：hへの勾配を合計</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45</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600" b="0" lang="ja-JP" altLang="en-US">
                <a:solidFill>
                  <a:srgbClr val="D4D4D4"/>
                </a:solidFill>
                <a:latin typeface="Consolas"/>
                <a:ea typeface="游ゴシック"/>
              </a:rPr>
              <a:t>dout = self.affine.backward(dscore)</a:t>
            </a:r>
          </a:p>
          <a:p>
            <a:pPr algn="l">
              <a:lnSpc>
                <a:spcPct val="108000"/>
              </a:lnSpc>
              <a:spcBef>
                <a:spcPts val="0"/>
              </a:spcBef>
              <a:spcAft>
                <a:spcPts val="400"/>
              </a:spcAft>
            </a:pPr>
            <a:r>
              <a:rPr sz="1600" b="0" lang="ja-JP" altLang="en-US">
                <a:solidFill>
                  <a:srgbClr val="D4D4D4"/>
                </a:solidFill>
                <a:latin typeface="Consolas"/>
                <a:ea typeface="游ゴシック"/>
              </a:rPr>
              <a:t>dout, dhs0 = dout[:, :, H:], dout[:, :, :H]</a:t>
            </a:r>
          </a:p>
          <a:p>
            <a:pPr algn="l">
              <a:lnSpc>
                <a:spcPct val="108000"/>
              </a:lnSpc>
              <a:spcBef>
                <a:spcPts val="0"/>
              </a:spcBef>
              <a:spcAft>
                <a:spcPts val="400"/>
              </a:spcAft>
            </a:pPr>
            <a:r>
              <a:rPr sz="1600" b="0" lang="ja-JP" altLang="en-US">
                <a:solidFill>
                  <a:srgbClr val="D4D4D4"/>
                </a:solidFill>
                <a:latin typeface="Consolas"/>
                <a:ea typeface="游ゴシック"/>
              </a:rPr>
              <a:t>dout = self.lstm.backward(dout)</a:t>
            </a:r>
          </a:p>
          <a:p>
            <a:pPr algn="l">
              <a:lnSpc>
                <a:spcPct val="108000"/>
              </a:lnSpc>
              <a:spcBef>
                <a:spcPts val="0"/>
              </a:spcBef>
              <a:spcAft>
                <a:spcPts val="400"/>
              </a:spcAft>
            </a:pPr>
            <a:r>
              <a:rPr sz="1600" b="0" lang="ja-JP" altLang="en-US">
                <a:solidFill>
                  <a:srgbClr val="D4D4D4"/>
                </a:solidFill>
                <a:latin typeface="Consolas"/>
                <a:ea typeface="游ゴシック"/>
              </a:rPr>
              <a:t>dembed, dhs1 = dout[:, :, H:], dout[:, :, :H]</a:t>
            </a:r>
          </a:p>
          <a:p>
            <a:pPr algn="l">
              <a:lnSpc>
                <a:spcPct val="108000"/>
              </a:lnSpc>
              <a:spcBef>
                <a:spcPts val="0"/>
              </a:spcBef>
              <a:spcAft>
                <a:spcPts val="400"/>
              </a:spcAft>
            </a:pPr>
            <a:r>
              <a:rPr sz="1600" b="0" lang="ja-JP" altLang="en-US">
                <a:solidFill>
                  <a:srgbClr val="D4D4D4"/>
                </a:solidFill>
                <a:latin typeface="Consolas"/>
                <a:ea typeface="游ゴシック"/>
              </a:rPr>
              <a:t>self.embed.backward(dembed)</a:t>
            </a:r>
          </a:p>
          <a:p>
            <a:pPr algn="l">
              <a:lnSpc>
                <a:spcPct val="108000"/>
              </a:lnSpc>
              <a:spcBef>
                <a:spcPts val="0"/>
              </a:spcBef>
              <a:spcAft>
                <a:spcPts val="400"/>
              </a:spcAft>
            </a:pPr>
            <a:r>
              <a:rPr sz="1600" b="0" lang="ja-JP" altLang="en-US">
                <a:solidFill>
                  <a:srgbClr val="D4D4D4"/>
                </a:solidFill>
                <a:latin typeface="Consolas"/>
                <a:ea typeface="游ゴシック"/>
              </a:rPr>
              <a:t/>
            </a:r>
          </a:p>
          <a:p>
            <a:pPr algn="l">
              <a:lnSpc>
                <a:spcPct val="108000"/>
              </a:lnSpc>
              <a:spcBef>
                <a:spcPts val="0"/>
              </a:spcBef>
              <a:spcAft>
                <a:spcPts val="400"/>
              </a:spcAft>
            </a:pPr>
            <a:r>
              <a:rPr sz="1600" b="0" lang="ja-JP" altLang="en-US">
                <a:solidFill>
                  <a:srgbClr val="D4D4D4"/>
                </a:solidFill>
                <a:latin typeface="Consolas"/>
                <a:ea typeface="游ゴシック"/>
              </a:rPr>
              <a:t>dhs = dhs0 + dhs1</a:t>
            </a:r>
          </a:p>
          <a:p>
            <a:pPr algn="l">
              <a:lnSpc>
                <a:spcPct val="108000"/>
              </a:lnSpc>
              <a:spcBef>
                <a:spcPts val="0"/>
              </a:spcBef>
              <a:spcAft>
                <a:spcPts val="400"/>
              </a:spcAft>
            </a:pPr>
            <a:r>
              <a:rPr sz="1600" b="0" lang="ja-JP" altLang="en-US">
                <a:solidFill>
                  <a:srgbClr val="D4D4D4"/>
                </a:solidFill>
                <a:latin typeface="Consolas"/>
                <a:ea typeface="游ゴシック"/>
              </a:rPr>
              <a:t>dh = self.lstm.dh + np.sum(dhs, axis=1)</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分割</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concat の逆操作で経路を分ける。</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全時刻ぶんを合計</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同じ h を繰り返し使ったため。</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3つの経路</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Affine側・LSTM入力側・初期状態側。</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PeekyDecoder.generate：生成時も覗き見する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46</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peeky_h = h.reshape(1, 1, H)</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各文字の生成ループ内</a:t>
            </a:r>
          </a:p>
          <a:p>
            <a:pPr algn="l">
              <a:lnSpc>
                <a:spcPct val="108000"/>
              </a:lnSpc>
              <a:spcBef>
                <a:spcPts val="0"/>
              </a:spcBef>
              <a:spcAft>
                <a:spcPts val="400"/>
              </a:spcAft>
            </a:pPr>
            <a:r>
              <a:rPr sz="1700" b="0" lang="ja-JP" altLang="en-US">
                <a:solidFill>
                  <a:srgbClr val="D4D4D4"/>
                </a:solidFill>
                <a:latin typeface="Consolas"/>
                <a:ea typeface="游ゴシック"/>
              </a:rPr>
              <a:t>out = self.embed.forward(x)</a:t>
            </a:r>
          </a:p>
          <a:p>
            <a:pPr algn="l">
              <a:lnSpc>
                <a:spcPct val="108000"/>
              </a:lnSpc>
              <a:spcBef>
                <a:spcPts val="0"/>
              </a:spcBef>
              <a:spcAft>
                <a:spcPts val="400"/>
              </a:spcAft>
            </a:pPr>
            <a:r>
              <a:rPr sz="1700" b="0" lang="ja-JP" altLang="en-US">
                <a:solidFill>
                  <a:srgbClr val="D4D4D4"/>
                </a:solidFill>
                <a:latin typeface="Consolas"/>
                <a:ea typeface="游ゴシック"/>
              </a:rPr>
              <a:t>out = np.concatenate(</a:t>
            </a:r>
          </a:p>
          <a:p>
            <a:pPr algn="l">
              <a:lnSpc>
                <a:spcPct val="108000"/>
              </a:lnSpc>
              <a:spcBef>
                <a:spcPts val="0"/>
              </a:spcBef>
              <a:spcAft>
                <a:spcPts val="400"/>
              </a:spcAft>
            </a:pPr>
            <a:r>
              <a:rPr sz="1700" b="0" lang="ja-JP" altLang="en-US">
                <a:solidFill>
                  <a:srgbClr val="D4D4D4"/>
                </a:solidFill>
                <a:latin typeface="Consolas"/>
                <a:ea typeface="游ゴシック"/>
              </a:rPr>
              <a:t>    (peeky_h, out), axis=2)</a:t>
            </a:r>
          </a:p>
          <a:p>
            <a:pPr algn="l">
              <a:lnSpc>
                <a:spcPct val="108000"/>
              </a:lnSpc>
              <a:spcBef>
                <a:spcPts val="0"/>
              </a:spcBef>
              <a:spcAft>
                <a:spcPts val="400"/>
              </a:spcAft>
            </a:pPr>
            <a:r>
              <a:rPr sz="1700" b="0" lang="ja-JP" altLang="en-US">
                <a:solidFill>
                  <a:srgbClr val="D4D4D4"/>
                </a:solidFill>
                <a:latin typeface="Consolas"/>
                <a:ea typeface="游ゴシック"/>
              </a:rPr>
              <a:t>out = self.lstm.forward(out)</a:t>
            </a:r>
          </a:p>
          <a:p>
            <a:pPr algn="l">
              <a:lnSpc>
                <a:spcPct val="108000"/>
              </a:lnSpc>
              <a:spcBef>
                <a:spcPts val="0"/>
              </a:spcBef>
              <a:spcAft>
                <a:spcPts val="400"/>
              </a:spcAft>
            </a:pPr>
            <a:r>
              <a:rPr sz="1700" b="0" lang="ja-JP" altLang="en-US">
                <a:solidFill>
                  <a:srgbClr val="D4D4D4"/>
                </a:solidFill>
                <a:latin typeface="Consolas"/>
                <a:ea typeface="游ゴシック"/>
              </a:rPr>
              <a:t>out = np.concatenate(</a:t>
            </a:r>
          </a:p>
          <a:p>
            <a:pPr algn="l">
              <a:lnSpc>
                <a:spcPct val="108000"/>
              </a:lnSpc>
              <a:spcBef>
                <a:spcPts val="0"/>
              </a:spcBef>
              <a:spcAft>
                <a:spcPts val="400"/>
              </a:spcAft>
            </a:pPr>
            <a:r>
              <a:rPr sz="1700" b="0" lang="ja-JP" altLang="en-US">
                <a:solidFill>
                  <a:srgbClr val="D4D4D4"/>
                </a:solidFill>
                <a:latin typeface="Consolas"/>
                <a:ea typeface="游ゴシック"/>
              </a:rPr>
              <a:t>    (peeky_h, out), axis=2)</a:t>
            </a:r>
          </a:p>
          <a:p>
            <a:pPr algn="l">
              <a:lnSpc>
                <a:spcPct val="108000"/>
              </a:lnSpc>
              <a:spcBef>
                <a:spcPts val="0"/>
              </a:spcBef>
              <a:spcAft>
                <a:spcPts val="400"/>
              </a:spcAft>
            </a:pPr>
            <a:r>
              <a:rPr sz="1700" b="0" lang="ja-JP" altLang="en-US">
                <a:solidFill>
                  <a:srgbClr val="D4D4D4"/>
                </a:solidFill>
                <a:latin typeface="Consolas"/>
                <a:ea typeface="游ゴシック"/>
              </a:rPr>
              <a:t>score = self.affine.forward(out)</a:t>
            </a:r>
          </a:p>
          <a:p>
            <a:pPr algn="l">
              <a:lnSpc>
                <a:spcPct val="108000"/>
              </a:lnSpc>
              <a:spcBef>
                <a:spcPts val="0"/>
              </a:spcBef>
              <a:spcAft>
                <a:spcPts val="400"/>
              </a:spcAft>
            </a:pPr>
            <a:r>
              <a:rPr sz="1700" b="0" lang="ja-JP" altLang="en-US">
                <a:solidFill>
                  <a:srgbClr val="D4D4D4"/>
                </a:solidFill>
                <a:latin typeface="Consolas"/>
                <a:ea typeface="游ゴシック"/>
              </a:rPr>
              <a:t>char_id = np.argmax(score.flatten())</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hは入力文の表現</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生成の途中で別の情報へ切り替わらない。</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Decoder状態は変わる</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生成済みの文字を文脈として保持。</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学習時と形をそろえる</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2か所の連結を生成時にも行う。</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3方式の学習曲線：今回の実測結果</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47</a:t>
            </a:r>
          </a:p>
        </p:txBody>
      </p:sp>
      <p:pic>
        <p:nvPicPr>
          <p:cNvPr id="5" name="Picture 4" descr="accuracy_comparison.png"/>
          <p:cNvPicPr>
            <a:picLocks noChangeAspect="1"/>
          </p:cNvPicPr>
          <p:nvPr/>
        </p:nvPicPr>
        <p:blipFill>
          <a:blip r:embed="rId3"/>
          <a:stretch>
            <a:fillRect/>
          </a:stretch>
        </p:blipFill>
        <p:spPr>
          <a:xfrm>
            <a:off x="2235902" y="1901952"/>
            <a:ext cx="7689714" cy="4251960"/>
          </a:xfrm>
          <a:prstGeom prst="rect">
            <a:avLst/>
          </a:prstGeom>
        </p:spPr>
      </p:pic>
      <p:sp>
        <p:nvSpPr>
          <p:cNvPr id="6" name="TextBox 5"/>
          <p:cNvSpPr txBox="1"/>
          <p:nvPr/>
        </p:nvSpPr>
        <p:spPr>
          <a:xfrm>
            <a:off x="914400" y="6199632"/>
            <a:ext cx="10424160" cy="320040"/>
          </a:xfrm>
          <a:prstGeom prst="rect">
            <a:avLst/>
          </a:prstGeom>
          <a:noFill/>
        </p:spPr>
        <p:txBody>
          <a:bodyPr wrap="square" lIns="54864" rIns="54864" tIns="54864" bIns="54864">
            <a:spAutoFit/>
          </a:bodyPr>
          <a:lstStyle/>
          <a:p>
            <a:pPr algn="l">
              <a:lnSpc>
                <a:spcPct val="108000"/>
              </a:lnSpc>
              <a:spcBef>
                <a:spcPts val="0"/>
              </a:spcBef>
              <a:spcAft>
                <a:spcPts val="400"/>
              </a:spcAft>
            </a:pPr>
            <a:r>
              <a:rPr sz="1600" b="0" lang="ja-JP" altLang="en-US">
                <a:solidFill>
                  <a:srgbClr val="111111"/>
                </a:solidFill>
                <a:latin typeface="游ゴシック"/>
                <a:ea typeface="游ゴシック"/>
              </a:rPr>
              <a:t>訓練45,000件／評価5,000件、D=16、H=128、25エポック、単一seedでの比較</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25エポック後の完全一致率を比べる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48</a:t>
            </a:r>
          </a:p>
        </p:txBody>
      </p:sp>
      <p:graphicFrame>
        <p:nvGraphicFramePr>
          <p:cNvPr id="5" name="Table 4"/>
          <p:cNvGraphicFramePr>
            <a:graphicFrameLocks noGrp="1"/>
          </p:cNvGraphicFramePr>
          <p:nvPr/>
        </p:nvGraphicFramePr>
        <p:xfrm>
          <a:off x="868680" y="2103120"/>
          <a:ext cx="10469880" cy="2743200"/>
        </p:xfrm>
        <a:graphic>
          <a:graphicData uri="http://schemas.openxmlformats.org/drawingml/2006/table">
            <a:tbl>
              <a:tblPr firstRow="1" bandRow="1">
                <a:tableStyleId>{5C22544A-7EE6-4342-B048-85BDC9FD1C3A}</a:tableStyleId>
              </a:tblPr>
              <a:tblGrid>
                <a:gridCol w="4023360"/>
                <a:gridCol w="3017520"/>
                <a:gridCol w="3429000"/>
              </a:tblGrid>
              <a:tr h="685800">
                <a:tc>
                  <a:txBody>
                    <a:bodyPr/>
                    <a:lstStyle/>
                    <a:p>
                      <a:pPr>
                        <a:lnSpc>
                          <a:spcPct val="108000"/>
                        </a:lnSpc>
                        <a:spcAft>
                          <a:spcPts val="0"/>
                        </a:spcAft>
                      </a:pPr>
                      <a:r>
                        <a:rPr sz="2700" b="1" lang="ja-JP" altLang="en-US">
                          <a:solidFill>
                            <a:srgbClr val="111111"/>
                          </a:solidFill>
                          <a:latin typeface="游ゴシック"/>
                          <a:ea typeface="游ゴシック"/>
                        </a:rPr>
                        <a:t>方式</a:t>
                      </a:r>
                    </a:p>
                  </a:txBody>
                  <a:tcPr marL="91440" marR="91440" anchor="ctr">
                    <a:solidFill>
                      <a:srgbClr val="EAF2F6"/>
                    </a:solidFill>
                  </a:tcPr>
                </a:tc>
                <a:tc>
                  <a:txBody>
                    <a:bodyPr/>
                    <a:lstStyle/>
                    <a:p>
                      <a:pPr>
                        <a:lnSpc>
                          <a:spcPct val="108000"/>
                        </a:lnSpc>
                        <a:spcAft>
                          <a:spcPts val="0"/>
                        </a:spcAft>
                      </a:pPr>
                      <a:r>
                        <a:rPr sz="2700" b="1" lang="ja-JP" altLang="en-US">
                          <a:solidFill>
                            <a:srgbClr val="111111"/>
                          </a:solidFill>
                          <a:latin typeface="游ゴシック"/>
                          <a:ea typeface="游ゴシック"/>
                        </a:rPr>
                        <a:t>完全一致率</a:t>
                      </a:r>
                    </a:p>
                  </a:txBody>
                  <a:tcPr marL="91440" marR="91440" anchor="ctr">
                    <a:solidFill>
                      <a:srgbClr val="EAF2F6"/>
                    </a:solidFill>
                  </a:tcPr>
                </a:tc>
                <a:tc>
                  <a:txBody>
                    <a:bodyPr/>
                    <a:lstStyle/>
                    <a:p>
                      <a:pPr>
                        <a:lnSpc>
                          <a:spcPct val="108000"/>
                        </a:lnSpc>
                        <a:spcAft>
                          <a:spcPts val="0"/>
                        </a:spcAft>
                      </a:pPr>
                      <a:r>
                        <a:rPr sz="2700" b="1" lang="ja-JP" altLang="en-US">
                          <a:solidFill>
                            <a:srgbClr val="111111"/>
                          </a:solidFill>
                          <a:latin typeface="游ゴシック"/>
                          <a:ea typeface="游ゴシック"/>
                        </a:rPr>
                        <a:t>正解した問題数</a:t>
                      </a:r>
                    </a:p>
                  </a:txBody>
                  <a:tcPr marL="91440" marR="91440" anchor="ctr">
                    <a:solidFill>
                      <a:srgbClr val="EAF2F6"/>
                    </a:solidFill>
                  </a:tcPr>
                </a:tc>
              </a:tr>
              <a:tr h="685800">
                <a:tc>
                  <a:txBody>
                    <a:bodyPr/>
                    <a:lstStyle/>
                    <a:p>
                      <a:pPr>
                        <a:lnSpc>
                          <a:spcPct val="108000"/>
                        </a:lnSpc>
                        <a:spcAft>
                          <a:spcPts val="0"/>
                        </a:spcAft>
                      </a:pPr>
                      <a:r>
                        <a:rPr sz="2700" b="0" lang="ja-JP" altLang="en-US">
                          <a:solidFill>
                            <a:srgbClr val="111111"/>
                          </a:solidFill>
                          <a:latin typeface="游ゴシック"/>
                          <a:ea typeface="游ゴシック"/>
                        </a:rPr>
                        <a:t>Baseline</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10.38%</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519 / 5,000</a:t>
                      </a:r>
                    </a:p>
                  </a:txBody>
                  <a:tcPr marL="91440" marR="91440" anchor="ctr">
                    <a:solidFill>
                      <a:srgbClr val="FFFFFF"/>
                    </a:solidFill>
                  </a:tcPr>
                </a:tc>
              </a:tr>
              <a:tr h="685800">
                <a:tc>
                  <a:txBody>
                    <a:bodyPr/>
                    <a:lstStyle/>
                    <a:p>
                      <a:pPr>
                        <a:lnSpc>
                          <a:spcPct val="108000"/>
                        </a:lnSpc>
                        <a:spcAft>
                          <a:spcPts val="0"/>
                        </a:spcAft>
                      </a:pPr>
                      <a:r>
                        <a:rPr sz="2700" b="0" lang="ja-JP" altLang="en-US">
                          <a:solidFill>
                            <a:srgbClr val="111111"/>
                          </a:solidFill>
                          <a:latin typeface="游ゴシック"/>
                          <a:ea typeface="游ゴシック"/>
                        </a:rPr>
                        <a:t>Reverse</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54.06%</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2,703 / 5,000</a:t>
                      </a:r>
                    </a:p>
                  </a:txBody>
                  <a:tcPr marL="91440" marR="91440" anchor="ctr">
                    <a:solidFill>
                      <a:srgbClr val="FFFFFF"/>
                    </a:solidFill>
                  </a:tcPr>
                </a:tc>
              </a:tr>
              <a:tr h="685800">
                <a:tc>
                  <a:txBody>
                    <a:bodyPr/>
                    <a:lstStyle/>
                    <a:p>
                      <a:pPr>
                        <a:lnSpc>
                          <a:spcPct val="108000"/>
                        </a:lnSpc>
                        <a:spcAft>
                          <a:spcPts val="0"/>
                        </a:spcAft>
                      </a:pPr>
                      <a:r>
                        <a:rPr sz="2700" b="0" lang="ja-JP" altLang="en-US">
                          <a:solidFill>
                            <a:srgbClr val="111111"/>
                          </a:solidFill>
                          <a:latin typeface="游ゴシック"/>
                          <a:ea typeface="游ゴシック"/>
                        </a:rPr>
                        <a:t>Reverse + Peeky</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98.80%</a:t>
                      </a:r>
                    </a:p>
                  </a:txBody>
                  <a:tcPr marL="91440" marR="91440" anchor="ctr">
                    <a:solidFill>
                      <a:srgbClr val="FFFFFF"/>
                    </a:solidFill>
                  </a:tcPr>
                </a:tc>
                <a:tc>
                  <a:txBody>
                    <a:bodyPr/>
                    <a:lstStyle/>
                    <a:p>
                      <a:pPr>
                        <a:lnSpc>
                          <a:spcPct val="108000"/>
                        </a:lnSpc>
                        <a:spcAft>
                          <a:spcPts val="0"/>
                        </a:spcAft>
                      </a:pPr>
                      <a:r>
                        <a:rPr sz="2700" b="0" lang="ja-JP" altLang="en-US">
                          <a:solidFill>
                            <a:srgbClr val="111111"/>
                          </a:solidFill>
                          <a:latin typeface="游ゴシック"/>
                          <a:ea typeface="游ゴシック"/>
                        </a:rPr>
                        <a:t>4,940 / 5,000</a:t>
                      </a:r>
                    </a:p>
                  </a:txBody>
                  <a:tcPr marL="91440" marR="91440" anchor="ctr">
                    <a:solidFill>
                      <a:srgbClr val="FFFFFF"/>
                    </a:solidFill>
                  </a:tcPr>
                </a:tc>
              </a:tr>
            </a:tbl>
          </a:graphicData>
        </a:graphic>
      </p:graphicFrame>
      <p:sp>
        <p:nvSpPr>
          <p:cNvPr id="6" name="TextBox 5"/>
          <p:cNvSpPr txBox="1"/>
          <p:nvPr/>
        </p:nvSpPr>
        <p:spPr>
          <a:xfrm>
            <a:off x="960120" y="5486400"/>
            <a:ext cx="1024128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入力順の変更と、hの参照経路の追加が学習の進み方に影響した。</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7.4 seq2seqの改善</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同じ問題に対する、実際の生成結果</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49</a:t>
            </a:r>
          </a:p>
        </p:txBody>
      </p:sp>
      <p:graphicFrame>
        <p:nvGraphicFramePr>
          <p:cNvPr id="5" name="Table 4"/>
          <p:cNvGraphicFramePr>
            <a:graphicFrameLocks noGrp="1"/>
          </p:cNvGraphicFramePr>
          <p:nvPr/>
        </p:nvGraphicFramePr>
        <p:xfrm>
          <a:off x="868680" y="2103120"/>
          <a:ext cx="10469880" cy="3566160"/>
        </p:xfrm>
        <a:graphic>
          <a:graphicData uri="http://schemas.openxmlformats.org/drawingml/2006/table">
            <a:tbl>
              <a:tblPr firstRow="1" bandRow="1">
                <a:tableStyleId>{5C22544A-7EE6-4342-B048-85BDC9FD1C3A}</a:tableStyleId>
              </a:tblPr>
              <a:tblGrid>
                <a:gridCol w="2240280"/>
                <a:gridCol w="1600200"/>
                <a:gridCol w="2194560"/>
                <a:gridCol w="2194560"/>
                <a:gridCol w="2240280"/>
              </a:tblGrid>
              <a:tr h="594360">
                <a:tc>
                  <a:txBody>
                    <a:bodyPr/>
                    <a:lstStyle/>
                    <a:p>
                      <a:pPr>
                        <a:lnSpc>
                          <a:spcPct val="108000"/>
                        </a:lnSpc>
                        <a:spcAft>
                          <a:spcPts val="0"/>
                        </a:spcAft>
                      </a:pPr>
                      <a:r>
                        <a:rPr sz="2200" b="1" lang="ja-JP" altLang="en-US">
                          <a:solidFill>
                            <a:srgbClr val="111111"/>
                          </a:solidFill>
                          <a:latin typeface="游ゴシック"/>
                          <a:ea typeface="游ゴシック"/>
                        </a:rPr>
                        <a:t>問題</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正解</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Baseline</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Reverse</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 Peeky</a:t>
                      </a:r>
                    </a:p>
                  </a:txBody>
                  <a:tcPr marL="91440" marR="91440" anchor="ctr">
                    <a:solidFill>
                      <a:srgbClr val="EAF2F6"/>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77+85</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975+164</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1139</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1126</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1140</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1139</a:t>
                      </a:r>
                    </a:p>
                  </a:txBody>
                  <a:tcPr marL="91440" marR="91440" anchor="ctr">
                    <a:solidFill>
                      <a:srgbClr val="FFFFFF"/>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582+84</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666</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666</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666</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666</a:t>
                      </a:r>
                    </a:p>
                  </a:txBody>
                  <a:tcPr marL="91440" marR="91440" anchor="ctr">
                    <a:solidFill>
                      <a:srgbClr val="FFFFFF"/>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8+155</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163</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163</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163</a:t>
                      </a:r>
                    </a:p>
                  </a:txBody>
                  <a:tcPr marL="91440" marR="91440" anchor="ctr">
                    <a:solidFill>
                      <a:srgbClr val="FFFFFF"/>
                    </a:solidFill>
                  </a:tcPr>
                </a:tc>
              </a:tr>
              <a:tr h="594360">
                <a:tc>
                  <a:txBody>
                    <a:bodyPr/>
                    <a:lstStyle/>
                    <a:p>
                      <a:pPr>
                        <a:lnSpc>
                          <a:spcPct val="108000"/>
                        </a:lnSpc>
                        <a:spcAft>
                          <a:spcPts val="0"/>
                        </a:spcAft>
                      </a:pPr>
                      <a:r>
                        <a:rPr sz="2200" b="0" lang="ja-JP" altLang="en-US">
                          <a:solidFill>
                            <a:srgbClr val="111111"/>
                          </a:solidFill>
                          <a:latin typeface="游ゴシック"/>
                          <a:ea typeface="游ゴシック"/>
                        </a:rPr>
                        <a:t>367+55</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422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419</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422</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422</a:t>
                      </a:r>
                    </a:p>
                  </a:txBody>
                  <a:tcPr marL="91440" marR="91440" anchor="ctr">
                    <a:solidFill>
                      <a:srgbClr val="FFFFFF"/>
                    </a:solidFill>
                  </a:tcPr>
                </a:tc>
              </a:tr>
            </a:tbl>
          </a:graphicData>
        </a:graphic>
      </p:graphicFrame>
      <p:sp>
        <p:nvSpPr>
          <p:cNvPr id="6" name="TextBox 5"/>
          <p:cNvSpPr txBox="1"/>
          <p:nvPr/>
        </p:nvSpPr>
        <p:spPr>
          <a:xfrm>
            <a:off x="960120" y="5943600"/>
            <a:ext cx="1024128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900" b="0" lang="ja-JP" altLang="en-US">
                <a:solidFill>
                  <a:srgbClr val="111111"/>
                </a:solidFill>
                <a:latin typeface="游ゴシック"/>
                <a:ea typeface="游ゴシック"/>
              </a:rPr>
              <a:t>例示した5問だけではなく、全5,000問で前ページの完全一致率を計算。</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7.5 seq2seqを用いるアプリケーション</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いろいろな課題を「系列の変換」として見る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50</a:t>
            </a:r>
          </a:p>
        </p:txBody>
      </p:sp>
      <p:graphicFrame>
        <p:nvGraphicFramePr>
          <p:cNvPr id="5" name="Table 4"/>
          <p:cNvGraphicFramePr>
            <a:graphicFrameLocks noGrp="1"/>
          </p:cNvGraphicFramePr>
          <p:nvPr/>
        </p:nvGraphicFramePr>
        <p:xfrm>
          <a:off x="868680" y="2103120"/>
          <a:ext cx="10469879" cy="3474720"/>
        </p:xfrm>
        <a:graphic>
          <a:graphicData uri="http://schemas.openxmlformats.org/drawingml/2006/table">
            <a:tbl>
              <a:tblPr firstRow="1" bandRow="1">
                <a:tableStyleId>{5C22544A-7EE6-4342-B048-85BDC9FD1C3A}</a:tableStyleId>
              </a:tblPr>
              <a:tblGrid>
                <a:gridCol w="3017520"/>
                <a:gridCol w="3703320"/>
                <a:gridCol w="3749039"/>
              </a:tblGrid>
              <a:tr h="694944">
                <a:tc>
                  <a:txBody>
                    <a:bodyPr/>
                    <a:lstStyle/>
                    <a:p>
                      <a:pPr>
                        <a:lnSpc>
                          <a:spcPct val="108000"/>
                        </a:lnSpc>
                        <a:spcAft>
                          <a:spcPts val="0"/>
                        </a:spcAft>
                      </a:pPr>
                      <a:r>
                        <a:rPr sz="2200" b="1" lang="ja-JP" altLang="en-US">
                          <a:solidFill>
                            <a:srgbClr val="111111"/>
                          </a:solidFill>
                          <a:latin typeface="游ゴシック"/>
                          <a:ea typeface="游ゴシック"/>
                        </a:rPr>
                        <a:t>応用</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Encoderへの入力</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Decoderが作る出力</a:t>
                      </a:r>
                    </a:p>
                  </a:txBody>
                  <a:tcPr marL="91440" marR="91440" anchor="ctr">
                    <a:solidFill>
                      <a:srgbClr val="EAF2F6"/>
                    </a:solidFill>
                  </a:tcPr>
                </a:tc>
              </a:tr>
              <a:tr h="694944">
                <a:tc>
                  <a:txBody>
                    <a:bodyPr/>
                    <a:lstStyle/>
                    <a:p>
                      <a:pPr>
                        <a:lnSpc>
                          <a:spcPct val="108000"/>
                        </a:lnSpc>
                        <a:spcAft>
                          <a:spcPts val="0"/>
                        </a:spcAft>
                      </a:pPr>
                      <a:r>
                        <a:rPr sz="2200" b="0" lang="ja-JP" altLang="en-US">
                          <a:solidFill>
                            <a:srgbClr val="111111"/>
                          </a:solidFill>
                          <a:latin typeface="游ゴシック"/>
                          <a:ea typeface="游ゴシック"/>
                        </a:rPr>
                        <a:t>機械翻訳</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元の言語の文章</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別の言語の文章</a:t>
                      </a:r>
                    </a:p>
                  </a:txBody>
                  <a:tcPr marL="91440" marR="91440" anchor="ctr">
                    <a:solidFill>
                      <a:srgbClr val="FFFFFF"/>
                    </a:solidFill>
                  </a:tcPr>
                </a:tc>
              </a:tr>
              <a:tr h="694944">
                <a:tc>
                  <a:txBody>
                    <a:bodyPr/>
                    <a:lstStyle/>
                    <a:p>
                      <a:pPr>
                        <a:lnSpc>
                          <a:spcPct val="108000"/>
                        </a:lnSpc>
                        <a:spcAft>
                          <a:spcPts val="0"/>
                        </a:spcAft>
                      </a:pPr>
                      <a:r>
                        <a:rPr sz="2200" b="0" lang="ja-JP" altLang="en-US">
                          <a:solidFill>
                            <a:srgbClr val="111111"/>
                          </a:solidFill>
                          <a:latin typeface="游ゴシック"/>
                          <a:ea typeface="游ゴシック"/>
                        </a:rPr>
                        <a:t>チャットボット</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相手の発話</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応答文</a:t>
                      </a:r>
                    </a:p>
                  </a:txBody>
                  <a:tcPr marL="91440" marR="91440" anchor="ctr">
                    <a:solidFill>
                      <a:srgbClr val="FFFFFF"/>
                    </a:solidFill>
                  </a:tcPr>
                </a:tc>
              </a:tr>
              <a:tr h="694944">
                <a:tc>
                  <a:txBody>
                    <a:bodyPr/>
                    <a:lstStyle/>
                    <a:p>
                      <a:pPr>
                        <a:lnSpc>
                          <a:spcPct val="108000"/>
                        </a:lnSpc>
                        <a:spcAft>
                          <a:spcPts val="0"/>
                        </a:spcAft>
                      </a:pPr>
                      <a:r>
                        <a:rPr sz="2200" b="0" lang="ja-JP" altLang="en-US">
                          <a:solidFill>
                            <a:srgbClr val="111111"/>
                          </a:solidFill>
                          <a:latin typeface="游ゴシック"/>
                          <a:ea typeface="游ゴシック"/>
                        </a:rPr>
                        <a:t>アルゴリズムの学習</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計算式・並び</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計算結果・並べ替え結果</a:t>
                      </a:r>
                    </a:p>
                  </a:txBody>
                  <a:tcPr marL="91440" marR="91440" anchor="ctr">
                    <a:solidFill>
                      <a:srgbClr val="FFFFFF"/>
                    </a:solidFill>
                  </a:tcPr>
                </a:tc>
              </a:tr>
              <a:tr h="694944">
                <a:tc>
                  <a:txBody>
                    <a:bodyPr/>
                    <a:lstStyle/>
                    <a:p>
                      <a:pPr>
                        <a:lnSpc>
                          <a:spcPct val="108000"/>
                        </a:lnSpc>
                        <a:spcAft>
                          <a:spcPts val="0"/>
                        </a:spcAft>
                      </a:pPr>
                      <a:r>
                        <a:rPr sz="2200" b="0" lang="ja-JP" altLang="en-US">
                          <a:solidFill>
                            <a:srgbClr val="111111"/>
                          </a:solidFill>
                          <a:latin typeface="游ゴシック"/>
                          <a:ea typeface="游ゴシック"/>
                        </a:rPr>
                        <a:t>イメージキャプション</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画像の特徴量</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画像の説明文</a:t>
                      </a:r>
                    </a:p>
                  </a:txBody>
                  <a:tcPr marL="91440" marR="91440" anchor="ctr">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7.5 seq2seqを用いるアプリケーション</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7.5.1 チャットボット</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51</a:t>
            </a:r>
          </a:p>
        </p:txBody>
      </p:sp>
      <p:sp>
        <p:nvSpPr>
          <p:cNvPr id="5" name="Rectangle 4"/>
          <p:cNvSpPr/>
          <p:nvPr/>
        </p:nvSpPr>
        <p:spPr>
          <a:xfrm>
            <a:off x="868680"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相手の発話</a:t>
            </a:r>
          </a:p>
        </p:txBody>
      </p:sp>
      <p:cxnSp>
        <p:nvCxnSpPr>
          <p:cNvPr id="6" name="Connector 5"/>
          <p:cNvCxnSpPr/>
          <p:nvPr/>
        </p:nvCxnSpPr>
        <p:spPr>
          <a:xfrm>
            <a:off x="2587752"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Encoder</a:t>
            </a:r>
          </a:p>
        </p:txBody>
      </p:sp>
      <p:cxnSp>
        <p:nvCxnSpPr>
          <p:cNvPr id="8" name="Connector 7"/>
          <p:cNvCxnSpPr/>
          <p:nvPr/>
        </p:nvCxnSpPr>
        <p:spPr>
          <a:xfrm>
            <a:off x="4764024"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h</a:t>
            </a:r>
          </a:p>
        </p:txBody>
      </p:sp>
      <p:cxnSp>
        <p:nvCxnSpPr>
          <p:cNvPr id="10" name="Connector 9"/>
          <p:cNvCxnSpPr/>
          <p:nvPr/>
        </p:nvCxnSpPr>
        <p:spPr>
          <a:xfrm>
            <a:off x="6940296"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Decoder</a:t>
            </a:r>
          </a:p>
        </p:txBody>
      </p:sp>
      <p:cxnSp>
        <p:nvCxnSpPr>
          <p:cNvPr id="12" name="Connector 11"/>
          <p:cNvCxnSpPr/>
          <p:nvPr/>
        </p:nvCxnSpPr>
        <p:spPr>
          <a:xfrm>
            <a:off x="9116568"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100" lang="ja-JP" altLang="en-US">
                <a:solidFill>
                  <a:srgbClr val="111111"/>
                </a:solidFill>
                <a:latin typeface="游ゴシック"/>
                <a:ea typeface="游ゴシック"/>
              </a:rPr>
              <a:t>応答文</a:t>
            </a:r>
          </a:p>
        </p:txBody>
      </p:sp>
      <p:sp>
        <p:nvSpPr>
          <p:cNvPr id="14" name="TextBox 13"/>
          <p:cNvSpPr txBox="1"/>
          <p:nvPr/>
        </p:nvSpPr>
        <p:spPr>
          <a:xfrm>
            <a:off x="1005840" y="4251960"/>
            <a:ext cx="10149840" cy="777240"/>
          </a:xfrm>
          <a:prstGeom prst="rect">
            <a:avLst/>
          </a:prstGeom>
          <a:noFill/>
        </p:spPr>
        <p:txBody>
          <a:bodyPr wrap="square" lIns="54864" rIns="54864" tIns="54864" bIns="54864">
            <a:spAutoFit/>
          </a:bodyPr>
          <a:lstStyle/>
          <a:p>
            <a:pPr algn="l">
              <a:lnSpc>
                <a:spcPct val="108000"/>
              </a:lnSpc>
              <a:spcBef>
                <a:spcPts val="0"/>
              </a:spcBef>
              <a:spcAft>
                <a:spcPts val="400"/>
              </a:spcAft>
            </a:pPr>
            <a:r>
              <a:rPr sz="2600" b="0" lang="ja-JP" altLang="en-US">
                <a:solidFill>
                  <a:srgbClr val="111111"/>
                </a:solidFill>
                <a:latin typeface="游ゴシック"/>
                <a:ea typeface="游ゴシック"/>
              </a:rPr>
              <a:t>例：「こんにちは」→「こんにちは。今日はどうしましたか？」</a:t>
            </a:r>
          </a:p>
        </p:txBody>
      </p:sp>
      <p:sp>
        <p:nvSpPr>
          <p:cNvPr id="15" name="TextBox 14"/>
          <p:cNvSpPr txBox="1"/>
          <p:nvPr/>
        </p:nvSpPr>
        <p:spPr>
          <a:xfrm>
            <a:off x="1005840" y="5486400"/>
            <a:ext cx="1014984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発話と応答の組で学習する。ただし、自然な応答は複数あり得る。</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7.5 seq2seqを用いるアプリケーション</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7.5.2 アルゴリズムの学習</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52</a:t>
            </a:r>
          </a:p>
        </p:txBody>
      </p:sp>
      <p:graphicFrame>
        <p:nvGraphicFramePr>
          <p:cNvPr id="5" name="Table 4"/>
          <p:cNvGraphicFramePr>
            <a:graphicFrameLocks noGrp="1"/>
          </p:cNvGraphicFramePr>
          <p:nvPr/>
        </p:nvGraphicFramePr>
        <p:xfrm>
          <a:off x="868680" y="2103120"/>
          <a:ext cx="10469880" cy="3291840"/>
        </p:xfrm>
        <a:graphic>
          <a:graphicData uri="http://schemas.openxmlformats.org/drawingml/2006/table">
            <a:tbl>
              <a:tblPr firstRow="1" bandRow="1">
                <a:tableStyleId>{5C22544A-7EE6-4342-B048-85BDC9FD1C3A}</a:tableStyleId>
              </a:tblPr>
              <a:tblGrid>
                <a:gridCol w="2834640"/>
                <a:gridCol w="3794760"/>
                <a:gridCol w="3840480"/>
              </a:tblGrid>
              <a:tr h="658368">
                <a:tc>
                  <a:txBody>
                    <a:bodyPr/>
                    <a:lstStyle/>
                    <a:p>
                      <a:pPr>
                        <a:lnSpc>
                          <a:spcPct val="108000"/>
                        </a:lnSpc>
                        <a:spcAft>
                          <a:spcPts val="0"/>
                        </a:spcAft>
                      </a:pPr>
                      <a:r>
                        <a:rPr sz="2500" b="1" lang="ja-JP" altLang="en-US">
                          <a:solidFill>
                            <a:srgbClr val="111111"/>
                          </a:solidFill>
                          <a:latin typeface="游ゴシック"/>
                          <a:ea typeface="游ゴシック"/>
                        </a:rPr>
                        <a:t>課題</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入力例</a:t>
                      </a:r>
                    </a:p>
                  </a:txBody>
                  <a:tcPr marL="91440" marR="91440" anchor="ctr">
                    <a:solidFill>
                      <a:srgbClr val="EAF2F6"/>
                    </a:solidFill>
                  </a:tcPr>
                </a:tc>
                <a:tc>
                  <a:txBody>
                    <a:bodyPr/>
                    <a:lstStyle/>
                    <a:p>
                      <a:pPr>
                        <a:lnSpc>
                          <a:spcPct val="108000"/>
                        </a:lnSpc>
                        <a:spcAft>
                          <a:spcPts val="0"/>
                        </a:spcAft>
                      </a:pPr>
                      <a:r>
                        <a:rPr sz="2500" b="1" lang="ja-JP" altLang="en-US">
                          <a:solidFill>
                            <a:srgbClr val="111111"/>
                          </a:solidFill>
                          <a:latin typeface="游ゴシック"/>
                          <a:ea typeface="游ゴシック"/>
                        </a:rPr>
                        <a:t>出力例</a:t>
                      </a:r>
                    </a:p>
                  </a:txBody>
                  <a:tcPr marL="91440" marR="91440" anchor="ctr">
                    <a:solidFill>
                      <a:srgbClr val="EAF2F6"/>
                    </a:solidFill>
                  </a:tcPr>
                </a:tc>
              </a:tr>
              <a:tr h="658368">
                <a:tc>
                  <a:txBody>
                    <a:bodyPr/>
                    <a:lstStyle/>
                    <a:p>
                      <a:pPr>
                        <a:lnSpc>
                          <a:spcPct val="108000"/>
                        </a:lnSpc>
                        <a:spcAft>
                          <a:spcPts val="0"/>
                        </a:spcAft>
                      </a:pPr>
                      <a:r>
                        <a:rPr sz="2500" b="0" lang="ja-JP" altLang="en-US">
                          <a:solidFill>
                            <a:srgbClr val="111111"/>
                          </a:solidFill>
                          <a:latin typeface="游ゴシック"/>
                          <a:ea typeface="游ゴシック"/>
                        </a:rPr>
                        <a:t>加算</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71+118</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189</a:t>
                      </a:r>
                    </a:p>
                  </a:txBody>
                  <a:tcPr marL="91440" marR="91440" anchor="ctr">
                    <a:solidFill>
                      <a:srgbClr val="FFFFFF"/>
                    </a:solidFill>
                  </a:tcPr>
                </a:tc>
              </a:tr>
              <a:tr h="658368">
                <a:tc>
                  <a:txBody>
                    <a:bodyPr/>
                    <a:lstStyle/>
                    <a:p>
                      <a:pPr>
                        <a:lnSpc>
                          <a:spcPct val="108000"/>
                        </a:lnSpc>
                        <a:spcAft>
                          <a:spcPts val="0"/>
                        </a:spcAft>
                      </a:pPr>
                      <a:r>
                        <a:rPr sz="2500" b="0" lang="ja-JP" altLang="en-US">
                          <a:solidFill>
                            <a:srgbClr val="111111"/>
                          </a:solidFill>
                          <a:latin typeface="游ゴシック"/>
                          <a:ea typeface="游ゴシック"/>
                        </a:rPr>
                        <a:t>コピー</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ABC</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ABC</a:t>
                      </a:r>
                    </a:p>
                  </a:txBody>
                  <a:tcPr marL="91440" marR="91440" anchor="ctr">
                    <a:solidFill>
                      <a:srgbClr val="FFFFFF"/>
                    </a:solidFill>
                  </a:tcPr>
                </a:tc>
              </a:tr>
              <a:tr h="658368">
                <a:tc>
                  <a:txBody>
                    <a:bodyPr/>
                    <a:lstStyle/>
                    <a:p>
                      <a:pPr>
                        <a:lnSpc>
                          <a:spcPct val="108000"/>
                        </a:lnSpc>
                        <a:spcAft>
                          <a:spcPts val="0"/>
                        </a:spcAft>
                      </a:pPr>
                      <a:r>
                        <a:rPr sz="2500" b="0" lang="ja-JP" altLang="en-US">
                          <a:solidFill>
                            <a:srgbClr val="111111"/>
                          </a:solidFill>
                          <a:latin typeface="游ゴシック"/>
                          <a:ea typeface="游ゴシック"/>
                        </a:rPr>
                        <a:t>反転</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ABC</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CBA</a:t>
                      </a:r>
                    </a:p>
                  </a:txBody>
                  <a:tcPr marL="91440" marR="91440" anchor="ctr">
                    <a:solidFill>
                      <a:srgbClr val="FFFFFF"/>
                    </a:solidFill>
                  </a:tcPr>
                </a:tc>
              </a:tr>
              <a:tr h="658368">
                <a:tc>
                  <a:txBody>
                    <a:bodyPr/>
                    <a:lstStyle/>
                    <a:p>
                      <a:pPr>
                        <a:lnSpc>
                          <a:spcPct val="108000"/>
                        </a:lnSpc>
                        <a:spcAft>
                          <a:spcPts val="0"/>
                        </a:spcAft>
                      </a:pPr>
                      <a:r>
                        <a:rPr sz="2500" b="0" lang="ja-JP" altLang="en-US">
                          <a:solidFill>
                            <a:srgbClr val="111111"/>
                          </a:solidFill>
                          <a:latin typeface="游ゴシック"/>
                          <a:ea typeface="游ゴシック"/>
                        </a:rPr>
                        <a:t>整列</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3 1 2</a:t>
                      </a:r>
                    </a:p>
                  </a:txBody>
                  <a:tcPr marL="91440" marR="91440" anchor="ctr">
                    <a:solidFill>
                      <a:srgbClr val="FFFFFF"/>
                    </a:solidFill>
                  </a:tcPr>
                </a:tc>
                <a:tc>
                  <a:txBody>
                    <a:bodyPr/>
                    <a:lstStyle/>
                    <a:p>
                      <a:pPr>
                        <a:lnSpc>
                          <a:spcPct val="108000"/>
                        </a:lnSpc>
                        <a:spcAft>
                          <a:spcPts val="0"/>
                        </a:spcAft>
                      </a:pPr>
                      <a:r>
                        <a:rPr sz="2500" b="0" lang="ja-JP" altLang="en-US">
                          <a:solidFill>
                            <a:srgbClr val="111111"/>
                          </a:solidFill>
                          <a:latin typeface="游ゴシック"/>
                          <a:ea typeface="游ゴシック"/>
                        </a:rPr>
                        <a:t>1 2 3</a:t>
                      </a:r>
                    </a:p>
                  </a:txBody>
                  <a:tcPr marL="91440" marR="91440" anchor="ctr">
                    <a:solidFill>
                      <a:srgbClr val="FFFFFF"/>
                    </a:solidFill>
                  </a:tcPr>
                </a:tc>
              </a:tr>
            </a:tbl>
          </a:graphicData>
        </a:graphic>
      </p:graphicFrame>
      <p:sp>
        <p:nvSpPr>
          <p:cNvPr id="6" name="TextBox 5"/>
          <p:cNvSpPr txBox="1"/>
          <p:nvPr/>
        </p:nvSpPr>
        <p:spPr>
          <a:xfrm>
            <a:off x="1005840" y="5897880"/>
            <a:ext cx="10149840" cy="457200"/>
          </a:xfrm>
          <a:prstGeom prst="rect">
            <a:avLst/>
          </a:prstGeom>
          <a:noFill/>
        </p:spPr>
        <p:txBody>
          <a:bodyPr wrap="square" lIns="54864" rIns="54864" tIns="54864" bIns="54864">
            <a:spAutoFit/>
          </a:bodyPr>
          <a:lstStyle/>
          <a:p>
            <a:pPr algn="l">
              <a:lnSpc>
                <a:spcPct val="108000"/>
              </a:lnSpc>
              <a:spcBef>
                <a:spcPts val="0"/>
              </a:spcBef>
              <a:spcAft>
                <a:spcPts val="400"/>
              </a:spcAft>
            </a:pPr>
            <a:r>
              <a:rPr sz="1900" b="0" lang="ja-JP" altLang="en-US">
                <a:solidFill>
                  <a:srgbClr val="111111"/>
                </a:solidFill>
                <a:latin typeface="游ゴシック"/>
                <a:ea typeface="游ゴシック"/>
              </a:rPr>
              <a:t>※ 加算以外は仕組みの説明例。今回の実験対象は加算。</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7.5 seq2seqを用いるアプリケーション</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7.5.3 イメージキャプション生成</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53</a:t>
            </a:r>
          </a:p>
        </p:txBody>
      </p:sp>
      <p:sp>
        <p:nvSpPr>
          <p:cNvPr id="5" name="Rectangle 4"/>
          <p:cNvSpPr/>
          <p:nvPr/>
        </p:nvSpPr>
        <p:spPr>
          <a:xfrm>
            <a:off x="868680"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画像</a:t>
            </a:r>
          </a:p>
        </p:txBody>
      </p:sp>
      <p:cxnSp>
        <p:nvCxnSpPr>
          <p:cNvPr id="6" name="Connector 5"/>
          <p:cNvCxnSpPr/>
          <p:nvPr/>
        </p:nvCxnSpPr>
        <p:spPr>
          <a:xfrm>
            <a:off x="2587752"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44952"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CNN</a:t>
            </a:r>
          </a:p>
          <a:p>
            <a:pPr algn="ctr">
              <a:lnSpc>
                <a:spcPct val="106000"/>
              </a:lnSpc>
              <a:spcAft>
                <a:spcPts val="0"/>
              </a:spcAft>
            </a:pPr>
            <a:r>
              <a:rPr sz="2200" lang="ja-JP" altLang="en-US">
                <a:solidFill>
                  <a:srgbClr val="111111"/>
                </a:solidFill>
                <a:latin typeface="游ゴシック"/>
                <a:ea typeface="游ゴシック"/>
              </a:rPr>
              <a:t>Encoder</a:t>
            </a:r>
          </a:p>
        </p:txBody>
      </p:sp>
      <p:cxnSp>
        <p:nvCxnSpPr>
          <p:cNvPr id="8" name="Connector 7"/>
          <p:cNvCxnSpPr/>
          <p:nvPr/>
        </p:nvCxnSpPr>
        <p:spPr>
          <a:xfrm>
            <a:off x="4764024"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221224"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特徴</a:t>
            </a:r>
          </a:p>
          <a:p>
            <a:pPr algn="ctr">
              <a:lnSpc>
                <a:spcPct val="106000"/>
              </a:lnSpc>
              <a:spcAft>
                <a:spcPts val="0"/>
              </a:spcAft>
            </a:pPr>
            <a:r>
              <a:rPr sz="2200" lang="ja-JP" altLang="en-US">
                <a:solidFill>
                  <a:srgbClr val="111111"/>
                </a:solidFill>
                <a:latin typeface="游ゴシック"/>
                <a:ea typeface="游ゴシック"/>
              </a:rPr>
              <a:t>ベクトル</a:t>
            </a:r>
          </a:p>
        </p:txBody>
      </p:sp>
      <p:cxnSp>
        <p:nvCxnSpPr>
          <p:cNvPr id="10" name="Connector 9"/>
          <p:cNvCxnSpPr/>
          <p:nvPr/>
        </p:nvCxnSpPr>
        <p:spPr>
          <a:xfrm>
            <a:off x="6940296"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97496"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RNN</a:t>
            </a:r>
          </a:p>
          <a:p>
            <a:pPr algn="ctr">
              <a:lnSpc>
                <a:spcPct val="106000"/>
              </a:lnSpc>
              <a:spcAft>
                <a:spcPts val="0"/>
              </a:spcAft>
            </a:pPr>
            <a:r>
              <a:rPr sz="2200" lang="ja-JP" altLang="en-US">
                <a:solidFill>
                  <a:srgbClr val="111111"/>
                </a:solidFill>
                <a:latin typeface="游ゴシック"/>
                <a:ea typeface="游ゴシック"/>
              </a:rPr>
              <a:t>Decoder</a:t>
            </a:r>
          </a:p>
        </p:txBody>
      </p:sp>
      <p:cxnSp>
        <p:nvCxnSpPr>
          <p:cNvPr id="12" name="Connector 11"/>
          <p:cNvCxnSpPr/>
          <p:nvPr/>
        </p:nvCxnSpPr>
        <p:spPr>
          <a:xfrm>
            <a:off x="9116568" y="3131820"/>
            <a:ext cx="393192" cy="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573767" y="2743200"/>
            <a:ext cx="1719072" cy="7772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説明文</a:t>
            </a:r>
          </a:p>
        </p:txBody>
      </p:sp>
      <p:sp>
        <p:nvSpPr>
          <p:cNvPr id="14" name="TextBox 13"/>
          <p:cNvSpPr txBox="1"/>
          <p:nvPr/>
        </p:nvSpPr>
        <p:spPr>
          <a:xfrm>
            <a:off x="1005840" y="4389120"/>
            <a:ext cx="10149840" cy="731520"/>
          </a:xfrm>
          <a:prstGeom prst="rect">
            <a:avLst/>
          </a:prstGeom>
          <a:noFill/>
        </p:spPr>
        <p:txBody>
          <a:bodyPr wrap="square" lIns="54864" rIns="54864" tIns="54864" bIns="54864">
            <a:spAutoFit/>
          </a:bodyPr>
          <a:lstStyle/>
          <a:p>
            <a:pPr algn="l">
              <a:lnSpc>
                <a:spcPct val="108000"/>
              </a:lnSpc>
              <a:spcBef>
                <a:spcPts val="0"/>
              </a:spcBef>
              <a:spcAft>
                <a:spcPts val="400"/>
              </a:spcAft>
            </a:pPr>
            <a:r>
              <a:rPr sz="2700" b="0" lang="ja-JP" altLang="en-US">
                <a:solidFill>
                  <a:srgbClr val="111111"/>
                </a:solidFill>
                <a:latin typeface="游ゴシック"/>
                <a:ea typeface="游ゴシック"/>
              </a:rPr>
              <a:t>例：犬が走っている画像 → “A dog is running.”</a:t>
            </a:r>
          </a:p>
        </p:txBody>
      </p:sp>
      <p:sp>
        <p:nvSpPr>
          <p:cNvPr id="15" name="TextBox 14"/>
          <p:cNvSpPr txBox="1"/>
          <p:nvPr/>
        </p:nvSpPr>
        <p:spPr>
          <a:xfrm>
            <a:off x="1005840" y="5532120"/>
            <a:ext cx="1014984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CNNの例：VGG・ResNetなど。文章生成側の考え方は共通する。</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7.5 seq2seqを用いるアプリケーション</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Encoderは、入力を表現する部品として考える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54</a:t>
            </a:r>
          </a:p>
        </p:txBody>
      </p:sp>
      <p:graphicFrame>
        <p:nvGraphicFramePr>
          <p:cNvPr id="5" name="Table 4"/>
          <p:cNvGraphicFramePr>
            <a:graphicFrameLocks noGrp="1"/>
          </p:cNvGraphicFramePr>
          <p:nvPr/>
        </p:nvGraphicFramePr>
        <p:xfrm>
          <a:off x="868680" y="2103120"/>
          <a:ext cx="10469880" cy="2651760"/>
        </p:xfrm>
        <a:graphic>
          <a:graphicData uri="http://schemas.openxmlformats.org/drawingml/2006/table">
            <a:tbl>
              <a:tblPr firstRow="1" bandRow="1">
                <a:tableStyleId>{5C22544A-7EE6-4342-B048-85BDC9FD1C3A}</a:tableStyleId>
              </a:tblPr>
              <a:tblGrid>
                <a:gridCol w="3017520"/>
                <a:gridCol w="2834640"/>
                <a:gridCol w="4617720"/>
              </a:tblGrid>
              <a:tr h="662940">
                <a:tc>
                  <a:txBody>
                    <a:bodyPr/>
                    <a:lstStyle/>
                    <a:p>
                      <a:pPr>
                        <a:lnSpc>
                          <a:spcPct val="108000"/>
                        </a:lnSpc>
                        <a:spcAft>
                          <a:spcPts val="0"/>
                        </a:spcAft>
                      </a:pPr>
                      <a:r>
                        <a:rPr sz="2300" b="1" lang="ja-JP" altLang="en-US">
                          <a:solidFill>
                            <a:srgbClr val="111111"/>
                          </a:solidFill>
                          <a:latin typeface="游ゴシック"/>
                          <a:ea typeface="游ゴシック"/>
                        </a:rPr>
                        <a:t>入力</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Encoderの例</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共通する考え方</a:t>
                      </a:r>
                    </a:p>
                  </a:txBody>
                  <a:tcPr marL="91440" marR="91440" anchor="ctr">
                    <a:solidFill>
                      <a:srgbClr val="EAF2F6"/>
                    </a:solidFill>
                  </a:tcPr>
                </a:tc>
              </a:tr>
              <a:tr h="662940">
                <a:tc>
                  <a:txBody>
                    <a:bodyPr/>
                    <a:lstStyle/>
                    <a:p>
                      <a:pPr>
                        <a:lnSpc>
                          <a:spcPct val="108000"/>
                        </a:lnSpc>
                        <a:spcAft>
                          <a:spcPts val="0"/>
                        </a:spcAft>
                      </a:pPr>
                      <a:r>
                        <a:rPr sz="2300" b="0" lang="ja-JP" altLang="en-US">
                          <a:solidFill>
                            <a:srgbClr val="111111"/>
                          </a:solidFill>
                          <a:latin typeface="游ゴシック"/>
                          <a:ea typeface="游ゴシック"/>
                        </a:rPr>
                        <a:t>文章</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LSTM</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入力をベクトルで表現する</a:t>
                      </a:r>
                    </a:p>
                  </a:txBody>
                  <a:tcPr marL="91440" marR="91440" anchor="ctr">
                    <a:solidFill>
                      <a:srgbClr val="FFFFFF"/>
                    </a:solidFill>
                  </a:tcPr>
                </a:tc>
              </a:tr>
              <a:tr h="662940">
                <a:tc>
                  <a:txBody>
                    <a:bodyPr/>
                    <a:lstStyle/>
                    <a:p>
                      <a:pPr>
                        <a:lnSpc>
                          <a:spcPct val="108000"/>
                        </a:lnSpc>
                        <a:spcAft>
                          <a:spcPts val="0"/>
                        </a:spcAft>
                      </a:pPr>
                      <a:r>
                        <a:rPr sz="2300" b="0" lang="ja-JP" altLang="en-US">
                          <a:solidFill>
                            <a:srgbClr val="111111"/>
                          </a:solidFill>
                          <a:latin typeface="游ゴシック"/>
                          <a:ea typeface="游ゴシック"/>
                        </a:rPr>
                        <a:t>計算式の文字列</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LSTM</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結果の文字列を作る</a:t>
                      </a:r>
                    </a:p>
                  </a:txBody>
                  <a:tcPr marL="91440" marR="91440" anchor="ctr">
                    <a:solidFill>
                      <a:srgbClr val="FFFFFF"/>
                    </a:solidFill>
                  </a:tcPr>
                </a:tc>
              </a:tr>
              <a:tr h="662940">
                <a:tc>
                  <a:txBody>
                    <a:bodyPr/>
                    <a:lstStyle/>
                    <a:p>
                      <a:pPr>
                        <a:lnSpc>
                          <a:spcPct val="108000"/>
                        </a:lnSpc>
                        <a:spcAft>
                          <a:spcPts val="0"/>
                        </a:spcAft>
                      </a:pPr>
                      <a:r>
                        <a:rPr sz="2300" b="0" lang="ja-JP" altLang="en-US">
                          <a:solidFill>
                            <a:srgbClr val="111111"/>
                          </a:solidFill>
                          <a:latin typeface="游ゴシック"/>
                          <a:ea typeface="游ゴシック"/>
                        </a:rPr>
                        <a:t>画像</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CNN</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特徴量から説明文を作る</a:t>
                      </a:r>
                    </a:p>
                  </a:txBody>
                  <a:tcPr marL="91440" marR="91440" anchor="ctr">
                    <a:solidFill>
                      <a:srgbClr val="FFFFFF"/>
                    </a:solidFill>
                  </a:tcPr>
                </a:tc>
              </a:tr>
            </a:tbl>
          </a:graphicData>
        </a:graphic>
      </p:graphicFrame>
      <p:sp>
        <p:nvSpPr>
          <p:cNvPr id="6" name="Rectangle 5"/>
          <p:cNvSpPr/>
          <p:nvPr/>
        </p:nvSpPr>
        <p:spPr>
          <a:xfrm>
            <a:off x="1005840" y="5394960"/>
            <a:ext cx="10149840" cy="82296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300" lang="ja-JP" altLang="en-US">
                <a:solidFill>
                  <a:srgbClr val="111111"/>
                </a:solidFill>
                <a:latin typeface="游ゴシック"/>
                <a:ea typeface="游ゴシック"/>
              </a:rPr>
              <a:t>入力の形式が変わっても、「表現を作る → 系列を生成する」は共通</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次章へのつながり</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固定長hの限界と、Attentionへの入口</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55</a:t>
            </a:r>
          </a:p>
        </p:txBody>
      </p:sp>
      <p:sp>
        <p:nvSpPr>
          <p:cNvPr id="5" name="Rounded Rectangle 4"/>
          <p:cNvSpPr/>
          <p:nvPr/>
        </p:nvSpPr>
        <p:spPr>
          <a:xfrm>
            <a:off x="914400" y="2194560"/>
            <a:ext cx="4937760" cy="16002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49424"/>
            <a:ext cx="47548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本章のseq2seq</a:t>
            </a:r>
          </a:p>
        </p:txBody>
      </p:sp>
      <p:sp>
        <p:nvSpPr>
          <p:cNvPr id="7" name="TextBox 6"/>
          <p:cNvSpPr txBox="1"/>
          <p:nvPr/>
        </p:nvSpPr>
        <p:spPr>
          <a:xfrm>
            <a:off x="1005840" y="2615184"/>
            <a:ext cx="4754880" cy="11612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入力全体を、最後の1つの h に集約する。</a:t>
            </a:r>
          </a:p>
        </p:txBody>
      </p:sp>
      <p:sp>
        <p:nvSpPr>
          <p:cNvPr id="8" name="Rounded Rectangle 7"/>
          <p:cNvSpPr/>
          <p:nvPr/>
        </p:nvSpPr>
        <p:spPr>
          <a:xfrm>
            <a:off x="6263640" y="2194560"/>
            <a:ext cx="4937760" cy="160020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2249424"/>
            <a:ext cx="47548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Peeky</a:t>
            </a:r>
          </a:p>
        </p:txBody>
      </p:sp>
      <p:sp>
        <p:nvSpPr>
          <p:cNvPr id="10" name="TextBox 9"/>
          <p:cNvSpPr txBox="1"/>
          <p:nvPr/>
        </p:nvSpPr>
        <p:spPr>
          <a:xfrm>
            <a:off x="6355079" y="2615184"/>
            <a:ext cx="4754880" cy="116128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同じ h を、Decoderの各時刻へ直接渡す。</a:t>
            </a:r>
          </a:p>
        </p:txBody>
      </p:sp>
      <p:sp>
        <p:nvSpPr>
          <p:cNvPr id="11" name="Rectangle 10"/>
          <p:cNvSpPr/>
          <p:nvPr/>
        </p:nvSpPr>
        <p:spPr>
          <a:xfrm>
            <a:off x="1005840" y="4709160"/>
            <a:ext cx="10149840" cy="100584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500" lang="ja-JP" altLang="en-US">
                <a:solidFill>
                  <a:srgbClr val="111111"/>
                </a:solidFill>
                <a:latin typeface="游ゴシック"/>
                <a:ea typeface="游ゴシック"/>
              </a:rPr>
              <a:t>Attention：出力ごとに、入力のどこへ注目するかを変える</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7.6 まとめ</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文章生成 → seq2seq → 改善</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56</a:t>
            </a:r>
          </a:p>
        </p:txBody>
      </p:sp>
      <p:sp>
        <p:nvSpPr>
          <p:cNvPr id="5" name="TextBox 4"/>
          <p:cNvSpPr txBox="1"/>
          <p:nvPr/>
        </p:nvSpPr>
        <p:spPr>
          <a:xfrm>
            <a:off x="868680" y="2057400"/>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7.1：次の単語の確率を使い、文章の続きを生成する</a:t>
            </a:r>
          </a:p>
        </p:txBody>
      </p:sp>
      <p:sp>
        <p:nvSpPr>
          <p:cNvPr id="6" name="TextBox 5"/>
          <p:cNvSpPr txBox="1"/>
          <p:nvPr/>
        </p:nvSpPr>
        <p:spPr>
          <a:xfrm>
            <a:off x="868680" y="2999232"/>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7.2・7.3：Encoderで入力をまとめ、Decoderで答えを作る</a:t>
            </a:r>
          </a:p>
        </p:txBody>
      </p:sp>
      <p:sp>
        <p:nvSpPr>
          <p:cNvPr id="7" name="TextBox 6"/>
          <p:cNvSpPr txBox="1"/>
          <p:nvPr/>
        </p:nvSpPr>
        <p:spPr>
          <a:xfrm>
            <a:off x="868680" y="3941064"/>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7.4：ReverseとPeekyで、学習の進み方を改善する</a:t>
            </a:r>
          </a:p>
        </p:txBody>
      </p:sp>
      <p:sp>
        <p:nvSpPr>
          <p:cNvPr id="8" name="TextBox 7"/>
          <p:cNvSpPr txBox="1"/>
          <p:nvPr/>
        </p:nvSpPr>
        <p:spPr>
          <a:xfrm>
            <a:off x="868680" y="4882896"/>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7.5：翻訳・対話・計算・画像説明を系列変換として捉える</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コードの実行結果</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今回、どこまで動作確認したか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57</a:t>
            </a:r>
          </a:p>
        </p:txBody>
      </p:sp>
      <p:graphicFrame>
        <p:nvGraphicFramePr>
          <p:cNvPr id="5" name="Table 4"/>
          <p:cNvGraphicFramePr>
            <a:graphicFrameLocks noGrp="1"/>
          </p:cNvGraphicFramePr>
          <p:nvPr/>
        </p:nvGraphicFramePr>
        <p:xfrm>
          <a:off x="868680" y="2103120"/>
          <a:ext cx="10469880" cy="4069080"/>
        </p:xfrm>
        <a:graphic>
          <a:graphicData uri="http://schemas.openxmlformats.org/drawingml/2006/table">
            <a:tbl>
              <a:tblPr firstRow="1" bandRow="1">
                <a:tableStyleId>{5C22544A-7EE6-4342-B048-85BDC9FD1C3A}</a:tableStyleId>
              </a:tblPr>
              <a:tblGrid>
                <a:gridCol w="4892040"/>
                <a:gridCol w="5577840"/>
              </a:tblGrid>
              <a:tr h="581297">
                <a:tc>
                  <a:txBody>
                    <a:bodyPr/>
                    <a:lstStyle/>
                    <a:p>
                      <a:pPr>
                        <a:lnSpc>
                          <a:spcPct val="108000"/>
                        </a:lnSpc>
                        <a:spcAft>
                          <a:spcPts val="0"/>
                        </a:spcAft>
                      </a:pPr>
                      <a:r>
                        <a:rPr sz="1900" b="1" lang="ja-JP" altLang="en-US">
                          <a:solidFill>
                            <a:srgbClr val="111111"/>
                          </a:solidFill>
                          <a:latin typeface="游ゴシック"/>
                          <a:ea typeface="游ゴシック"/>
                        </a:rPr>
                        <a:t>対象</a:t>
                      </a:r>
                    </a:p>
                  </a:txBody>
                  <a:tcPr marL="91440" marR="91440" anchor="ctr">
                    <a:solidFill>
                      <a:srgbClr val="EAF2F6"/>
                    </a:solidFill>
                  </a:tcPr>
                </a:tc>
                <a:tc>
                  <a:txBody>
                    <a:bodyPr/>
                    <a:lstStyle/>
                    <a:p>
                      <a:pPr>
                        <a:lnSpc>
                          <a:spcPct val="108000"/>
                        </a:lnSpc>
                        <a:spcAft>
                          <a:spcPts val="0"/>
                        </a:spcAft>
                      </a:pPr>
                      <a:r>
                        <a:rPr sz="1900" b="1" lang="ja-JP" altLang="en-US">
                          <a:solidFill>
                            <a:srgbClr val="111111"/>
                          </a:solidFill>
                          <a:latin typeface="游ゴシック"/>
                          <a:ea typeface="游ゴシック"/>
                        </a:rPr>
                        <a:t>結果</a:t>
                      </a:r>
                    </a:p>
                  </a:txBody>
                  <a:tcPr marL="91440" marR="91440" anchor="ctr">
                    <a:solidFill>
                      <a:srgbClr val="EAF2F6"/>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show_addition_dataset.py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実行成功・配列形状と文字列を確認</a:t>
                      </a:r>
                    </a:p>
                  </a:txBody>
                  <a:tcPr marL="91440" marR="91440" anchor="ctr">
                    <a:solidFill>
                      <a:srgbClr val="FFFFFF"/>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generate_text.py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公式の学習済み重みで100語を生成</a:t>
                      </a:r>
                    </a:p>
                  </a:txBody>
                  <a:tcPr marL="91440" marR="91440" anchor="ctr">
                    <a:solidFill>
                      <a:srgbClr val="FFFFFF"/>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train_seq2seq.py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元の学習入口で通常版25エポック完了</a:t>
                      </a:r>
                    </a:p>
                  </a:txBody>
                  <a:tcPr marL="91440" marR="91440" anchor="ctr">
                    <a:solidFill>
                      <a:srgbClr val="FFFFFF"/>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seq2seq.py / peeky_seq2seq.py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3方式の学習・生成、数値勾配を検証</a:t>
                      </a:r>
                    </a:p>
                  </a:txBody>
                  <a:tcPr marL="91440" marR="91440" anchor="ctr">
                    <a:solidFill>
                      <a:srgbClr val="FFFFFF"/>
                    </a:solidFill>
                  </a:tcPr>
                </a:tc>
              </a:tr>
              <a:tr h="581297">
                <a:tc>
                  <a:txBody>
                    <a:bodyPr/>
                    <a:lstStyle/>
                    <a:p>
                      <a:pPr>
                        <a:lnSpc>
                          <a:spcPct val="108000"/>
                        </a:lnSpc>
                        <a:spcAft>
                          <a:spcPts val="0"/>
                        </a:spcAft>
                      </a:pPr>
                      <a:r>
                        <a:rPr sz="1900" b="0" lang="ja-JP" altLang="en-US">
                          <a:solidFill>
                            <a:srgbClr val="111111"/>
                          </a:solidFill>
                          <a:latin typeface="游ゴシック"/>
                          <a:ea typeface="游ゴシック"/>
                        </a:rPr>
                        <a:t>rnnlm_gen.py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生成・skip・状態保存／復元を検証</a:t>
                      </a:r>
                    </a:p>
                  </a:txBody>
                  <a:tcPr marL="91440" marR="91440" anchor="ctr">
                    <a:solidFill>
                      <a:srgbClr val="FFFFFF"/>
                    </a:solidFill>
                  </a:tcPr>
                </a:tc>
              </a:tr>
              <a:tr h="581298">
                <a:tc>
                  <a:txBody>
                    <a:bodyPr/>
                    <a:lstStyle/>
                    <a:p>
                      <a:pPr>
                        <a:lnSpc>
                          <a:spcPct val="108000"/>
                        </a:lnSpc>
                        <a:spcAft>
                          <a:spcPts val="0"/>
                        </a:spcAft>
                      </a:pPr>
                      <a:r>
                        <a:rPr sz="1900" b="0" lang="ja-JP" altLang="en-US">
                          <a:solidFill>
                            <a:srgbClr val="111111"/>
                          </a:solidFill>
                          <a:latin typeface="游ゴシック"/>
                          <a:ea typeface="游ゴシック"/>
                        </a:rPr>
                        <a:t>generate_better_text.py</a:t>
                      </a:r>
                    </a:p>
                  </a:txBody>
                  <a:tcPr marL="91440" marR="91440" anchor="ctr">
                    <a:solidFill>
                      <a:srgbClr val="FFFFFF"/>
                    </a:solidFill>
                  </a:tcPr>
                </a:tc>
                <a:tc>
                  <a:txBody>
                    <a:bodyPr/>
                    <a:lstStyle/>
                    <a:p>
                      <a:pPr>
                        <a:lnSpc>
                          <a:spcPct val="108000"/>
                        </a:lnSpc>
                        <a:spcAft>
                          <a:spcPts val="0"/>
                        </a:spcAft>
                      </a:pPr>
                      <a:r>
                        <a:rPr sz="1900" b="0" lang="ja-JP" altLang="en-US">
                          <a:solidFill>
                            <a:srgbClr val="111111"/>
                          </a:solidFill>
                          <a:latin typeface="游ゴシック"/>
                          <a:ea typeface="游ゴシック"/>
                        </a:rPr>
                        <a:t>公式重みの取得先が通信制限で未完了</a:t>
                      </a:r>
                    </a:p>
                  </a:txBody>
                  <a:tcPr marL="91440" marR="91440" anchor="ctr">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コードの再実行</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準備と実行を再現する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58</a:t>
            </a:r>
          </a:p>
        </p:txBody>
      </p:sp>
      <p:sp>
        <p:nvSpPr>
          <p:cNvPr id="5" name="TextBox 4"/>
          <p:cNvSpPr txBox="1"/>
          <p:nvPr/>
        </p:nvSpPr>
        <p:spPr>
          <a:xfrm>
            <a:off x="868680" y="2029968"/>
            <a:ext cx="640080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700" b="0" lang="ja-JP" altLang="en-US">
                <a:solidFill>
                  <a:srgbClr val="D4D4D4"/>
                </a:solidFill>
                <a:latin typeface="Consolas"/>
                <a:ea typeface="游ゴシック"/>
              </a:rPr>
              <a:t># コード一式のルートで実行</a:t>
            </a:r>
          </a:p>
          <a:p>
            <a:pPr algn="l">
              <a:lnSpc>
                <a:spcPct val="108000"/>
              </a:lnSpc>
              <a:spcBef>
                <a:spcPts val="0"/>
              </a:spcBef>
              <a:spcAft>
                <a:spcPts val="400"/>
              </a:spcAft>
            </a:pPr>
            <a:r>
              <a:rPr sz="1700" b="0" lang="ja-JP" altLang="en-US">
                <a:solidFill>
                  <a:srgbClr val="D4D4D4"/>
                </a:solidFill>
                <a:latin typeface="Consolas"/>
                <a:ea typeface="游ゴシック"/>
              </a:rPr>
              <a:t>bash setup.sh</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仮想環境を有効にした後</a:t>
            </a:r>
          </a:p>
          <a:p>
            <a:pPr algn="l">
              <a:lnSpc>
                <a:spcPct val="108000"/>
              </a:lnSpc>
              <a:spcBef>
                <a:spcPts val="0"/>
              </a:spcBef>
              <a:spcAft>
                <a:spcPts val="400"/>
              </a:spcAft>
            </a:pPr>
            <a:r>
              <a:rPr sz="1700" b="0" lang="ja-JP" altLang="en-US">
                <a:solidFill>
                  <a:srgbClr val="D4D4D4"/>
                </a:solidFill>
                <a:latin typeface="Consolas"/>
                <a:ea typeface="游ゴシック"/>
              </a:rPr>
              <a:t>cd project/ch07</a:t>
            </a:r>
          </a:p>
          <a:p>
            <a:pPr algn="l">
              <a:lnSpc>
                <a:spcPct val="108000"/>
              </a:lnSpc>
              <a:spcBef>
                <a:spcPts val="0"/>
              </a:spcBef>
              <a:spcAft>
                <a:spcPts val="400"/>
              </a:spcAft>
            </a:pPr>
            <a:r>
              <a:rPr sz="1700" b="0" lang="ja-JP" altLang="en-US">
                <a:solidFill>
                  <a:srgbClr val="D4D4D4"/>
                </a:solidFill>
                <a:latin typeface="Consolas"/>
                <a:ea typeface="游ゴシック"/>
              </a:rPr>
              <a:t>python show_addition_dataset.py</a:t>
            </a:r>
          </a:p>
          <a:p>
            <a:pPr algn="l">
              <a:lnSpc>
                <a:spcPct val="108000"/>
              </a:lnSpc>
              <a:spcBef>
                <a:spcPts val="0"/>
              </a:spcBef>
              <a:spcAft>
                <a:spcPts val="400"/>
              </a:spcAft>
            </a:pPr>
            <a:r>
              <a:rPr sz="1700" b="0" lang="ja-JP" altLang="en-US">
                <a:solidFill>
                  <a:srgbClr val="D4D4D4"/>
                </a:solidFill>
                <a:latin typeface="Consolas"/>
                <a:ea typeface="游ゴシック"/>
              </a:rPr>
              <a:t>python generate_text.py</a:t>
            </a:r>
          </a:p>
          <a:p>
            <a:pPr algn="l">
              <a:lnSpc>
                <a:spcPct val="108000"/>
              </a:lnSpc>
              <a:spcBef>
                <a:spcPts val="0"/>
              </a:spcBef>
              <a:spcAft>
                <a:spcPts val="400"/>
              </a:spcAft>
            </a:pPr>
            <a:r>
              <a:rPr sz="1700" b="0" lang="ja-JP" altLang="en-US">
                <a:solidFill>
                  <a:srgbClr val="D4D4D4"/>
                </a:solidFill>
                <a:latin typeface="Consolas"/>
                <a:ea typeface="游ゴシック"/>
              </a:rPr>
              <a:t/>
            </a:r>
          </a:p>
          <a:p>
            <a:pPr algn="l">
              <a:lnSpc>
                <a:spcPct val="108000"/>
              </a:lnSpc>
              <a:spcBef>
                <a:spcPts val="0"/>
              </a:spcBef>
              <a:spcAft>
                <a:spcPts val="400"/>
              </a:spcAft>
            </a:pPr>
            <a:r>
              <a:rPr sz="1700" b="0" lang="ja-JP" altLang="en-US">
                <a:solidFill>
                  <a:srgbClr val="D4D4D4"/>
                </a:solidFill>
                <a:latin typeface="Consolas"/>
                <a:ea typeface="游ゴシック"/>
              </a:rPr>
              <a:t># ルートに戻って実験を再実行</a:t>
            </a:r>
          </a:p>
          <a:p>
            <a:pPr algn="l">
              <a:lnSpc>
                <a:spcPct val="108000"/>
              </a:lnSpc>
              <a:spcBef>
                <a:spcPts val="0"/>
              </a:spcBef>
              <a:spcAft>
                <a:spcPts val="400"/>
              </a:spcAft>
            </a:pPr>
            <a:r>
              <a:rPr sz="1700" b="0" lang="ja-JP" altLang="en-US">
                <a:solidFill>
                  <a:srgbClr val="D4D4D4"/>
                </a:solidFill>
                <a:latin typeface="Consolas"/>
                <a:ea typeface="游ゴシック"/>
              </a:rPr>
              <a:t>python run_experiment.py --variant reverse</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依存関係</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Python 3.12／NumPy 1.26.4</a:t>
            </a:r>
          </a:p>
          <a:p>
            <a:pPr algn="l">
              <a:lnSpc>
                <a:spcPct val="108000"/>
              </a:lnSpc>
              <a:spcBef>
                <a:spcPts val="0"/>
              </a:spcBef>
              <a:spcAft>
                <a:spcPts val="400"/>
              </a:spcAft>
            </a:pPr>
            <a:r>
              <a:rPr sz="1800" b="0" lang="ja-JP" altLang="en-US">
                <a:solidFill>
                  <a:srgbClr val="111111"/>
                </a:solidFill>
                <a:latin typeface="游ゴシック"/>
                <a:ea typeface="游ゴシック"/>
              </a:rPr>
              <a:t>Matplotlibほかを固定。</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結果の保存</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学習曲線・ログ・重み・metrics.json。</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完了済み結果を保護</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再学習時は既存の結果を退避する。</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実験結果の読み方</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実測値と、残る条件を分けて考える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59</a:t>
            </a:r>
          </a:p>
        </p:txBody>
      </p:sp>
      <p:sp>
        <p:nvSpPr>
          <p:cNvPr id="5" name="TextBox 4"/>
          <p:cNvSpPr txBox="1"/>
          <p:nvPr/>
        </p:nvSpPr>
        <p:spPr>
          <a:xfrm>
            <a:off x="868680" y="2057400"/>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学習曲線は今回の実測。書籍のグラフを数値化したものではない</a:t>
            </a:r>
          </a:p>
        </p:txBody>
      </p:sp>
      <p:sp>
        <p:nvSpPr>
          <p:cNvPr id="6" name="TextBox 5"/>
          <p:cNvSpPr txBox="1"/>
          <p:nvPr/>
        </p:nvSpPr>
        <p:spPr>
          <a:xfrm>
            <a:off x="868680" y="2999232"/>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同じ評価5,000件で毎エポック測定。単一seedでの比較</a:t>
            </a:r>
          </a:p>
        </p:txBody>
      </p:sp>
      <p:sp>
        <p:nvSpPr>
          <p:cNvPr id="7" name="TextBox 6"/>
          <p:cNvSpPr txBox="1"/>
          <p:nvPr/>
        </p:nvSpPr>
        <p:spPr>
          <a:xfrm>
            <a:off x="868680" y="3941064"/>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Peekyは連結によりパラメータ数も増える</a:t>
            </a:r>
          </a:p>
        </p:txBody>
      </p:sp>
      <p:sp>
        <p:nvSpPr>
          <p:cNvPr id="8" name="TextBox 7"/>
          <p:cNvSpPr txBox="1"/>
          <p:nvPr/>
        </p:nvSpPr>
        <p:spPr>
          <a:xfrm>
            <a:off x="868680" y="4882896"/>
            <a:ext cx="10424160" cy="832104"/>
          </a:xfrm>
          <a:prstGeom prst="rect">
            <a:avLst/>
          </a:prstGeom>
          <a:noFill/>
        </p:spPr>
        <p:txBody>
          <a:bodyPr wrap="square" lIns="54864" rIns="54864" tIns="54864" bIns="54864">
            <a:spAutoFit/>
          </a:bodyPr>
          <a:lstStyle/>
          <a:p>
            <a:pPr algn="l">
              <a:lnSpc>
                <a:spcPct val="108000"/>
              </a:lnSpc>
              <a:spcBef>
                <a:spcPts val="0"/>
              </a:spcBef>
              <a:spcAft>
                <a:spcPts val="400"/>
              </a:spcAft>
            </a:pPr>
            <a:r>
              <a:rPr sz="2300" b="0" lang="ja-JP" altLang="en-US">
                <a:solidFill>
                  <a:srgbClr val="111111"/>
                </a:solidFill>
                <a:latin typeface="游ゴシック"/>
                <a:ea typeface="游ゴシック"/>
              </a:rPr>
              <a:t>改善版の文章生成は、公式重みの通信許可後に再実行が必要</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参考資料</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本文・コード・書式の出典</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60</a:t>
            </a:r>
          </a:p>
        </p:txBody>
      </p:sp>
      <p:sp>
        <p:nvSpPr>
          <p:cNvPr id="5" name="TextBox 4"/>
          <p:cNvSpPr txBox="1"/>
          <p:nvPr/>
        </p:nvSpPr>
        <p:spPr>
          <a:xfrm>
            <a:off x="868680" y="2057400"/>
            <a:ext cx="10424160" cy="9144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斎藤康毅『ゼロから作るDeep Learning ❷ ―自然言語処理編』</a:t>
            </a:r>
          </a:p>
          <a:p>
            <a:pPr algn="l">
              <a:lnSpc>
                <a:spcPct val="108000"/>
              </a:lnSpc>
              <a:spcBef>
                <a:spcPts val="0"/>
              </a:spcBef>
              <a:spcAft>
                <a:spcPts val="400"/>
              </a:spcAft>
            </a:pPr>
            <a:r>
              <a:rPr sz="2000" b="0" lang="ja-JP" altLang="en-US">
                <a:solidFill>
                  <a:srgbClr val="111111"/>
                </a:solidFill>
                <a:latin typeface="游ゴシック"/>
                <a:ea typeface="游ゴシック"/>
              </a:rPr>
              <a:t>オライリー・ジャパン、2018年、第7章</a:t>
            </a:r>
          </a:p>
        </p:txBody>
      </p:sp>
      <p:sp>
        <p:nvSpPr>
          <p:cNvPr id="6" name="TextBox 5"/>
          <p:cNvSpPr txBox="1"/>
          <p:nvPr/>
        </p:nvSpPr>
        <p:spPr>
          <a:xfrm>
            <a:off x="868680" y="3081528"/>
            <a:ext cx="10424160" cy="9144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本文資料：添付 IMG_20261016_0002.pdf ～ 0032.pdf</a:t>
            </a:r>
          </a:p>
          <a:p>
            <a:pPr algn="l">
              <a:lnSpc>
                <a:spcPct val="108000"/>
              </a:lnSpc>
              <a:spcBef>
                <a:spcPts val="0"/>
              </a:spcBef>
              <a:spcAft>
                <a:spcPts val="400"/>
              </a:spcAft>
            </a:pPr>
            <a:r>
              <a:rPr sz="2000" b="0" lang="ja-JP" altLang="en-US">
                <a:solidFill>
                  <a:srgbClr val="111111"/>
                </a:solidFill>
                <a:latin typeface="游ゴシック"/>
                <a:ea typeface="游ゴシック"/>
              </a:rPr>
              <a:t>コード：添付の第7章Pythonファイル7点</a:t>
            </a:r>
          </a:p>
        </p:txBody>
      </p:sp>
      <p:sp>
        <p:nvSpPr>
          <p:cNvPr id="7" name="TextBox 6"/>
          <p:cNvSpPr txBox="1"/>
          <p:nvPr/>
        </p:nvSpPr>
        <p:spPr>
          <a:xfrm>
            <a:off x="868680" y="4105656"/>
            <a:ext cx="10424160" cy="9144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公式コード：github.com/oreilly-japan/deep-learning-from-scratch-2</a:t>
            </a:r>
          </a:p>
          <a:p>
            <a:pPr algn="l">
              <a:lnSpc>
                <a:spcPct val="108000"/>
              </a:lnSpc>
              <a:spcBef>
                <a:spcPts val="0"/>
              </a:spcBef>
              <a:spcAft>
                <a:spcPts val="400"/>
              </a:spcAft>
            </a:pPr>
            <a:r>
              <a:rPr sz="2000" b="0" lang="ja-JP" altLang="en-US">
                <a:solidFill>
                  <a:srgbClr val="111111"/>
                </a:solidFill>
                <a:latin typeface="游ゴシック"/>
                <a:ea typeface="游ゴシック"/>
              </a:rPr>
              <a:t>使用commit：842ae31c2bb070f5116275606ed90396626a2c17</a:t>
            </a:r>
          </a:p>
        </p:txBody>
      </p:sp>
      <p:sp>
        <p:nvSpPr>
          <p:cNvPr id="8" name="TextBox 7"/>
          <p:cNvSpPr txBox="1"/>
          <p:nvPr/>
        </p:nvSpPr>
        <p:spPr>
          <a:xfrm>
            <a:off x="868680" y="5129784"/>
            <a:ext cx="10424160" cy="914400"/>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書式参照：S小林261014.pptx ／ S瀬林261007.pptx</a:t>
            </a:r>
          </a:p>
          <a:p>
            <a:pPr algn="l">
              <a:lnSpc>
                <a:spcPct val="108000"/>
              </a:lnSpc>
              <a:spcBef>
                <a:spcPts val="0"/>
              </a:spcBef>
              <a:spcAft>
                <a:spcPts val="400"/>
              </a:spcAft>
            </a:pPr>
            <a:r>
              <a:rPr sz="2000" b="0" lang="ja-JP" altLang="en-US">
                <a:solidFill>
                  <a:srgbClr val="111111"/>
                </a:solidFill>
                <a:latin typeface="游ゴシック"/>
                <a:ea typeface="游ゴシック"/>
              </a:rPr>
              <a:t>実験値：同梱 results/ のログとmetrics.json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補足① EncoderとDecoder</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hとcは、両方とも受け渡すのか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61</a:t>
            </a:r>
          </a:p>
        </p:txBody>
      </p:sp>
      <p:graphicFrame>
        <p:nvGraphicFramePr>
          <p:cNvPr id="5" name="Table 4"/>
          <p:cNvGraphicFramePr>
            <a:graphicFrameLocks noGrp="1"/>
          </p:cNvGraphicFramePr>
          <p:nvPr/>
        </p:nvGraphicFramePr>
        <p:xfrm>
          <a:off x="868680" y="2103120"/>
          <a:ext cx="10469880" cy="2743200"/>
        </p:xfrm>
        <a:graphic>
          <a:graphicData uri="http://schemas.openxmlformats.org/drawingml/2006/table">
            <a:tbl>
              <a:tblPr firstRow="1" bandRow="1">
                <a:tableStyleId>{5C22544A-7EE6-4342-B048-85BDC9FD1C3A}</a:tableStyleId>
              </a:tblPr>
              <a:tblGrid>
                <a:gridCol w="3566160"/>
                <a:gridCol w="3474720"/>
                <a:gridCol w="3429000"/>
              </a:tblGrid>
              <a:tr h="685800">
                <a:tc>
                  <a:txBody>
                    <a:bodyPr/>
                    <a:lstStyle/>
                    <a:p>
                      <a:pPr>
                        <a:lnSpc>
                          <a:spcPct val="108000"/>
                        </a:lnSpc>
                        <a:spcAft>
                          <a:spcPts val="0"/>
                        </a:spcAft>
                      </a:pPr>
                      <a:r>
                        <a:rPr sz="2300" b="1" lang="ja-JP" altLang="en-US">
                          <a:solidFill>
                            <a:srgbClr val="111111"/>
                          </a:solidFill>
                          <a:latin typeface="游ゴシック"/>
                          <a:ea typeface="游ゴシック"/>
                        </a:rPr>
                        <a:t>場所</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h</a:t>
                      </a:r>
                    </a:p>
                  </a:txBody>
                  <a:tcPr marL="91440" marR="91440" anchor="ctr">
                    <a:solidFill>
                      <a:srgbClr val="EAF2F6"/>
                    </a:solidFill>
                  </a:tcPr>
                </a:tc>
                <a:tc>
                  <a:txBody>
                    <a:bodyPr/>
                    <a:lstStyle/>
                    <a:p>
                      <a:pPr>
                        <a:lnSpc>
                          <a:spcPct val="108000"/>
                        </a:lnSpc>
                        <a:spcAft>
                          <a:spcPts val="0"/>
                        </a:spcAft>
                      </a:pPr>
                      <a:r>
                        <a:rPr sz="2300" b="1" lang="ja-JP" altLang="en-US">
                          <a:solidFill>
                            <a:srgbClr val="111111"/>
                          </a:solidFill>
                          <a:latin typeface="游ゴシック"/>
                          <a:ea typeface="游ゴシック"/>
                        </a:rPr>
                        <a:t>c</a:t>
                      </a:r>
                    </a:p>
                  </a:txBody>
                  <a:tcPr marL="91440" marR="91440" anchor="ctr">
                    <a:solidFill>
                      <a:srgbClr val="EAF2F6"/>
                    </a:solidFill>
                  </a:tcPr>
                </a:tc>
              </a:tr>
              <a:tr h="685800">
                <a:tc>
                  <a:txBody>
                    <a:bodyPr/>
                    <a:lstStyle/>
                    <a:p>
                      <a:pPr>
                        <a:lnSpc>
                          <a:spcPct val="108000"/>
                        </a:lnSpc>
                        <a:spcAft>
                          <a:spcPts val="0"/>
                        </a:spcAft>
                      </a:pPr>
                      <a:r>
                        <a:rPr sz="2300" b="0" lang="ja-JP" altLang="en-US">
                          <a:solidFill>
                            <a:srgbClr val="111111"/>
                          </a:solidFill>
                          <a:latin typeface="游ゴシック"/>
                          <a:ea typeface="游ゴシック"/>
                        </a:rPr>
                        <a:t>Encoderの内部</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時刻ごとに更新</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時刻ごとに更新</a:t>
                      </a:r>
                    </a:p>
                  </a:txBody>
                  <a:tcPr marL="91440" marR="91440" anchor="ctr">
                    <a:solidFill>
                      <a:srgbClr val="FFFFFF"/>
                    </a:solidFill>
                  </a:tcPr>
                </a:tc>
              </a:tr>
              <a:tr h="685800">
                <a:tc>
                  <a:txBody>
                    <a:bodyPr/>
                    <a:lstStyle/>
                    <a:p>
                      <a:pPr>
                        <a:lnSpc>
                          <a:spcPct val="108000"/>
                        </a:lnSpc>
                        <a:spcAft>
                          <a:spcPts val="0"/>
                        </a:spcAft>
                      </a:pPr>
                      <a:r>
                        <a:rPr sz="2300" b="0" lang="ja-JP" altLang="en-US">
                          <a:solidFill>
                            <a:srgbClr val="111111"/>
                          </a:solidFill>
                          <a:latin typeface="游ゴシック"/>
                          <a:ea typeface="游ゴシック"/>
                        </a:rPr>
                        <a:t>Encoderの返り値</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最後のhを返す</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返さない</a:t>
                      </a:r>
                    </a:p>
                  </a:txBody>
                  <a:tcPr marL="91440" marR="91440" anchor="ctr">
                    <a:solidFill>
                      <a:srgbClr val="FFFFFF"/>
                    </a:solidFill>
                  </a:tcPr>
                </a:tc>
              </a:tr>
              <a:tr h="685800">
                <a:tc>
                  <a:txBody>
                    <a:bodyPr/>
                    <a:lstStyle/>
                    <a:p>
                      <a:pPr>
                        <a:lnSpc>
                          <a:spcPct val="108000"/>
                        </a:lnSpc>
                        <a:spcAft>
                          <a:spcPts val="0"/>
                        </a:spcAft>
                      </a:pPr>
                      <a:r>
                        <a:rPr sz="2300" b="0" lang="ja-JP" altLang="en-US">
                          <a:solidFill>
                            <a:srgbClr val="111111"/>
                          </a:solidFill>
                          <a:latin typeface="游ゴシック"/>
                          <a:ea typeface="游ゴシック"/>
                        </a:rPr>
                        <a:t>Decoderの開始状態</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Encoderのhで初期化</a:t>
                      </a:r>
                    </a:p>
                  </a:txBody>
                  <a:tcPr marL="91440" marR="91440" anchor="ctr">
                    <a:solidFill>
                      <a:srgbClr val="FFFFFF"/>
                    </a:solidFill>
                  </a:tcPr>
                </a:tc>
                <a:tc>
                  <a:txBody>
                    <a:bodyPr/>
                    <a:lstStyle/>
                    <a:p>
                      <a:pPr>
                        <a:lnSpc>
                          <a:spcPct val="108000"/>
                        </a:lnSpc>
                        <a:spcAft>
                          <a:spcPts val="0"/>
                        </a:spcAft>
                      </a:pPr>
                      <a:r>
                        <a:rPr sz="2300" b="0" lang="ja-JP" altLang="en-US">
                          <a:solidFill>
                            <a:srgbClr val="111111"/>
                          </a:solidFill>
                          <a:latin typeface="游ゴシック"/>
                          <a:ea typeface="游ゴシック"/>
                        </a:rPr>
                        <a:t>ゼロから開始</a:t>
                      </a:r>
                    </a:p>
                  </a:txBody>
                  <a:tcPr marL="91440" marR="91440" anchor="ctr">
                    <a:solidFill>
                      <a:srgbClr val="FFFFFF"/>
                    </a:solidFill>
                  </a:tcPr>
                </a:tc>
              </a:tr>
            </a:tbl>
          </a:graphicData>
        </a:graphic>
      </p:graphicFrame>
      <p:sp>
        <p:nvSpPr>
          <p:cNvPr id="6" name="TextBox 5"/>
          <p:cNvSpPr txBox="1"/>
          <p:nvPr/>
        </p:nvSpPr>
        <p:spPr>
          <a:xfrm>
            <a:off x="960120" y="5486400"/>
            <a:ext cx="10241280" cy="640080"/>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「LSTMにhとcがある」と「Encoderがhとcを両方返す」は別の話。</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補足② 配列の形</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N=128の場合を具体的に追う</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62</a:t>
            </a:r>
          </a:p>
        </p:txBody>
      </p:sp>
      <p:graphicFrame>
        <p:nvGraphicFramePr>
          <p:cNvPr id="5" name="Table 4"/>
          <p:cNvGraphicFramePr>
            <a:graphicFrameLocks noGrp="1"/>
          </p:cNvGraphicFramePr>
          <p:nvPr/>
        </p:nvGraphicFramePr>
        <p:xfrm>
          <a:off x="868680" y="2103120"/>
          <a:ext cx="10469880" cy="3931920"/>
        </p:xfrm>
        <a:graphic>
          <a:graphicData uri="http://schemas.openxmlformats.org/drawingml/2006/table">
            <a:tbl>
              <a:tblPr firstRow="1" bandRow="1">
                <a:tableStyleId>{5C22544A-7EE6-4342-B048-85BDC9FD1C3A}</a:tableStyleId>
              </a:tblPr>
              <a:tblGrid>
                <a:gridCol w="6035040"/>
                <a:gridCol w="4434840"/>
              </a:tblGrid>
              <a:tr h="561702">
                <a:tc>
                  <a:txBody>
                    <a:bodyPr/>
                    <a:lstStyle/>
                    <a:p>
                      <a:pPr>
                        <a:lnSpc>
                          <a:spcPct val="108000"/>
                        </a:lnSpc>
                        <a:spcAft>
                          <a:spcPts val="0"/>
                        </a:spcAft>
                      </a:pPr>
                      <a:r>
                        <a:rPr sz="2200" b="1" lang="ja-JP" altLang="en-US">
                          <a:solidFill>
                            <a:srgbClr val="111111"/>
                          </a:solidFill>
                          <a:latin typeface="游ゴシック"/>
                          <a:ea typeface="游ゴシック"/>
                        </a:rPr>
                        <a:t>中間値</a:t>
                      </a:r>
                    </a:p>
                  </a:txBody>
                  <a:tcPr marL="91440" marR="91440" anchor="ctr">
                    <a:solidFill>
                      <a:srgbClr val="EAF2F6"/>
                    </a:solidFill>
                  </a:tcPr>
                </a:tc>
                <a:tc>
                  <a:txBody>
                    <a:bodyPr/>
                    <a:lstStyle/>
                    <a:p>
                      <a:pPr>
                        <a:lnSpc>
                          <a:spcPct val="108000"/>
                        </a:lnSpc>
                        <a:spcAft>
                          <a:spcPts val="0"/>
                        </a:spcAft>
                      </a:pPr>
                      <a:r>
                        <a:rPr sz="2200" b="1" lang="ja-JP" altLang="en-US">
                          <a:solidFill>
                            <a:srgbClr val="111111"/>
                          </a:solidFill>
                          <a:latin typeface="游ゴシック"/>
                          <a:ea typeface="游ゴシック"/>
                        </a:rPr>
                        <a:t>形</a:t>
                      </a:r>
                    </a:p>
                  </a:txBody>
                  <a:tcPr marL="91440" marR="91440" anchor="ctr">
                    <a:solidFill>
                      <a:srgbClr val="EAF2F6"/>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問題文の文字ID</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(128, 7)</a:t>
                      </a:r>
                    </a:p>
                  </a:txBody>
                  <a:tcPr marL="91440" marR="91440" anchor="ctr">
                    <a:solidFill>
                      <a:srgbClr val="FFFFFF"/>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Encoderの文字ベクトル</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(128, 7, 16)</a:t>
                      </a:r>
                    </a:p>
                  </a:txBody>
                  <a:tcPr marL="91440" marR="91440" anchor="ctr">
                    <a:solidFill>
                      <a:srgbClr val="FFFFFF"/>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Encoderの出力h</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(128, 128)</a:t>
                      </a:r>
                    </a:p>
                  </a:txBody>
                  <a:tcPr marL="91440" marR="91440" anchor="ctr">
                    <a:solidFill>
                      <a:srgbClr val="FFFFFF"/>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Decoderの入力文字ID</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(128, 4)</a:t>
                      </a:r>
                    </a:p>
                  </a:txBody>
                  <a:tcPr marL="91440" marR="91440" anchor="ctr">
                    <a:solidFill>
                      <a:srgbClr val="FFFFFF"/>
                    </a:solidFill>
                  </a:tcPr>
                </a:tc>
              </a:tr>
              <a:tr h="561702">
                <a:tc>
                  <a:txBody>
                    <a:bodyPr/>
                    <a:lstStyle/>
                    <a:p>
                      <a:pPr>
                        <a:lnSpc>
                          <a:spcPct val="108000"/>
                        </a:lnSpc>
                        <a:spcAft>
                          <a:spcPts val="0"/>
                        </a:spcAft>
                      </a:pPr>
                      <a:r>
                        <a:rPr sz="2200" b="0" lang="ja-JP" altLang="en-US">
                          <a:solidFill>
                            <a:srgbClr val="111111"/>
                          </a:solidFill>
                          <a:latin typeface="游ゴシック"/>
                          <a:ea typeface="游ゴシック"/>
                        </a:rPr>
                        <a:t>通常版の出力スコア</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(128, 4, 13)</a:t>
                      </a:r>
                    </a:p>
                  </a:txBody>
                  <a:tcPr marL="91440" marR="91440" anchor="ctr">
                    <a:solidFill>
                      <a:srgbClr val="FFFFFF"/>
                    </a:solidFill>
                  </a:tcPr>
                </a:tc>
              </a:tr>
              <a:tr h="561708">
                <a:tc>
                  <a:txBody>
                    <a:bodyPr/>
                    <a:lstStyle/>
                    <a:p>
                      <a:pPr>
                        <a:lnSpc>
                          <a:spcPct val="108000"/>
                        </a:lnSpc>
                        <a:spcAft>
                          <a:spcPts val="0"/>
                        </a:spcAft>
                      </a:pPr>
                      <a:r>
                        <a:rPr sz="2200" b="0" lang="ja-JP" altLang="en-US">
                          <a:solidFill>
                            <a:srgbClr val="111111"/>
                          </a:solidFill>
                          <a:latin typeface="游ゴシック"/>
                          <a:ea typeface="游ゴシック"/>
                        </a:rPr>
                        <a:t>PeekyのLSTM入力</a:t>
                      </a:r>
                    </a:p>
                  </a:txBody>
                  <a:tcPr marL="91440" marR="91440" anchor="ctr">
                    <a:solidFill>
                      <a:srgbClr val="FFFFFF"/>
                    </a:solidFill>
                  </a:tcPr>
                </a:tc>
                <a:tc>
                  <a:txBody>
                    <a:bodyPr/>
                    <a:lstStyle/>
                    <a:p>
                      <a:pPr>
                        <a:lnSpc>
                          <a:spcPct val="108000"/>
                        </a:lnSpc>
                        <a:spcAft>
                          <a:spcPts val="0"/>
                        </a:spcAft>
                      </a:pPr>
                      <a:r>
                        <a:rPr sz="2200" b="0" lang="ja-JP" altLang="en-US">
                          <a:solidFill>
                            <a:srgbClr val="111111"/>
                          </a:solidFill>
                          <a:latin typeface="游ゴシック"/>
                          <a:ea typeface="游ゴシック"/>
                        </a:rPr>
                        <a:t>(128, 4, 144)</a:t>
                      </a:r>
                    </a:p>
                  </a:txBody>
                  <a:tcPr marL="91440" marR="91440" anchor="ctr">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補足③ Peekyの勾配</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同じhを複数回使う → 勾配を足す</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63</a:t>
            </a:r>
          </a:p>
        </p:txBody>
      </p:sp>
      <p:sp>
        <p:nvSpPr>
          <p:cNvPr id="5" name="Rectangle 4"/>
          <p:cNvSpPr/>
          <p:nvPr/>
        </p:nvSpPr>
        <p:spPr>
          <a:xfrm>
            <a:off x="1051560" y="2423160"/>
            <a:ext cx="2880360" cy="73152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初期状態から</a:t>
            </a:r>
          </a:p>
        </p:txBody>
      </p:sp>
      <p:cxnSp>
        <p:nvCxnSpPr>
          <p:cNvPr id="6" name="Connector 5"/>
          <p:cNvCxnSpPr/>
          <p:nvPr/>
        </p:nvCxnSpPr>
        <p:spPr>
          <a:xfrm>
            <a:off x="2491739" y="3200400"/>
            <a:ext cx="3520441" cy="82296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0" y="2423160"/>
            <a:ext cx="2880360" cy="73152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LSTM入力から</a:t>
            </a:r>
          </a:p>
        </p:txBody>
      </p:sp>
      <p:cxnSp>
        <p:nvCxnSpPr>
          <p:cNvPr id="8" name="Connector 7"/>
          <p:cNvCxnSpPr/>
          <p:nvPr/>
        </p:nvCxnSpPr>
        <p:spPr>
          <a:xfrm>
            <a:off x="6012180" y="3200400"/>
            <a:ext cx="0" cy="82296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092440" y="2423160"/>
            <a:ext cx="2880360" cy="73152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200" lang="ja-JP" altLang="en-US">
                <a:solidFill>
                  <a:srgbClr val="111111"/>
                </a:solidFill>
                <a:latin typeface="游ゴシック"/>
                <a:ea typeface="游ゴシック"/>
              </a:rPr>
              <a:t>Affine入力から</a:t>
            </a:r>
          </a:p>
        </p:txBody>
      </p:sp>
      <p:cxnSp>
        <p:nvCxnSpPr>
          <p:cNvPr id="10" name="Connector 9"/>
          <p:cNvCxnSpPr/>
          <p:nvPr/>
        </p:nvCxnSpPr>
        <p:spPr>
          <a:xfrm flipH="1">
            <a:off x="6012180" y="3200400"/>
            <a:ext cx="3520439" cy="822960"/>
          </a:xfrm>
          <a:prstGeom prst="line">
            <a:avLst/>
          </a:prstGeom>
          <a:ln w="2032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623560" y="4023360"/>
            <a:ext cx="777240" cy="594360"/>
          </a:xfrm>
          <a:prstGeom prst="rect">
            <a:avLst/>
          </a:prstGeom>
          <a:solidFill>
            <a:srgbClr val="F5F5F5"/>
          </a:solidFill>
          <a:ln w="1651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6000"/>
              </a:lnSpc>
              <a:spcAft>
                <a:spcPts val="0"/>
              </a:spcAft>
            </a:pPr>
            <a:r>
              <a:rPr sz="2700" lang="ja-JP" altLang="en-US">
                <a:solidFill>
                  <a:srgbClr val="111111"/>
                </a:solidFill>
                <a:latin typeface="游ゴシック"/>
                <a:ea typeface="游ゴシック"/>
              </a:rPr>
              <a:t>＋</a:t>
            </a:r>
          </a:p>
        </p:txBody>
      </p:sp>
      <p:sp>
        <p:nvSpPr>
          <p:cNvPr id="12" name="TextBox 11"/>
          <p:cNvSpPr txBox="1"/>
          <p:nvPr/>
        </p:nvSpPr>
        <p:spPr>
          <a:xfrm>
            <a:off x="960120" y="4800600"/>
            <a:ext cx="10241280" cy="594360"/>
          </a:xfrm>
          <a:prstGeom prst="rect">
            <a:avLst/>
          </a:prstGeom>
          <a:noFill/>
        </p:spPr>
        <p:txBody>
          <a:bodyPr wrap="square" lIns="54864" rIns="54864" tIns="54864" bIns="54864">
            <a:spAutoFit/>
          </a:bodyPr>
          <a:lstStyle/>
          <a:p>
            <a:pPr algn="l">
              <a:lnSpc>
                <a:spcPct val="108000"/>
              </a:lnSpc>
              <a:spcBef>
                <a:spcPts val="0"/>
              </a:spcBef>
              <a:spcAft>
                <a:spcPts val="400"/>
              </a:spcAft>
            </a:pPr>
            <a:r>
              <a:rPr sz="2700" b="0" lang="ja-JP" altLang="en-US">
                <a:solidFill>
                  <a:srgbClr val="111111"/>
                </a:solidFill>
                <a:latin typeface="Aptos"/>
                <a:ea typeface="游ゴシック"/>
              </a:rPr>
              <a:t>dh = dh_initial + Σₜ dh_LSTM,t + Σₜ dh_Affine,t</a:t>
            </a:r>
          </a:p>
        </p:txBody>
      </p:sp>
      <p:sp>
        <p:nvSpPr>
          <p:cNvPr id="13" name="TextBox 12"/>
          <p:cNvSpPr txBox="1"/>
          <p:nvPr/>
        </p:nvSpPr>
        <p:spPr>
          <a:xfrm>
            <a:off x="960120" y="5486400"/>
            <a:ext cx="10241280" cy="685800"/>
          </a:xfrm>
          <a:prstGeom prst="rect">
            <a:avLst/>
          </a:prstGeom>
          <a:noFill/>
        </p:spPr>
        <p:txBody>
          <a:bodyPr wrap="square" lIns="54864" rIns="54864" tIns="54864" bIns="54864">
            <a:spAutoFit/>
          </a:bodyPr>
          <a:lstStyle/>
          <a:p>
            <a:pPr algn="l">
              <a:lnSpc>
                <a:spcPct val="108000"/>
              </a:lnSpc>
              <a:spcBef>
                <a:spcPts val="0"/>
              </a:spcBef>
              <a:spcAft>
                <a:spcPts val="400"/>
              </a:spcAft>
            </a:pPr>
            <a:r>
              <a:rPr sz="2200" b="0" lang="ja-JP" altLang="en-US">
                <a:solidFill>
                  <a:srgbClr val="111111"/>
                </a:solidFill>
                <a:latin typeface="游ゴシック"/>
                <a:ea typeface="游ゴシック"/>
              </a:rPr>
              <a:t>数値勾配との照合：Seq2seq・PeekySeq2seqとも検証した2要素で合格</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補足④ 状態の保存・復元</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get_state / set_state を確かめる</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64</a:t>
            </a:r>
          </a:p>
        </p:txBody>
      </p:sp>
      <p:sp>
        <p:nvSpPr>
          <p:cNvPr id="5" name="TextBox 4"/>
          <p:cNvSpPr txBox="1"/>
          <p:nvPr/>
        </p:nvSpPr>
        <p:spPr>
          <a:xfrm>
            <a:off x="868680" y="2029968"/>
            <a:ext cx="6263640" cy="4142232"/>
          </a:xfrm>
          <a:prstGeom prst="rect">
            <a:avLst/>
          </a:prstGeom>
          <a:solidFill>
            <a:srgbClr val="1E1E1E"/>
          </a:solidFill>
        </p:spPr>
        <p:txBody>
          <a:bodyPr wrap="square" lIns="146304" rIns="146304" tIns="146304" bIns="146304">
            <a:spAutoFit/>
          </a:bodyPr>
          <a:lstStyle/>
          <a:p>
            <a:pPr algn="l">
              <a:lnSpc>
                <a:spcPct val="108000"/>
              </a:lnSpc>
              <a:spcBef>
                <a:spcPts val="0"/>
              </a:spcBef>
              <a:spcAft>
                <a:spcPts val="400"/>
              </a:spcAft>
            </a:pPr>
            <a:r>
              <a:rPr sz="1800" b="0" lang="ja-JP" altLang="en-US">
                <a:solidFill>
                  <a:srgbClr val="D4D4D4"/>
                </a:solidFill>
                <a:latin typeface="Consolas"/>
                <a:ea typeface="游ゴシック"/>
              </a:rPr>
              <a:t>model.predict(np.array([[1]]))</a:t>
            </a:r>
          </a:p>
          <a:p>
            <a:pPr algn="l">
              <a:lnSpc>
                <a:spcPct val="108000"/>
              </a:lnSpc>
              <a:spcBef>
                <a:spcPts val="0"/>
              </a:spcBef>
              <a:spcAft>
                <a:spcPts val="400"/>
              </a:spcAft>
            </a:pPr>
            <a:r>
              <a:rPr sz="1800" b="0" lang="ja-JP" altLang="en-US">
                <a:solidFill>
                  <a:srgbClr val="D4D4D4"/>
                </a:solidFill>
                <a:latin typeface="Consolas"/>
                <a:ea typeface="游ゴシック"/>
              </a:rPr>
              <a:t>state = model.get_state()</a:t>
            </a:r>
          </a:p>
          <a:p>
            <a:pPr algn="l">
              <a:lnSpc>
                <a:spcPct val="108000"/>
              </a:lnSpc>
              <a:spcBef>
                <a:spcPts val="0"/>
              </a:spcBef>
              <a:spcAft>
                <a:spcPts val="400"/>
              </a:spcAft>
            </a:pPr>
            <a:r>
              <a:rPr sz="1800" b="0" lang="ja-JP" altLang="en-US">
                <a:solidFill>
                  <a:srgbClr val="D4D4D4"/>
                </a:solidFill>
                <a:latin typeface="Consolas"/>
                <a:ea typeface="游ゴシック"/>
              </a:rPr>
              <a:t/>
            </a:r>
          </a:p>
          <a:p>
            <a:pPr algn="l">
              <a:lnSpc>
                <a:spcPct val="108000"/>
              </a:lnSpc>
              <a:spcBef>
                <a:spcPts val="0"/>
              </a:spcBef>
              <a:spcAft>
                <a:spcPts val="400"/>
              </a:spcAft>
            </a:pPr>
            <a:r>
              <a:rPr sz="1800" b="0" lang="ja-JP" altLang="en-US">
                <a:solidFill>
                  <a:srgbClr val="D4D4D4"/>
                </a:solidFill>
                <a:latin typeface="Consolas"/>
                <a:ea typeface="游ゴシック"/>
              </a:rPr>
              <a:t>a = model.predict(np.array([[2]])).copy()</a:t>
            </a:r>
          </a:p>
          <a:p>
            <a:pPr algn="l">
              <a:lnSpc>
                <a:spcPct val="108000"/>
              </a:lnSpc>
              <a:spcBef>
                <a:spcPts val="0"/>
              </a:spcBef>
              <a:spcAft>
                <a:spcPts val="400"/>
              </a:spcAft>
            </a:pPr>
            <a:r>
              <a:rPr sz="1800" b="0" lang="ja-JP" altLang="en-US">
                <a:solidFill>
                  <a:srgbClr val="D4D4D4"/>
                </a:solidFill>
                <a:latin typeface="Consolas"/>
                <a:ea typeface="游ゴシック"/>
              </a:rPr>
              <a:t>model.set_state(state)</a:t>
            </a:r>
          </a:p>
          <a:p>
            <a:pPr algn="l">
              <a:lnSpc>
                <a:spcPct val="108000"/>
              </a:lnSpc>
              <a:spcBef>
                <a:spcPts val="0"/>
              </a:spcBef>
              <a:spcAft>
                <a:spcPts val="400"/>
              </a:spcAft>
            </a:pPr>
            <a:r>
              <a:rPr sz="1800" b="0" lang="ja-JP" altLang="en-US">
                <a:solidFill>
                  <a:srgbClr val="D4D4D4"/>
                </a:solidFill>
                <a:latin typeface="Consolas"/>
                <a:ea typeface="游ゴシック"/>
              </a:rPr>
              <a:t>b = model.predict(np.array([[2]])).copy()</a:t>
            </a:r>
          </a:p>
          <a:p>
            <a:pPr algn="l">
              <a:lnSpc>
                <a:spcPct val="108000"/>
              </a:lnSpc>
              <a:spcBef>
                <a:spcPts val="0"/>
              </a:spcBef>
              <a:spcAft>
                <a:spcPts val="400"/>
              </a:spcAft>
            </a:pPr>
            <a:r>
              <a:rPr sz="1800" b="0" lang="ja-JP" altLang="en-US">
                <a:solidFill>
                  <a:srgbClr val="D4D4D4"/>
                </a:solidFill>
                <a:latin typeface="Consolas"/>
                <a:ea typeface="游ゴシック"/>
              </a:rPr>
              <a:t/>
            </a:r>
          </a:p>
          <a:p>
            <a:pPr algn="l">
              <a:lnSpc>
                <a:spcPct val="108000"/>
              </a:lnSpc>
              <a:spcBef>
                <a:spcPts val="0"/>
              </a:spcBef>
              <a:spcAft>
                <a:spcPts val="400"/>
              </a:spcAft>
            </a:pPr>
            <a:r>
              <a:rPr sz="1800" b="0" lang="ja-JP" altLang="en-US">
                <a:solidFill>
                  <a:srgbClr val="D4D4D4"/>
                </a:solidFill>
                <a:latin typeface="Consolas"/>
                <a:ea typeface="游ゴシック"/>
              </a:rPr>
              <a:t>np.testing.assert_allclose(a, b)</a:t>
            </a:r>
          </a:p>
        </p:txBody>
      </p:sp>
      <p:sp>
        <p:nvSpPr>
          <p:cNvPr id="6" name="Rounded Rectangle 5"/>
          <p:cNvSpPr/>
          <p:nvPr/>
        </p:nvSpPr>
        <p:spPr>
          <a:xfrm>
            <a:off x="7406640" y="2011680"/>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2066544"/>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検査対象</a:t>
            </a:r>
          </a:p>
        </p:txBody>
      </p:sp>
      <p:sp>
        <p:nvSpPr>
          <p:cNvPr id="8" name="TextBox 7"/>
          <p:cNvSpPr txBox="1"/>
          <p:nvPr/>
        </p:nvSpPr>
        <p:spPr>
          <a:xfrm>
            <a:off x="7498079" y="2432304"/>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RnnlmGen／BetterRnnlmGen</a:t>
            </a:r>
          </a:p>
        </p:txBody>
      </p:sp>
      <p:sp>
        <p:nvSpPr>
          <p:cNvPr id="9" name="Rounded Rectangle 8"/>
          <p:cNvSpPr/>
          <p:nvPr/>
        </p:nvSpPr>
        <p:spPr>
          <a:xfrm>
            <a:off x="7406640" y="3456432"/>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3511296"/>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結果</a:t>
            </a:r>
          </a:p>
        </p:txBody>
      </p:sp>
      <p:sp>
        <p:nvSpPr>
          <p:cNvPr id="11" name="TextBox 10"/>
          <p:cNvSpPr txBox="1"/>
          <p:nvPr/>
        </p:nvSpPr>
        <p:spPr>
          <a:xfrm>
            <a:off x="7498079" y="3877056"/>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状態復元後の出力スコアが一致。</a:t>
            </a:r>
          </a:p>
        </p:txBody>
      </p:sp>
      <p:sp>
        <p:nvSpPr>
          <p:cNvPr id="12" name="Rounded Rectangle 11"/>
          <p:cNvSpPr/>
          <p:nvPr/>
        </p:nvSpPr>
        <p:spPr>
          <a:xfrm>
            <a:off x="7406640" y="4901184"/>
            <a:ext cx="4023360" cy="1234440"/>
          </a:xfrm>
          <a:prstGeom prst="roundRect">
            <a:avLst/>
          </a:prstGeom>
          <a:noFill/>
          <a:ln w="285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956048"/>
            <a:ext cx="3840480" cy="338328"/>
          </a:xfrm>
          <a:prstGeom prst="rect">
            <a:avLst/>
          </a:prstGeom>
          <a:noFill/>
        </p:spPr>
        <p:txBody>
          <a:bodyPr wrap="square" lIns="54864" rIns="54864" tIns="54864" bIns="54864">
            <a:spAutoFit/>
          </a:bodyPr>
          <a:lstStyle/>
          <a:p>
            <a:pPr algn="l">
              <a:lnSpc>
                <a:spcPct val="108000"/>
              </a:lnSpc>
              <a:spcBef>
                <a:spcPts val="0"/>
              </a:spcBef>
              <a:spcAft>
                <a:spcPts val="400"/>
              </a:spcAft>
            </a:pPr>
            <a:r>
              <a:rPr sz="2000" b="0" lang="ja-JP" altLang="en-US">
                <a:solidFill>
                  <a:srgbClr val="111111"/>
                </a:solidFill>
                <a:latin typeface="游ゴシック"/>
                <a:ea typeface="游ゴシック"/>
              </a:rPr>
              <a:t>検査の範囲</a:t>
            </a:r>
          </a:p>
        </p:txBody>
      </p:sp>
      <p:sp>
        <p:nvSpPr>
          <p:cNvPr id="14" name="TextBox 13"/>
          <p:cNvSpPr txBox="1"/>
          <p:nvPr/>
        </p:nvSpPr>
        <p:spPr>
          <a:xfrm>
            <a:off x="7498079" y="5321808"/>
            <a:ext cx="3840480" cy="795528"/>
          </a:xfrm>
          <a:prstGeom prst="rect">
            <a:avLst/>
          </a:prstGeom>
          <a:noFill/>
        </p:spPr>
        <p:txBody>
          <a:bodyPr wrap="square" lIns="54864" rIns="54864" tIns="54864" bIns="54864">
            <a:spAutoFit/>
          </a:bodyPr>
          <a:lstStyle/>
          <a:p>
            <a:pPr algn="l">
              <a:lnSpc>
                <a:spcPct val="108000"/>
              </a:lnSpc>
              <a:spcBef>
                <a:spcPts val="0"/>
              </a:spcBef>
              <a:spcAft>
                <a:spcPts val="400"/>
              </a:spcAft>
            </a:pPr>
            <a:r>
              <a:rPr sz="1800" b="0" lang="ja-JP" altLang="en-US">
                <a:solidFill>
                  <a:srgbClr val="111111"/>
                </a:solidFill>
                <a:latin typeface="游ゴシック"/>
                <a:ea typeface="游ゴシック"/>
              </a:rPr>
              <a:t>小規模モデルの動作確認。文章品質の評価とは別。</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補足⑤ 生成方法を比較</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サンプリングとargmaxを混同しない</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65</a:t>
            </a:r>
          </a:p>
        </p:txBody>
      </p:sp>
      <p:graphicFrame>
        <p:nvGraphicFramePr>
          <p:cNvPr id="5" name="Table 4"/>
          <p:cNvGraphicFramePr>
            <a:graphicFrameLocks noGrp="1"/>
          </p:cNvGraphicFramePr>
          <p:nvPr/>
        </p:nvGraphicFramePr>
        <p:xfrm>
          <a:off x="868680" y="2103120"/>
          <a:ext cx="10469880" cy="3429000"/>
        </p:xfrm>
        <a:graphic>
          <a:graphicData uri="http://schemas.openxmlformats.org/drawingml/2006/table">
            <a:tbl>
              <a:tblPr firstRow="1" bandRow="1">
                <a:tableStyleId>{5C22544A-7EE6-4342-B048-85BDC9FD1C3A}</a:tableStyleId>
              </a:tblPr>
              <a:tblGrid>
                <a:gridCol w="2148840"/>
                <a:gridCol w="4160520"/>
                <a:gridCol w="4160520"/>
              </a:tblGrid>
              <a:tr h="685800">
                <a:tc>
                  <a:txBody>
                    <a:bodyPr/>
                    <a:lstStyle/>
                    <a:p>
                      <a:pPr>
                        <a:lnSpc>
                          <a:spcPct val="108000"/>
                        </a:lnSpc>
                        <a:spcAft>
                          <a:spcPts val="0"/>
                        </a:spcAft>
                      </a:pP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文章生成</a:t>
                      </a:r>
                    </a:p>
                  </a:txBody>
                  <a:tcPr marL="91440" marR="91440" anchor="ctr">
                    <a:solidFill>
                      <a:srgbClr val="EAF2F6"/>
                    </a:solidFill>
                  </a:tcPr>
                </a:tc>
                <a:tc>
                  <a:txBody>
                    <a:bodyPr/>
                    <a:lstStyle/>
                    <a:p>
                      <a:pPr>
                        <a:lnSpc>
                          <a:spcPct val="108000"/>
                        </a:lnSpc>
                        <a:spcAft>
                          <a:spcPts val="0"/>
                        </a:spcAft>
                      </a:pPr>
                      <a:r>
                        <a:rPr sz="2000" b="1" lang="ja-JP" altLang="en-US">
                          <a:solidFill>
                            <a:srgbClr val="111111"/>
                          </a:solidFill>
                          <a:latin typeface="游ゴシック"/>
                          <a:ea typeface="游ゴシック"/>
                        </a:rPr>
                        <a:t>加算seq2seq</a:t>
                      </a:r>
                    </a:p>
                  </a:txBody>
                  <a:tcPr marL="91440" marR="91440" anchor="ctr">
                    <a:solidFill>
                      <a:srgbClr val="EAF2F6"/>
                    </a:solidFill>
                  </a:tcPr>
                </a:tc>
              </a:tr>
              <a:tr h="685800">
                <a:tc>
                  <a:txBody>
                    <a:bodyPr/>
                    <a:lstStyle/>
                    <a:p>
                      <a:pPr>
                        <a:lnSpc>
                          <a:spcPct val="108000"/>
                        </a:lnSpc>
                        <a:spcAft>
                          <a:spcPts val="0"/>
                        </a:spcAft>
                      </a:pPr>
                      <a:r>
                        <a:rPr sz="2000" b="0" lang="ja-JP" altLang="en-US">
                          <a:solidFill>
                            <a:srgbClr val="111111"/>
                          </a:solidFill>
                          <a:latin typeface="游ゴシック"/>
                          <a:ea typeface="游ゴシック"/>
                        </a:rPr>
                        <a:t>選ぶ単位</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単語</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文字</a:t>
                      </a:r>
                    </a:p>
                  </a:txBody>
                  <a:tcPr marL="91440" marR="91440" anchor="ctr">
                    <a:solidFill>
                      <a:srgbClr val="FFFFFF"/>
                    </a:solidFill>
                  </a:tcPr>
                </a:tc>
              </a:tr>
              <a:tr h="685800">
                <a:tc>
                  <a:txBody>
                    <a:bodyPr/>
                    <a:lstStyle/>
                    <a:p>
                      <a:pPr>
                        <a:lnSpc>
                          <a:spcPct val="108000"/>
                        </a:lnSpc>
                        <a:spcAft>
                          <a:spcPts val="0"/>
                        </a:spcAft>
                      </a:pPr>
                      <a:r>
                        <a:rPr sz="2000" b="0" lang="ja-JP" altLang="en-US">
                          <a:solidFill>
                            <a:srgbClr val="111111"/>
                          </a:solidFill>
                          <a:latin typeface="游ゴシック"/>
                          <a:ea typeface="游ゴシック"/>
                        </a:rPr>
                        <a:t>実装</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np.random.choice(..., p=p)</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np.argmax(score.flatten())</a:t>
                      </a:r>
                    </a:p>
                  </a:txBody>
                  <a:tcPr marL="91440" marR="91440" anchor="ctr">
                    <a:solidFill>
                      <a:srgbClr val="FFFFFF"/>
                    </a:solidFill>
                  </a:tcPr>
                </a:tc>
              </a:tr>
              <a:tr h="685800">
                <a:tc>
                  <a:txBody>
                    <a:bodyPr/>
                    <a:lstStyle/>
                    <a:p>
                      <a:pPr>
                        <a:lnSpc>
                          <a:spcPct val="108000"/>
                        </a:lnSpc>
                        <a:spcAft>
                          <a:spcPts val="0"/>
                        </a:spcAft>
                      </a:pPr>
                      <a:r>
                        <a:rPr sz="2000" b="0" lang="ja-JP" altLang="en-US">
                          <a:solidFill>
                            <a:srgbClr val="111111"/>
                          </a:solidFill>
                          <a:latin typeface="游ゴシック"/>
                          <a:ea typeface="游ゴシック"/>
                        </a:rPr>
                        <a:t>同じ条件での生成</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確率的に変化する</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状態と重みが同じなら一定</a:t>
                      </a:r>
                    </a:p>
                  </a:txBody>
                  <a:tcPr marL="91440" marR="91440" anchor="ctr">
                    <a:solidFill>
                      <a:srgbClr val="FFFFFF"/>
                    </a:solidFill>
                  </a:tcPr>
                </a:tc>
              </a:tr>
              <a:tr h="685800">
                <a:tc>
                  <a:txBody>
                    <a:bodyPr/>
                    <a:lstStyle/>
                    <a:p>
                      <a:pPr>
                        <a:lnSpc>
                          <a:spcPct val="108000"/>
                        </a:lnSpc>
                        <a:spcAft>
                          <a:spcPts val="0"/>
                        </a:spcAft>
                      </a:pPr>
                      <a:r>
                        <a:rPr sz="2000" b="0" lang="ja-JP" altLang="en-US">
                          <a:solidFill>
                            <a:srgbClr val="111111"/>
                          </a:solidFill>
                          <a:latin typeface="游ゴシック"/>
                          <a:ea typeface="游ゴシック"/>
                        </a:rPr>
                        <a:t>正解の扱い</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自然な続きは多数ある</a:t>
                      </a:r>
                    </a:p>
                  </a:txBody>
                  <a:tcPr marL="91440" marR="91440" anchor="ctr">
                    <a:solidFill>
                      <a:srgbClr val="FFFFFF"/>
                    </a:solidFill>
                  </a:tcPr>
                </a:tc>
                <a:tc>
                  <a:txBody>
                    <a:bodyPr/>
                    <a:lstStyle/>
                    <a:p>
                      <a:pPr>
                        <a:lnSpc>
                          <a:spcPct val="108000"/>
                        </a:lnSpc>
                        <a:spcAft>
                          <a:spcPts val="0"/>
                        </a:spcAft>
                      </a:pPr>
                      <a:r>
                        <a:rPr sz="2000" b="0" lang="ja-JP" altLang="en-US">
                          <a:solidFill>
                            <a:srgbClr val="111111"/>
                          </a:solidFill>
                          <a:latin typeface="游ゴシック"/>
                          <a:ea typeface="游ゴシック"/>
                        </a:rPr>
                        <a:t>答え全体の完全一致を調べる</a:t>
                      </a:r>
                    </a:p>
                  </a:txBody>
                  <a:tcPr marL="91440" marR="91440" anchor="ctr">
                    <a:solidFill>
                      <a:srgbClr val="FFFF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93115" y="423367"/>
            <a:ext cx="10789920" cy="585216"/>
          </a:xfrm>
          <a:prstGeom prst="rect">
            <a:avLst/>
          </a:prstGeom>
          <a:noFill/>
        </p:spPr>
        <p:txBody>
          <a:bodyPr wrap="square" lIns="54864" rIns="54864" tIns="54864" bIns="54864">
            <a:spAutoFit/>
          </a:bodyPr>
          <a:lstStyle/>
          <a:p>
            <a:pPr algn="l">
              <a:lnSpc>
                <a:spcPct val="108000"/>
              </a:lnSpc>
              <a:spcBef>
                <a:spcPts val="0"/>
              </a:spcBef>
              <a:spcAft>
                <a:spcPts val="400"/>
              </a:spcAft>
            </a:pPr>
            <a:r>
              <a:rPr sz="3200" b="0" lang="ja-JP" altLang="en-US">
                <a:solidFill>
                  <a:srgbClr val="111111"/>
                </a:solidFill>
                <a:latin typeface="游ゴシック"/>
                <a:ea typeface="游ゴシック"/>
              </a:rPr>
              <a:t>補足⑥ 結果の限界</a:t>
            </a:r>
          </a:p>
        </p:txBody>
      </p:sp>
      <p:sp>
        <p:nvSpPr>
          <p:cNvPr id="3" name="TextBox 2"/>
          <p:cNvSpPr txBox="1"/>
          <p:nvPr/>
        </p:nvSpPr>
        <p:spPr>
          <a:xfrm>
            <a:off x="925372" y="1016812"/>
            <a:ext cx="10378440" cy="621792"/>
          </a:xfrm>
          <a:prstGeom prst="rect">
            <a:avLst/>
          </a:prstGeom>
          <a:noFill/>
        </p:spPr>
        <p:txBody>
          <a:bodyPr wrap="square" lIns="54864" rIns="54864" tIns="54864" bIns="54864">
            <a:spAutoFit/>
          </a:bodyPr>
          <a:lstStyle/>
          <a:p>
            <a:pPr algn="l">
              <a:lnSpc>
                <a:spcPct val="108000"/>
              </a:lnSpc>
              <a:spcBef>
                <a:spcPts val="0"/>
              </a:spcBef>
              <a:spcAft>
                <a:spcPts val="400"/>
              </a:spcAft>
            </a:pPr>
            <a:r>
              <a:rPr sz="2800" b="0" lang="ja-JP" altLang="en-US">
                <a:solidFill>
                  <a:srgbClr val="111111"/>
                </a:solidFill>
                <a:latin typeface="游ゴシック"/>
                <a:ea typeface="游ゴシック"/>
              </a:rPr>
              <a:t>98.80%でも、加算規則の完全獲得ではない</a:t>
            </a:r>
          </a:p>
        </p:txBody>
      </p:sp>
      <p:sp>
        <p:nvSpPr>
          <p:cNvPr id="4" name="TextBox 3"/>
          <p:cNvSpPr txBox="1"/>
          <p:nvPr/>
        </p:nvSpPr>
        <p:spPr>
          <a:xfrm>
            <a:off x="10698480" y="6455664"/>
            <a:ext cx="594360" cy="246888"/>
          </a:xfrm>
          <a:prstGeom prst="rect">
            <a:avLst/>
          </a:prstGeom>
          <a:noFill/>
        </p:spPr>
        <p:txBody>
          <a:bodyPr wrap="square" lIns="0" rIns="0" tIns="0" bIns="0">
            <a:spAutoFit/>
          </a:bodyPr>
          <a:lstStyle/>
          <a:p>
            <a:pPr algn="r">
              <a:lnSpc>
                <a:spcPct val="108000"/>
              </a:lnSpc>
              <a:spcBef>
                <a:spcPts val="0"/>
              </a:spcBef>
              <a:spcAft>
                <a:spcPts val="400"/>
              </a:spcAft>
            </a:pPr>
            <a:r>
              <a:rPr sz="1100" b="0" lang="ja-JP" altLang="en-US">
                <a:solidFill>
                  <a:srgbClr val="666666"/>
                </a:solidFill>
                <a:latin typeface="游ゴシック"/>
                <a:ea typeface="游ゴシック"/>
              </a:rPr>
              <a:t>66</a:t>
            </a:r>
          </a:p>
        </p:txBody>
      </p:sp>
      <p:sp>
        <p:nvSpPr>
          <p:cNvPr id="5" name="TextBox 4"/>
          <p:cNvSpPr txBox="1"/>
          <p:nvPr/>
        </p:nvSpPr>
        <p:spPr>
          <a:xfrm>
            <a:off x="868680" y="2057400"/>
            <a:ext cx="10424160" cy="841248"/>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今回のPeeky：5,000問中4,940問が正解、60問が不正解</a:t>
            </a:r>
          </a:p>
        </p:txBody>
      </p:sp>
      <p:sp>
        <p:nvSpPr>
          <p:cNvPr id="6" name="TextBox 5"/>
          <p:cNvSpPr txBox="1"/>
          <p:nvPr/>
        </p:nvSpPr>
        <p:spPr>
          <a:xfrm>
            <a:off x="868680" y="3008376"/>
            <a:ext cx="10424160" cy="841248"/>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未知の桁数や、長い計算式への一般化は測定していない</a:t>
            </a:r>
          </a:p>
        </p:txBody>
      </p:sp>
      <p:sp>
        <p:nvSpPr>
          <p:cNvPr id="7" name="TextBox 6"/>
          <p:cNvSpPr txBox="1"/>
          <p:nvPr/>
        </p:nvSpPr>
        <p:spPr>
          <a:xfrm>
            <a:off x="868680" y="3959352"/>
            <a:ext cx="10424160" cy="841248"/>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「文章・文字列を生成できる」と「意味や規則を完全に理解する」は別</a:t>
            </a:r>
          </a:p>
        </p:txBody>
      </p:sp>
      <p:sp>
        <p:nvSpPr>
          <p:cNvPr id="8" name="TextBox 7"/>
          <p:cNvSpPr txBox="1"/>
          <p:nvPr/>
        </p:nvSpPr>
        <p:spPr>
          <a:xfrm>
            <a:off x="868680" y="4910328"/>
            <a:ext cx="10424160" cy="841248"/>
          </a:xfrm>
          <a:prstGeom prst="rect">
            <a:avLst/>
          </a:prstGeom>
          <a:noFill/>
        </p:spPr>
        <p:txBody>
          <a:bodyPr wrap="square" lIns="54864" rIns="54864" tIns="54864" bIns="54864">
            <a:spAutoFit/>
          </a:bodyPr>
          <a:lstStyle/>
          <a:p>
            <a:pPr algn="l">
              <a:lnSpc>
                <a:spcPct val="108000"/>
              </a:lnSpc>
              <a:spcBef>
                <a:spcPts val="0"/>
              </a:spcBef>
              <a:spcAft>
                <a:spcPts val="400"/>
              </a:spcAft>
            </a:pPr>
            <a:r>
              <a:rPr sz="2400" b="0" lang="ja-JP" altLang="en-US">
                <a:solidFill>
                  <a:srgbClr val="111111"/>
                </a:solidFill>
                <a:latin typeface="游ゴシック"/>
                <a:ea typeface="游ゴシック"/>
              </a:rPr>
              <a:t>固定長hの限界を踏まえ、次章のAttentionへ進む</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2274</TotalTime>
  <Words>12346</Words>
  <Application>Microsoft Office PowerPoint</Application>
  <PresentationFormat>ワイド画面</PresentationFormat>
  <Paragraphs>993</Paragraphs>
  <Slides>49</Slides>
  <Notes>49</Notes>
  <HiddenSlides>14</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49</vt:i4>
      </vt:variant>
    </vt:vector>
  </HeadingPairs>
  <TitlesOfParts>
    <vt:vector size="58" baseType="lpstr">
      <vt:lpstr>Yu Gothic</vt:lpstr>
      <vt:lpstr>Yu Gothic</vt:lpstr>
      <vt:lpstr>游ゴシック Light</vt:lpstr>
      <vt:lpstr>游ゴシック 本文</vt:lpstr>
      <vt:lpstr>Arial</vt:lpstr>
      <vt:lpstr>Cambria Math</vt:lpstr>
      <vt:lpstr>Consolas</vt:lpstr>
      <vt:lpstr>Wingdings 3</vt:lpstr>
      <vt:lpstr>Office テーマ</vt:lpstr>
      <vt:lpstr>ゼロから作るDeep Learning2</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RNNによる文章生成｜ゼロから作るDeep Learning 2</dc:title>
  <dc:creator/>
  <cp:lastModifiedBy>小林 雅樹</cp:lastModifiedBy>
  <cp:revision>153</cp:revision>
  <dcterms:created xsi:type="dcterms:W3CDTF">2026-04-29T02:00:42Z</dcterms:created>
  <dcterms:modified xsi:type="dcterms:W3CDTF">2026-10-14T07:13:45Z</dcterms:modified>
  <dc:subject>文章生成・seq2seq・Reverse・Peekyと実行結果</dc:subject>
  <cp:keywords>Deep Learning 2, chapter 7, seq2seq, Reverse, Peeky</cp:keywords>
  <dc:description>添付資料のテーマ・マスターを継承。説明図は編集可能な図形として再構成。</dc:description>
</cp:coreProperties>
</file>