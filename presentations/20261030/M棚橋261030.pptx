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7" r:id="rId2"/>
    <p:sldId id="258" r:id="rId10"/>
    <p:sldId id="259" r:id="rId9"/>
    <p:sldId id="260" r:id="rId8"/>
    <p:sldId id="261" r:id="rId7"/>
    <p:sldId id="262" r:id="rId6"/>
    <p:sldId id="263" r:id="rId5"/>
    <p:sldId id="264" r:id="rId4"/>
    <p:sldId id="265" r:id="rId3"/>
    <p:sldId id="266" r:id="rId18"/>
    <p:sldId id="267" r:id="rId19"/>
    <p:sldId id="268" r:id="rId20"/>
    <p:sldId id="269" r:id="rId2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BE2869-E403-47DB-89D0-83537AE937C6}" v="19" dt="2026-10-28T05:50:45.7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5131" autoAdjust="0"/>
  </p:normalViewPr>
  <p:slideViewPr>
    <p:cSldViewPr snapToGrid="0">
      <p:cViewPr varScale="1">
        <p:scale>
          <a:sx n="62" d="100"/>
          <a:sy n="62" d="100"/>
        </p:scale>
        <p:origin x="148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9.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6/11/relationships/changesInfo" Target="changesInfos/changesInfo1.xml"/><Relationship Id="rId17" Type="http://schemas.microsoft.com/office/2015/10/relationships/revisionInfo" Target="revisionInfo.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棚橋 悠" userId="f3c09411-34a9-4835-8e43-5684b6f51eff" providerId="ADAL" clId="{DED865D9-4E0A-4155-974A-B1204924A961}"/>
    <pc:docChg chg="custSel addSld delSld modSld">
      <pc:chgData name="棚橋 悠" userId="f3c09411-34a9-4835-8e43-5684b6f51eff" providerId="ADAL" clId="{DED865D9-4E0A-4155-974A-B1204924A961}" dt="2026-10-28T05:50:47.306" v="270" actId="47"/>
      <pc:docMkLst>
        <pc:docMk/>
      </pc:docMkLst>
      <pc:sldChg chg="addSp modSp modNotesTx">
        <pc:chgData name="棚橋 悠" userId="f3c09411-34a9-4835-8e43-5684b6f51eff" providerId="ADAL" clId="{DED865D9-4E0A-4155-974A-B1204924A961}" dt="2026-10-23T06:56:07.433" v="19" actId="20577"/>
        <pc:sldMkLst>
          <pc:docMk/>
          <pc:sldMk cId="3248727996" sldId="259"/>
        </pc:sldMkLst>
        <pc:spChg chg="mod">
          <ac:chgData name="棚橋 悠" userId="f3c09411-34a9-4835-8e43-5684b6f51eff" providerId="ADAL" clId="{DED865D9-4E0A-4155-974A-B1204924A961}" dt="2026-10-23T04:21:37.464" v="0"/>
          <ac:spMkLst>
            <pc:docMk/>
            <pc:sldMk cId="3248727996" sldId="259"/>
            <ac:spMk id="3" creationId="{993F4BF6-BEF4-BF6E-7FCF-9CCE590F1935}"/>
          </ac:spMkLst>
        </pc:spChg>
        <pc:picChg chg="add">
          <ac:chgData name="棚橋 悠" userId="f3c09411-34a9-4835-8e43-5684b6f51eff" providerId="ADAL" clId="{DED865D9-4E0A-4155-974A-B1204924A961}" dt="2026-10-23T04:22:03.145" v="1"/>
          <ac:picMkLst>
            <pc:docMk/>
            <pc:sldMk cId="3248727996" sldId="259"/>
            <ac:picMk id="5" creationId="{B122516F-ED5C-1973-B359-9DF2F04B9D2E}"/>
          </ac:picMkLst>
        </pc:picChg>
      </pc:sldChg>
      <pc:sldChg chg="addSp modSp modNotesTx">
        <pc:chgData name="棚橋 悠" userId="f3c09411-34a9-4835-8e43-5684b6f51eff" providerId="ADAL" clId="{DED865D9-4E0A-4155-974A-B1204924A961}" dt="2026-10-23T06:56:31.424" v="21" actId="20577"/>
        <pc:sldMkLst>
          <pc:docMk/>
          <pc:sldMk cId="518683289" sldId="260"/>
        </pc:sldMkLst>
        <pc:spChg chg="mod">
          <ac:chgData name="棚橋 悠" userId="f3c09411-34a9-4835-8e43-5684b6f51eff" providerId="ADAL" clId="{DED865D9-4E0A-4155-974A-B1204924A961}" dt="2026-10-23T04:46:17.443" v="2"/>
          <ac:spMkLst>
            <pc:docMk/>
            <pc:sldMk cId="518683289" sldId="260"/>
            <ac:spMk id="2" creationId="{A958D60C-C334-DF40-8091-65D2B325280A}"/>
          </ac:spMkLst>
        </pc:spChg>
        <pc:picChg chg="add">
          <ac:chgData name="棚橋 悠" userId="f3c09411-34a9-4835-8e43-5684b6f51eff" providerId="ADAL" clId="{DED865D9-4E0A-4155-974A-B1204924A961}" dt="2026-10-23T04:50:28.528" v="3"/>
          <ac:picMkLst>
            <pc:docMk/>
            <pc:sldMk cId="518683289" sldId="260"/>
            <ac:picMk id="5" creationId="{B86F0373-7813-8E3F-8E62-D021E83C8AAA}"/>
          </ac:picMkLst>
        </pc:picChg>
      </pc:sldChg>
      <pc:sldChg chg="addSp delSp modSp modNotesTx">
        <pc:chgData name="棚橋 悠" userId="f3c09411-34a9-4835-8e43-5684b6f51eff" providerId="ADAL" clId="{DED865D9-4E0A-4155-974A-B1204924A961}" dt="2026-10-23T06:56:51.585" v="27" actId="20577"/>
        <pc:sldMkLst>
          <pc:docMk/>
          <pc:sldMk cId="3320858306" sldId="261"/>
        </pc:sldMkLst>
        <pc:picChg chg="add mod">
          <ac:chgData name="棚橋 悠" userId="f3c09411-34a9-4835-8e43-5684b6f51eff" providerId="ADAL" clId="{DED865D9-4E0A-4155-974A-B1204924A961}" dt="2026-10-23T04:51:01.133" v="4"/>
          <ac:picMkLst>
            <pc:docMk/>
            <pc:sldMk cId="3320858306" sldId="261"/>
            <ac:picMk id="5" creationId="{DF7ECB40-15F1-919E-B22F-D24E75141D09}"/>
          </ac:picMkLst>
        </pc:picChg>
      </pc:sldChg>
      <pc:sldChg chg="addSp modSp modNotesTx">
        <pc:chgData name="棚橋 悠" userId="f3c09411-34a9-4835-8e43-5684b6f51eff" providerId="ADAL" clId="{DED865D9-4E0A-4155-974A-B1204924A961}" dt="2026-10-23T06:57:51.307" v="34" actId="20577"/>
        <pc:sldMkLst>
          <pc:docMk/>
          <pc:sldMk cId="3261200730" sldId="262"/>
        </pc:sldMkLst>
        <pc:spChg chg="mod">
          <ac:chgData name="棚橋 悠" userId="f3c09411-34a9-4835-8e43-5684b6f51eff" providerId="ADAL" clId="{DED865D9-4E0A-4155-974A-B1204924A961}" dt="2026-10-23T05:06:58.692" v="5"/>
          <ac:spMkLst>
            <pc:docMk/>
            <pc:sldMk cId="3261200730" sldId="262"/>
            <ac:spMk id="2" creationId="{36280A13-882F-3F19-F41A-DE9B5AD25B3F}"/>
          </ac:spMkLst>
        </pc:spChg>
        <pc:picChg chg="add">
          <ac:chgData name="棚橋 悠" userId="f3c09411-34a9-4835-8e43-5684b6f51eff" providerId="ADAL" clId="{DED865D9-4E0A-4155-974A-B1204924A961}" dt="2026-10-23T05:12:06.592" v="6"/>
          <ac:picMkLst>
            <pc:docMk/>
            <pc:sldMk cId="3261200730" sldId="262"/>
            <ac:picMk id="5" creationId="{5D939A76-AD5E-5385-4D74-04C0E3430B93}"/>
          </ac:picMkLst>
        </pc:picChg>
      </pc:sldChg>
      <pc:sldChg chg="addSp modSp modNotesTx">
        <pc:chgData name="棚橋 悠" userId="f3c09411-34a9-4835-8e43-5684b6f51eff" providerId="ADAL" clId="{DED865D9-4E0A-4155-974A-B1204924A961}" dt="2026-10-23T09:00:49.246" v="268" actId="20577"/>
        <pc:sldMkLst>
          <pc:docMk/>
          <pc:sldMk cId="240626316" sldId="263"/>
        </pc:sldMkLst>
        <pc:spChg chg="mod">
          <ac:chgData name="棚橋 悠" userId="f3c09411-34a9-4835-8e43-5684b6f51eff" providerId="ADAL" clId="{DED865D9-4E0A-4155-974A-B1204924A961}" dt="2026-10-23T05:42:56.319" v="7"/>
          <ac:spMkLst>
            <pc:docMk/>
            <pc:sldMk cId="240626316" sldId="263"/>
            <ac:spMk id="2" creationId="{132D0B27-DE30-521B-F3B4-6E267DC0694F}"/>
          </ac:spMkLst>
        </pc:spChg>
        <pc:spChg chg="mod">
          <ac:chgData name="棚橋 悠" userId="f3c09411-34a9-4835-8e43-5684b6f51eff" providerId="ADAL" clId="{DED865D9-4E0A-4155-974A-B1204924A961}" dt="2026-10-23T05:45:52.141" v="9"/>
          <ac:spMkLst>
            <pc:docMk/>
            <pc:sldMk cId="240626316" sldId="263"/>
            <ac:spMk id="3" creationId="{55E2C91E-31E6-BBA5-5A12-7E19B05716A1}"/>
          </ac:spMkLst>
        </pc:spChg>
        <pc:picChg chg="add">
          <ac:chgData name="棚橋 悠" userId="f3c09411-34a9-4835-8e43-5684b6f51eff" providerId="ADAL" clId="{DED865D9-4E0A-4155-974A-B1204924A961}" dt="2026-10-23T05:46:52.219" v="10"/>
          <ac:picMkLst>
            <pc:docMk/>
            <pc:sldMk cId="240626316" sldId="263"/>
            <ac:picMk id="5" creationId="{0105924B-C93B-D457-CEB6-5DA4864588FF}"/>
          </ac:picMkLst>
        </pc:picChg>
      </pc:sldChg>
      <pc:sldChg chg="modSp modNotesTx">
        <pc:chgData name="棚橋 悠" userId="f3c09411-34a9-4835-8e43-5684b6f51eff" providerId="ADAL" clId="{DED865D9-4E0A-4155-974A-B1204924A961}" dt="2026-10-23T06:57:18.266" v="33" actId="20577"/>
        <pc:sldMkLst>
          <pc:docMk/>
          <pc:sldMk cId="1926280842" sldId="265"/>
        </pc:sldMkLst>
        <pc:spChg chg="mod">
          <ac:chgData name="棚橋 悠" userId="f3c09411-34a9-4835-8e43-5684b6f51eff" providerId="ADAL" clId="{DED865D9-4E0A-4155-974A-B1204924A961}" dt="2026-10-23T06:42:38.632" v="11"/>
          <ac:spMkLst>
            <pc:docMk/>
            <pc:sldMk cId="1926280842" sldId="265"/>
            <ac:spMk id="2" creationId="{408EB29E-58D0-5B07-6649-20EF26D1BFE1}"/>
          </ac:spMkLst>
        </pc:spChg>
      </pc:sldChg>
      <pc:sldChg chg="add del">
        <pc:chgData name="棚橋 悠" userId="f3c09411-34a9-4835-8e43-5684b6f51eff" providerId="ADAL" clId="{DED865D9-4E0A-4155-974A-B1204924A961}" dt="2026-10-28T05:50:47.306" v="270" actId="47"/>
        <pc:sldMkLst>
          <pc:docMk/>
          <pc:sldMk cId="231164087"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11F1D5-E74B-45F3-85C5-E5DB6784AACD}" type="datetimeFigureOut">
              <a:rPr kumimoji="1" lang="ja-JP" altLang="en-US" smtClean="0"/>
              <a:t>2026/10/28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09318C-E642-4546-9687-319ACDBB0ECC}" type="slidenum">
              <a:rPr kumimoji="1" lang="ja-JP" altLang="en-US" smtClean="0"/>
              <a:t>‹#›</a:t>
            </a:fld>
            <a:endParaRPr kumimoji="1" lang="ja-JP" altLang="en-US"/>
          </a:p>
        </p:txBody>
      </p:sp>
    </p:spTree>
    <p:extLst>
      <p:ext uri="{BB962C8B-B14F-4D97-AF65-F5344CB8AC3E}">
        <p14:creationId xmlns:p14="http://schemas.microsoft.com/office/powerpoint/2010/main" val="200177667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今週は、これまでの認識処理を、5回裏の動画全体にまとめて適用しました。今回の結果から、投球に試合状況を付けて記録できたことと、投球の結果を判断するには表示を確認する時刻が重要だということを報告します。</a:t>
            </a:r>
          </a:p>
        </p:txBody>
      </p:sp>
      <p:sp>
        <p:nvSpPr>
          <p:cNvPr id="4" name="スライド番号プレースホルダー 3"/>
          <p:cNvSpPr>
            <a:spLocks noGrp="1"/>
          </p:cNvSpPr>
          <p:nvPr>
            <p:ph type="sldNum" sz="quarter" idx="5"/>
          </p:nvPr>
        </p:nvSpPr>
        <p:spPr/>
        <p:txBody>
          <a:bodyPr/>
          <a:lstStyle/>
          <a:p>
            <a:fld id="{5318FE2C-F947-4DA5-B094-AF85F882C6C1}" type="slidenum">
              <a:rPr kumimoji="1" lang="ja-JP" altLang="en-US" smtClean="0"/>
              <a:t>1</a:t>
            </a:fld>
            <a:endParaRPr kumimoji="1" lang="ja-JP" altLang="en-US"/>
          </a:p>
        </p:txBody>
      </p:sp>
    </p:spTree>
    <p:extLst>
      <p:ext uri="{BB962C8B-B14F-4D97-AF65-F5344CB8AC3E}">
        <p14:creationId xmlns:p14="http://schemas.microsoft.com/office/powerpoint/2010/main" val="217327575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回、まずいえるのは、検出した投球場面に、カウントや走者、回、得点をまとめて付けて記録できたことです。一方、投球直後のカウントが変わらなくても、それだけでファウルとは判断できませんでした。また、投球の候補が見つかっても、その前後の表示が不足すると、結果を判断できない場面がありました。今回は、この3点を具体的な場面で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つ目は、どんな状況の投球かを記録できたことです。この場面では、投球と予測した区間に、5回裏、同点、一塁走者あり、2アウトという情報を付けられました。投球前は2ボール0ストライクで、投球後に取得した表示は2ボール1ストライクでした。これにより、この状況で投球があり、その後にストライク表示が増えたという流れを、一つの記録として確認できています。YOLOによるカウントと走者、OCRによる回と得点、VideoMAEによる投球区間を組み合わせたことで、投球の時間と試合状況を結び付けられ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つ目は、投球直後の表示だけでは結果を決められないことです。この場面では、投球前と直後の158.0秒は、どちらも0ボール2ストライク1アウトでした。ここだけ見ると、2ストライク後にカウントが変わらないため、ファウルの確認対象になります。しかし、161.5秒の表示は1ボール2ストライク1アウトでした。少し後まで確認すると、ボールが増えた状態を取得しています。この例から、直後に変化がないことを、そのまま最終的な結果として扱わない必要があると分か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の処理は、同じカウントが連続2回得られると、安定した値として採用しています。ただ、先ほどの場面では、158.0秒と158.5秒に同じ値が続いていましたが、その後の161.5秒には値が変わっていました。同じ表示が続いたことと、その表示が今回の投球後の状態に更新されていることは、別の確認が必要です。次の改善では、連続して同じ値が得られたかに加えて、今回の投球後の表示として採用してよいかを検討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つ目は、投球を検出できても、表示が欠けると結果を判断できないことです。この場面では、367.0秒の投球付近にカウントと走者の表示がありますが、370.0秒には守備側へカメラが切り替わり、スコアボードが映っていません。そのため、投球後にどのように状況が変わったかを、表示だけでは比較できません。表示が消える問題自体は以前からありましたが、今回、投球検出と組み合わせても前後の情報が不足する場面が残りました。このような場面は、誤った結果を決めず、保留に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得点についても、何が分かり、何がまだ分からないかを分ける必要があります。367.0秒には0対0、436.5秒には0対1という表示を取得し、それぞれの付近の投球候補にカウントや走者も付けて記録できました。ただし、その間の表示に欠けた部分があるため、どの投球で得点したかまでは特定していません。得点が変わったことを記録する段階から、得点につながった投球やプレーを特定するには、途中の映像や表示も対応付け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回のまとめです。投球区間と表示認識を組み合わせることで、検出した投球に、そのときの試合状況を付けて記録できました。その一方で、投球の結果を決めるには、表示が取得できることに加え、その表示を確認する時刻が重要だと分かりました。特に、カウント不変という条件は、ファウルとして確定する条件にはまだなっていません。今週は、情報を一緒に記録するところまで進み、正しいイベント判定へつなげるために必要な確認を具体化できました。</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来週は、まず実際の投球区間と結果を目視で記録し、正解を用意します。次に、投球直後の古い表示を採用していないかを確認し、表示の再出現や、投球後の映像を使う方法を検討します。ファウルではカウントが変わらないため、単に値が変わるまで待つ方法にはしません。そのうえで、投球を正しく見つけられたかと、その結果を正しく判断できたかを分けて評価し、別の動画でも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体の適用結果です。投球区間の候補は65区間で、重なりを表示上まとめると34候補群でした。34は実際の投球数を確定した値ではありません。上から、投球区間候補、B/S/O、走者、得点を同じ時刻で並べています。走者欄の黄色はあり、灰色はなしと認識した時刻で、白は未取得です。このように、投球だけでなく、その付近の試合状況も同じ時系列で追える形にしました。読み取れない場所は、0や走者なしで埋めて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候補群のうち、前後のB/S/Oを照合できたものは11候補群でした。そのうち9候補群では、B/S/Oに加えて、回と表裏、両チームの得点、各塁の走者の認識値も前後で揃いました。残りの2候補群は、OCRの項目が一部取得できていません。前後のB/S/Oが不足したものは23候補群でした。これは、全処理を適用したときに必要な項目が揃った数であり、9候補群で正しくイベントを判定できたという意味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ほかの全項目が揃った例では、19.86秒から22.01秒と、44.07秒から46.34秒に対応してストライク表示が増え、33.66秒から35.91秒ではボール表示が増えました。前後のB/S/Oを照合できた11候補群の内訳は、ストライク表示増加3、ボール表示増加1、2ストライク未満で不変5、2ストライクで不変2です。最後の不変2は元の最初の安定状態を使った整理で、後の時刻を追うと候補11ではボール表示が増えています。これは結果の一貫性を調べた追加確認で、正解注釈に基づく分類精度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月には静止画上のカウントや走者を対象に適合率と再現率を確認しました。10月の短編10動画24球では、目視の参考区間に対する選んだ投球候補の平均tIoUが0.711でした。今回の9候補群や23候補群は、同じ動画に全処理を適用したときの項目の取得状況を数えたものです。対象や数えているものが異なるため、前の精度より良くなったか悪くなったかは比較できません。今回の正解注釈を作り、投球区間とイベントの対応付けをそれぞれ評価する必要があ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69C2F7-32A7-E77D-FF89-AEB39C103444}"/>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2900B1C6-8266-7636-2BBB-5B1E796A10B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295C5E-634A-BC18-9431-03C076813920}"/>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761E5B27-8E78-98A3-3DF9-AA87D46AF2F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A0144E-1D81-9787-A84B-A9BB5101374A}"/>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42521402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C46081-6D08-89DC-F2BB-AFB1AA9E59C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CE9D522-28F3-567C-38FC-5A83558FC6B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03D133A-AEA8-E84E-0074-C44808188044}"/>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4C30F6DF-734E-7FAF-7A84-435456ACDD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47C636B-F67B-2B5C-C9D2-31E9937AC93D}"/>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32337908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8EA028-BF06-B8C9-36B3-81F30E60961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A2474DC-44B6-4A6B-3207-D65FFBE897C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CAC68B4-5F82-D34C-E554-E9FF46A646D5}"/>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8FEF8979-440B-3283-E884-694F6569B5A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DCB13F6-3F3E-4B82-5DCD-A6D29C9AB436}"/>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2676003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4E7875-0E5F-028A-88E4-C9598B26FA2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96DBAEE-3523-B4BE-3DC9-9CC01F1E65F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D305D08-F027-9C45-51A9-6F414AE725A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86AD949-D9EA-285D-2C61-F5962E3A4DA7}"/>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6" name="フッター プレースホルダー 5">
            <a:extLst>
              <a:ext uri="{FF2B5EF4-FFF2-40B4-BE49-F238E27FC236}">
                <a16:creationId xmlns:a16="http://schemas.microsoft.com/office/drawing/2014/main" id="{5F048EC2-8399-00EE-CF05-CFB49C138B2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785F390-05B4-82BE-C568-9F526A2D40C3}"/>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21589465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BEACA1-6C9C-9F7B-2052-A3968C9D6A8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7844591-B8E4-696B-39AB-50B33B042B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E37212C0-50F2-D17F-D8CA-0A2EF52941D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320E4089-1298-5F02-9DF6-57342C5837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F5A97BBA-81FF-7770-1280-B597C004A14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B2938882-06E9-F165-48CA-EE710557409D}"/>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8" name="フッター プレースホルダー 7">
            <a:extLst>
              <a:ext uri="{FF2B5EF4-FFF2-40B4-BE49-F238E27FC236}">
                <a16:creationId xmlns:a16="http://schemas.microsoft.com/office/drawing/2014/main" id="{1D334443-9F0C-E088-615F-FC339749AF66}"/>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45D031A-9544-3674-DDED-19E6187A9D61}"/>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11872627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622EEA-B043-888A-BA74-84BB885744DB}"/>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8B93EF72-DF15-FAD0-E4A7-6E54B26A3813}"/>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4" name="フッター プレースホルダー 3">
            <a:extLst>
              <a:ext uri="{FF2B5EF4-FFF2-40B4-BE49-F238E27FC236}">
                <a16:creationId xmlns:a16="http://schemas.microsoft.com/office/drawing/2014/main" id="{296B4984-8CE5-B5D7-4990-6A789BE5B33E}"/>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6727F94-0B3E-7FD7-1CBE-AB73B3EB0AB8}"/>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14658933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28AEA0A-BB00-9A3A-CECC-04E1444942A4}"/>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3" name="フッター プレースホルダー 2">
            <a:extLst>
              <a:ext uri="{FF2B5EF4-FFF2-40B4-BE49-F238E27FC236}">
                <a16:creationId xmlns:a16="http://schemas.microsoft.com/office/drawing/2014/main" id="{4254C64C-3CDF-FE97-681F-75F41DBA8C68}"/>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07302B4-CAA2-E904-34C5-BC9FD68A30AC}"/>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34108480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BBFB6C-7E87-C45E-FFF3-01F76E99B06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17F6483-0005-FCB6-DE1F-D7F35ED1519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060B0F9-D639-7D7C-BD93-B61335313A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B0C63F1-B7AE-8557-4D1A-85D0610B53F8}"/>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6" name="フッター プレースホルダー 5">
            <a:extLst>
              <a:ext uri="{FF2B5EF4-FFF2-40B4-BE49-F238E27FC236}">
                <a16:creationId xmlns:a16="http://schemas.microsoft.com/office/drawing/2014/main" id="{016D7DA5-5F02-C004-FE74-286D19F9BEE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1EDA062-F436-B9D9-A584-2D7EFE891BE3}"/>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3252831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22CD828-6C5E-0D92-FD28-FCEE37FA10B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67B9AB6F-BFA1-9133-6714-3954CC6877A5}"/>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132F5A7-BC59-603B-0694-00FF16BAE7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B655756-3546-A3D1-0E3C-F3C454AEC38B}"/>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6" name="フッター プレースホルダー 5">
            <a:extLst>
              <a:ext uri="{FF2B5EF4-FFF2-40B4-BE49-F238E27FC236}">
                <a16:creationId xmlns:a16="http://schemas.microsoft.com/office/drawing/2014/main" id="{3A2AE3AA-992F-CF1F-E679-50893F7E41F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A2BB58C-BCE9-E721-E438-E7B433809FE2}"/>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20562194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E5A192-9651-912F-B5D3-257E3ED7BA8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0D00C90-F3E2-1A15-0344-684E216E34E4}"/>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8CCFFF9-F9C2-0B17-0F54-70E3A2FB53FB}"/>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CC3215A8-C079-2557-D2C2-B54AC6D13AC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6F1F95C-920E-F31F-B069-039C73B60FDA}"/>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15002166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F7A6D4-B82D-BC03-0623-B78B1AB6250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CE3B51F-C567-44B3-BC1F-92D495C3F26C}"/>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FEDFE21-2853-AB31-0BCA-4899A0795574}"/>
              </a:ext>
            </a:extLst>
          </p:cNvPr>
          <p:cNvSpPr>
            <a:spLocks noGrp="1"/>
          </p:cNvSpPr>
          <p:nvPr>
            <p:ph type="dt" sz="half" idx="10"/>
          </p:nvPr>
        </p:nvSpPr>
        <p:spPr/>
        <p:txBody>
          <a:body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435CEDD9-CC60-F519-BE56-8D67246466B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4480AE5-6D29-55C1-8C1E-9776E7B13496}"/>
              </a:ext>
            </a:extLst>
          </p:cNvPr>
          <p:cNvSpPr>
            <a:spLocks noGrp="1"/>
          </p:cNvSpPr>
          <p:nvPr>
            <p:ph type="sldNum" sz="quarter" idx="12"/>
          </p:nvPr>
        </p:nvSpPr>
        <p:spPr/>
        <p:txBody>
          <a:body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6417737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0BE28B1A-3E60-681A-B458-1B3B4AD0451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C92784F-7EB8-5402-A44B-B425DFDC76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323E6AC-8F3F-A0D6-0078-BC58297EEF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9CD4CD-63DC-47E3-9026-82609E09E688}" type="datetimeFigureOut">
              <a:rPr kumimoji="1" lang="ja-JP" altLang="en-US" smtClean="0"/>
              <a:t>2026/10/28</a:t>
            </a:fld>
            <a:endParaRPr kumimoji="1" lang="ja-JP" altLang="en-US"/>
          </a:p>
        </p:txBody>
      </p:sp>
      <p:sp>
        <p:nvSpPr>
          <p:cNvPr id="5" name="フッター プレースホルダー 4">
            <a:extLst>
              <a:ext uri="{FF2B5EF4-FFF2-40B4-BE49-F238E27FC236}">
                <a16:creationId xmlns:a16="http://schemas.microsoft.com/office/drawing/2014/main" id="{FD77183C-FB49-4729-5983-A6BBEF71E7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FF78425-F716-1C3A-F7F6-E10F31CBD64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D93102B-6B7E-479D-9673-218ADEF0265B}" type="slidenum">
              <a:rPr kumimoji="1" lang="ja-JP" altLang="en-US" smtClean="0"/>
              <a:t>‹#›</a:t>
            </a:fld>
            <a:endParaRPr kumimoji="1" lang="ja-JP" altLang="en-US"/>
          </a:p>
        </p:txBody>
      </p:sp>
    </p:spTree>
    <p:extLst>
      <p:ext uri="{BB962C8B-B14F-4D97-AF65-F5344CB8AC3E}">
        <p14:creationId xmlns:p14="http://schemas.microsoft.com/office/powerpoint/2010/main" val="34109743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030126-9B1A-C5A7-9268-0D4073AE0F8B}"/>
              </a:ext>
            </a:extLst>
          </p:cNvPr>
          <p:cNvSpPr>
            <a:spLocks noGrp="1"/>
          </p:cNvSpPr>
          <p:nvPr>
            <p:ph type="ctrTitle"/>
          </p:nvPr>
        </p:nvSpPr>
        <p:spPr/>
        <p:txBody>
          <a:bodyPr>
            <a:normAutofit fontScale="90000"/>
          </a:bodyPr>
          <a:lstStyle/>
          <a:p>
            <a:r>
              <a:rPr lang="ja-JP" altLang="ja-JP" dirty="0"/>
              <a:t>スコアボード</a:t>
            </a:r>
            <a:r>
              <a:rPr lang="ja-JP" altLang="en-US" dirty="0"/>
              <a:t>認識と投球検出</a:t>
            </a:r>
            <a:r>
              <a:rPr lang="ja-JP" altLang="ja-JP" dirty="0"/>
              <a:t>による野球</a:t>
            </a:r>
            <a:r>
              <a:rPr lang="ja-JP" altLang="en-US" dirty="0"/>
              <a:t>イベント検出</a:t>
            </a:r>
            <a:endParaRPr kumimoji="1" lang="ja-JP" altLang="en-US" dirty="0"/>
          </a:p>
        </p:txBody>
      </p:sp>
      <p:sp>
        <p:nvSpPr>
          <p:cNvPr id="3" name="字幕 2">
            <a:extLst>
              <a:ext uri="{FF2B5EF4-FFF2-40B4-BE49-F238E27FC236}">
                <a16:creationId xmlns:a16="http://schemas.microsoft.com/office/drawing/2014/main" id="{FEF54972-8310-AAD1-B9A6-00AE02AF2D4A}"/>
              </a:ext>
            </a:extLst>
          </p:cNvPr>
          <p:cNvSpPr>
            <a:spLocks noGrp="1"/>
          </p:cNvSpPr>
          <p:nvPr>
            <p:ph type="subTitle" idx="1"/>
          </p:nvPr>
        </p:nvSpPr>
        <p:spPr>
          <a:xfrm>
            <a:off x="1536357" y="3602038"/>
            <a:ext cx="9144000" cy="1655762"/>
          </a:xfrm>
        </p:spPr>
        <p:txBody>
          <a:bodyPr wrap="square" lIns="0" rIns="0" tIns="0" bIns="0">
            <a:noAutofit/>
          </a:bodyPr>
          <a:lstStyle/>
          <a:p>
            <a:pPr algn="ctr">
              <a:lnSpc>
                <a:spcPct val="112000"/>
              </a:lnSpc>
              <a:spcAft>
                <a:spcPts val="1000"/>
              </a:spcAft>
              <a:buNone/>
            </a:pPr>
            <a:r>
              <a:rPr sz="2400" b="0" lang="ja-JP">
                <a:solidFill>
                  <a:srgbClr val="111111"/>
                </a:solidFill>
                <a:latin typeface="游ゴシック"/>
                <a:ea typeface="游ゴシック"/>
              </a:rPr>
              <a:t>37023492 棚橋 悠</a:t>
            </a:r>
          </a:p>
          <a:p>
            <a:pPr algn="ctr">
              <a:lnSpc>
                <a:spcPct val="112000"/>
              </a:lnSpc>
              <a:spcAft>
                <a:spcPts val="1000"/>
              </a:spcAft>
              <a:buNone/>
            </a:pPr>
            <a:r>
              <a:rPr sz="2400" b="0" lang="ja-JP">
                <a:solidFill>
                  <a:srgbClr val="111111"/>
                </a:solidFill>
                <a:latin typeface="游ゴシック"/>
                <a:ea typeface="游ゴシック"/>
              </a:rPr>
              <a:t>2026年10月30日</a:t>
            </a:r>
          </a:p>
        </p:txBody>
      </p:sp>
    </p:spTree>
    <p:extLst>
      <p:ext uri="{BB962C8B-B14F-4D97-AF65-F5344CB8AC3E}">
        <p14:creationId xmlns:p14="http://schemas.microsoft.com/office/powerpoint/2010/main" val="381116950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今週の結果からいえること</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2</a:t>
            </a:r>
          </a:p>
        </p:txBody>
      </p:sp>
      <p:sp>
        <p:nvSpPr>
          <p:cNvPr id="4" name="TextBox 3"/>
          <p:cNvSpPr txBox="1"/>
          <p:nvPr/>
        </p:nvSpPr>
        <p:spPr>
          <a:xfrm>
            <a:off x="838504" y="1819656"/>
            <a:ext cx="10515600" cy="4389120"/>
          </a:xfrm>
          <a:prstGeom prst="rect">
            <a:avLst/>
          </a:prstGeom>
          <a:noFill/>
        </p:spPr>
        <p:txBody>
          <a:bodyPr wrap="square" lIns="0" rIns="0" tIns="0" bIns="0">
            <a:noAutofit/>
          </a:bodyPr>
          <a:lstStyle/>
          <a:p>
            <a:pPr algn="l">
              <a:lnSpc>
                <a:spcPct val="112000"/>
              </a:lnSpc>
              <a:spcAft>
                <a:spcPts val="2800"/>
              </a:spcAft>
              <a:buNone/>
            </a:pPr>
            <a:r>
              <a:rPr sz="2900" b="0" lang="ja-JP">
                <a:solidFill>
                  <a:srgbClr val="111111"/>
                </a:solidFill>
                <a:latin typeface="游ゴシック"/>
                <a:ea typeface="游ゴシック"/>
              </a:rPr>
              <a:t>• 投球ごとに、そのときの試合状況を記録できた</a:t>
            </a:r>
          </a:p>
          <a:p>
            <a:pPr algn="l">
              <a:lnSpc>
                <a:spcPct val="112000"/>
              </a:lnSpc>
              <a:spcAft>
                <a:spcPts val="2800"/>
              </a:spcAft>
              <a:buNone/>
            </a:pPr>
            <a:r>
              <a:rPr sz="2900" b="0" lang="ja-JP">
                <a:solidFill>
                  <a:srgbClr val="111111"/>
                </a:solidFill>
                <a:latin typeface="游ゴシック"/>
                <a:ea typeface="游ゴシック"/>
              </a:rPr>
              <a:t>• 投球直後の表示だけでは、結果を決められない</a:t>
            </a:r>
          </a:p>
          <a:p>
            <a:pPr algn="l">
              <a:lnSpc>
                <a:spcPct val="112000"/>
              </a:lnSpc>
              <a:spcAft>
                <a:spcPts val="2800"/>
              </a:spcAft>
              <a:buNone/>
            </a:pPr>
            <a:r>
              <a:rPr sz="2900" b="0" lang="ja-JP">
                <a:solidFill>
                  <a:srgbClr val="111111"/>
                </a:solidFill>
                <a:latin typeface="游ゴシック"/>
                <a:ea typeface="游ゴシック"/>
              </a:rPr>
              <a:t>• 前後の表示が不足する場面は、結果を保留する必要がある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どんな状況の投球か記録できた</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3</a:t>
            </a:r>
          </a:p>
        </p:txBody>
      </p:sp>
      <p:sp>
        <p:nvSpPr>
          <p:cNvPr id="4" name="TextBox 3"/>
          <p:cNvSpPr txBox="1"/>
          <p:nvPr/>
        </p:nvSpPr>
        <p:spPr>
          <a:xfrm>
            <a:off x="838504" y="1810512"/>
            <a:ext cx="10515600" cy="749808"/>
          </a:xfrm>
          <a:prstGeom prst="rect">
            <a:avLst/>
          </a:prstGeom>
          <a:noFill/>
        </p:spPr>
        <p: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5回ウラ・同点・一塁走者あり・2アウトでの投球</a:t>
            </a:r>
            <a:br/>
            <a:r>
              <a:rPr sz="2500" b="0" lang="ja-JP">
                <a:solidFill>
                  <a:srgbClr val="111111"/>
                </a:solidFill>
                <a:latin typeface="游ゴシック"/>
                <a:ea typeface="游ゴシック"/>
              </a:rPr>
              <a:t>投球の後に、ストライク表示が0から1に増えた。</a:t>
            </a:r>
          </a:p>
        </p:txBody>
      </p:sp>
      <p:pic>
        <p:nvPicPr>
          <p:cNvPr id="5" name="Picture 4" descr="joint_case22"/>
          <p:cNvPicPr>
            <a:picLocks noChangeAspect="1"/>
          </p:cNvPicPr>
          <p:nvPr/>
        </p:nvPicPr>
        <p:blipFill>
          <a:blip r:embed="rId2"/>
          <a:stretch>
            <a:fillRect/>
          </a:stretch>
        </p:blipFill>
        <p:spPr>
          <a:xfrm>
            <a:off x="838504" y="2633472"/>
            <a:ext cx="10515600" cy="372427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投球直後の表示だけでは決められない</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4</a:t>
            </a:r>
          </a:p>
        </p:txBody>
      </p:sp>
      <p:sp>
        <p:nvSpPr>
          <p:cNvPr id="4" name="TextBox 3"/>
          <p:cNvSpPr txBox="1"/>
          <p:nvPr/>
        </p:nvSpPr>
        <p:spPr>
          <a:xfrm>
            <a:off x="838504" y="1810512"/>
            <a:ext cx="10515600" cy="411480"/>
          </a:xfrm>
          <a:prstGeom prst="rect">
            <a:avLst/>
          </a:prstGeom>
          <a:noFill/>
        </p:spPr>
        <p:txBody>
          <a:bodyPr wrap="square" lIns="0" rIns="0" tIns="0" bIns="0">
            <a:noAutofit/>
          </a:bodyPr>
          <a:lstStyle/>
          <a:p>
            <a:pPr algn="l">
              <a:lnSpc>
                <a:spcPct val="112000"/>
              </a:lnSpc>
              <a:spcAft>
                <a:spcPts val="1000"/>
              </a:spcAft>
              <a:buNone/>
            </a:pPr>
            <a:r>
              <a:rPr sz="2600" b="0" lang="ja-JP">
                <a:solidFill>
                  <a:srgbClr val="111111"/>
                </a:solidFill>
                <a:latin typeface="游ゴシック"/>
                <a:ea typeface="游ゴシック"/>
              </a:rPr>
              <a:t>直後には変化がなくても、少し後の表示は変わっていた。</a:t>
            </a:r>
          </a:p>
        </p:txBody>
      </p:sp>
      <p:pic>
        <p:nvPicPr>
          <p:cNvPr id="5" name="Picture 4" descr="lag_case11"/>
          <p:cNvPicPr>
            <a:picLocks noChangeAspect="1"/>
          </p:cNvPicPr>
          <p:nvPr/>
        </p:nvPicPr>
        <p:blipFill>
          <a:blip r:embed="rId2"/>
          <a:stretch>
            <a:fillRect/>
          </a:stretch>
        </p:blipFill>
        <p:spPr>
          <a:xfrm>
            <a:off x="838504" y="2386584"/>
            <a:ext cx="10515600" cy="3724275"/>
          </a:xfrm>
          <a:prstGeom prst="rect">
            <a:avLst/>
          </a:prstGeom>
        </p:spPr>
      </p:pic>
      <p:sp>
        <p:nvSpPr>
          <p:cNvPr id="6" name="TextBox 5"/>
          <p:cNvSpPr txBox="1"/>
          <p:nvPr/>
        </p:nvSpPr>
        <p:spPr>
          <a:xfrm>
            <a:off x="838504" y="6254496"/>
            <a:ext cx="10515600" cy="292608"/>
          </a:xfrm>
          <a:prstGeom prst="rect">
            <a:avLst/>
          </a:prstGeom>
          <a:noFill/>
        </p:spPr>
        <p:txBody>
          <a:bodyPr wrap="square" lIns="0" rIns="0" tIns="0" bIns="0">
            <a:noAutofit/>
          </a:bodyPr>
          <a:lstStyle/>
          <a:p>
            <a:pPr algn="l">
              <a:lnSpc>
                <a:spcPct val="112000"/>
              </a:lnSpc>
              <a:spcAft>
                <a:spcPts val="1000"/>
              </a:spcAft>
              <a:buNone/>
            </a:pPr>
            <a:r>
              <a:rPr sz="2100" b="0" lang="ja-JP">
                <a:solidFill>
                  <a:srgbClr val="B02121"/>
                </a:solidFill>
                <a:latin typeface="游ゴシック"/>
                <a:ea typeface="游ゴシック"/>
              </a:rPr>
              <a:t>直後だけ見ると「変化なし」。少し後まで見ると「ボール増加」。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同じ値が続いても、更新前かもしれない</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5</a:t>
            </a:r>
          </a:p>
        </p:txBody>
      </p:sp>
      <p:sp>
        <p:nvSpPr>
          <p:cNvPr id="4" name="Rectangle 3"/>
          <p:cNvSpPr/>
          <p:nvPr/>
        </p:nvSpPr>
        <p:spPr>
          <a:xfrm>
            <a:off x="868680" y="2148840"/>
            <a:ext cx="4754880" cy="1234440"/>
          </a:xfrm>
          <a:prstGeom prst="rect">
            <a:avLst/>
          </a:prstGeom>
          <a:solidFill>
            <a:srgbClr val="F5F5F5"/>
          </a:solidFill>
          <a:ln w="1270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ctr">
              <a:lnSpc>
                <a:spcPct val="112000"/>
              </a:lnSpc>
              <a:spcAft>
                <a:spcPts val="0"/>
              </a:spcAft>
              <a:buNone/>
            </a:pPr>
            <a:r>
              <a:rPr sz="2300" b="0" lang="ja-JP">
                <a:solidFill>
                  <a:srgbClr val="111111"/>
                </a:solidFill>
                <a:latin typeface="游ゴシック"/>
                <a:ea typeface="游ゴシック"/>
              </a:rPr>
              <a:t>158.0秒・158.5秒</a:t>
            </a:r>
            <a:br/>
            <a:r>
              <a:rPr sz="2300" b="0" lang="ja-JP">
                <a:solidFill>
                  <a:srgbClr val="111111"/>
                </a:solidFill>
                <a:latin typeface="游ゴシック"/>
                <a:ea typeface="游ゴシック"/>
              </a:rPr>
              <a:t>どちらも 0ボール・2ストライク</a:t>
            </a:r>
          </a:p>
        </p:txBody>
      </p:sp>
      <p:sp>
        <p:nvSpPr>
          <p:cNvPr id="5" name="Rectangle 4"/>
          <p:cNvSpPr/>
          <p:nvPr/>
        </p:nvSpPr>
        <p:spPr>
          <a:xfrm>
            <a:off x="6583680" y="2148840"/>
            <a:ext cx="4754880" cy="1234440"/>
          </a:xfrm>
          <a:prstGeom prst="rect">
            <a:avLst/>
          </a:prstGeom>
          <a:solidFill>
            <a:srgbClr val="F5F5F5"/>
          </a:solidFill>
          <a:ln w="12700">
            <a:solidFill>
              <a:srgbClr val="777777"/>
            </a:solidFill>
          </a:ln>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ctr">
              <a:lnSpc>
                <a:spcPct val="112000"/>
              </a:lnSpc>
              <a:spcAft>
                <a:spcPts val="0"/>
              </a:spcAft>
              <a:buNone/>
            </a:pPr>
            <a:r>
              <a:rPr sz="2600" b="0" lang="ja-JP">
                <a:solidFill>
                  <a:srgbClr val="111111"/>
                </a:solidFill>
                <a:latin typeface="游ゴシック"/>
                <a:ea typeface="游ゴシック"/>
              </a:rPr>
              <a:t>161.5秒</a:t>
            </a:r>
            <a:br/>
            <a:r>
              <a:rPr sz="2600" b="0" lang="ja-JP">
                <a:solidFill>
                  <a:srgbClr val="111111"/>
                </a:solidFill>
                <a:latin typeface="游ゴシック"/>
                <a:ea typeface="游ゴシック"/>
              </a:rPr>
              <a:t>1ボール・2ストライク</a:t>
            </a:r>
          </a:p>
        </p:txBody>
      </p:sp>
      <p:sp>
        <p:nvSpPr>
          <p:cNvPr id="6" name="TextBox 5"/>
          <p:cNvSpPr txBox="1"/>
          <p:nvPr/>
        </p:nvSpPr>
        <p:spPr>
          <a:xfrm>
            <a:off x="5715000" y="2423160"/>
            <a:ext cx="731520" cy="731520"/>
          </a:xfrm>
          <a:prstGeom prst="rect">
            <a:avLst/>
          </a:prstGeom>
          <a:noFill/>
        </p:spPr>
        <p:txBody>
          <a:bodyPr wrap="square" lIns="0" rIns="0" tIns="0" bIns="0">
            <a:noAutofit/>
          </a:bodyPr>
          <a:lstStyle/>
          <a:p>
            <a:pPr algn="ctr">
              <a:lnSpc>
                <a:spcPct val="112000"/>
              </a:lnSpc>
              <a:spcAft>
                <a:spcPts val="1000"/>
              </a:spcAft>
              <a:buNone/>
            </a:pPr>
            <a:r>
              <a:rPr sz="3600" b="0" lang="ja-JP">
                <a:solidFill>
                  <a:srgbClr val="111111"/>
                </a:solidFill>
                <a:latin typeface="游ゴシック"/>
                <a:ea typeface="游ゴシック"/>
              </a:rPr>
              <a:t>→</a:t>
            </a:r>
          </a:p>
        </p:txBody>
      </p:sp>
      <p:sp>
        <p:nvSpPr>
          <p:cNvPr id="7" name="TextBox 6"/>
          <p:cNvSpPr txBox="1"/>
          <p:nvPr/>
        </p:nvSpPr>
        <p:spPr>
          <a:xfrm>
            <a:off x="868680" y="3794760"/>
            <a:ext cx="10469880" cy="914400"/>
          </a:xfrm>
          <a:prstGeom prst="rect">
            <a:avLst/>
          </a:prstGeom>
          <a:noFill/>
        </p:spPr>
        <p:txBody>
          <a:bodyPr wrap="square" lIns="0" rIns="0" tIns="0" bIns="0">
            <a:noAutofit/>
          </a:bodyPr>
          <a:lstStyle/>
          <a:p>
            <a:pPr algn="l">
              <a:lnSpc>
                <a:spcPct val="112000"/>
              </a:lnSpc>
              <a:spcAft>
                <a:spcPts val="0"/>
              </a:spcAft>
              <a:buNone/>
            </a:pPr>
            <a:r>
              <a:rPr sz="2800" b="0" lang="ja-JP">
                <a:solidFill>
                  <a:srgbClr val="111111"/>
                </a:solidFill>
                <a:latin typeface="游ゴシック"/>
                <a:ea typeface="游ゴシック"/>
              </a:rPr>
              <a:t>同じ値が2回続いても、</a:t>
            </a:r>
            <a:br/>
            <a:r>
              <a:rPr sz="2800" b="0" lang="ja-JP">
                <a:solidFill>
                  <a:srgbClr val="111111"/>
                </a:solidFill>
                <a:latin typeface="游ゴシック"/>
                <a:ea typeface="游ゴシック"/>
              </a:rPr>
              <a:t>まだ投球前の表示が残っている可能性がある。</a:t>
            </a:r>
          </a:p>
        </p:txBody>
      </p:sp>
      <p:sp>
        <p:nvSpPr>
          <p:cNvPr id="8" name="TextBox 7"/>
          <p:cNvSpPr txBox="1"/>
          <p:nvPr/>
        </p:nvSpPr>
        <p:spPr>
          <a:xfrm>
            <a:off x="868680" y="5330952"/>
            <a:ext cx="10469880" cy="1005840"/>
          </a:xfrm>
          <a:prstGeom prst="rect">
            <a:avLst/>
          </a:prstGeom>
          <a:noFill/>
        </p:spPr>
        <p:txBody>
          <a:bodyPr wrap="square" lIns="0" rIns="0" tIns="0" bIns="0">
            <a:noAutofit/>
          </a:bodyPr>
          <a:lstStyle/>
          <a:p>
            <a:pPr algn="l">
              <a:lnSpc>
                <a:spcPct val="112000"/>
              </a:lnSpc>
              <a:spcAft>
                <a:spcPts val="0"/>
              </a:spcAft>
              <a:buNone/>
            </a:pPr>
            <a:r>
              <a:rPr sz="2700" b="0" lang="ja-JP">
                <a:solidFill>
                  <a:srgbClr val="B02121"/>
                </a:solidFill>
                <a:latin typeface="游ゴシック"/>
                <a:ea typeface="游ゴシック"/>
              </a:rPr>
              <a:t>必要なのは、「同じ値が続いたか」に加え、</a:t>
            </a:r>
            <a:br/>
            <a:r>
              <a:rPr sz="2700" b="0" lang="ja-JP">
                <a:solidFill>
                  <a:srgbClr val="B02121"/>
                </a:solidFill>
                <a:latin typeface="游ゴシック"/>
                <a:ea typeface="游ゴシック"/>
              </a:rPr>
              <a:t>「今回の投球後の表示として使ってよいか」の確認。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表示の欠けた場面は結果を保留する</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6</a:t>
            </a:r>
          </a:p>
        </p:txBody>
      </p:sp>
      <p:sp>
        <p:nvSpPr>
          <p:cNvPr id="4" name="TextBox 3"/>
          <p:cNvSpPr txBox="1"/>
          <p:nvPr/>
        </p:nvSpPr>
        <p:spPr>
          <a:xfrm>
            <a:off x="838504" y="1819656"/>
            <a:ext cx="10515600" cy="457200"/>
          </a:xfrm>
          <a:prstGeom prst="rect">
            <a:avLst/>
          </a:prstGeom>
          <a:noFill/>
        </p:spPr>
        <p:txBody>
          <a:bodyPr wrap="square" lIns="0" rIns="0" tIns="0" bIns="0">
            <a:noAutofit/>
          </a:bodyPr>
          <a:lstStyle/>
          <a:p>
            <a:pPr algn="l">
              <a:lnSpc>
                <a:spcPct val="112000"/>
              </a:lnSpc>
              <a:spcAft>
                <a:spcPts val="1000"/>
              </a:spcAft>
              <a:buNone/>
            </a:pPr>
            <a:r>
              <a:rPr sz="2600" b="0" lang="ja-JP">
                <a:solidFill>
                  <a:srgbClr val="111111"/>
                </a:solidFill>
                <a:latin typeface="游ゴシック"/>
                <a:ea typeface="游ゴシック"/>
              </a:rPr>
              <a:t>投球付近に表示があっても、その後に取得できない場面がある。</a:t>
            </a:r>
          </a:p>
        </p:txBody>
      </p:sp>
      <p:sp>
        <p:nvSpPr>
          <p:cNvPr id="5" name="TextBox 4"/>
          <p:cNvSpPr txBox="1"/>
          <p:nvPr/>
        </p:nvSpPr>
        <p:spPr>
          <a:xfrm>
            <a:off x="838504" y="2468880"/>
            <a:ext cx="4983480" cy="365760"/>
          </a:xfrm>
          <a:prstGeom prst="rect">
            <a:avLst/>
          </a:prstGeom>
          <a:noFill/>
        </p:spPr>
        <p:txBody>
          <a:bodyPr wrap="square" lIns="0" rIns="0" tIns="0" bIns="0">
            <a:noAutofit/>
          </a:bodyPr>
          <a:lstStyle/>
          <a:p>
            <a:pPr algn="l">
              <a:lnSpc>
                <a:spcPct val="112000"/>
              </a:lnSpc>
              <a:spcAft>
                <a:spcPts val="1000"/>
              </a:spcAft>
              <a:buNone/>
            </a:pPr>
            <a:r>
              <a:rPr sz="2300" b="0" lang="ja-JP">
                <a:solidFill>
                  <a:srgbClr val="111111"/>
                </a:solidFill>
                <a:latin typeface="游ゴシック"/>
                <a:ea typeface="游ゴシック"/>
              </a:rPr>
              <a:t>367.0秒：カウント・走者を取得</a:t>
            </a:r>
          </a:p>
        </p:txBody>
      </p:sp>
      <p:sp>
        <p:nvSpPr>
          <p:cNvPr id="6" name="TextBox 5"/>
          <p:cNvSpPr txBox="1"/>
          <p:nvPr/>
        </p:nvSpPr>
        <p:spPr>
          <a:xfrm>
            <a:off x="6370624" y="2468880"/>
            <a:ext cx="4983480" cy="365760"/>
          </a:xfrm>
          <a:prstGeom prst="rect">
            <a:avLst/>
          </a:prstGeom>
          <a:noFill/>
        </p:spPr>
        <p:txBody>
          <a:bodyPr wrap="square" lIns="0" rIns="0" tIns="0" bIns="0">
            <a:noAutofit/>
          </a:bodyPr>
          <a:lstStyle/>
          <a:p>
            <a:pPr algn="l">
              <a:lnSpc>
                <a:spcPct val="112000"/>
              </a:lnSpc>
              <a:spcAft>
                <a:spcPts val="1000"/>
              </a:spcAft>
              <a:buNone/>
            </a:pPr>
            <a:r>
              <a:rPr sz="2300" b="0" lang="ja-JP">
                <a:solidFill>
                  <a:srgbClr val="111111"/>
                </a:solidFill>
                <a:latin typeface="游ゴシック"/>
                <a:ea typeface="游ゴシック"/>
              </a:rPr>
              <a:t>370.0秒：スコアボードなし</a:t>
            </a:r>
          </a:p>
        </p:txBody>
      </p:sp>
      <p:pic>
        <p:nvPicPr>
          <p:cNvPr id="7" name="Picture 6" descr="pitch_with_board"/>
          <p:cNvPicPr>
            <a:picLocks noChangeAspect="1"/>
          </p:cNvPicPr>
          <p:nvPr/>
        </p:nvPicPr>
        <p:blipFill>
          <a:blip r:embed="rId2"/>
          <a:stretch>
            <a:fillRect/>
          </a:stretch>
        </p:blipFill>
        <p:spPr>
          <a:xfrm>
            <a:off x="838504" y="2962656"/>
            <a:ext cx="4983480" cy="2803208"/>
          </a:xfrm>
          <a:prstGeom prst="rect">
            <a:avLst/>
          </a:prstGeom>
        </p:spPr>
      </p:pic>
      <p:pic>
        <p:nvPicPr>
          <p:cNvPr id="8" name="Picture 7" descr="after_without_board"/>
          <p:cNvPicPr>
            <a:picLocks noChangeAspect="1"/>
          </p:cNvPicPr>
          <p:nvPr/>
        </p:nvPicPr>
        <p:blipFill>
          <a:blip r:embed="rId3"/>
          <a:stretch>
            <a:fillRect/>
          </a:stretch>
        </p:blipFill>
        <p:spPr>
          <a:xfrm>
            <a:off x="6370624" y="2962656"/>
            <a:ext cx="4983480" cy="2803208"/>
          </a:xfrm>
          <a:prstGeom prst="rect">
            <a:avLst/>
          </a:prstGeom>
        </p:spPr>
      </p:pic>
      <p:sp>
        <p:nvSpPr>
          <p:cNvPr id="9" name="TextBox 8"/>
          <p:cNvSpPr txBox="1"/>
          <p:nvPr/>
        </p:nvSpPr>
        <p:spPr>
          <a:xfrm>
            <a:off x="838504" y="5980176"/>
            <a:ext cx="10515600" cy="502920"/>
          </a:xfrm>
          <a:prstGeom prst="rect">
            <a:avLst/>
          </a:prstGeom>
          <a:noFill/>
        </p:spPr>
        <p:txBody>
          <a:bodyPr wrap="square" lIns="0" rIns="0" tIns="0" bIns="0">
            <a:noAutofit/>
          </a:bodyPr>
          <a:lstStyle/>
          <a:p>
            <a:pPr algn="l">
              <a:lnSpc>
                <a:spcPct val="112000"/>
              </a:lnSpc>
              <a:spcAft>
                <a:spcPts val="1000"/>
              </a:spcAft>
              <a:buNone/>
            </a:pPr>
            <a:r>
              <a:rPr sz="2500" b="0" lang="ja-JP">
                <a:solidFill>
                  <a:srgbClr val="B02121"/>
                </a:solidFill>
                <a:latin typeface="游ゴシック"/>
                <a:ea typeface="游ゴシック"/>
              </a:rPr>
              <a:t>前後を比べられない場面は、投球結果を決めずに保留する。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得点した投球の特定には課題が残る</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7</a:t>
            </a:r>
          </a:p>
        </p:txBody>
      </p:sp>
      <p:sp>
        <p:nvSpPr>
          <p:cNvPr id="4" name="TextBox 3"/>
          <p:cNvSpPr txBox="1"/>
          <p:nvPr/>
        </p:nvSpPr>
        <p:spPr>
          <a:xfrm>
            <a:off x="838504" y="1810512"/>
            <a:ext cx="4983480" cy="384048"/>
          </a:xfrm>
          <a:prstGeom prst="rect">
            <a:avLst/>
          </a:prstGeom>
          <a:noFill/>
        </p:spPr>
        <p:txBody>
          <a:bodyPr wrap="square" lIns="0" rIns="0" tIns="0" bIns="0">
            <a:noAutofit/>
          </a:bodyPr>
          <a:lstStyle/>
          <a:p>
            <a:pPr algn="ctr">
              <a:lnSpc>
                <a:spcPct val="112000"/>
              </a:lnSpc>
              <a:spcAft>
                <a:spcPts val="1000"/>
              </a:spcAft>
              <a:buNone/>
            </a:pPr>
            <a:r>
              <a:rPr sz="2400" b="0" lang="ja-JP">
                <a:solidFill>
                  <a:srgbClr val="111111"/>
                </a:solidFill>
                <a:latin typeface="游ゴシック"/>
                <a:ea typeface="游ゴシック"/>
              </a:rPr>
              <a:t>367.0秒：0–0</a:t>
            </a:r>
          </a:p>
        </p:txBody>
      </p:sp>
      <p:sp>
        <p:nvSpPr>
          <p:cNvPr id="5" name="TextBox 4"/>
          <p:cNvSpPr txBox="1"/>
          <p:nvPr/>
        </p:nvSpPr>
        <p:spPr>
          <a:xfrm>
            <a:off x="838504" y="2286000"/>
            <a:ext cx="4983480" cy="365760"/>
          </a:xfrm>
          <a:prstGeom prst="rect">
            <a:avLst/>
          </a:prstGeom>
          <a:noFill/>
        </p:spPr>
        <p:txBody>
          <a:bodyPr wrap="square" lIns="0" rIns="0" tIns="0" bIns="0">
            <a:noAutofit/>
          </a:bodyPr>
          <a:lstStyle/>
          <a:p>
            <a:pPr algn="ctr">
              <a:lnSpc>
                <a:spcPct val="112000"/>
              </a:lnSpc>
              <a:spcAft>
                <a:spcPts val="1000"/>
              </a:spcAft>
              <a:buNone/>
            </a:pPr>
            <a:r>
              <a:rPr sz="2200" b="0" lang="ja-JP">
                <a:solidFill>
                  <a:srgbClr val="111111"/>
                </a:solidFill>
                <a:latin typeface="游ゴシック"/>
                <a:ea typeface="游ゴシック"/>
              </a:rPr>
              <a:t>投球候補の区間内の表示</a:t>
            </a:r>
          </a:p>
        </p:txBody>
      </p:sp>
      <p:pic>
        <p:nvPicPr>
          <p:cNvPr id="6" name="Picture 5" descr="context_367"/>
          <p:cNvPicPr>
            <a:picLocks noChangeAspect="1"/>
          </p:cNvPicPr>
          <p:nvPr/>
        </p:nvPicPr>
        <p:blipFill>
          <a:blip r:embed="rId2"/>
          <a:stretch>
            <a:fillRect/>
          </a:stretch>
        </p:blipFill>
        <p:spPr>
          <a:xfrm>
            <a:off x="838504" y="2788920"/>
            <a:ext cx="4983480" cy="2167418"/>
          </a:xfrm>
          <a:prstGeom prst="rect">
            <a:avLst/>
          </a:prstGeom>
        </p:spPr>
      </p:pic>
      <p:sp>
        <p:nvSpPr>
          <p:cNvPr id="7" name="TextBox 6"/>
          <p:cNvSpPr txBox="1"/>
          <p:nvPr/>
        </p:nvSpPr>
        <p:spPr>
          <a:xfrm>
            <a:off x="838504" y="5166360"/>
            <a:ext cx="4983480" cy="777240"/>
          </a:xfrm>
          <a:prstGeom prst="rect">
            <a:avLst/>
          </a:prstGeom>
          <a:noFill/>
        </p:spPr>
        <p:txBody>
          <a:bodyPr wrap="square" lIns="0" rIns="0" tIns="0" bIns="0">
            <a:noAutofit/>
          </a:bodyPr>
          <a:lstStyle/>
          <a:p>
            <a:pPr algn="l">
              <a:lnSpc>
                <a:spcPct val="112000"/>
              </a:lnSpc>
              <a:spcAft>
                <a:spcPts val="0"/>
              </a:spcAft>
              <a:buNone/>
            </a:pPr>
            <a:r>
              <a:rPr sz="2400" b="0" lang="ja-JP">
                <a:solidFill>
                  <a:srgbClr val="111111"/>
                </a:solidFill>
                <a:latin typeface="游ゴシック"/>
                <a:ea typeface="游ゴシック"/>
              </a:rPr>
              <a:t>5回ウラ ／ 0–0</a:t>
            </a:r>
            <a:br/>
            <a:r>
              <a:rPr sz="2400" b="0" lang="ja-JP">
                <a:solidFill>
                  <a:srgbClr val="111111"/>
                </a:solidFill>
                <a:latin typeface="游ゴシック"/>
                <a:ea typeface="游ゴシック"/>
              </a:rPr>
              <a:t>B3 S2 O2 ／ 二塁走者あり</a:t>
            </a:r>
          </a:p>
        </p:txBody>
      </p:sp>
      <p:sp>
        <p:nvSpPr>
          <p:cNvPr id="8" name="TextBox 7"/>
          <p:cNvSpPr txBox="1"/>
          <p:nvPr/>
        </p:nvSpPr>
        <p:spPr>
          <a:xfrm>
            <a:off x="6370624" y="1810512"/>
            <a:ext cx="4983480" cy="384048"/>
          </a:xfrm>
          <a:prstGeom prst="rect">
            <a:avLst/>
          </a:prstGeom>
          <a:noFill/>
        </p:spPr>
        <p:txBody>
          <a:bodyPr wrap="square" lIns="0" rIns="0" tIns="0" bIns="0">
            <a:noAutofit/>
          </a:bodyPr>
          <a:lstStyle/>
          <a:p>
            <a:pPr algn="ctr">
              <a:lnSpc>
                <a:spcPct val="112000"/>
              </a:lnSpc>
              <a:spcAft>
                <a:spcPts val="1000"/>
              </a:spcAft>
              <a:buNone/>
            </a:pPr>
            <a:r>
              <a:rPr sz="2400" b="0" lang="ja-JP">
                <a:solidFill>
                  <a:srgbClr val="111111"/>
                </a:solidFill>
                <a:latin typeface="游ゴシック"/>
                <a:ea typeface="游ゴシック"/>
              </a:rPr>
              <a:t>436.5秒：0–1</a:t>
            </a:r>
          </a:p>
        </p:txBody>
      </p:sp>
      <p:sp>
        <p:nvSpPr>
          <p:cNvPr id="9" name="TextBox 8"/>
          <p:cNvSpPr txBox="1"/>
          <p:nvPr/>
        </p:nvSpPr>
        <p:spPr>
          <a:xfrm>
            <a:off x="6370624" y="2286000"/>
            <a:ext cx="4983480" cy="365760"/>
          </a:xfrm>
          <a:prstGeom prst="rect">
            <a:avLst/>
          </a:prstGeom>
          <a:noFill/>
        </p:spPr>
        <p:txBody>
          <a:bodyPr wrap="square" lIns="0" rIns="0" tIns="0" bIns="0">
            <a:noAutofit/>
          </a:bodyPr>
          <a:lstStyle/>
          <a:p>
            <a:pPr algn="ctr">
              <a:lnSpc>
                <a:spcPct val="112000"/>
              </a:lnSpc>
              <a:spcAft>
                <a:spcPts val="1000"/>
              </a:spcAft>
              <a:buNone/>
            </a:pPr>
            <a:r>
              <a:rPr sz="2200" b="0" lang="ja-JP">
                <a:solidFill>
                  <a:srgbClr val="111111"/>
                </a:solidFill>
                <a:latin typeface="游ゴシック"/>
                <a:ea typeface="游ゴシック"/>
              </a:rPr>
              <a:t>別の投球候補の直後の表示</a:t>
            </a:r>
          </a:p>
        </p:txBody>
      </p:sp>
      <p:pic>
        <p:nvPicPr>
          <p:cNvPr id="10" name="Picture 9" descr="context_436_5"/>
          <p:cNvPicPr>
            <a:picLocks noChangeAspect="1"/>
          </p:cNvPicPr>
          <p:nvPr/>
        </p:nvPicPr>
        <p:blipFill>
          <a:blip r:embed="rId3"/>
          <a:stretch>
            <a:fillRect/>
          </a:stretch>
        </p:blipFill>
        <p:spPr>
          <a:xfrm>
            <a:off x="6370624" y="2788920"/>
            <a:ext cx="4983480" cy="2203015"/>
          </a:xfrm>
          <a:prstGeom prst="rect">
            <a:avLst/>
          </a:prstGeom>
        </p:spPr>
      </p:pic>
      <p:sp>
        <p:nvSpPr>
          <p:cNvPr id="11" name="TextBox 10"/>
          <p:cNvSpPr txBox="1"/>
          <p:nvPr/>
        </p:nvSpPr>
        <p:spPr>
          <a:xfrm>
            <a:off x="6370624" y="5166360"/>
            <a:ext cx="4983480" cy="777240"/>
          </a:xfrm>
          <a:prstGeom prst="rect">
            <a:avLst/>
          </a:prstGeom>
          <a:noFill/>
        </p:spPr>
        <p:txBody>
          <a:bodyPr wrap="square" lIns="0" rIns="0" tIns="0" bIns="0">
            <a:noAutofit/>
          </a:bodyPr>
          <a:lstStyle/>
          <a:p>
            <a:pPr algn="l">
              <a:lnSpc>
                <a:spcPct val="112000"/>
              </a:lnSpc>
              <a:spcAft>
                <a:spcPts val="0"/>
              </a:spcAft>
              <a:buNone/>
            </a:pPr>
            <a:r>
              <a:rPr sz="2400" b="0" lang="ja-JP">
                <a:solidFill>
                  <a:srgbClr val="111111"/>
                </a:solidFill>
                <a:latin typeface="游ゴシック"/>
                <a:ea typeface="游ゴシック"/>
              </a:rPr>
              <a:t>5回ウラ ／ 0–1</a:t>
            </a:r>
            <a:br/>
            <a:r>
              <a:rPr sz="2400" b="0" lang="ja-JP">
                <a:solidFill>
                  <a:srgbClr val="111111"/>
                </a:solidFill>
                <a:latin typeface="游ゴシック"/>
                <a:ea typeface="游ゴシック"/>
              </a:rPr>
              <a:t>B0 S0 O2 ／ 一塁走者あり</a:t>
            </a:r>
          </a:p>
        </p:txBody>
      </p:sp>
      <p:sp>
        <p:nvSpPr>
          <p:cNvPr id="12" name="TextBox 11"/>
          <p:cNvSpPr txBox="1"/>
          <p:nvPr/>
        </p:nvSpPr>
        <p:spPr>
          <a:xfrm>
            <a:off x="838504" y="6190488"/>
            <a:ext cx="10515600" cy="356616"/>
          </a:xfrm>
          <a:prstGeom prst="rect">
            <a:avLst/>
          </a:prstGeom>
          <a:noFill/>
        </p:spPr>
        <p:txBody>
          <a:bodyPr wrap="square" lIns="0" rIns="0" tIns="0" bIns="0">
            <a:noAutofit/>
          </a:bodyPr>
          <a:lstStyle/>
          <a:p>
            <a:pPr algn="l">
              <a:lnSpc>
                <a:spcPct val="112000"/>
              </a:lnSpc>
              <a:spcAft>
                <a:spcPts val="1000"/>
              </a:spcAft>
              <a:buNone/>
            </a:pPr>
            <a:r>
              <a:rPr sz="2100" b="0" lang="ja-JP">
                <a:solidFill>
                  <a:srgbClr val="B02121"/>
                </a:solidFill>
                <a:latin typeface="游ゴシック"/>
                <a:ea typeface="游ゴシック"/>
              </a:rPr>
              <a:t>得点変化は記録できたが、得点につながった投球はまだ特定できていない。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今回いえること</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8</a:t>
            </a:r>
          </a:p>
        </p:txBody>
      </p:sp>
      <p:sp>
        <p:nvSpPr>
          <p:cNvPr id="4" name="TextBox 3"/>
          <p:cNvSpPr txBox="1"/>
          <p:nvPr/>
        </p:nvSpPr>
        <p:spPr>
          <a:xfrm>
            <a:off x="838504" y="1819656"/>
            <a:ext cx="10515600" cy="4480560"/>
          </a:xfrm>
          <a:prstGeom prst="rect">
            <a:avLst/>
          </a:prstGeom>
          <a:noFill/>
        </p:spPr>
        <p:txBody>
          <a:bodyPr wrap="square" lIns="0" rIns="0" tIns="0" bIns="0">
            <a:noAutofit/>
          </a:bodyPr>
          <a:lstStyle/>
          <a:p>
            <a:pPr algn="l">
              <a:lnSpc>
                <a:spcPct val="112000"/>
              </a:lnSpc>
              <a:spcAft>
                <a:spcPts val="2700"/>
              </a:spcAft>
              <a:buNone/>
            </a:pPr>
            <a:r>
              <a:rPr sz="2900" b="0" lang="ja-JP">
                <a:solidFill>
                  <a:srgbClr val="111111"/>
                </a:solidFill>
                <a:latin typeface="游ゴシック"/>
                <a:ea typeface="游ゴシック"/>
              </a:rPr>
              <a:t>• できたこと：投球と試合状況を、一緒に記録すること</a:t>
            </a:r>
          </a:p>
          <a:p>
            <a:pPr algn="l">
              <a:lnSpc>
                <a:spcPct val="112000"/>
              </a:lnSpc>
              <a:spcAft>
                <a:spcPts val="2700"/>
              </a:spcAft>
              <a:buNone/>
            </a:pPr>
            <a:r>
              <a:rPr sz="2900" b="0" lang="ja-JP">
                <a:solidFill>
                  <a:srgbClr val="111111"/>
                </a:solidFill>
                <a:latin typeface="游ゴシック"/>
                <a:ea typeface="游ゴシック"/>
              </a:rPr>
              <a:t>• 分かったこと：結果を判断するには、表示を見る時刻が重要</a:t>
            </a:r>
          </a:p>
          <a:p>
            <a:pPr algn="l">
              <a:lnSpc>
                <a:spcPct val="112000"/>
              </a:lnSpc>
              <a:spcAft>
                <a:spcPts val="2700"/>
              </a:spcAft>
              <a:buNone/>
            </a:pPr>
            <a:r>
              <a:rPr sz="2900" b="0" lang="ja-JP">
                <a:solidFill>
                  <a:srgbClr val="111111"/>
                </a:solidFill>
                <a:latin typeface="游ゴシック"/>
                <a:ea typeface="游ゴシック"/>
              </a:rPr>
              <a:t>• 残ったこと：ファウルなどの結果を、正しく確定すること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来週すること</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9</a:t>
            </a:r>
          </a:p>
        </p:txBody>
      </p:sp>
      <p:sp>
        <p:nvSpPr>
          <p:cNvPr id="4" name="TextBox 3"/>
          <p:cNvSpPr txBox="1"/>
          <p:nvPr/>
        </p:nvSpPr>
        <p:spPr>
          <a:xfrm>
            <a:off x="838504" y="1819656"/>
            <a:ext cx="10515600" cy="4526280"/>
          </a:xfrm>
          <a:prstGeom prst="rect">
            <a:avLst/>
          </a:prstGeom>
          <a:noFill/>
        </p:spPr>
        <p:txBody>
          <a:bodyPr wrap="square" lIns="0" rIns="0" tIns="0" bIns="0">
            <a:noAutofit/>
          </a:bodyPr>
          <a:lstStyle/>
          <a:p>
            <a:pPr algn="l">
              <a:lnSpc>
                <a:spcPct val="112000"/>
              </a:lnSpc>
              <a:spcAft>
                <a:spcPts val="2200"/>
              </a:spcAft>
              <a:buNone/>
            </a:pPr>
            <a:r>
              <a:rPr sz="2800" b="0" lang="ja-JP">
                <a:solidFill>
                  <a:srgbClr val="111111"/>
                </a:solidFill>
                <a:latin typeface="游ゴシック"/>
                <a:ea typeface="游ゴシック"/>
              </a:rPr>
              <a:t>• 実際の投球区間と結果を記録し、正解を用意する</a:t>
            </a:r>
          </a:p>
          <a:p>
            <a:pPr algn="l">
              <a:lnSpc>
                <a:spcPct val="112000"/>
              </a:lnSpc>
              <a:spcAft>
                <a:spcPts val="2200"/>
              </a:spcAft>
              <a:buNone/>
            </a:pPr>
            <a:r>
              <a:rPr sz="2800" b="0" lang="ja-JP">
                <a:solidFill>
                  <a:srgbClr val="111111"/>
                </a:solidFill>
                <a:latin typeface="游ゴシック"/>
                <a:ea typeface="游ゴシック"/>
              </a:rPr>
              <a:t>• 今回の投球後の表示かどうか、確認する方法を検討する</a:t>
            </a:r>
          </a:p>
          <a:p>
            <a:pPr algn="l">
              <a:lnSpc>
                <a:spcPct val="112000"/>
              </a:lnSpc>
              <a:spcAft>
                <a:spcPts val="2200"/>
              </a:spcAft>
              <a:buNone/>
            </a:pPr>
            <a:r>
              <a:rPr sz="2800" b="0" lang="ja-JP">
                <a:solidFill>
                  <a:srgbClr val="111111"/>
                </a:solidFill>
                <a:latin typeface="游ゴシック"/>
                <a:ea typeface="游ゴシック"/>
              </a:rPr>
              <a:t>• 投球を見つける精度と、結果を決める精度を分けて評価する</a:t>
            </a:r>
          </a:p>
          <a:p>
            <a:pPr algn="l">
              <a:lnSpc>
                <a:spcPct val="112000"/>
              </a:lnSpc>
              <a:spcAft>
                <a:spcPts val="2200"/>
              </a:spcAft>
              <a:buNone/>
            </a:pPr>
            <a:r>
              <a:rPr sz="2800" b="0" lang="ja-JP">
                <a:solidFill>
                  <a:srgbClr val="111111"/>
                </a:solidFill>
                <a:latin typeface="游ゴシック"/>
                <a:ea typeface="游ゴシック"/>
              </a:rPr>
              <a:t>• 今回の動画で検討した後、別の動画でも確認する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補足：全体の認識結果</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10</a:t>
            </a:r>
          </a:p>
        </p:txBody>
      </p:sp>
      <p:sp>
        <p:nvSpPr>
          <p:cNvPr id="4" name="TextBox 3"/>
          <p:cNvSpPr txBox="1"/>
          <p:nvPr/>
        </p:nvSpPr>
        <p:spPr>
          <a:xfrm>
            <a:off x="838504" y="1810512"/>
            <a:ext cx="10515600" cy="411480"/>
          </a:xfrm>
          <a:prstGeom prst="rect">
            <a:avLst/>
          </a:prstGeom>
          <a:noFill/>
        </p:spPr>
        <p:txBody>
          <a:bodyPr wrap="square" lIns="0" rIns="0" tIns="0" bIns="0">
            <a:noAutofit/>
          </a:bodyPr>
          <a:lstStyle/>
          <a:p>
            <a:pPr algn="l">
              <a:lnSpc>
                <a:spcPct val="112000"/>
              </a:lnSpc>
              <a:spcAft>
                <a:spcPts val="1000"/>
              </a:spcAft>
              <a:buNone/>
            </a:pPr>
            <a:r>
              <a:rPr sz="2600" b="0" lang="ja-JP">
                <a:solidFill>
                  <a:srgbClr val="111111"/>
                </a:solidFill>
                <a:latin typeface="游ゴシック"/>
                <a:ea typeface="游ゴシック"/>
              </a:rPr>
              <a:t>65区間 → 34候補群 ／ 各手法の認識値を同じ時刻で表示</a:t>
            </a:r>
          </a:p>
        </p:txBody>
      </p:sp>
      <p:pic>
        <p:nvPicPr>
          <p:cNvPr id="5" name="Picture 4" descr="integrated_all_fields"/>
          <p:cNvPicPr>
            <a:picLocks noChangeAspect="1"/>
          </p:cNvPicPr>
          <p:nvPr/>
        </p:nvPicPr>
        <p:blipFill>
          <a:blip r:embed="rId2"/>
          <a:stretch>
            <a:fillRect/>
          </a:stretch>
        </p:blipFill>
        <p:spPr>
          <a:xfrm>
            <a:off x="838504" y="2221992"/>
            <a:ext cx="10515600" cy="42062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補足：必要な情報が揃った数</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11</a:t>
            </a:r>
          </a:p>
        </p:txBody>
      </p:sp>
      <p:graphicFrame>
        <p:nvGraphicFramePr>
          <p:cNvPr id="4" name="Table 3"/>
          <p:cNvGraphicFramePr>
            <a:graphicFrameLocks noGrp="1"/>
          </p:cNvGraphicFramePr>
          <p:nvPr/>
        </p:nvGraphicFramePr>
        <p:xfrm>
          <a:off x="838504" y="1920240"/>
          <a:ext cx="10515600" cy="3154680"/>
        </p:xfrm>
        <a:graphic>
          <a:graphicData uri="http://schemas.openxmlformats.org/drawingml/2006/table">
            <a:tbl>
              <a:tblPr firstRow="1" bandRow="1">
                <a:tableStyleId>{5C22544A-7EE6-4342-B048-85BDC9FD1C3A}</a:tableStyleId>
              </a:tblPr>
              <a:tblGrid>
                <a:gridCol w="8046720"/>
                <a:gridCol w="2468880"/>
              </a:tblGrid>
              <a:tr h="630936">
                <a:tc>
                  <a:txBody>
                    <a:bodyPr wrap="square" lIns="0" rIns="0" tIns="0" bIns="0">
                      <a:noAutofit/>
                    </a:bodyPr>
                    <a:lstStyle/>
                    <a:p>
                      <a:pPr algn="l">
                        <a:lnSpc>
                          <a:spcPct val="112000"/>
                        </a:lnSpc>
                        <a:spcAft>
                          <a:spcPts val="0"/>
                        </a:spcAft>
                        <a:buNone/>
                      </a:pPr>
                      <a:r>
                        <a:rPr sz="2500" b="1" lang="ja-JP">
                          <a:solidFill>
                            <a:srgbClr val="111111"/>
                          </a:solidFill>
                          <a:latin typeface="游ゴシック"/>
                          <a:ea typeface="游ゴシック"/>
                        </a:rPr>
                        <a:t>前後の認識値の取得状況</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1" lang="ja-JP">
                          <a:solidFill>
                            <a:srgbClr val="111111"/>
                          </a:solidFill>
                          <a:latin typeface="游ゴシック"/>
                          <a:ea typeface="游ゴシック"/>
                        </a:rPr>
                        <a:t>候補群数</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r>
              <a:tr h="630936">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B/S/O・走者・回・表裏・両チーム得点が揃う</a:t>
                      </a:r>
                    </a:p>
                  </a:txBody>
                  <a:tcPr marL="118872" marR="91440" marT="64008" marB="36576" anchor="ctr">
                    <a:solidFill>
                      <a:srgbClr val="FFF4D8"/>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9</a:t>
                      </a:r>
                    </a:p>
                  </a:txBody>
                  <a:tcPr marL="118872" marR="91440" marT="64008" marB="36576" anchor="ctr">
                    <a:solidFill>
                      <a:srgbClr val="FFF4D8"/>
                    </a:solidFill>
                    <a:lnL w="7000">
                      <a:solidFill>
                        <a:srgbClr val="BFBFBF"/>
                      </a:solidFill>
                    </a:lnL>
                    <a:lnR w="7000">
                      <a:solidFill>
                        <a:srgbClr val="BFBFBF"/>
                      </a:solidFill>
                    </a:lnR>
                    <a:lnT w="7000">
                      <a:solidFill>
                        <a:srgbClr val="BFBFBF"/>
                      </a:solidFill>
                    </a:lnT>
                    <a:lnB w="7000">
                      <a:solidFill>
                        <a:srgbClr val="BFBFBF"/>
                      </a:solidFill>
                    </a:lnB>
                  </a:tcPr>
                </a:tc>
              </a:tr>
              <a:tr h="630936">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B/S/Oは揃うが、OCRの項目が一部不足</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2</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630936">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前後どちらかのB/S/Oが不足</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23</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630936">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合計</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500" b="0" lang="ja-JP">
                          <a:solidFill>
                            <a:srgbClr val="111111"/>
                          </a:solidFill>
                          <a:latin typeface="游ゴシック"/>
                          <a:ea typeface="游ゴシック"/>
                        </a:rPr>
                        <a:t>34</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bl>
          </a:graphicData>
        </a:graphic>
      </p:graphicFrame>
      <p:sp>
        <p:nvSpPr>
          <p:cNvPr id="5" name="TextBox 4"/>
          <p:cNvSpPr txBox="1"/>
          <p:nvPr/>
        </p:nvSpPr>
        <p:spPr>
          <a:xfrm>
            <a:off x="838504" y="5449824"/>
            <a:ext cx="10515600" cy="1005840"/>
          </a:xfrm>
          <a:prstGeom prst="rect">
            <a:avLst/>
          </a:prstGeom>
          <a:noFill/>
        </p:spPr>
        <p:txBody>
          <a:bodyPr wrap="square" lIns="0" rIns="0" tIns="0" bIns="0">
            <a:noAutofit/>
          </a:bodyPr>
          <a:lstStyle/>
          <a:p>
            <a:pPr algn="l">
              <a:lnSpc>
                <a:spcPct val="112000"/>
              </a:lnSpc>
              <a:spcAft>
                <a:spcPts val="0"/>
              </a:spcAft>
              <a:buNone/>
            </a:pPr>
            <a:r>
              <a:rPr sz="2500" b="0" lang="ja-JP">
                <a:solidFill>
                  <a:srgbClr val="B02121"/>
                </a:solidFill>
                <a:latin typeface="游ゴシック"/>
                <a:ea typeface="游ゴシック"/>
              </a:rPr>
              <a:t>前後のB/S/Oを照合できたのは11候補群。</a:t>
            </a:r>
            <a:br/>
            <a:r>
              <a:rPr sz="2500" b="0" lang="ja-JP">
                <a:solidFill>
                  <a:srgbClr val="B02121"/>
                </a:solidFill>
                <a:latin typeface="游ゴシック"/>
                <a:ea typeface="游ゴシック"/>
              </a:rPr>
              <a:t>全項目の取得は、イベント判定の成功や正解率とは異なる。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補足：照合例と結果の内訳</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12</a:t>
            </a:r>
          </a:p>
        </p:txBody>
      </p:sp>
      <p:sp>
        <p:nvSpPr>
          <p:cNvPr id="4" name="TextBox 3"/>
          <p:cNvSpPr txBox="1"/>
          <p:nvPr/>
        </p:nvSpPr>
        <p:spPr>
          <a:xfrm>
            <a:off x="838504" y="1819656"/>
            <a:ext cx="10515600" cy="411480"/>
          </a:xfrm>
          <a:prstGeom prst="rect">
            <a:avLst/>
          </a:prstGeom>
          <a:noFill/>
        </p:spPr>
        <p:txBody>
          <a:bodyPr wrap="square" lIns="0" rIns="0" tIns="0" bIns="0">
            <a:noAutofit/>
          </a:bodyPr>
          <a:lstStyle/>
          <a:p>
            <a:pPr algn="l">
              <a:lnSpc>
                <a:spcPct val="112000"/>
              </a:lnSpc>
              <a:spcAft>
                <a:spcPts val="1000"/>
              </a:spcAft>
              <a:buNone/>
            </a:pPr>
            <a:r>
              <a:rPr sz="2600" b="0" lang="ja-JP">
                <a:solidFill>
                  <a:srgbClr val="111111"/>
                </a:solidFill>
                <a:latin typeface="游ゴシック"/>
                <a:ea typeface="游ゴシック"/>
              </a:rPr>
              <a:t>回・得点・走者も前後で取得できた候補群の例</a:t>
            </a:r>
          </a:p>
        </p:txBody>
      </p:sp>
      <p:graphicFrame>
        <p:nvGraphicFramePr>
          <p:cNvPr id="5" name="Table 4"/>
          <p:cNvGraphicFramePr>
            <a:graphicFrameLocks noGrp="1"/>
          </p:cNvGraphicFramePr>
          <p:nvPr/>
        </p:nvGraphicFramePr>
        <p:xfrm>
          <a:off x="838504" y="2523744"/>
          <a:ext cx="10515600" cy="2880360"/>
        </p:xfrm>
        <a:graphic>
          <a:graphicData uri="http://schemas.openxmlformats.org/drawingml/2006/table">
            <a:tbl>
              <a:tblPr firstRow="1" bandRow="1">
                <a:tableStyleId>{5C22544A-7EE6-4342-B048-85BDC9FD1C3A}</a:tableStyleId>
              </a:tblPr>
              <a:tblGrid>
                <a:gridCol w="914400"/>
                <a:gridCol w="2468880"/>
                <a:gridCol w="1554480"/>
                <a:gridCol w="1554480"/>
                <a:gridCol w="1463040"/>
                <a:gridCol w="2560320"/>
              </a:tblGrid>
              <a:tr h="576072">
                <a:tc>
                  <a:txBody>
                    <a:bodyPr wrap="square" lIns="0" rIns="0" tIns="0" bIns="0">
                      <a:noAutofit/>
                    </a:bodyPr>
                    <a:lstStyle/>
                    <a:p>
                      <a:pPr algn="l">
                        <a:lnSpc>
                          <a:spcPct val="112000"/>
                        </a:lnSpc>
                        <a:spcAft>
                          <a:spcPts val="0"/>
                        </a:spcAft>
                        <a:buNone/>
                      </a:pPr>
                      <a:r>
                        <a:rPr sz="2000" b="1" lang="ja-JP">
                          <a:solidFill>
                            <a:srgbClr val="111111"/>
                          </a:solidFill>
                          <a:latin typeface="游ゴシック"/>
                          <a:ea typeface="游ゴシック"/>
                        </a:rPr>
                        <a:t>候補</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1" lang="ja-JP">
                          <a:solidFill>
                            <a:srgbClr val="111111"/>
                          </a:solidFill>
                          <a:latin typeface="游ゴシック"/>
                          <a:ea typeface="游ゴシック"/>
                        </a:rPr>
                        <a:t>区間［秒］</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1" lang="ja-JP">
                          <a:solidFill>
                            <a:srgbClr val="111111"/>
                          </a:solidFill>
                          <a:latin typeface="游ゴシック"/>
                          <a:ea typeface="游ゴシック"/>
                        </a:rPr>
                        <a:t>前 B/S/O</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1" lang="ja-JP">
                          <a:solidFill>
                            <a:srgbClr val="111111"/>
                          </a:solidFill>
                          <a:latin typeface="游ゴシック"/>
                          <a:ea typeface="游ゴシック"/>
                        </a:rPr>
                        <a:t>後 B/S/O</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1" lang="ja-JP">
                          <a:solidFill>
                            <a:srgbClr val="111111"/>
                          </a:solidFill>
                          <a:latin typeface="游ゴシック"/>
                          <a:ea typeface="游ゴシック"/>
                        </a:rPr>
                        <a:t>走者</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1" lang="ja-JP">
                          <a:solidFill>
                            <a:srgbClr val="111111"/>
                          </a:solidFill>
                          <a:latin typeface="游ゴシック"/>
                          <a:ea typeface="游ゴシック"/>
                        </a:rPr>
                        <a:t>回・得点</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r>
              <a:tr h="57607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2</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19.86–22.01</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1 / 0 / 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1 / 1 / 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なし</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5回ウラ 0–0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57607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3</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33.66–35.91</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1 / 1 / 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2 / 1 / 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なし</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5回ウラ 0–0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57607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4</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44.07–46.34</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2 / 1 / 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2 / 2 / 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なし</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5回ウラ 0–0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576072">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22</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293.11–294.85</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2 / 0 / 2</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2 / 1 / 2</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一塁</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000" b="0" lang="ja-JP">
                          <a:solidFill>
                            <a:srgbClr val="111111"/>
                          </a:solidFill>
                          <a:latin typeface="游ゴシック"/>
                          <a:ea typeface="游ゴシック"/>
                        </a:rPr>
                        <a:t>5回ウラ 0–0</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bl>
          </a:graphicData>
        </a:graphic>
      </p:graphicFrame>
      <p:sp>
        <p:nvSpPr>
          <p:cNvPr id="6" name="TextBox 5"/>
          <p:cNvSpPr txBox="1"/>
          <p:nvPr/>
        </p:nvSpPr>
        <p:spPr>
          <a:xfrm>
            <a:off x="838504" y="5623560"/>
            <a:ext cx="10515600" cy="822960"/>
          </a:xfrm>
          <a:prstGeom prst="rect">
            <a:avLst/>
          </a:prstGeom>
          <a:noFill/>
        </p:spPr>
        <p:txBody>
          <a:bodyPr wrap="square" lIns="0" rIns="0" tIns="0" bIns="0">
            <a:noAutofit/>
          </a:bodyPr>
          <a:lstStyle/>
          <a:p>
            <a:pPr algn="l">
              <a:lnSpc>
                <a:spcPct val="112000"/>
              </a:lnSpc>
              <a:spcAft>
                <a:spcPts val="0"/>
              </a:spcAft>
              <a:buNone/>
            </a:pPr>
            <a:r>
              <a:rPr sz="2300" b="0" lang="ja-JP">
                <a:solidFill>
                  <a:srgbClr val="111111"/>
                </a:solidFill>
                <a:latin typeface="游ゴシック"/>
                <a:ea typeface="游ゴシック"/>
              </a:rPr>
              <a:t>B/S/O照合11群の内訳：S増3・B増1・不変7（うち2S不変2）</a:t>
            </a:r>
            <a:br/>
            <a:r>
              <a:rPr sz="2300" b="0" lang="ja-JP">
                <a:solidFill>
                  <a:srgbClr val="111111"/>
                </a:solidFill>
                <a:latin typeface="游ゴシック"/>
                <a:ea typeface="游ゴシック"/>
              </a:rPr>
              <a:t>不変2は、最初の安定状態を採用した元の照合結果。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504" y="364845"/>
            <a:ext cx="10515600" cy="1325880"/>
          </a:xfrm>
        </p:spPr>
        <p:txBody>
          <a:bodyPr wrap="square" lIns="0" rIns="0" tIns="0" bIns="0">
            <a:noAutofit/>
          </a:bodyPr>
          <a:lstStyle/>
          <a:p>
            <a:pPr algn="l">
              <a:lnSpc>
                <a:spcPct val="112000"/>
              </a:lnSpc>
              <a:spcAft>
                <a:spcPts val="0"/>
              </a:spcAft>
              <a:buNone/>
            </a:pPr>
            <a:r>
              <a:rPr sz="4400" b="0" lang="ja-JP">
                <a:solidFill>
                  <a:srgbClr val="111111"/>
                </a:solidFill>
                <a:latin typeface="游ゴシック Light"/>
                <a:ea typeface="游ゴシック Light"/>
              </a:rPr>
              <a:t>補足：従来の評価との違い</a:t>
            </a:r>
          </a:p>
        </p:txBody>
      </p:sp>
      <p:sp>
        <p:nvSpPr>
          <p:cNvPr id="3" name="TextBox 2"/>
          <p:cNvSpPr txBox="1"/>
          <p:nvPr/>
        </p:nvSpPr>
        <p:spPr>
          <a:xfrm>
            <a:off x="10881360" y="6510528"/>
            <a:ext cx="457200" cy="201168"/>
          </a:xfrm>
          <a:prstGeom prst="rect">
            <a:avLst/>
          </a:prstGeom>
          <a:noFill/>
        </p:spPr>
        <p:txBody>
          <a:bodyPr wrap="square" lIns="0" rIns="0" tIns="0" bIns="0">
            <a:noAutofit/>
          </a:bodyPr>
          <a:lstStyle/>
          <a:p>
            <a:pPr algn="r">
              <a:lnSpc>
                <a:spcPct val="112000"/>
              </a:lnSpc>
              <a:spcAft>
                <a:spcPts val="0"/>
              </a:spcAft>
              <a:buNone/>
            </a:pPr>
            <a:r>
              <a:rPr sz="1200" b="0" lang="ja-JP">
                <a:solidFill>
                  <a:srgbClr val="555555"/>
                </a:solidFill>
                <a:latin typeface="游ゴシック"/>
                <a:ea typeface="游ゴシック"/>
              </a:rPr>
              <a:t>13</a:t>
            </a:r>
          </a:p>
        </p:txBody>
      </p:sp>
      <p:graphicFrame>
        <p:nvGraphicFramePr>
          <p:cNvPr id="4" name="Table 3"/>
          <p:cNvGraphicFramePr>
            <a:graphicFrameLocks noGrp="1"/>
          </p:cNvGraphicFramePr>
          <p:nvPr/>
        </p:nvGraphicFramePr>
        <p:xfrm>
          <a:off x="838504" y="1920240"/>
          <a:ext cx="10515600" cy="3072384"/>
        </p:xfrm>
        <a:graphic>
          <a:graphicData uri="http://schemas.openxmlformats.org/drawingml/2006/table">
            <a:tbl>
              <a:tblPr firstRow="1" bandRow="1">
                <a:tableStyleId>{5C22544A-7EE6-4342-B048-85BDC9FD1C3A}</a:tableStyleId>
              </a:tblPr>
              <a:tblGrid>
                <a:gridCol w="1920240"/>
                <a:gridCol w="4297680"/>
                <a:gridCol w="4297680"/>
              </a:tblGrid>
              <a:tr h="768096">
                <a:tc>
                  <a:txBody>
                    <a:bodyPr wrap="square" lIns="0" rIns="0" tIns="0" bIns="0">
                      <a:noAutofit/>
                    </a:bodyPr>
                    <a:lstStyle/>
                    <a:p>
                      <a:pPr algn="l">
                        <a:lnSpc>
                          <a:spcPct val="112000"/>
                        </a:lnSpc>
                        <a:spcAft>
                          <a:spcPts val="0"/>
                        </a:spcAft>
                        <a:buNone/>
                      </a:pPr>
                      <a:r>
                        <a:rPr sz="2200" b="1" lang="ja-JP">
                          <a:solidFill>
                            <a:srgbClr val="111111"/>
                          </a:solidFill>
                          <a:latin typeface="游ゴシック"/>
                          <a:ea typeface="游ゴシック"/>
                        </a:rPr>
                        <a:t>時期</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1" lang="ja-JP">
                          <a:solidFill>
                            <a:srgbClr val="111111"/>
                          </a:solidFill>
                          <a:latin typeface="游ゴシック"/>
                          <a:ea typeface="游ゴシック"/>
                        </a:rPr>
                        <a:t>評価・集計した対象</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1" lang="ja-JP">
                          <a:solidFill>
                            <a:srgbClr val="111111"/>
                          </a:solidFill>
                          <a:latin typeface="游ゴシック"/>
                          <a:ea typeface="游ゴシック"/>
                        </a:rPr>
                        <a:t>数値の意味</a:t>
                      </a:r>
                    </a:p>
                  </a:txBody>
                  <a:tcPr marL="118872" marR="91440" marT="64008" marB="36576" anchor="ctr">
                    <a:solidFill>
                      <a:srgbClr val="EEEEEE"/>
                    </a:solidFill>
                    <a:lnL w="7000">
                      <a:solidFill>
                        <a:srgbClr val="BFBFBF"/>
                      </a:solidFill>
                    </a:lnL>
                    <a:lnR w="7000">
                      <a:solidFill>
                        <a:srgbClr val="BFBFBF"/>
                      </a:solidFill>
                    </a:lnR>
                    <a:lnT w="7000">
                      <a:solidFill>
                        <a:srgbClr val="BFBFBF"/>
                      </a:solidFill>
                    </a:lnT>
                    <a:lnB w="7000">
                      <a:solidFill>
                        <a:srgbClr val="BFBFBF"/>
                      </a:solidFill>
                    </a:lnB>
                  </a:tcPr>
                </a:tc>
              </a:tr>
              <a:tr h="768096">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7月</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静止画上のB/S/O・走者</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適合率・再現率</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768096">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10月の短編</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10動画24球と目視の参考区間</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選んだ候補の平均tIoU 0.711</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r h="768096">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今週</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同じ動画の投球候補と各状況</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c>
                  <a:txBody>
                    <a:bodyPr wrap="square" lIns="0" rIns="0" tIns="0" bIns="0">
                      <a:noAutofit/>
                    </a:bodyPr>
                    <a:lstStyle/>
                    <a:p>
                      <a:pPr algn="l">
                        <a:lnSpc>
                          <a:spcPct val="112000"/>
                        </a:lnSpc>
                        <a:spcAft>
                          <a:spcPts val="0"/>
                        </a:spcAft>
                        <a:buNone/>
                      </a:pPr>
                      <a:r>
                        <a:rPr sz="2200" b="0" lang="ja-JP">
                          <a:solidFill>
                            <a:srgbClr val="111111"/>
                          </a:solidFill>
                          <a:latin typeface="游ゴシック"/>
                          <a:ea typeface="游ゴシック"/>
                        </a:rPr>
                        <a:t>前後の全項目：9群／34群</a:t>
                      </a:r>
                    </a:p>
                  </a:txBody>
                  <a:tcPr marL="118872" marR="91440" marT="64008" marB="36576" anchor="ctr">
                    <a:solidFill>
                      <a:srgbClr val="FFFFFF"/>
                    </a:solidFill>
                    <a:lnL w="7000">
                      <a:solidFill>
                        <a:srgbClr val="BFBFBF"/>
                      </a:solidFill>
                    </a:lnL>
                    <a:lnR w="7000">
                      <a:solidFill>
                        <a:srgbClr val="BFBFBF"/>
                      </a:solidFill>
                    </a:lnR>
                    <a:lnT w="7000">
                      <a:solidFill>
                        <a:srgbClr val="BFBFBF"/>
                      </a:solidFill>
                    </a:lnT>
                    <a:lnB w="7000">
                      <a:solidFill>
                        <a:srgbClr val="BFBFBF"/>
                      </a:solidFill>
                    </a:lnB>
                  </a:tcPr>
                </a:tc>
              </a:tr>
            </a:tbl>
          </a:graphicData>
        </a:graphic>
      </p:graphicFrame>
      <p:sp>
        <p:nvSpPr>
          <p:cNvPr id="5" name="TextBox 4"/>
          <p:cNvSpPr txBox="1"/>
          <p:nvPr/>
        </p:nvSpPr>
        <p:spPr>
          <a:xfrm>
            <a:off x="838504" y="5367528"/>
            <a:ext cx="10515600" cy="1005840"/>
          </a:xfrm>
          <a:prstGeom prst="rect">
            <a:avLst/>
          </a:prstGeom>
          <a:noFill/>
        </p:spPr>
        <p:txBody>
          <a:bodyPr wrap="square" lIns="0" rIns="0" tIns="0" bIns="0">
            <a:noAutofit/>
          </a:bodyPr>
          <a:lstStyle/>
          <a:p>
            <a:pPr algn="l">
              <a:lnSpc>
                <a:spcPct val="112000"/>
              </a:lnSpc>
              <a:spcAft>
                <a:spcPts val="0"/>
              </a:spcAft>
              <a:buNone/>
            </a:pPr>
            <a:r>
              <a:rPr sz="2500" b="0" lang="ja-JP">
                <a:solidFill>
                  <a:srgbClr val="B02121"/>
                </a:solidFill>
                <a:latin typeface="游ゴシック"/>
                <a:ea typeface="游ゴシック"/>
              </a:rPr>
              <a:t>対象と数えているものが違うため、精度の改善とは比較できない。</a:t>
            </a:r>
            <a:br/>
            <a:r>
              <a:rPr sz="2500" b="0" lang="ja-JP">
                <a:solidFill>
                  <a:srgbClr val="B02121"/>
                </a:solidFill>
                <a:latin typeface="游ゴシック"/>
                <a:ea typeface="游ゴシック"/>
              </a:rPr>
              <a:t>今回の正解注釈による、投球検出・イベント判定の評価は未実施。</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407</TotalTime>
  <Words>1045</Words>
  <Application>Microsoft Office PowerPoint</Application>
  <PresentationFormat>ワイド画面</PresentationFormat>
  <Paragraphs>64</Paragraphs>
  <Slides>9</Slides>
  <Notes>9</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游ゴシック Light</vt:lpstr>
      <vt:lpstr>Arial</vt:lpstr>
      <vt:lpstr>Office テーマ</vt:lpstr>
      <vt:lpstr>スコアボード認識と投球検出による野球イベント検出</vt:lpstr>
      <vt:lpstr>今週したこと</vt:lpstr>
      <vt:lpstr>2回表の2ストライク後のファウル</vt:lpstr>
      <vt:lpstr>4回表の2ストライク後のファウル</vt:lpstr>
      <vt:lpstr>4回表の誤検出のシーン</vt:lpstr>
      <vt:lpstr>8回ウラの誤検出のシーン</vt:lpstr>
      <vt:lpstr>4回ウラの2ストライク後のファウル</vt:lpstr>
      <vt:lpstr>5回表の2ストライク後のファウル</vt:lpstr>
      <vt:lpstr>来週すること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スコアボード認識と投球検出による野球イベント検出 — 全処理の適用結果</dc:title>
  <dc:creator>棚橋 悠</dc:creator>
  <cp:lastModifiedBy>棚橋 悠</cp:lastModifiedBy>
  <cp:revision>1</cp:revision>
  <dcterms:created xsi:type="dcterms:W3CDTF">2026-10-23T02:03:11Z</dcterms:created>
  <dcterms:modified xsi:type="dcterms:W3CDTF">2026-10-28T05:50:54Z</dcterms:modified>
  <dc:subject>これまでの研究を踏まえた2026年10月30日の改訂報告</dc:subject>
  <cp:keywords>本編9枚、補足4枚、結果からいえること</cp:keywords>
</cp:coreProperties>
</file>