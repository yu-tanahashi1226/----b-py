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1"/>
  </p:notesMasterIdLst>
  <p:sldIdLst>
    <p:sldId id="257" r:id="rId2"/>
    <p:sldId id="258" r:id="rId10"/>
    <p:sldId id="259" r:id="rId9"/>
    <p:sldId id="260" r:id="rId8"/>
    <p:sldId id="261" r:id="rId7"/>
    <p:sldId id="262" r:id="rId6"/>
    <p:sldId id="263" r:id="rId5"/>
    <p:sldId id="264" r:id="rId4"/>
    <p:sldId id="265" r:id="rId3"/>
    <p:sldId id="266" r:id="rId18"/>
    <p:sldId id="267" r:id="rId19"/>
    <p:sldId id="268" r:id="rId20"/>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6BE2869-E403-47DB-89D0-83537AE937C6}" v="19" dt="2026-10-28T05:50:45.71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75131" autoAdjust="0"/>
  </p:normalViewPr>
  <p:slideViewPr>
    <p:cSldViewPr snapToGrid="0">
      <p:cViewPr varScale="1">
        <p:scale>
          <a:sx n="62" d="100"/>
          <a:sy n="62" d="100"/>
        </p:scale>
        <p:origin x="1488" y="4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9.xml"/><Relationship Id="rId4" Type="http://schemas.openxmlformats.org/officeDocument/2006/relationships/slide" Target="slides/slide8.xml"/><Relationship Id="rId5" Type="http://schemas.openxmlformats.org/officeDocument/2006/relationships/slide" Target="slides/slide7.xml"/><Relationship Id="rId6" Type="http://schemas.openxmlformats.org/officeDocument/2006/relationships/slide" Target="slides/slide6.xml"/><Relationship Id="rId7" Type="http://schemas.openxmlformats.org/officeDocument/2006/relationships/slide" Target="slides/slide5.xml"/><Relationship Id="rId8" Type="http://schemas.openxmlformats.org/officeDocument/2006/relationships/slide" Target="slides/slide4.xml"/><Relationship Id="rId9" Type="http://schemas.openxmlformats.org/officeDocument/2006/relationships/slide" Target="slides/slide3.xml"/><Relationship Id="rId10" Type="http://schemas.openxmlformats.org/officeDocument/2006/relationships/slide" Target="slides/slide2.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 Id="rId16" Type="http://schemas.microsoft.com/office/2016/11/relationships/changesInfo" Target="changesInfos/changesInfo1.xml"/><Relationship Id="rId17" Type="http://schemas.microsoft.com/office/2015/10/relationships/revisionInfo" Target="revisionInfo.xml"/><Relationship Id="rId18" Type="http://schemas.openxmlformats.org/officeDocument/2006/relationships/slide" Target="slides/slide10.xml"/><Relationship Id="rId19" Type="http://schemas.openxmlformats.org/officeDocument/2006/relationships/slide" Target="slides/slide11.xml"/><Relationship Id="rId20" Type="http://schemas.openxmlformats.org/officeDocument/2006/relationships/slide" Target="slides/slide1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棚橋 悠" userId="f3c09411-34a9-4835-8e43-5684b6f51eff" providerId="ADAL" clId="{DED865D9-4E0A-4155-974A-B1204924A961}"/>
    <pc:docChg chg="custSel addSld delSld modSld">
      <pc:chgData name="棚橋 悠" userId="f3c09411-34a9-4835-8e43-5684b6f51eff" providerId="ADAL" clId="{DED865D9-4E0A-4155-974A-B1204924A961}" dt="2026-10-28T05:50:47.306" v="270" actId="47"/>
      <pc:docMkLst>
        <pc:docMk/>
      </pc:docMkLst>
      <pc:sldChg chg="addSp modSp modNotesTx">
        <pc:chgData name="棚橋 悠" userId="f3c09411-34a9-4835-8e43-5684b6f51eff" providerId="ADAL" clId="{DED865D9-4E0A-4155-974A-B1204924A961}" dt="2026-10-23T06:56:07.433" v="19" actId="20577"/>
        <pc:sldMkLst>
          <pc:docMk/>
          <pc:sldMk cId="3248727996" sldId="259"/>
        </pc:sldMkLst>
        <pc:spChg chg="mod">
          <ac:chgData name="棚橋 悠" userId="f3c09411-34a9-4835-8e43-5684b6f51eff" providerId="ADAL" clId="{DED865D9-4E0A-4155-974A-B1204924A961}" dt="2026-10-23T04:21:37.464" v="0"/>
          <ac:spMkLst>
            <pc:docMk/>
            <pc:sldMk cId="3248727996" sldId="259"/>
            <ac:spMk id="3" creationId="{993F4BF6-BEF4-BF6E-7FCF-9CCE590F1935}"/>
          </ac:spMkLst>
        </pc:spChg>
        <pc:picChg chg="add">
          <ac:chgData name="棚橋 悠" userId="f3c09411-34a9-4835-8e43-5684b6f51eff" providerId="ADAL" clId="{DED865D9-4E0A-4155-974A-B1204924A961}" dt="2026-10-23T04:22:03.145" v="1"/>
          <ac:picMkLst>
            <pc:docMk/>
            <pc:sldMk cId="3248727996" sldId="259"/>
            <ac:picMk id="5" creationId="{B122516F-ED5C-1973-B359-9DF2F04B9D2E}"/>
          </ac:picMkLst>
        </pc:picChg>
      </pc:sldChg>
      <pc:sldChg chg="addSp modSp modNotesTx">
        <pc:chgData name="棚橋 悠" userId="f3c09411-34a9-4835-8e43-5684b6f51eff" providerId="ADAL" clId="{DED865D9-4E0A-4155-974A-B1204924A961}" dt="2026-10-23T06:56:31.424" v="21" actId="20577"/>
        <pc:sldMkLst>
          <pc:docMk/>
          <pc:sldMk cId="518683289" sldId="260"/>
        </pc:sldMkLst>
        <pc:spChg chg="mod">
          <ac:chgData name="棚橋 悠" userId="f3c09411-34a9-4835-8e43-5684b6f51eff" providerId="ADAL" clId="{DED865D9-4E0A-4155-974A-B1204924A961}" dt="2026-10-23T04:46:17.443" v="2"/>
          <ac:spMkLst>
            <pc:docMk/>
            <pc:sldMk cId="518683289" sldId="260"/>
            <ac:spMk id="2" creationId="{A958D60C-C334-DF40-8091-65D2B325280A}"/>
          </ac:spMkLst>
        </pc:spChg>
        <pc:picChg chg="add">
          <ac:chgData name="棚橋 悠" userId="f3c09411-34a9-4835-8e43-5684b6f51eff" providerId="ADAL" clId="{DED865D9-4E0A-4155-974A-B1204924A961}" dt="2026-10-23T04:50:28.528" v="3"/>
          <ac:picMkLst>
            <pc:docMk/>
            <pc:sldMk cId="518683289" sldId="260"/>
            <ac:picMk id="5" creationId="{B86F0373-7813-8E3F-8E62-D021E83C8AAA}"/>
          </ac:picMkLst>
        </pc:picChg>
      </pc:sldChg>
      <pc:sldChg chg="addSp delSp modSp modNotesTx">
        <pc:chgData name="棚橋 悠" userId="f3c09411-34a9-4835-8e43-5684b6f51eff" providerId="ADAL" clId="{DED865D9-4E0A-4155-974A-B1204924A961}" dt="2026-10-23T06:56:51.585" v="27" actId="20577"/>
        <pc:sldMkLst>
          <pc:docMk/>
          <pc:sldMk cId="3320858306" sldId="261"/>
        </pc:sldMkLst>
        <pc:picChg chg="add mod">
          <ac:chgData name="棚橋 悠" userId="f3c09411-34a9-4835-8e43-5684b6f51eff" providerId="ADAL" clId="{DED865D9-4E0A-4155-974A-B1204924A961}" dt="2026-10-23T04:51:01.133" v="4"/>
          <ac:picMkLst>
            <pc:docMk/>
            <pc:sldMk cId="3320858306" sldId="261"/>
            <ac:picMk id="5" creationId="{DF7ECB40-15F1-919E-B22F-D24E75141D09}"/>
          </ac:picMkLst>
        </pc:picChg>
      </pc:sldChg>
      <pc:sldChg chg="addSp modSp modNotesTx">
        <pc:chgData name="棚橋 悠" userId="f3c09411-34a9-4835-8e43-5684b6f51eff" providerId="ADAL" clId="{DED865D9-4E0A-4155-974A-B1204924A961}" dt="2026-10-23T06:57:51.307" v="34" actId="20577"/>
        <pc:sldMkLst>
          <pc:docMk/>
          <pc:sldMk cId="3261200730" sldId="262"/>
        </pc:sldMkLst>
        <pc:spChg chg="mod">
          <ac:chgData name="棚橋 悠" userId="f3c09411-34a9-4835-8e43-5684b6f51eff" providerId="ADAL" clId="{DED865D9-4E0A-4155-974A-B1204924A961}" dt="2026-10-23T05:06:58.692" v="5"/>
          <ac:spMkLst>
            <pc:docMk/>
            <pc:sldMk cId="3261200730" sldId="262"/>
            <ac:spMk id="2" creationId="{36280A13-882F-3F19-F41A-DE9B5AD25B3F}"/>
          </ac:spMkLst>
        </pc:spChg>
        <pc:picChg chg="add">
          <ac:chgData name="棚橋 悠" userId="f3c09411-34a9-4835-8e43-5684b6f51eff" providerId="ADAL" clId="{DED865D9-4E0A-4155-974A-B1204924A961}" dt="2026-10-23T05:12:06.592" v="6"/>
          <ac:picMkLst>
            <pc:docMk/>
            <pc:sldMk cId="3261200730" sldId="262"/>
            <ac:picMk id="5" creationId="{5D939A76-AD5E-5385-4D74-04C0E3430B93}"/>
          </ac:picMkLst>
        </pc:picChg>
      </pc:sldChg>
      <pc:sldChg chg="addSp modSp modNotesTx">
        <pc:chgData name="棚橋 悠" userId="f3c09411-34a9-4835-8e43-5684b6f51eff" providerId="ADAL" clId="{DED865D9-4E0A-4155-974A-B1204924A961}" dt="2026-10-23T09:00:49.246" v="268" actId="20577"/>
        <pc:sldMkLst>
          <pc:docMk/>
          <pc:sldMk cId="240626316" sldId="263"/>
        </pc:sldMkLst>
        <pc:spChg chg="mod">
          <ac:chgData name="棚橋 悠" userId="f3c09411-34a9-4835-8e43-5684b6f51eff" providerId="ADAL" clId="{DED865D9-4E0A-4155-974A-B1204924A961}" dt="2026-10-23T05:42:56.319" v="7"/>
          <ac:spMkLst>
            <pc:docMk/>
            <pc:sldMk cId="240626316" sldId="263"/>
            <ac:spMk id="2" creationId="{132D0B27-DE30-521B-F3B4-6E267DC0694F}"/>
          </ac:spMkLst>
        </pc:spChg>
        <pc:spChg chg="mod">
          <ac:chgData name="棚橋 悠" userId="f3c09411-34a9-4835-8e43-5684b6f51eff" providerId="ADAL" clId="{DED865D9-4E0A-4155-974A-B1204924A961}" dt="2026-10-23T05:45:52.141" v="9"/>
          <ac:spMkLst>
            <pc:docMk/>
            <pc:sldMk cId="240626316" sldId="263"/>
            <ac:spMk id="3" creationId="{55E2C91E-31E6-BBA5-5A12-7E19B05716A1}"/>
          </ac:spMkLst>
        </pc:spChg>
        <pc:picChg chg="add">
          <ac:chgData name="棚橋 悠" userId="f3c09411-34a9-4835-8e43-5684b6f51eff" providerId="ADAL" clId="{DED865D9-4E0A-4155-974A-B1204924A961}" dt="2026-10-23T05:46:52.219" v="10"/>
          <ac:picMkLst>
            <pc:docMk/>
            <pc:sldMk cId="240626316" sldId="263"/>
            <ac:picMk id="5" creationId="{0105924B-C93B-D457-CEB6-5DA4864588FF}"/>
          </ac:picMkLst>
        </pc:picChg>
      </pc:sldChg>
      <pc:sldChg chg="modSp modNotesTx">
        <pc:chgData name="棚橋 悠" userId="f3c09411-34a9-4835-8e43-5684b6f51eff" providerId="ADAL" clId="{DED865D9-4E0A-4155-974A-B1204924A961}" dt="2026-10-23T06:57:18.266" v="33" actId="20577"/>
        <pc:sldMkLst>
          <pc:docMk/>
          <pc:sldMk cId="1926280842" sldId="265"/>
        </pc:sldMkLst>
        <pc:spChg chg="mod">
          <ac:chgData name="棚橋 悠" userId="f3c09411-34a9-4835-8e43-5684b6f51eff" providerId="ADAL" clId="{DED865D9-4E0A-4155-974A-B1204924A961}" dt="2026-10-23T06:42:38.632" v="11"/>
          <ac:spMkLst>
            <pc:docMk/>
            <pc:sldMk cId="1926280842" sldId="265"/>
            <ac:spMk id="2" creationId="{408EB29E-58D0-5B07-6649-20EF26D1BFE1}"/>
          </ac:spMkLst>
        </pc:spChg>
      </pc:sldChg>
      <pc:sldChg chg="add del">
        <pc:chgData name="棚橋 悠" userId="f3c09411-34a9-4835-8e43-5684b6f51eff" providerId="ADAL" clId="{DED865D9-4E0A-4155-974A-B1204924A961}" dt="2026-10-28T05:50:47.306" v="270" actId="47"/>
        <pc:sldMkLst>
          <pc:docMk/>
          <pc:sldMk cId="231164087" sldId="266"/>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311F1D5-E74B-45F3-85C5-E5DB6784AACD}" type="datetimeFigureOut">
              <a:rPr kumimoji="1" lang="ja-JP" altLang="en-US" smtClean="0"/>
              <a:t>2026/10/28</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309318C-E642-4546-9687-319ACDBB0ECC}" type="slidenum">
              <a:rPr kumimoji="1" lang="ja-JP" altLang="en-US" smtClean="0"/>
              <a:t>‹#›</a:t>
            </a:fld>
            <a:endParaRPr kumimoji="1" lang="ja-JP" altLang="en-US"/>
          </a:p>
        </p:txBody>
      </p:sp>
    </p:spTree>
    <p:extLst>
      <p:ext uri="{BB962C8B-B14F-4D97-AF65-F5344CB8AC3E}">
        <p14:creationId xmlns:p14="http://schemas.microsoft.com/office/powerpoint/2010/main" val="2001776678"/>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t>スコアボード認識と投球検出による野球イベント検出について、今週の進捗を報告します。今週は、これまで個別に使っていたYOLO、PaddleOCR、VideoMAEによる処理をまとめ、同じ動画の時刻で結果を照合しました。</a:t>
            </a:r>
          </a:p>
        </p:txBody>
      </p:sp>
      <p:sp>
        <p:nvSpPr>
          <p:cNvPr id="4" name="スライド番号プレースホルダー 3"/>
          <p:cNvSpPr>
            <a:spLocks noGrp="1"/>
          </p:cNvSpPr>
          <p:nvPr>
            <p:ph type="sldNum" sz="quarter" idx="5"/>
          </p:nvPr>
        </p:nvSpPr>
        <p:spPr/>
        <p:txBody>
          <a:bodyPr/>
          <a:lstStyle/>
          <a:p>
            <a:fld id="{5318FE2C-F947-4DA5-B094-AF85F882C6C1}" type="slidenum">
              <a:rPr kumimoji="1" lang="ja-JP" altLang="en-US" smtClean="0"/>
              <a:t>1</a:t>
            </a:fld>
            <a:endParaRPr kumimoji="1" lang="ja-JP" altLang="en-US"/>
          </a:p>
        </p:txBody>
      </p:sp>
    </p:spTree>
    <p:extLst>
      <p:ext uri="{BB962C8B-B14F-4D97-AF65-F5344CB8AC3E}">
        <p14:creationId xmlns:p14="http://schemas.microsoft.com/office/powerpoint/2010/main" val="2173275751"/>
      </p:ext>
    </p:extLst>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今週は、これまで別々に使っていた3つの処理を、同じ映像に適用して結果をまとめました。YOLOでスコアボードとカウントなどの表示を検出し、PaddleOCRでイニングと得点を読み、VideoMAEの特徴量とCompact ActionFormerで投球区間の候補を出しました。対象は5回裏の動画全体です。さらに、投球候補と前後の表示を照合し、確認画像、時系列グラフ、CSVとして保存できるようにしました。</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的は、投球が行われた時刻と、スコアボードの変化を対応付け、野球のイベント判定につなげることです。今回は5回裏の動画全体、約8分50秒を使用しました。フレームレートは30fpsで、総フレーム数は15,906です。約134分あるtest.mp4は、このCPU環境では1時間以内の処理が見込めなかったため、指定した代替の5ura.mp4を使いました。既存の学習済みモデルを利用し、今回の動画で追加学習はしていません。</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処理の役割は、YOLOがスコアボードの位置と、内部のボール、ストライク、アウト、走者の表示です。PaddleOCRは、YOLOが切り出した枠内のイニングと得点を読みます。一方、VideoMAEは元映像の16フレームから特徴量を抽出し、Compact ActionFormerが投球の開始と終了を推定します。この区間候補の前後で、表示がどう変わったかを同じ動画の時刻で照合しました。例えば、投球前が2ストライクで、前後のカウントが変わらない場合を確認対象にします。ただし、この条件だけでファウルと確定するものではありません。</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動画全体への適用では、Soft-NMS後に65個の区間候補が残りました。重なる候補を表示上まとめると34候補群になりました。この34という数は、実際の投球数を確定したものではありません。赤線が投球区間候補で、その高さがモデルのスコアです。中央はYOLOによるボール、ストライク、アウト、下段はOCRによる得点の取得値です。表示がない場面や読み取れない場面は、不明として残しています。今回の動画には正解注釈をまだ作っていないため、正解の区間を示す帯や、平均tIoUは付けていません。</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候補群を、前後のカウントから整理した結果です。ストライク表示が増えたものが3候補群、ボール表示が増えたものが1候補群でした。2ストライク未満でカウントが変わらないものが5候補群、2ストライクで変わらないものが2候補群でした。残りの23候補群は、前後のどちらか、または両方の表示が不足し、判定を保留しています。これは表示変化を機械的に整理した数であり、それぞれの投球結果が正しく分類できた割合を表すものではありません。</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具体例として、約113.41秒から115.02秒の候補を示します。この候補の投球検出スコアは約0.966でした。直前の113.0秒と直後の116.0秒を比べると、どちらも0ボール、2ストライク、1アウトと読み取られています。このため、2ストライク後にカウントが変わらない確認対象として残しました。同じ条件に該当したものは、約155.31秒から157.27秒にもあり、合計2候補群でした。ここでのスコアは投球区間の検出スコアで、ファウルの確率ではありません。</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ただし、投球直後はスコアボードの更新が間に合っていない可能性があります。約155.31秒から157.27秒の候補では、158.0秒に打者が走り出す場面が含まれますが、取得された表示は、投球前と同じ0ボール、2ストライク、1アウトでした。この例からも、短時間カウントが同じというだけで、ファウルと判断することはできません。今回の2候補群は、あくまで確認対象です。今後は、表示の更新を待つ処理に加え、投球後の映像や次の表示も確認し、実際の結果と対応付ける必要があります。</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得点表示については、367.0秒の取得値が0対0、434.5秒の取得値が0対1でした。これにより、異なる時刻の得点表示を読み取れていることを確認しました。ただし、その間の表示が不足しているため、正確に何秒で得点したかまでは特定していません。また、細い数字の1を文字検出が見落とす場面がありました。この場合は、切り出した得点欄を同じOCRの文字認識モデルへ直接渡し、2通りの切り出しで同じ数値が得られた場合だけ採用しました。</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来週はまず、5回裏の動画全体に、投球の開始と終了、ファウルなどの結果の正解注釈を付けます。そのうえで、投球検出の見逃しと誤検出を数え、区間の重なりも評価します。イベントの判定精度は、投球区間の検出精度とは分けて確認します。また、投球直後の古い表示を採用しないように、表示の更新を待つ方法や、画面に戻ってから照合する方法を検討します。投球と守備動作の区別や、映像と表示の統合に関する先行研究も整理し、別の動画でも再現するかを確認したいと考え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前回の10動画、24球については、目視で設定したおおよその投球区間と、各投球に対応する最高スコア候補を比較し、平均tIoUが0.711でした。これは区間の重なりを見た結果で、守備動作への余分な候補を罰する評価ではありません。今回の5回裏全体は、まだ正解注釈を作っていないため、同じ数値を算出していません。前回の0.711を、今回の統合処理の精度として示すことはできません。</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スコアボードと内部のランプは、提供された2段階のYOLOで検出しました。表示は0.5秒ごと、OCRは表示があるときに原則2秒以上の間隔で実行しています。VideoMAEは16フレームを8フレーム間隔で取得し、768次元の特徴量を抽出しました。区間検出には、以前inning1tで学習したCompact ActionFormerを使っています。Soft-NMS後のスコア0.15以上を保持し、表示用の候補群は時間的IoUが0.25以上の重なりを基準にまとめました。表示が取得できなかった時刻は0に置き換えていません。</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B69C2F7-32A7-E77D-FF89-AEB39C103444}"/>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2900B1C6-8266-7636-2BBB-5B1E796A10B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16295C5E-634A-BC18-9431-03C076813920}"/>
              </a:ext>
            </a:extLst>
          </p:cNvPr>
          <p:cNvSpPr>
            <a:spLocks noGrp="1"/>
          </p:cNvSpPr>
          <p:nvPr>
            <p:ph type="dt" sz="half" idx="10"/>
          </p:nvPr>
        </p:nvSpPr>
        <p:spPr/>
        <p:txBody>
          <a:bodyPr/>
          <a:lstStyle/>
          <a:p>
            <a:fld id="{2C9CD4CD-63DC-47E3-9026-82609E09E688}" type="datetimeFigureOut">
              <a:rPr kumimoji="1" lang="ja-JP" altLang="en-US" smtClean="0"/>
              <a:t>2026/10/28</a:t>
            </a:fld>
            <a:endParaRPr kumimoji="1" lang="ja-JP" altLang="en-US"/>
          </a:p>
        </p:txBody>
      </p:sp>
      <p:sp>
        <p:nvSpPr>
          <p:cNvPr id="5" name="フッター プレースホルダー 4">
            <a:extLst>
              <a:ext uri="{FF2B5EF4-FFF2-40B4-BE49-F238E27FC236}">
                <a16:creationId xmlns:a16="http://schemas.microsoft.com/office/drawing/2014/main" id="{761E5B27-8E78-98A3-3DF9-AA87D46AF2F0}"/>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CCA0144E-1D81-9787-A84B-A9BB5101374A}"/>
              </a:ext>
            </a:extLst>
          </p:cNvPr>
          <p:cNvSpPr>
            <a:spLocks noGrp="1"/>
          </p:cNvSpPr>
          <p:nvPr>
            <p:ph type="sldNum" sz="quarter" idx="12"/>
          </p:nvPr>
        </p:nvSpPr>
        <p:spPr/>
        <p:txBody>
          <a:bodyPr/>
          <a:lstStyle/>
          <a:p>
            <a:fld id="{3D93102B-6B7E-479D-9673-218ADEF0265B}" type="slidenum">
              <a:rPr kumimoji="1" lang="ja-JP" altLang="en-US" smtClean="0"/>
              <a:t>‹#›</a:t>
            </a:fld>
            <a:endParaRPr kumimoji="1" lang="ja-JP" altLang="en-US"/>
          </a:p>
        </p:txBody>
      </p:sp>
    </p:spTree>
    <p:extLst>
      <p:ext uri="{BB962C8B-B14F-4D97-AF65-F5344CB8AC3E}">
        <p14:creationId xmlns:p14="http://schemas.microsoft.com/office/powerpoint/2010/main" val="425214025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CC46081-6D08-89DC-F2BB-AFB1AA9E59CA}"/>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1CE9D522-28F3-567C-38FC-5A83558FC6BD}"/>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C03D133A-AEA8-E84E-0074-C44808188044}"/>
              </a:ext>
            </a:extLst>
          </p:cNvPr>
          <p:cNvSpPr>
            <a:spLocks noGrp="1"/>
          </p:cNvSpPr>
          <p:nvPr>
            <p:ph type="dt" sz="half" idx="10"/>
          </p:nvPr>
        </p:nvSpPr>
        <p:spPr/>
        <p:txBody>
          <a:bodyPr/>
          <a:lstStyle/>
          <a:p>
            <a:fld id="{2C9CD4CD-63DC-47E3-9026-82609E09E688}" type="datetimeFigureOut">
              <a:rPr kumimoji="1" lang="ja-JP" altLang="en-US" smtClean="0"/>
              <a:t>2026/10/28</a:t>
            </a:fld>
            <a:endParaRPr kumimoji="1" lang="ja-JP" altLang="en-US"/>
          </a:p>
        </p:txBody>
      </p:sp>
      <p:sp>
        <p:nvSpPr>
          <p:cNvPr id="5" name="フッター プレースホルダー 4">
            <a:extLst>
              <a:ext uri="{FF2B5EF4-FFF2-40B4-BE49-F238E27FC236}">
                <a16:creationId xmlns:a16="http://schemas.microsoft.com/office/drawing/2014/main" id="{4C30F6DF-734E-7FAF-7A84-435456ACDDE5}"/>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E47C636B-F67B-2B5C-C9D2-31E9937AC93D}"/>
              </a:ext>
            </a:extLst>
          </p:cNvPr>
          <p:cNvSpPr>
            <a:spLocks noGrp="1"/>
          </p:cNvSpPr>
          <p:nvPr>
            <p:ph type="sldNum" sz="quarter" idx="12"/>
          </p:nvPr>
        </p:nvSpPr>
        <p:spPr/>
        <p:txBody>
          <a:bodyPr/>
          <a:lstStyle/>
          <a:p>
            <a:fld id="{3D93102B-6B7E-479D-9673-218ADEF0265B}" type="slidenum">
              <a:rPr kumimoji="1" lang="ja-JP" altLang="en-US" smtClean="0"/>
              <a:t>‹#›</a:t>
            </a:fld>
            <a:endParaRPr kumimoji="1" lang="ja-JP" altLang="en-US"/>
          </a:p>
        </p:txBody>
      </p:sp>
    </p:spTree>
    <p:extLst>
      <p:ext uri="{BB962C8B-B14F-4D97-AF65-F5344CB8AC3E}">
        <p14:creationId xmlns:p14="http://schemas.microsoft.com/office/powerpoint/2010/main" val="323379082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F8EA028-BF06-B8C9-36B3-81F30E60961A}"/>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8A2474DC-44B6-4A6B-3207-D65FFBE897C3}"/>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ACAC68B4-5F82-D34C-E554-E9FF46A646D5}"/>
              </a:ext>
            </a:extLst>
          </p:cNvPr>
          <p:cNvSpPr>
            <a:spLocks noGrp="1"/>
          </p:cNvSpPr>
          <p:nvPr>
            <p:ph type="dt" sz="half" idx="10"/>
          </p:nvPr>
        </p:nvSpPr>
        <p:spPr/>
        <p:txBody>
          <a:bodyPr/>
          <a:lstStyle/>
          <a:p>
            <a:fld id="{2C9CD4CD-63DC-47E3-9026-82609E09E688}" type="datetimeFigureOut">
              <a:rPr kumimoji="1" lang="ja-JP" altLang="en-US" smtClean="0"/>
              <a:t>2026/10/28</a:t>
            </a:fld>
            <a:endParaRPr kumimoji="1" lang="ja-JP" altLang="en-US"/>
          </a:p>
        </p:txBody>
      </p:sp>
      <p:sp>
        <p:nvSpPr>
          <p:cNvPr id="5" name="フッター プレースホルダー 4">
            <a:extLst>
              <a:ext uri="{FF2B5EF4-FFF2-40B4-BE49-F238E27FC236}">
                <a16:creationId xmlns:a16="http://schemas.microsoft.com/office/drawing/2014/main" id="{8FEF8979-440B-3283-E884-694F6569B5A9}"/>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1DCB13F6-3F3E-4B82-5DCD-A6D29C9AB436}"/>
              </a:ext>
            </a:extLst>
          </p:cNvPr>
          <p:cNvSpPr>
            <a:spLocks noGrp="1"/>
          </p:cNvSpPr>
          <p:nvPr>
            <p:ph type="sldNum" sz="quarter" idx="12"/>
          </p:nvPr>
        </p:nvSpPr>
        <p:spPr/>
        <p:txBody>
          <a:bodyPr/>
          <a:lstStyle/>
          <a:p>
            <a:fld id="{3D93102B-6B7E-479D-9673-218ADEF0265B}" type="slidenum">
              <a:rPr kumimoji="1" lang="ja-JP" altLang="en-US" smtClean="0"/>
              <a:t>‹#›</a:t>
            </a:fld>
            <a:endParaRPr kumimoji="1" lang="ja-JP" altLang="en-US"/>
          </a:p>
        </p:txBody>
      </p:sp>
    </p:spTree>
    <p:extLst>
      <p:ext uri="{BB962C8B-B14F-4D97-AF65-F5344CB8AC3E}">
        <p14:creationId xmlns:p14="http://schemas.microsoft.com/office/powerpoint/2010/main" val="26760030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44E7875-0E5F-028A-88E4-C9598B26FA20}"/>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B96DBAEE-3523-B4BE-3DC9-9CC01F1E65F2}"/>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ED305D08-F027-9C45-51A9-6F414AE725A9}"/>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B86AD949-D9EA-285D-2C61-F5962E3A4DA7}"/>
              </a:ext>
            </a:extLst>
          </p:cNvPr>
          <p:cNvSpPr>
            <a:spLocks noGrp="1"/>
          </p:cNvSpPr>
          <p:nvPr>
            <p:ph type="dt" sz="half" idx="10"/>
          </p:nvPr>
        </p:nvSpPr>
        <p:spPr/>
        <p:txBody>
          <a:bodyPr/>
          <a:lstStyle/>
          <a:p>
            <a:fld id="{2C9CD4CD-63DC-47E3-9026-82609E09E688}" type="datetimeFigureOut">
              <a:rPr kumimoji="1" lang="ja-JP" altLang="en-US" smtClean="0"/>
              <a:t>2026/10/28</a:t>
            </a:fld>
            <a:endParaRPr kumimoji="1" lang="ja-JP" altLang="en-US"/>
          </a:p>
        </p:txBody>
      </p:sp>
      <p:sp>
        <p:nvSpPr>
          <p:cNvPr id="6" name="フッター プレースホルダー 5">
            <a:extLst>
              <a:ext uri="{FF2B5EF4-FFF2-40B4-BE49-F238E27FC236}">
                <a16:creationId xmlns:a16="http://schemas.microsoft.com/office/drawing/2014/main" id="{5F048EC2-8399-00EE-CF05-CFB49C138B2A}"/>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4785F390-05B4-82BE-C568-9F526A2D40C3}"/>
              </a:ext>
            </a:extLst>
          </p:cNvPr>
          <p:cNvSpPr>
            <a:spLocks noGrp="1"/>
          </p:cNvSpPr>
          <p:nvPr>
            <p:ph type="sldNum" sz="quarter" idx="12"/>
          </p:nvPr>
        </p:nvSpPr>
        <p:spPr/>
        <p:txBody>
          <a:bodyPr/>
          <a:lstStyle/>
          <a:p>
            <a:fld id="{3D93102B-6B7E-479D-9673-218ADEF0265B}" type="slidenum">
              <a:rPr kumimoji="1" lang="ja-JP" altLang="en-US" smtClean="0"/>
              <a:t>‹#›</a:t>
            </a:fld>
            <a:endParaRPr kumimoji="1" lang="ja-JP" altLang="en-US"/>
          </a:p>
        </p:txBody>
      </p:sp>
    </p:spTree>
    <p:extLst>
      <p:ext uri="{BB962C8B-B14F-4D97-AF65-F5344CB8AC3E}">
        <p14:creationId xmlns:p14="http://schemas.microsoft.com/office/powerpoint/2010/main" val="215894659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EBEACA1-6C9C-9F7B-2052-A3968C9D6A8B}"/>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17844591-B8E4-696B-39AB-50B33B042B6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E37212C0-50F2-D17F-D8CA-0A2EF52941D7}"/>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320E4089-1298-5F02-9DF6-57342C58375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F5A97BBA-81FF-7770-1280-B597C004A145}"/>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B2938882-06E9-F165-48CA-EE710557409D}"/>
              </a:ext>
            </a:extLst>
          </p:cNvPr>
          <p:cNvSpPr>
            <a:spLocks noGrp="1"/>
          </p:cNvSpPr>
          <p:nvPr>
            <p:ph type="dt" sz="half" idx="10"/>
          </p:nvPr>
        </p:nvSpPr>
        <p:spPr/>
        <p:txBody>
          <a:bodyPr/>
          <a:lstStyle/>
          <a:p>
            <a:fld id="{2C9CD4CD-63DC-47E3-9026-82609E09E688}" type="datetimeFigureOut">
              <a:rPr kumimoji="1" lang="ja-JP" altLang="en-US" smtClean="0"/>
              <a:t>2026/10/28</a:t>
            </a:fld>
            <a:endParaRPr kumimoji="1" lang="ja-JP" altLang="en-US"/>
          </a:p>
        </p:txBody>
      </p:sp>
      <p:sp>
        <p:nvSpPr>
          <p:cNvPr id="8" name="フッター プレースホルダー 7">
            <a:extLst>
              <a:ext uri="{FF2B5EF4-FFF2-40B4-BE49-F238E27FC236}">
                <a16:creationId xmlns:a16="http://schemas.microsoft.com/office/drawing/2014/main" id="{1D334443-9F0C-E088-615F-FC339749AF66}"/>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D45D031A-9544-3674-DDED-19E6187A9D61}"/>
              </a:ext>
            </a:extLst>
          </p:cNvPr>
          <p:cNvSpPr>
            <a:spLocks noGrp="1"/>
          </p:cNvSpPr>
          <p:nvPr>
            <p:ph type="sldNum" sz="quarter" idx="12"/>
          </p:nvPr>
        </p:nvSpPr>
        <p:spPr/>
        <p:txBody>
          <a:bodyPr/>
          <a:lstStyle/>
          <a:p>
            <a:fld id="{3D93102B-6B7E-479D-9673-218ADEF0265B}" type="slidenum">
              <a:rPr kumimoji="1" lang="ja-JP" altLang="en-US" smtClean="0"/>
              <a:t>‹#›</a:t>
            </a:fld>
            <a:endParaRPr kumimoji="1" lang="ja-JP" altLang="en-US"/>
          </a:p>
        </p:txBody>
      </p:sp>
    </p:spTree>
    <p:extLst>
      <p:ext uri="{BB962C8B-B14F-4D97-AF65-F5344CB8AC3E}">
        <p14:creationId xmlns:p14="http://schemas.microsoft.com/office/powerpoint/2010/main" val="118726277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9622EEA-B043-888A-BA74-84BB885744DB}"/>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8B93EF72-DF15-FAD0-E4A7-6E54B26A3813}"/>
              </a:ext>
            </a:extLst>
          </p:cNvPr>
          <p:cNvSpPr>
            <a:spLocks noGrp="1"/>
          </p:cNvSpPr>
          <p:nvPr>
            <p:ph type="dt" sz="half" idx="10"/>
          </p:nvPr>
        </p:nvSpPr>
        <p:spPr/>
        <p:txBody>
          <a:bodyPr/>
          <a:lstStyle/>
          <a:p>
            <a:fld id="{2C9CD4CD-63DC-47E3-9026-82609E09E688}" type="datetimeFigureOut">
              <a:rPr kumimoji="1" lang="ja-JP" altLang="en-US" smtClean="0"/>
              <a:t>2026/10/28</a:t>
            </a:fld>
            <a:endParaRPr kumimoji="1" lang="ja-JP" altLang="en-US"/>
          </a:p>
        </p:txBody>
      </p:sp>
      <p:sp>
        <p:nvSpPr>
          <p:cNvPr id="4" name="フッター プレースホルダー 3">
            <a:extLst>
              <a:ext uri="{FF2B5EF4-FFF2-40B4-BE49-F238E27FC236}">
                <a16:creationId xmlns:a16="http://schemas.microsoft.com/office/drawing/2014/main" id="{296B4984-8CE5-B5D7-4990-6A789BE5B33E}"/>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F6727F94-0B3E-7FD7-1CBE-AB73B3EB0AB8}"/>
              </a:ext>
            </a:extLst>
          </p:cNvPr>
          <p:cNvSpPr>
            <a:spLocks noGrp="1"/>
          </p:cNvSpPr>
          <p:nvPr>
            <p:ph type="sldNum" sz="quarter" idx="12"/>
          </p:nvPr>
        </p:nvSpPr>
        <p:spPr/>
        <p:txBody>
          <a:bodyPr/>
          <a:lstStyle/>
          <a:p>
            <a:fld id="{3D93102B-6B7E-479D-9673-218ADEF0265B}" type="slidenum">
              <a:rPr kumimoji="1" lang="ja-JP" altLang="en-US" smtClean="0"/>
              <a:t>‹#›</a:t>
            </a:fld>
            <a:endParaRPr kumimoji="1" lang="ja-JP" altLang="en-US"/>
          </a:p>
        </p:txBody>
      </p:sp>
    </p:spTree>
    <p:extLst>
      <p:ext uri="{BB962C8B-B14F-4D97-AF65-F5344CB8AC3E}">
        <p14:creationId xmlns:p14="http://schemas.microsoft.com/office/powerpoint/2010/main" val="146589333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628AEA0A-BB00-9A3A-CECC-04E1444942A4}"/>
              </a:ext>
            </a:extLst>
          </p:cNvPr>
          <p:cNvSpPr>
            <a:spLocks noGrp="1"/>
          </p:cNvSpPr>
          <p:nvPr>
            <p:ph type="dt" sz="half" idx="10"/>
          </p:nvPr>
        </p:nvSpPr>
        <p:spPr/>
        <p:txBody>
          <a:bodyPr/>
          <a:lstStyle/>
          <a:p>
            <a:fld id="{2C9CD4CD-63DC-47E3-9026-82609E09E688}" type="datetimeFigureOut">
              <a:rPr kumimoji="1" lang="ja-JP" altLang="en-US" smtClean="0"/>
              <a:t>2026/10/28</a:t>
            </a:fld>
            <a:endParaRPr kumimoji="1" lang="ja-JP" altLang="en-US"/>
          </a:p>
        </p:txBody>
      </p:sp>
      <p:sp>
        <p:nvSpPr>
          <p:cNvPr id="3" name="フッター プレースホルダー 2">
            <a:extLst>
              <a:ext uri="{FF2B5EF4-FFF2-40B4-BE49-F238E27FC236}">
                <a16:creationId xmlns:a16="http://schemas.microsoft.com/office/drawing/2014/main" id="{4254C64C-3CDF-FE97-681F-75F41DBA8C68}"/>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307302B4-CAA2-E904-34C5-BC9FD68A30AC}"/>
              </a:ext>
            </a:extLst>
          </p:cNvPr>
          <p:cNvSpPr>
            <a:spLocks noGrp="1"/>
          </p:cNvSpPr>
          <p:nvPr>
            <p:ph type="sldNum" sz="quarter" idx="12"/>
          </p:nvPr>
        </p:nvSpPr>
        <p:spPr/>
        <p:txBody>
          <a:bodyPr/>
          <a:lstStyle/>
          <a:p>
            <a:fld id="{3D93102B-6B7E-479D-9673-218ADEF0265B}" type="slidenum">
              <a:rPr kumimoji="1" lang="ja-JP" altLang="en-US" smtClean="0"/>
              <a:t>‹#›</a:t>
            </a:fld>
            <a:endParaRPr kumimoji="1" lang="ja-JP" altLang="en-US"/>
          </a:p>
        </p:txBody>
      </p:sp>
    </p:spTree>
    <p:extLst>
      <p:ext uri="{BB962C8B-B14F-4D97-AF65-F5344CB8AC3E}">
        <p14:creationId xmlns:p14="http://schemas.microsoft.com/office/powerpoint/2010/main" val="341084808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FBBFB6C-7E87-C45E-FFF3-01F76E99B06A}"/>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C17F6483-0005-FCB6-DE1F-D7F35ED1519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D060B0F9-D639-7D7C-BD93-B61335313A2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AB0C63F1-B7AE-8557-4D1A-85D0610B53F8}"/>
              </a:ext>
            </a:extLst>
          </p:cNvPr>
          <p:cNvSpPr>
            <a:spLocks noGrp="1"/>
          </p:cNvSpPr>
          <p:nvPr>
            <p:ph type="dt" sz="half" idx="10"/>
          </p:nvPr>
        </p:nvSpPr>
        <p:spPr/>
        <p:txBody>
          <a:bodyPr/>
          <a:lstStyle/>
          <a:p>
            <a:fld id="{2C9CD4CD-63DC-47E3-9026-82609E09E688}" type="datetimeFigureOut">
              <a:rPr kumimoji="1" lang="ja-JP" altLang="en-US" smtClean="0"/>
              <a:t>2026/10/28</a:t>
            </a:fld>
            <a:endParaRPr kumimoji="1" lang="ja-JP" altLang="en-US"/>
          </a:p>
        </p:txBody>
      </p:sp>
      <p:sp>
        <p:nvSpPr>
          <p:cNvPr id="6" name="フッター プレースホルダー 5">
            <a:extLst>
              <a:ext uri="{FF2B5EF4-FFF2-40B4-BE49-F238E27FC236}">
                <a16:creationId xmlns:a16="http://schemas.microsoft.com/office/drawing/2014/main" id="{016D7DA5-5F02-C004-FE74-286D19F9BEE1}"/>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B1EDA062-F436-B9D9-A584-2D7EFE891BE3}"/>
              </a:ext>
            </a:extLst>
          </p:cNvPr>
          <p:cNvSpPr>
            <a:spLocks noGrp="1"/>
          </p:cNvSpPr>
          <p:nvPr>
            <p:ph type="sldNum" sz="quarter" idx="12"/>
          </p:nvPr>
        </p:nvSpPr>
        <p:spPr/>
        <p:txBody>
          <a:bodyPr/>
          <a:lstStyle/>
          <a:p>
            <a:fld id="{3D93102B-6B7E-479D-9673-218ADEF0265B}" type="slidenum">
              <a:rPr kumimoji="1" lang="ja-JP" altLang="en-US" smtClean="0"/>
              <a:t>‹#›</a:t>
            </a:fld>
            <a:endParaRPr kumimoji="1" lang="ja-JP" altLang="en-US"/>
          </a:p>
        </p:txBody>
      </p:sp>
    </p:spTree>
    <p:extLst>
      <p:ext uri="{BB962C8B-B14F-4D97-AF65-F5344CB8AC3E}">
        <p14:creationId xmlns:p14="http://schemas.microsoft.com/office/powerpoint/2010/main" val="325283193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22CD828-6C5E-0D92-FD28-FCEE37FA10B7}"/>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67B9AB6F-BFA1-9133-6714-3954CC6877A5}"/>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B132F5A7-BC59-603B-0694-00FF16BAE7D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7B655756-3546-A3D1-0E3C-F3C454AEC38B}"/>
              </a:ext>
            </a:extLst>
          </p:cNvPr>
          <p:cNvSpPr>
            <a:spLocks noGrp="1"/>
          </p:cNvSpPr>
          <p:nvPr>
            <p:ph type="dt" sz="half" idx="10"/>
          </p:nvPr>
        </p:nvSpPr>
        <p:spPr/>
        <p:txBody>
          <a:bodyPr/>
          <a:lstStyle/>
          <a:p>
            <a:fld id="{2C9CD4CD-63DC-47E3-9026-82609E09E688}" type="datetimeFigureOut">
              <a:rPr kumimoji="1" lang="ja-JP" altLang="en-US" smtClean="0"/>
              <a:t>2026/10/28</a:t>
            </a:fld>
            <a:endParaRPr kumimoji="1" lang="ja-JP" altLang="en-US"/>
          </a:p>
        </p:txBody>
      </p:sp>
      <p:sp>
        <p:nvSpPr>
          <p:cNvPr id="6" name="フッター プレースホルダー 5">
            <a:extLst>
              <a:ext uri="{FF2B5EF4-FFF2-40B4-BE49-F238E27FC236}">
                <a16:creationId xmlns:a16="http://schemas.microsoft.com/office/drawing/2014/main" id="{3A2AE3AA-992F-CF1F-E679-50893F7E41FE}"/>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2A2BB58C-BCE9-E721-E438-E7B433809FE2}"/>
              </a:ext>
            </a:extLst>
          </p:cNvPr>
          <p:cNvSpPr>
            <a:spLocks noGrp="1"/>
          </p:cNvSpPr>
          <p:nvPr>
            <p:ph type="sldNum" sz="quarter" idx="12"/>
          </p:nvPr>
        </p:nvSpPr>
        <p:spPr/>
        <p:txBody>
          <a:bodyPr/>
          <a:lstStyle/>
          <a:p>
            <a:fld id="{3D93102B-6B7E-479D-9673-218ADEF0265B}" type="slidenum">
              <a:rPr kumimoji="1" lang="ja-JP" altLang="en-US" smtClean="0"/>
              <a:t>‹#›</a:t>
            </a:fld>
            <a:endParaRPr kumimoji="1" lang="ja-JP" altLang="en-US"/>
          </a:p>
        </p:txBody>
      </p:sp>
    </p:spTree>
    <p:extLst>
      <p:ext uri="{BB962C8B-B14F-4D97-AF65-F5344CB8AC3E}">
        <p14:creationId xmlns:p14="http://schemas.microsoft.com/office/powerpoint/2010/main" val="205621940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3E5A192-9651-912F-B5D3-257E3ED7BA80}"/>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00D00C90-F3E2-1A15-0344-684E216E34E4}"/>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38CCFFF9-F9C2-0B17-0F54-70E3A2FB53FB}"/>
              </a:ext>
            </a:extLst>
          </p:cNvPr>
          <p:cNvSpPr>
            <a:spLocks noGrp="1"/>
          </p:cNvSpPr>
          <p:nvPr>
            <p:ph type="dt" sz="half" idx="10"/>
          </p:nvPr>
        </p:nvSpPr>
        <p:spPr/>
        <p:txBody>
          <a:bodyPr/>
          <a:lstStyle/>
          <a:p>
            <a:fld id="{2C9CD4CD-63DC-47E3-9026-82609E09E688}" type="datetimeFigureOut">
              <a:rPr kumimoji="1" lang="ja-JP" altLang="en-US" smtClean="0"/>
              <a:t>2026/10/28</a:t>
            </a:fld>
            <a:endParaRPr kumimoji="1" lang="ja-JP" altLang="en-US"/>
          </a:p>
        </p:txBody>
      </p:sp>
      <p:sp>
        <p:nvSpPr>
          <p:cNvPr id="5" name="フッター プレースホルダー 4">
            <a:extLst>
              <a:ext uri="{FF2B5EF4-FFF2-40B4-BE49-F238E27FC236}">
                <a16:creationId xmlns:a16="http://schemas.microsoft.com/office/drawing/2014/main" id="{CC3215A8-C079-2557-D2C2-B54AC6D13AC0}"/>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86F1F95C-920E-F31F-B069-039C73B60FDA}"/>
              </a:ext>
            </a:extLst>
          </p:cNvPr>
          <p:cNvSpPr>
            <a:spLocks noGrp="1"/>
          </p:cNvSpPr>
          <p:nvPr>
            <p:ph type="sldNum" sz="quarter" idx="12"/>
          </p:nvPr>
        </p:nvSpPr>
        <p:spPr/>
        <p:txBody>
          <a:bodyPr/>
          <a:lstStyle/>
          <a:p>
            <a:fld id="{3D93102B-6B7E-479D-9673-218ADEF0265B}" type="slidenum">
              <a:rPr kumimoji="1" lang="ja-JP" altLang="en-US" smtClean="0"/>
              <a:t>‹#›</a:t>
            </a:fld>
            <a:endParaRPr kumimoji="1" lang="ja-JP" altLang="en-US"/>
          </a:p>
        </p:txBody>
      </p:sp>
    </p:spTree>
    <p:extLst>
      <p:ext uri="{BB962C8B-B14F-4D97-AF65-F5344CB8AC3E}">
        <p14:creationId xmlns:p14="http://schemas.microsoft.com/office/powerpoint/2010/main" val="150021663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3DF7A6D4-B82D-BC03-0623-B78B1AB6250D}"/>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4CE3B51F-C567-44B3-BC1F-92D495C3F26C}"/>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DFEDFE21-2853-AB31-0BCA-4899A0795574}"/>
              </a:ext>
            </a:extLst>
          </p:cNvPr>
          <p:cNvSpPr>
            <a:spLocks noGrp="1"/>
          </p:cNvSpPr>
          <p:nvPr>
            <p:ph type="dt" sz="half" idx="10"/>
          </p:nvPr>
        </p:nvSpPr>
        <p:spPr/>
        <p:txBody>
          <a:bodyPr/>
          <a:lstStyle/>
          <a:p>
            <a:fld id="{2C9CD4CD-63DC-47E3-9026-82609E09E688}" type="datetimeFigureOut">
              <a:rPr kumimoji="1" lang="ja-JP" altLang="en-US" smtClean="0"/>
              <a:t>2026/10/28</a:t>
            </a:fld>
            <a:endParaRPr kumimoji="1" lang="ja-JP" altLang="en-US"/>
          </a:p>
        </p:txBody>
      </p:sp>
      <p:sp>
        <p:nvSpPr>
          <p:cNvPr id="5" name="フッター プレースホルダー 4">
            <a:extLst>
              <a:ext uri="{FF2B5EF4-FFF2-40B4-BE49-F238E27FC236}">
                <a16:creationId xmlns:a16="http://schemas.microsoft.com/office/drawing/2014/main" id="{435CEDD9-CC60-F519-BE56-8D67246466B4}"/>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44480AE5-6D29-55C1-8C1E-9776E7B13496}"/>
              </a:ext>
            </a:extLst>
          </p:cNvPr>
          <p:cNvSpPr>
            <a:spLocks noGrp="1"/>
          </p:cNvSpPr>
          <p:nvPr>
            <p:ph type="sldNum" sz="quarter" idx="12"/>
          </p:nvPr>
        </p:nvSpPr>
        <p:spPr/>
        <p:txBody>
          <a:bodyPr/>
          <a:lstStyle/>
          <a:p>
            <a:fld id="{3D93102B-6B7E-479D-9673-218ADEF0265B}" type="slidenum">
              <a:rPr kumimoji="1" lang="ja-JP" altLang="en-US" smtClean="0"/>
              <a:t>‹#›</a:t>
            </a:fld>
            <a:endParaRPr kumimoji="1" lang="ja-JP" altLang="en-US"/>
          </a:p>
        </p:txBody>
      </p:sp>
    </p:spTree>
    <p:extLst>
      <p:ext uri="{BB962C8B-B14F-4D97-AF65-F5344CB8AC3E}">
        <p14:creationId xmlns:p14="http://schemas.microsoft.com/office/powerpoint/2010/main" val="641773767"/>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0BE28B1A-3E60-681A-B458-1B3B4AD0451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0C92784F-7EB8-5402-A44B-B425DFDC76D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6323E6AC-8F3F-A0D6-0078-BC58297EEF0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2C9CD4CD-63DC-47E3-9026-82609E09E688}" type="datetimeFigureOut">
              <a:rPr kumimoji="1" lang="ja-JP" altLang="en-US" smtClean="0"/>
              <a:t>2026/10/28</a:t>
            </a:fld>
            <a:endParaRPr kumimoji="1" lang="ja-JP" altLang="en-US"/>
          </a:p>
        </p:txBody>
      </p:sp>
      <p:sp>
        <p:nvSpPr>
          <p:cNvPr id="5" name="フッター プレースホルダー 4">
            <a:extLst>
              <a:ext uri="{FF2B5EF4-FFF2-40B4-BE49-F238E27FC236}">
                <a16:creationId xmlns:a16="http://schemas.microsoft.com/office/drawing/2014/main" id="{FD77183C-FB49-4729-5983-A6BBEF71E70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EFF78425-F716-1C3A-F7F6-E10F31CBD64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D93102B-6B7E-479D-9673-218ADEF0265B}" type="slidenum">
              <a:rPr kumimoji="1" lang="ja-JP" altLang="en-US" smtClean="0"/>
              <a:t>‹#›</a:t>
            </a:fld>
            <a:endParaRPr kumimoji="1" lang="ja-JP" altLang="en-US"/>
          </a:p>
        </p:txBody>
      </p:sp>
    </p:spTree>
    <p:extLst>
      <p:ext uri="{BB962C8B-B14F-4D97-AF65-F5344CB8AC3E}">
        <p14:creationId xmlns:p14="http://schemas.microsoft.com/office/powerpoint/2010/main" val="34109743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jpg"/><Relationship Id="rId3" Type="http://schemas.openxmlformats.org/officeDocument/2006/relationships/image" Target="../media/image4.jp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jpg"/><Relationship Id="rId3" Type="http://schemas.openxmlformats.org/officeDocument/2006/relationships/image" Target="../media/image6.jp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6030126-9B1A-C5A7-9268-0D4073AE0F8B}"/>
              </a:ext>
            </a:extLst>
          </p:cNvPr>
          <p:cNvSpPr>
            <a:spLocks noGrp="1"/>
          </p:cNvSpPr>
          <p:nvPr>
            <p:ph type="ctrTitle"/>
          </p:nvPr>
        </p:nvSpPr>
        <p:spPr/>
        <p:txBody>
          <a:bodyPr>
            <a:normAutofit fontScale="90000"/>
          </a:bodyPr>
          <a:lstStyle/>
          <a:p>
            <a:r>
              <a:rPr lang="ja-JP" altLang="ja-JP" dirty="0"/>
              <a:t>スコアボード</a:t>
            </a:r>
            <a:r>
              <a:rPr lang="ja-JP" altLang="en-US" dirty="0"/>
              <a:t>認識と投球検出</a:t>
            </a:r>
            <a:r>
              <a:rPr lang="ja-JP" altLang="ja-JP" dirty="0"/>
              <a:t>による野球</a:t>
            </a:r>
            <a:r>
              <a:rPr lang="ja-JP" altLang="en-US" dirty="0"/>
              <a:t>イベント検出</a:t>
            </a:r>
            <a:endParaRPr kumimoji="1" lang="ja-JP" altLang="en-US" dirty="0"/>
          </a:p>
        </p:txBody>
      </p:sp>
      <p:sp>
        <p:nvSpPr>
          <p:cNvPr id="3" name="字幕 2">
            <a:extLst>
              <a:ext uri="{FF2B5EF4-FFF2-40B4-BE49-F238E27FC236}">
                <a16:creationId xmlns:a16="http://schemas.microsoft.com/office/drawing/2014/main" id="{FEF54972-8310-AAD1-B9A6-00AE02AF2D4A}"/>
              </a:ext>
            </a:extLst>
          </p:cNvPr>
          <p:cNvSpPr>
            <a:spLocks noGrp="1"/>
          </p:cNvSpPr>
          <p:nvPr>
            <p:ph type="subTitle" idx="1"/>
          </p:nvPr>
        </p:nvSpPr>
        <p:spPr>
          <a:xfrm>
            <a:off x="1536357" y="3602038"/>
            <a:ext cx="9144000" cy="1655762"/>
          </a:xfrm>
        </p:spPr>
        <p:txBody>
          <a:bodyPr wrap="square" lIns="0" rIns="0" tIns="0" bIns="0">
            <a:noAutofit/>
          </a:bodyPr>
          <a:lstStyle/>
          <a:p>
            <a:pPr algn="ctr">
              <a:lnSpc>
                <a:spcPct val="112000"/>
              </a:lnSpc>
              <a:spcAft>
                <a:spcPts val="1000"/>
              </a:spcAft>
              <a:buNone/>
            </a:pPr>
            <a:r>
              <a:rPr sz="2400" b="0" lang="ja-JP">
                <a:solidFill>
                  <a:srgbClr val="111111"/>
                </a:solidFill>
                <a:latin typeface="游ゴシック"/>
                <a:ea typeface="游ゴシック"/>
              </a:rPr>
              <a:t>37023492 棚橋 悠</a:t>
            </a:r>
          </a:p>
          <a:p>
            <a:pPr algn="ctr">
              <a:lnSpc>
                <a:spcPct val="112000"/>
              </a:lnSpc>
              <a:spcAft>
                <a:spcPts val="1000"/>
              </a:spcAft>
              <a:buNone/>
            </a:pPr>
            <a:r>
              <a:rPr sz="2400" b="0" lang="ja-JP">
                <a:solidFill>
                  <a:srgbClr val="111111"/>
                </a:solidFill>
                <a:latin typeface="游ゴシック"/>
                <a:ea typeface="游ゴシック"/>
              </a:rPr>
              <a:t>2026年10月30日</a:t>
            </a:r>
          </a:p>
        </p:txBody>
      </p:sp>
    </p:spTree>
    <p:extLst>
      <p:ext uri="{BB962C8B-B14F-4D97-AF65-F5344CB8AC3E}">
        <p14:creationId xmlns:p14="http://schemas.microsoft.com/office/powerpoint/2010/main" val="3811169503"/>
      </p:ext>
    </p:extLst>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504" y="364845"/>
            <a:ext cx="10515600" cy="1325880"/>
          </a:xfrm>
        </p:spPr>
        <p:txBody>
          <a:bodyPr wrap="square" lIns="0" rIns="0" tIns="0" bIns="0">
            <a:noAutofit/>
          </a:bodyPr>
          <a:lstStyle/>
          <a:p>
            <a:pPr algn="l">
              <a:lnSpc>
                <a:spcPct val="112000"/>
              </a:lnSpc>
              <a:spcAft>
                <a:spcPts val="0"/>
              </a:spcAft>
              <a:buNone/>
            </a:pPr>
            <a:r>
              <a:rPr sz="4400" b="0" lang="ja-JP">
                <a:solidFill>
                  <a:srgbClr val="111111"/>
                </a:solidFill>
                <a:latin typeface="游ゴシック Light"/>
                <a:ea typeface="游ゴシック Light"/>
              </a:rPr>
              <a:t>今週したこと</a:t>
            </a:r>
          </a:p>
        </p:txBody>
      </p:sp>
      <p:sp>
        <p:nvSpPr>
          <p:cNvPr id="3" name="TextBox 2"/>
          <p:cNvSpPr txBox="1"/>
          <p:nvPr/>
        </p:nvSpPr>
        <p:spPr>
          <a:xfrm>
            <a:off x="10881360" y="6510528"/>
            <a:ext cx="457200" cy="201168"/>
          </a:xfrm>
          <a:prstGeom prst="rect">
            <a:avLst/>
          </a:prstGeom>
          <a:noFill/>
        </p:spPr>
        <p:txBody>
          <a:bodyPr wrap="square" lIns="0" rIns="0" tIns="0" bIns="0">
            <a:noAutofit/>
          </a:bodyPr>
          <a:lstStyle/>
          <a:p>
            <a:pPr algn="r">
              <a:lnSpc>
                <a:spcPct val="112000"/>
              </a:lnSpc>
              <a:spcAft>
                <a:spcPts val="0"/>
              </a:spcAft>
              <a:buNone/>
            </a:pPr>
            <a:r>
              <a:rPr sz="1200" b="0" lang="ja-JP">
                <a:solidFill>
                  <a:srgbClr val="555555"/>
                </a:solidFill>
                <a:latin typeface="游ゴシック"/>
                <a:ea typeface="游ゴシック"/>
              </a:rPr>
              <a:t>2</a:t>
            </a:r>
          </a:p>
        </p:txBody>
      </p:sp>
      <p:sp>
        <p:nvSpPr>
          <p:cNvPr id="4" name="TextBox 3"/>
          <p:cNvSpPr txBox="1"/>
          <p:nvPr/>
        </p:nvSpPr>
        <p:spPr>
          <a:xfrm>
            <a:off x="838504" y="1828800"/>
            <a:ext cx="10515600" cy="4297680"/>
          </a:xfrm>
          <a:prstGeom prst="rect">
            <a:avLst/>
          </a:prstGeom>
          <a:noFill/>
        </p:spPr>
        <p:txBody>
          <a:bodyPr wrap="square" lIns="0" rIns="0" tIns="0" bIns="0">
            <a:noAutofit/>
          </a:bodyPr>
          <a:lstStyle/>
          <a:p>
            <a:pPr algn="l">
              <a:lnSpc>
                <a:spcPct val="112000"/>
              </a:lnSpc>
              <a:spcAft>
                <a:spcPts val="2400"/>
              </a:spcAft>
              <a:buNone/>
            </a:pPr>
            <a:r>
              <a:rPr sz="2800" b="0" lang="ja-JP">
                <a:solidFill>
                  <a:srgbClr val="111111"/>
                </a:solidFill>
                <a:latin typeface="游ゴシック"/>
                <a:ea typeface="游ゴシック"/>
              </a:rPr>
              <a:t>• YOLO・PaddleOCR・VideoMAEの認識結果を統合した</a:t>
            </a:r>
          </a:p>
          <a:p>
            <a:pPr algn="l">
              <a:lnSpc>
                <a:spcPct val="112000"/>
              </a:lnSpc>
              <a:spcAft>
                <a:spcPts val="2400"/>
              </a:spcAft>
              <a:buNone/>
            </a:pPr>
            <a:r>
              <a:rPr sz="2800" b="0" lang="ja-JP">
                <a:solidFill>
                  <a:srgbClr val="111111"/>
                </a:solidFill>
                <a:latin typeface="游ゴシック"/>
                <a:ea typeface="游ゴシック"/>
              </a:rPr>
              <a:t>• 5回ウラの動画全体に適用し、投球前後の表示を照合した</a:t>
            </a:r>
          </a:p>
          <a:p>
            <a:pPr algn="l">
              <a:lnSpc>
                <a:spcPct val="112000"/>
              </a:lnSpc>
              <a:spcAft>
                <a:spcPts val="2400"/>
              </a:spcAft>
              <a:buNone/>
            </a:pPr>
            <a:r>
              <a:rPr sz="2800" b="0" lang="ja-JP">
                <a:solidFill>
                  <a:srgbClr val="111111"/>
                </a:solidFill>
                <a:latin typeface="游ゴシック"/>
                <a:ea typeface="游ゴシック"/>
              </a:rPr>
              <a:t>• 確認画像・時系列グラフ・CSVを保存できる形にした</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504" y="364845"/>
            <a:ext cx="10515600" cy="1325880"/>
          </a:xfrm>
        </p:spPr>
        <p:txBody>
          <a:bodyPr wrap="square" lIns="0" rIns="0" tIns="0" bIns="0">
            <a:noAutofit/>
          </a:bodyPr>
          <a:lstStyle/>
          <a:p>
            <a:pPr algn="l">
              <a:lnSpc>
                <a:spcPct val="112000"/>
              </a:lnSpc>
              <a:spcAft>
                <a:spcPts val="0"/>
              </a:spcAft>
              <a:buNone/>
            </a:pPr>
            <a:r>
              <a:rPr sz="4400" b="0" lang="ja-JP">
                <a:solidFill>
                  <a:srgbClr val="111111"/>
                </a:solidFill>
                <a:latin typeface="游ゴシック Light"/>
                <a:ea typeface="游ゴシック Light"/>
              </a:rPr>
              <a:t>目的と使用データ</a:t>
            </a:r>
          </a:p>
        </p:txBody>
      </p:sp>
      <p:sp>
        <p:nvSpPr>
          <p:cNvPr id="3" name="TextBox 2"/>
          <p:cNvSpPr txBox="1"/>
          <p:nvPr/>
        </p:nvSpPr>
        <p:spPr>
          <a:xfrm>
            <a:off x="10881360" y="6510528"/>
            <a:ext cx="457200" cy="201168"/>
          </a:xfrm>
          <a:prstGeom prst="rect">
            <a:avLst/>
          </a:prstGeom>
          <a:noFill/>
        </p:spPr>
        <p:txBody>
          <a:bodyPr wrap="square" lIns="0" rIns="0" tIns="0" bIns="0">
            <a:noAutofit/>
          </a:bodyPr>
          <a:lstStyle/>
          <a:p>
            <a:pPr algn="r">
              <a:lnSpc>
                <a:spcPct val="112000"/>
              </a:lnSpc>
              <a:spcAft>
                <a:spcPts val="0"/>
              </a:spcAft>
              <a:buNone/>
            </a:pPr>
            <a:r>
              <a:rPr sz="1200" b="0" lang="ja-JP">
                <a:solidFill>
                  <a:srgbClr val="555555"/>
                </a:solidFill>
                <a:latin typeface="游ゴシック"/>
                <a:ea typeface="游ゴシック"/>
              </a:rPr>
              <a:t>3</a:t>
            </a:r>
          </a:p>
        </p:txBody>
      </p:sp>
      <p:sp>
        <p:nvSpPr>
          <p:cNvPr id="4" name="TextBox 3"/>
          <p:cNvSpPr txBox="1"/>
          <p:nvPr/>
        </p:nvSpPr>
        <p:spPr>
          <a:xfrm>
            <a:off x="838504" y="1819656"/>
            <a:ext cx="10515600" cy="868680"/>
          </a:xfrm>
          <a:prstGeom prst="rect">
            <a:avLst/>
          </a:prstGeom>
          <a:noFill/>
        </p:spPr>
        <p:txBody>
          <a:bodyPr wrap="square" lIns="0" rIns="0" tIns="0" bIns="0">
            <a:noAutofit/>
          </a:bodyPr>
          <a:lstStyle/>
          <a:p>
            <a:pPr algn="l">
              <a:lnSpc>
                <a:spcPct val="112000"/>
              </a:lnSpc>
              <a:spcAft>
                <a:spcPts val="0"/>
              </a:spcAft>
              <a:buNone/>
            </a:pPr>
            <a:r>
              <a:rPr sz="2800" b="0" lang="ja-JP">
                <a:solidFill>
                  <a:srgbClr val="111111"/>
                </a:solidFill>
                <a:latin typeface="游ゴシック"/>
                <a:ea typeface="游ゴシック"/>
              </a:rPr>
              <a:t>目的：投球の時刻と表示の変化を対応付け、</a:t>
            </a:r>
            <a:br/>
            <a:r>
              <a:rPr sz="2800" b="0" lang="ja-JP">
                <a:solidFill>
                  <a:srgbClr val="111111"/>
                </a:solidFill>
                <a:latin typeface="游ゴシック"/>
                <a:ea typeface="游ゴシック"/>
              </a:rPr>
              <a:t>　　　野球イベントの判定につなげる</a:t>
            </a:r>
          </a:p>
        </p:txBody>
      </p:sp>
      <p:graphicFrame>
        <p:nvGraphicFramePr>
          <p:cNvPr id="5" name="Table 4"/>
          <p:cNvGraphicFramePr>
            <a:graphicFrameLocks noGrp="1"/>
          </p:cNvGraphicFramePr>
          <p:nvPr/>
        </p:nvGraphicFramePr>
        <p:xfrm>
          <a:off x="838504" y="2944368"/>
          <a:ext cx="10515600" cy="2560320"/>
        </p:xfrm>
        <a:graphic>
          <a:graphicData uri="http://schemas.openxmlformats.org/drawingml/2006/table">
            <a:tbl>
              <a:tblPr firstRow="1" bandRow="1">
                <a:tableStyleId>{5C22544A-7EE6-4342-B048-85BDC9FD1C3A}</a:tableStyleId>
              </a:tblPr>
              <a:tblGrid>
                <a:gridCol w="2926080"/>
                <a:gridCol w="7589520"/>
              </a:tblGrid>
              <a:tr h="512064">
                <a:tc>
                  <a:txBody>
                    <a:bodyPr wrap="square" lIns="0" rIns="0" tIns="0" bIns="0">
                      <a:noAutofit/>
                    </a:bodyPr>
                    <a:lstStyle/>
                    <a:p>
                      <a:pPr algn="l">
                        <a:lnSpc>
                          <a:spcPct val="112000"/>
                        </a:lnSpc>
                        <a:spcAft>
                          <a:spcPts val="0"/>
                        </a:spcAft>
                        <a:buNone/>
                      </a:pPr>
                      <a:r>
                        <a:rPr sz="2400" b="1" lang="ja-JP">
                          <a:solidFill>
                            <a:srgbClr val="111111"/>
                          </a:solidFill>
                          <a:latin typeface="游ゴシック"/>
                          <a:ea typeface="游ゴシック"/>
                        </a:rPr>
                        <a:t>項目</a:t>
                      </a:r>
                    </a:p>
                  </a:txBody>
                  <a:tcPr marL="118872" marR="91440" marT="64008" marB="36576" anchor="ctr">
                    <a:solidFill>
                      <a:srgbClr val="EEEEEE"/>
                    </a:solidFill>
                    <a:lnL w="7000">
                      <a:solidFill>
                        <a:srgbClr val="BFBFBF"/>
                      </a:solidFill>
                    </a:lnL>
                    <a:lnR w="7000">
                      <a:solidFill>
                        <a:srgbClr val="BFBFBF"/>
                      </a:solidFill>
                    </a:lnR>
                    <a:lnT w="7000">
                      <a:solidFill>
                        <a:srgbClr val="BFBFBF"/>
                      </a:solidFill>
                    </a:lnT>
                    <a:lnB w="7000">
                      <a:solidFill>
                        <a:srgbClr val="BFBFBF"/>
                      </a:solidFill>
                    </a:lnB>
                  </a:tcPr>
                </a:tc>
                <a:tc>
                  <a:txBody>
                    <a:bodyPr wrap="square" lIns="0" rIns="0" tIns="0" bIns="0">
                      <a:noAutofit/>
                    </a:bodyPr>
                    <a:lstStyle/>
                    <a:p>
                      <a:pPr algn="l">
                        <a:lnSpc>
                          <a:spcPct val="112000"/>
                        </a:lnSpc>
                        <a:spcAft>
                          <a:spcPts val="0"/>
                        </a:spcAft>
                        <a:buNone/>
                      </a:pPr>
                      <a:r>
                        <a:rPr sz="2400" b="1" lang="ja-JP">
                          <a:solidFill>
                            <a:srgbClr val="111111"/>
                          </a:solidFill>
                          <a:latin typeface="游ゴシック"/>
                          <a:ea typeface="游ゴシック"/>
                        </a:rPr>
                        <a:t>今回の条件</a:t>
                      </a:r>
                    </a:p>
                  </a:txBody>
                  <a:tcPr marL="118872" marR="91440" marT="64008" marB="36576" anchor="ctr">
                    <a:solidFill>
                      <a:srgbClr val="EEEEEE"/>
                    </a:solidFill>
                    <a:lnL w="7000">
                      <a:solidFill>
                        <a:srgbClr val="BFBFBF"/>
                      </a:solidFill>
                    </a:lnL>
                    <a:lnR w="7000">
                      <a:solidFill>
                        <a:srgbClr val="BFBFBF"/>
                      </a:solidFill>
                    </a:lnR>
                    <a:lnT w="7000">
                      <a:solidFill>
                        <a:srgbClr val="BFBFBF"/>
                      </a:solidFill>
                    </a:lnT>
                    <a:lnB w="7000">
                      <a:solidFill>
                        <a:srgbClr val="BFBFBF"/>
                      </a:solidFill>
                    </a:lnB>
                  </a:tcPr>
                </a:tc>
              </a:tr>
              <a:tr h="512064">
                <a:tc>
                  <a:txBody>
                    <a:bodyPr wrap="square" lIns="0" rIns="0" tIns="0" bIns="0">
                      <a:noAutofit/>
                    </a:bodyPr>
                    <a:lstStyle/>
                    <a:p>
                      <a:pPr algn="l">
                        <a:lnSpc>
                          <a:spcPct val="112000"/>
                        </a:lnSpc>
                        <a:spcAft>
                          <a:spcPts val="0"/>
                        </a:spcAft>
                        <a:buNone/>
                      </a:pPr>
                      <a:r>
                        <a:rPr sz="2400" b="0" lang="ja-JP">
                          <a:solidFill>
                            <a:srgbClr val="111111"/>
                          </a:solidFill>
                          <a:latin typeface="游ゴシック"/>
                          <a:ea typeface="游ゴシック"/>
                        </a:rPr>
                        <a:t>対象</a:t>
                      </a:r>
                    </a:p>
                  </a:txBody>
                  <a:tcPr marL="118872" marR="91440" marT="64008" marB="36576" anchor="ctr">
                    <a:solidFill>
                      <a:srgbClr val="FFFFFF"/>
                    </a:solidFill>
                    <a:lnL w="7000">
                      <a:solidFill>
                        <a:srgbClr val="BFBFBF"/>
                      </a:solidFill>
                    </a:lnL>
                    <a:lnR w="7000">
                      <a:solidFill>
                        <a:srgbClr val="BFBFBF"/>
                      </a:solidFill>
                    </a:lnR>
                    <a:lnT w="7000">
                      <a:solidFill>
                        <a:srgbClr val="BFBFBF"/>
                      </a:solidFill>
                    </a:lnT>
                    <a:lnB w="7000">
                      <a:solidFill>
                        <a:srgbClr val="BFBFBF"/>
                      </a:solidFill>
                    </a:lnB>
                  </a:tcPr>
                </a:tc>
                <a:tc>
                  <a:txBody>
                    <a:bodyPr wrap="square" lIns="0" rIns="0" tIns="0" bIns="0">
                      <a:noAutofit/>
                    </a:bodyPr>
                    <a:lstStyle/>
                    <a:p>
                      <a:pPr algn="l">
                        <a:lnSpc>
                          <a:spcPct val="112000"/>
                        </a:lnSpc>
                        <a:spcAft>
                          <a:spcPts val="0"/>
                        </a:spcAft>
                        <a:buNone/>
                      </a:pPr>
                      <a:r>
                        <a:rPr sz="2400" b="0" lang="ja-JP">
                          <a:solidFill>
                            <a:srgbClr val="111111"/>
                          </a:solidFill>
                          <a:latin typeface="游ゴシック"/>
                          <a:ea typeface="游ゴシック"/>
                        </a:rPr>
                        <a:t>5ura.mp4（5回ウラの動画全体）</a:t>
                      </a:r>
                    </a:p>
                  </a:txBody>
                  <a:tcPr marL="118872" marR="91440" marT="64008" marB="36576" anchor="ctr">
                    <a:solidFill>
                      <a:srgbClr val="FFFFFF"/>
                    </a:solidFill>
                    <a:lnL w="7000">
                      <a:solidFill>
                        <a:srgbClr val="BFBFBF"/>
                      </a:solidFill>
                    </a:lnL>
                    <a:lnR w="7000">
                      <a:solidFill>
                        <a:srgbClr val="BFBFBF"/>
                      </a:solidFill>
                    </a:lnR>
                    <a:lnT w="7000">
                      <a:solidFill>
                        <a:srgbClr val="BFBFBF"/>
                      </a:solidFill>
                    </a:lnT>
                    <a:lnB w="7000">
                      <a:solidFill>
                        <a:srgbClr val="BFBFBF"/>
                      </a:solidFill>
                    </a:lnB>
                  </a:tcPr>
                </a:tc>
              </a:tr>
              <a:tr h="512064">
                <a:tc>
                  <a:txBody>
                    <a:bodyPr wrap="square" lIns="0" rIns="0" tIns="0" bIns="0">
                      <a:noAutofit/>
                    </a:bodyPr>
                    <a:lstStyle/>
                    <a:p>
                      <a:pPr algn="l">
                        <a:lnSpc>
                          <a:spcPct val="112000"/>
                        </a:lnSpc>
                        <a:spcAft>
                          <a:spcPts val="0"/>
                        </a:spcAft>
                        <a:buNone/>
                      </a:pPr>
                      <a:r>
                        <a:rPr sz="2400" b="0" lang="ja-JP">
                          <a:solidFill>
                            <a:srgbClr val="111111"/>
                          </a:solidFill>
                          <a:latin typeface="游ゴシック"/>
                          <a:ea typeface="游ゴシック"/>
                        </a:rPr>
                        <a:t>長さ</a:t>
                      </a:r>
                    </a:p>
                  </a:txBody>
                  <a:tcPr marL="118872" marR="91440" marT="64008" marB="36576" anchor="ctr">
                    <a:solidFill>
                      <a:srgbClr val="FFFFFF"/>
                    </a:solidFill>
                    <a:lnL w="7000">
                      <a:solidFill>
                        <a:srgbClr val="BFBFBF"/>
                      </a:solidFill>
                    </a:lnL>
                    <a:lnR w="7000">
                      <a:solidFill>
                        <a:srgbClr val="BFBFBF"/>
                      </a:solidFill>
                    </a:lnR>
                    <a:lnT w="7000">
                      <a:solidFill>
                        <a:srgbClr val="BFBFBF"/>
                      </a:solidFill>
                    </a:lnT>
                    <a:lnB w="7000">
                      <a:solidFill>
                        <a:srgbClr val="BFBFBF"/>
                      </a:solidFill>
                    </a:lnB>
                  </a:tcPr>
                </a:tc>
                <a:tc>
                  <a:txBody>
                    <a:bodyPr wrap="square" lIns="0" rIns="0" tIns="0" bIns="0">
                      <a:noAutofit/>
                    </a:bodyPr>
                    <a:lstStyle/>
                    <a:p>
                      <a:pPr algn="l">
                        <a:lnSpc>
                          <a:spcPct val="112000"/>
                        </a:lnSpc>
                        <a:spcAft>
                          <a:spcPts val="0"/>
                        </a:spcAft>
                        <a:buNone/>
                      </a:pPr>
                      <a:r>
                        <a:rPr sz="2400" b="0" lang="ja-JP">
                          <a:solidFill>
                            <a:srgbClr val="111111"/>
                          </a:solidFill>
                          <a:latin typeface="游ゴシック"/>
                          <a:ea typeface="游ゴシック"/>
                        </a:rPr>
                        <a:t>530.2秒（約8分50秒）</a:t>
                      </a:r>
                    </a:p>
                  </a:txBody>
                  <a:tcPr marL="118872" marR="91440" marT="64008" marB="36576" anchor="ctr">
                    <a:solidFill>
                      <a:srgbClr val="FFFFFF"/>
                    </a:solidFill>
                    <a:lnL w="7000">
                      <a:solidFill>
                        <a:srgbClr val="BFBFBF"/>
                      </a:solidFill>
                    </a:lnL>
                    <a:lnR w="7000">
                      <a:solidFill>
                        <a:srgbClr val="BFBFBF"/>
                      </a:solidFill>
                    </a:lnR>
                    <a:lnT w="7000">
                      <a:solidFill>
                        <a:srgbClr val="BFBFBF"/>
                      </a:solidFill>
                    </a:lnT>
                    <a:lnB w="7000">
                      <a:solidFill>
                        <a:srgbClr val="BFBFBF"/>
                      </a:solidFill>
                    </a:lnB>
                  </a:tcPr>
                </a:tc>
              </a:tr>
              <a:tr h="512064">
                <a:tc>
                  <a:txBody>
                    <a:bodyPr wrap="square" lIns="0" rIns="0" tIns="0" bIns="0">
                      <a:noAutofit/>
                    </a:bodyPr>
                    <a:lstStyle/>
                    <a:p>
                      <a:pPr algn="l">
                        <a:lnSpc>
                          <a:spcPct val="112000"/>
                        </a:lnSpc>
                        <a:spcAft>
                          <a:spcPts val="0"/>
                        </a:spcAft>
                        <a:buNone/>
                      </a:pPr>
                      <a:r>
                        <a:rPr sz="2400" b="0" lang="ja-JP">
                          <a:solidFill>
                            <a:srgbClr val="111111"/>
                          </a:solidFill>
                          <a:latin typeface="游ゴシック"/>
                          <a:ea typeface="游ゴシック"/>
                        </a:rPr>
                        <a:t>映像</a:t>
                      </a:r>
                    </a:p>
                  </a:txBody>
                  <a:tcPr marL="118872" marR="91440" marT="64008" marB="36576" anchor="ctr">
                    <a:solidFill>
                      <a:srgbClr val="FFFFFF"/>
                    </a:solidFill>
                    <a:lnL w="7000">
                      <a:solidFill>
                        <a:srgbClr val="BFBFBF"/>
                      </a:solidFill>
                    </a:lnL>
                    <a:lnR w="7000">
                      <a:solidFill>
                        <a:srgbClr val="BFBFBF"/>
                      </a:solidFill>
                    </a:lnR>
                    <a:lnT w="7000">
                      <a:solidFill>
                        <a:srgbClr val="BFBFBF"/>
                      </a:solidFill>
                    </a:lnT>
                    <a:lnB w="7000">
                      <a:solidFill>
                        <a:srgbClr val="BFBFBF"/>
                      </a:solidFill>
                    </a:lnB>
                  </a:tcPr>
                </a:tc>
                <a:tc>
                  <a:txBody>
                    <a:bodyPr wrap="square" lIns="0" rIns="0" tIns="0" bIns="0">
                      <a:noAutofit/>
                    </a:bodyPr>
                    <a:lstStyle/>
                    <a:p>
                      <a:pPr algn="l">
                        <a:lnSpc>
                          <a:spcPct val="112000"/>
                        </a:lnSpc>
                        <a:spcAft>
                          <a:spcPts val="0"/>
                        </a:spcAft>
                        <a:buNone/>
                      </a:pPr>
                      <a:r>
                        <a:rPr sz="2400" b="0" lang="ja-JP">
                          <a:solidFill>
                            <a:srgbClr val="111111"/>
                          </a:solidFill>
                          <a:latin typeface="游ゴシック"/>
                          <a:ea typeface="游ゴシック"/>
                        </a:rPr>
                        <a:t>30 fps ／ 15,906フレーム ／ 1920×1080</a:t>
                      </a:r>
                    </a:p>
                  </a:txBody>
                  <a:tcPr marL="118872" marR="91440" marT="64008" marB="36576" anchor="ctr">
                    <a:solidFill>
                      <a:srgbClr val="FFFFFF"/>
                    </a:solidFill>
                    <a:lnL w="7000">
                      <a:solidFill>
                        <a:srgbClr val="BFBFBF"/>
                      </a:solidFill>
                    </a:lnL>
                    <a:lnR w="7000">
                      <a:solidFill>
                        <a:srgbClr val="BFBFBF"/>
                      </a:solidFill>
                    </a:lnR>
                    <a:lnT w="7000">
                      <a:solidFill>
                        <a:srgbClr val="BFBFBF"/>
                      </a:solidFill>
                    </a:lnT>
                    <a:lnB w="7000">
                      <a:solidFill>
                        <a:srgbClr val="BFBFBF"/>
                      </a:solidFill>
                    </a:lnB>
                  </a:tcPr>
                </a:tc>
              </a:tr>
              <a:tr h="512064">
                <a:tc>
                  <a:txBody>
                    <a:bodyPr wrap="square" lIns="0" rIns="0" tIns="0" bIns="0">
                      <a:noAutofit/>
                    </a:bodyPr>
                    <a:lstStyle/>
                    <a:p>
                      <a:pPr algn="l">
                        <a:lnSpc>
                          <a:spcPct val="112000"/>
                        </a:lnSpc>
                        <a:spcAft>
                          <a:spcPts val="0"/>
                        </a:spcAft>
                        <a:buNone/>
                      </a:pPr>
                      <a:r>
                        <a:rPr sz="2400" b="0" lang="ja-JP">
                          <a:solidFill>
                            <a:srgbClr val="111111"/>
                          </a:solidFill>
                          <a:latin typeface="游ゴシック"/>
                          <a:ea typeface="游ゴシック"/>
                        </a:rPr>
                        <a:t>学習・評価</a:t>
                      </a:r>
                    </a:p>
                  </a:txBody>
                  <a:tcPr marL="118872" marR="91440" marT="64008" marB="36576" anchor="ctr">
                    <a:solidFill>
                      <a:srgbClr val="FFFFFF"/>
                    </a:solidFill>
                    <a:lnL w="7000">
                      <a:solidFill>
                        <a:srgbClr val="BFBFBF"/>
                      </a:solidFill>
                    </a:lnL>
                    <a:lnR w="7000">
                      <a:solidFill>
                        <a:srgbClr val="BFBFBF"/>
                      </a:solidFill>
                    </a:lnR>
                    <a:lnT w="7000">
                      <a:solidFill>
                        <a:srgbClr val="BFBFBF"/>
                      </a:solidFill>
                    </a:lnT>
                    <a:lnB w="7000">
                      <a:solidFill>
                        <a:srgbClr val="BFBFBF"/>
                      </a:solidFill>
                    </a:lnB>
                  </a:tcPr>
                </a:tc>
                <a:tc>
                  <a:txBody>
                    <a:bodyPr wrap="square" lIns="0" rIns="0" tIns="0" bIns="0">
                      <a:noAutofit/>
                    </a:bodyPr>
                    <a:lstStyle/>
                    <a:p>
                      <a:pPr algn="l">
                        <a:lnSpc>
                          <a:spcPct val="112000"/>
                        </a:lnSpc>
                        <a:spcAft>
                          <a:spcPts val="0"/>
                        </a:spcAft>
                        <a:buNone/>
                      </a:pPr>
                      <a:r>
                        <a:rPr sz="2400" b="0" lang="ja-JP">
                          <a:solidFill>
                            <a:srgbClr val="111111"/>
                          </a:solidFill>
                          <a:latin typeface="游ゴシック"/>
                          <a:ea typeface="游ゴシック"/>
                        </a:rPr>
                        <a:t>既存モデルを使用 ／ 今回の正解注釈は未作成</a:t>
                      </a:r>
                    </a:p>
                  </a:txBody>
                  <a:tcPr marL="118872" marR="91440" marT="64008" marB="36576" anchor="ctr">
                    <a:solidFill>
                      <a:srgbClr val="FFFFFF"/>
                    </a:solidFill>
                    <a:lnL w="7000">
                      <a:solidFill>
                        <a:srgbClr val="BFBFBF"/>
                      </a:solidFill>
                    </a:lnL>
                    <a:lnR w="7000">
                      <a:solidFill>
                        <a:srgbClr val="BFBFBF"/>
                      </a:solidFill>
                    </a:lnR>
                    <a:lnT w="7000">
                      <a:solidFill>
                        <a:srgbClr val="BFBFBF"/>
                      </a:solidFill>
                    </a:lnT>
                    <a:lnB w="7000">
                      <a:solidFill>
                        <a:srgbClr val="BFBFBF"/>
                      </a:solidFill>
                    </a:lnB>
                  </a:tcPr>
                </a:tc>
              </a:tr>
            </a:tbl>
          </a:graphicData>
        </a:graphic>
      </p:graphicFrame>
      <p:sp>
        <p:nvSpPr>
          <p:cNvPr id="6" name="TextBox 5"/>
          <p:cNvSpPr txBox="1"/>
          <p:nvPr/>
        </p:nvSpPr>
        <p:spPr>
          <a:xfrm>
            <a:off x="838504" y="5870448"/>
            <a:ext cx="10515600" cy="347472"/>
          </a:xfrm>
          <a:prstGeom prst="rect">
            <a:avLst/>
          </a:prstGeom>
          <a:noFill/>
        </p:spPr>
        <p:txBody>
          <a:bodyPr wrap="square" lIns="0" rIns="0" tIns="0" bIns="0">
            <a:noAutofit/>
          </a:bodyPr>
          <a:lstStyle/>
          <a:p>
            <a:pPr algn="l">
              <a:lnSpc>
                <a:spcPct val="112000"/>
              </a:lnSpc>
              <a:spcAft>
                <a:spcPts val="1000"/>
              </a:spcAft>
              <a:buNone/>
            </a:pPr>
            <a:r>
              <a:rPr sz="2300" b="0" lang="ja-JP">
                <a:solidFill>
                  <a:srgbClr val="111111"/>
                </a:solidFill>
                <a:latin typeface="游ゴシック"/>
                <a:ea typeface="游ゴシック"/>
              </a:rPr>
              <a:t>追加学習は行わず、同じ動画への適用と結果の照合を確認した。</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504" y="364845"/>
            <a:ext cx="10515600" cy="1325880"/>
          </a:xfrm>
        </p:spPr>
        <p:txBody>
          <a:bodyPr wrap="square" lIns="0" rIns="0" tIns="0" bIns="0">
            <a:noAutofit/>
          </a:bodyPr>
          <a:lstStyle/>
          <a:p>
            <a:pPr algn="l">
              <a:lnSpc>
                <a:spcPct val="112000"/>
              </a:lnSpc>
              <a:spcAft>
                <a:spcPts val="0"/>
              </a:spcAft>
              <a:buNone/>
            </a:pPr>
            <a:r>
              <a:rPr sz="4400" b="0" lang="ja-JP">
                <a:solidFill>
                  <a:srgbClr val="111111"/>
                </a:solidFill>
                <a:latin typeface="游ゴシック Light"/>
                <a:ea typeface="游ゴシック Light"/>
              </a:rPr>
              <a:t>3つの処理を同じ時刻で照合</a:t>
            </a:r>
          </a:p>
        </p:txBody>
      </p:sp>
      <p:sp>
        <p:nvSpPr>
          <p:cNvPr id="3" name="TextBox 2"/>
          <p:cNvSpPr txBox="1"/>
          <p:nvPr/>
        </p:nvSpPr>
        <p:spPr>
          <a:xfrm>
            <a:off x="10881360" y="6510528"/>
            <a:ext cx="457200" cy="201168"/>
          </a:xfrm>
          <a:prstGeom prst="rect">
            <a:avLst/>
          </a:prstGeom>
          <a:noFill/>
        </p:spPr>
        <p:txBody>
          <a:bodyPr wrap="square" lIns="0" rIns="0" tIns="0" bIns="0">
            <a:noAutofit/>
          </a:bodyPr>
          <a:lstStyle/>
          <a:p>
            <a:pPr algn="r">
              <a:lnSpc>
                <a:spcPct val="112000"/>
              </a:lnSpc>
              <a:spcAft>
                <a:spcPts val="0"/>
              </a:spcAft>
              <a:buNone/>
            </a:pPr>
            <a:r>
              <a:rPr sz="1200" b="0" lang="ja-JP">
                <a:solidFill>
                  <a:srgbClr val="555555"/>
                </a:solidFill>
                <a:latin typeface="游ゴシック"/>
                <a:ea typeface="游ゴシック"/>
              </a:rPr>
              <a:t>4</a:t>
            </a:r>
          </a:p>
        </p:txBody>
      </p:sp>
      <p:sp>
        <p:nvSpPr>
          <p:cNvPr id="4" name="Rectangle 3"/>
          <p:cNvSpPr/>
          <p:nvPr/>
        </p:nvSpPr>
        <p:spPr>
          <a:xfrm>
            <a:off x="868680" y="1828800"/>
            <a:ext cx="10469880" cy="502920"/>
          </a:xfrm>
          <a:prstGeom prst="rect">
            <a:avLst/>
          </a:prstGeom>
          <a:solidFill>
            <a:srgbClr val="FFFFFF"/>
          </a:solidFill>
          <a:ln w="12700">
            <a:solidFill>
              <a:srgbClr val="777777"/>
            </a:solidFill>
          </a:ln>
        </p:spPr>
        <p:style>
          <a:lnRef idx="1">
            <a:schemeClr val="accent1"/>
          </a:lnRef>
          <a:fillRef idx="3">
            <a:schemeClr val="accent1"/>
          </a:fillRef>
          <a:effectRef idx="2">
            <a:schemeClr val="accent1"/>
          </a:effectRef>
          <a:fontRef idx="minor">
            <a:schemeClr val="lt1"/>
          </a:fontRef>
        </p:style>
        <p:txBody>
          <a:bodyPr rtlCol="0" anchor="ctr" wrap="square" tIns="0" bIns="0">
            <a:noAutofit/>
          </a:bodyPr>
          <a:lstStyle/>
          <a:p>
            <a:pPr algn="ctr">
              <a:lnSpc>
                <a:spcPct val="112000"/>
              </a:lnSpc>
              <a:spcAft>
                <a:spcPts val="0"/>
              </a:spcAft>
              <a:buNone/>
            </a:pPr>
            <a:r>
              <a:rPr sz="2600" b="0" lang="ja-JP">
                <a:solidFill>
                  <a:srgbClr val="111111"/>
                </a:solidFill>
                <a:latin typeface="游ゴシック"/>
                <a:ea typeface="游ゴシック"/>
              </a:rPr>
              <a:t>入力：同じ試合映像 5ura.mp4</a:t>
            </a:r>
          </a:p>
        </p:txBody>
      </p:sp>
      <p:cxnSp>
        <p:nvCxnSpPr>
          <p:cNvPr id="5" name="Connector 4"/>
          <p:cNvCxnSpPr/>
          <p:nvPr/>
        </p:nvCxnSpPr>
        <p:spPr>
          <a:xfrm>
            <a:off x="2468880" y="2331720"/>
            <a:ext cx="0" cy="457200"/>
          </a:xfrm>
          <a:prstGeom prst="line">
            <a:avLst/>
          </a:prstGeom>
          <a:ln w="20320">
            <a:solidFill>
              <a:srgbClr val="555555"/>
            </a:solidFill>
            <a:tailEnd type="triangle"/>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9646920" y="2331720"/>
            <a:ext cx="0" cy="457200"/>
          </a:xfrm>
          <a:prstGeom prst="line">
            <a:avLst/>
          </a:prstGeom>
          <a:ln w="20320">
            <a:solidFill>
              <a:srgbClr val="555555"/>
            </a:solidFill>
            <a:tailEnd type="triangle"/>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868680" y="2788920"/>
            <a:ext cx="3200400" cy="1371600"/>
          </a:xfrm>
          <a:prstGeom prst="rect">
            <a:avLst/>
          </a:prstGeom>
          <a:solidFill>
            <a:srgbClr val="F5F5F5"/>
          </a:solidFill>
          <a:ln w="12700">
            <a:solidFill>
              <a:srgbClr val="777777"/>
            </a:solidFill>
          </a:ln>
        </p:spPr>
        <p:style>
          <a:lnRef idx="1">
            <a:schemeClr val="accent1"/>
          </a:lnRef>
          <a:fillRef idx="3">
            <a:schemeClr val="accent1"/>
          </a:fillRef>
          <a:effectRef idx="2">
            <a:schemeClr val="accent1"/>
          </a:effectRef>
          <a:fontRef idx="minor">
            <a:schemeClr val="lt1"/>
          </a:fontRef>
        </p:style>
        <p:txBody>
          <a:bodyPr rtlCol="0" anchor="ctr" wrap="square" tIns="0" bIns="0">
            <a:noAutofit/>
          </a:bodyPr>
          <a:lstStyle/>
          <a:p>
            <a:pPr algn="ctr">
              <a:lnSpc>
                <a:spcPct val="112000"/>
              </a:lnSpc>
              <a:spcAft>
                <a:spcPts val="0"/>
              </a:spcAft>
              <a:buNone/>
            </a:pPr>
            <a:r>
              <a:rPr sz="2400" b="0" lang="ja-JP">
                <a:solidFill>
                  <a:srgbClr val="111111"/>
                </a:solidFill>
                <a:latin typeface="游ゴシック"/>
                <a:ea typeface="游ゴシック"/>
              </a:rPr>
              <a:t>YOLO（2段階）</a:t>
            </a:r>
            <a:br/>
            <a:r>
              <a:rPr sz="2400" b="0" lang="ja-JP">
                <a:solidFill>
                  <a:srgbClr val="111111"/>
                </a:solidFill>
                <a:latin typeface="游ゴシック"/>
                <a:ea typeface="游ゴシック"/>
              </a:rPr>
              <a:t>表示位置</a:t>
            </a:r>
            <a:br/>
            <a:r>
              <a:rPr sz="2400" b="0" lang="ja-JP">
                <a:solidFill>
                  <a:srgbClr val="111111"/>
                </a:solidFill>
                <a:latin typeface="游ゴシック"/>
                <a:ea typeface="游ゴシック"/>
              </a:rPr>
              <a:t>B/S/O・走者</a:t>
            </a:r>
          </a:p>
        </p:txBody>
      </p:sp>
      <p:sp>
        <p:nvSpPr>
          <p:cNvPr id="8" name="Rectangle 7"/>
          <p:cNvSpPr/>
          <p:nvPr/>
        </p:nvSpPr>
        <p:spPr>
          <a:xfrm>
            <a:off x="4434840" y="2788920"/>
            <a:ext cx="3154680" cy="1371600"/>
          </a:xfrm>
          <a:prstGeom prst="rect">
            <a:avLst/>
          </a:prstGeom>
          <a:solidFill>
            <a:srgbClr val="F5F5F5"/>
          </a:solidFill>
          <a:ln w="12700">
            <a:solidFill>
              <a:srgbClr val="777777"/>
            </a:solidFill>
          </a:ln>
        </p:spPr>
        <p:style>
          <a:lnRef idx="1">
            <a:schemeClr val="accent1"/>
          </a:lnRef>
          <a:fillRef idx="3">
            <a:schemeClr val="accent1"/>
          </a:fillRef>
          <a:effectRef idx="2">
            <a:schemeClr val="accent1"/>
          </a:effectRef>
          <a:fontRef idx="minor">
            <a:schemeClr val="lt1"/>
          </a:fontRef>
        </p:style>
        <p:txBody>
          <a:bodyPr rtlCol="0" anchor="ctr" wrap="square" tIns="0" bIns="0">
            <a:noAutofit/>
          </a:bodyPr>
          <a:lstStyle/>
          <a:p>
            <a:pPr algn="ctr">
              <a:lnSpc>
                <a:spcPct val="112000"/>
              </a:lnSpc>
              <a:spcAft>
                <a:spcPts val="0"/>
              </a:spcAft>
              <a:buNone/>
            </a:pPr>
            <a:r>
              <a:rPr sz="2400" b="0" lang="ja-JP">
                <a:solidFill>
                  <a:srgbClr val="111111"/>
                </a:solidFill>
                <a:latin typeface="游ゴシック"/>
                <a:ea typeface="游ゴシック"/>
              </a:rPr>
              <a:t>PaddleOCR v6</a:t>
            </a:r>
            <a:br/>
            <a:r>
              <a:rPr sz="2400" b="0" lang="ja-JP">
                <a:solidFill>
                  <a:srgbClr val="111111"/>
                </a:solidFill>
                <a:latin typeface="游ゴシック"/>
                <a:ea typeface="游ゴシック"/>
              </a:rPr>
              <a:t>イニング・得点</a:t>
            </a:r>
          </a:p>
        </p:txBody>
      </p:sp>
      <p:sp>
        <p:nvSpPr>
          <p:cNvPr id="9" name="Rectangle 8"/>
          <p:cNvSpPr/>
          <p:nvPr/>
        </p:nvSpPr>
        <p:spPr>
          <a:xfrm>
            <a:off x="8001000" y="2788920"/>
            <a:ext cx="3337560" cy="1371600"/>
          </a:xfrm>
          <a:prstGeom prst="rect">
            <a:avLst/>
          </a:prstGeom>
          <a:solidFill>
            <a:srgbClr val="F5F5F5"/>
          </a:solidFill>
          <a:ln w="12700">
            <a:solidFill>
              <a:srgbClr val="777777"/>
            </a:solidFill>
          </a:ln>
        </p:spPr>
        <p:style>
          <a:lnRef idx="1">
            <a:schemeClr val="accent1"/>
          </a:lnRef>
          <a:fillRef idx="3">
            <a:schemeClr val="accent1"/>
          </a:fillRef>
          <a:effectRef idx="2">
            <a:schemeClr val="accent1"/>
          </a:effectRef>
          <a:fontRef idx="minor">
            <a:schemeClr val="lt1"/>
          </a:fontRef>
        </p:style>
        <p:txBody>
          <a:bodyPr rtlCol="0" anchor="ctr" wrap="square" tIns="0" bIns="0">
            <a:noAutofit/>
          </a:bodyPr>
          <a:lstStyle/>
          <a:p>
            <a:pPr algn="ctr">
              <a:lnSpc>
                <a:spcPct val="112000"/>
              </a:lnSpc>
              <a:spcAft>
                <a:spcPts val="0"/>
              </a:spcAft>
              <a:buNone/>
            </a:pPr>
            <a:r>
              <a:rPr sz="2000" b="0" lang="ja-JP">
                <a:solidFill>
                  <a:srgbClr val="111111"/>
                </a:solidFill>
                <a:latin typeface="游ゴシック"/>
                <a:ea typeface="游ゴシック"/>
              </a:rPr>
              <a:t>VideoMAE</a:t>
            </a:r>
            <a:br/>
            <a:r>
              <a:rPr sz="2000" b="0" lang="ja-JP">
                <a:solidFill>
                  <a:srgbClr val="111111"/>
                </a:solidFill>
                <a:latin typeface="游ゴシック"/>
                <a:ea typeface="游ゴシック"/>
              </a:rPr>
              <a:t>＋Compact ActionFormer</a:t>
            </a:r>
            <a:br/>
            <a:r>
              <a:rPr sz="2000" b="0" lang="ja-JP">
                <a:solidFill>
                  <a:srgbClr val="111111"/>
                </a:solidFill>
                <a:latin typeface="游ゴシック"/>
                <a:ea typeface="游ゴシック"/>
              </a:rPr>
              <a:t>投球開始・終了の候補</a:t>
            </a:r>
          </a:p>
        </p:txBody>
      </p:sp>
      <p:cxnSp>
        <p:nvCxnSpPr>
          <p:cNvPr id="10" name="Connector 9"/>
          <p:cNvCxnSpPr/>
          <p:nvPr/>
        </p:nvCxnSpPr>
        <p:spPr>
          <a:xfrm>
            <a:off x="4069080" y="3383280"/>
            <a:ext cx="365760" cy="0"/>
          </a:xfrm>
          <a:prstGeom prst="line">
            <a:avLst/>
          </a:prstGeom>
          <a:ln w="20320">
            <a:solidFill>
              <a:srgbClr val="555555"/>
            </a:solidFill>
            <a:tailEnd type="triangle"/>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468880" y="4160520"/>
            <a:ext cx="0" cy="228600"/>
          </a:xfrm>
          <a:prstGeom prst="line">
            <a:avLst/>
          </a:prstGeom>
          <a:ln w="20320">
            <a:solidFill>
              <a:srgbClr val="555555"/>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6012180" y="4160520"/>
            <a:ext cx="0" cy="228600"/>
          </a:xfrm>
          <a:prstGeom prst="line">
            <a:avLst/>
          </a:prstGeom>
          <a:ln w="20320">
            <a:solidFill>
              <a:srgbClr val="555555"/>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9669780" y="4160520"/>
            <a:ext cx="0" cy="228600"/>
          </a:xfrm>
          <a:prstGeom prst="line">
            <a:avLst/>
          </a:prstGeom>
          <a:ln w="20320">
            <a:solidFill>
              <a:srgbClr val="555555"/>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468880" y="4389120"/>
            <a:ext cx="7200900" cy="0"/>
          </a:xfrm>
          <a:prstGeom prst="line">
            <a:avLst/>
          </a:prstGeom>
          <a:ln w="20320">
            <a:solidFill>
              <a:srgbClr val="555555"/>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012180" y="4389120"/>
            <a:ext cx="0" cy="228600"/>
          </a:xfrm>
          <a:prstGeom prst="line">
            <a:avLst/>
          </a:prstGeom>
          <a:ln w="20320">
            <a:solidFill>
              <a:srgbClr val="555555"/>
            </a:solidFill>
            <a:tailEnd type="triangle"/>
          </a:ln>
        </p:spPr>
        <p:style>
          <a:lnRef idx="2">
            <a:schemeClr val="accent1"/>
          </a:lnRef>
          <a:fillRef idx="0">
            <a:schemeClr val="accent1"/>
          </a:fillRef>
          <a:effectRef idx="1">
            <a:schemeClr val="accent1"/>
          </a:effectRef>
          <a:fontRef idx="minor">
            <a:schemeClr val="tx1"/>
          </a:fontRef>
        </p:style>
      </p:cxnSp>
      <p:sp>
        <p:nvSpPr>
          <p:cNvPr id="16" name="Rectangle 15"/>
          <p:cNvSpPr/>
          <p:nvPr/>
        </p:nvSpPr>
        <p:spPr>
          <a:xfrm>
            <a:off x="868680" y="4617720"/>
            <a:ext cx="10469880" cy="713232"/>
          </a:xfrm>
          <a:prstGeom prst="rect">
            <a:avLst/>
          </a:prstGeom>
          <a:solidFill>
            <a:srgbClr val="FFFFFF"/>
          </a:solidFill>
          <a:ln w="12700">
            <a:solidFill>
              <a:srgbClr val="777777"/>
            </a:solidFill>
          </a:ln>
        </p:spPr>
        <p:style>
          <a:lnRef idx="1">
            <a:schemeClr val="accent1"/>
          </a:lnRef>
          <a:fillRef idx="3">
            <a:schemeClr val="accent1"/>
          </a:fillRef>
          <a:effectRef idx="2">
            <a:schemeClr val="accent1"/>
          </a:effectRef>
          <a:fontRef idx="minor">
            <a:schemeClr val="lt1"/>
          </a:fontRef>
        </p:style>
        <p:txBody>
          <a:bodyPr rtlCol="0" anchor="ctr" wrap="square" tIns="0" bIns="0">
            <a:noAutofit/>
          </a:bodyPr>
          <a:lstStyle/>
          <a:p>
            <a:pPr algn="ctr">
              <a:lnSpc>
                <a:spcPct val="112000"/>
              </a:lnSpc>
              <a:spcAft>
                <a:spcPts val="0"/>
              </a:spcAft>
              <a:buNone/>
            </a:pPr>
            <a:r>
              <a:rPr sz="2600" b="0" lang="ja-JP">
                <a:solidFill>
                  <a:srgbClr val="111111"/>
                </a:solidFill>
                <a:latin typeface="游ゴシック"/>
                <a:ea typeface="游ゴシック"/>
              </a:rPr>
              <a:t>同じ時刻の投球候補と、前後のカウント・得点を照合</a:t>
            </a:r>
          </a:p>
        </p:txBody>
      </p:sp>
      <p:sp>
        <p:nvSpPr>
          <p:cNvPr id="17" name="TextBox 16"/>
          <p:cNvSpPr txBox="1"/>
          <p:nvPr/>
        </p:nvSpPr>
        <p:spPr>
          <a:xfrm>
            <a:off x="868680" y="5623560"/>
            <a:ext cx="10469880" cy="822960"/>
          </a:xfrm>
          <a:prstGeom prst="rect">
            <a:avLst/>
          </a:prstGeom>
          <a:noFill/>
        </p:spPr>
        <p:txBody>
          <a:bodyPr wrap="square" lIns="0" rIns="0" tIns="0" bIns="0">
            <a:noAutofit/>
          </a:bodyPr>
          <a:lstStyle/>
          <a:p>
            <a:pPr algn="l">
              <a:lnSpc>
                <a:spcPct val="112000"/>
              </a:lnSpc>
              <a:spcAft>
                <a:spcPts val="0"/>
              </a:spcAft>
              <a:buNone/>
            </a:pPr>
            <a:r>
              <a:rPr sz="2500" b="0" lang="ja-JP">
                <a:solidFill>
                  <a:srgbClr val="B02121"/>
                </a:solidFill>
                <a:latin typeface="游ゴシック"/>
                <a:ea typeface="游ゴシック"/>
              </a:rPr>
              <a:t>2ストライク後のカウント不変 → 確認対象</a:t>
            </a:r>
            <a:br/>
            <a:r>
              <a:rPr sz="2500" b="0" lang="ja-JP">
                <a:solidFill>
                  <a:srgbClr val="B02121"/>
                </a:solidFill>
                <a:latin typeface="游ゴシック"/>
                <a:ea typeface="游ゴシック"/>
              </a:rPr>
              <a:t>ファウルの確定には、投球後の映像や表示も必要</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504" y="364845"/>
            <a:ext cx="10515600" cy="1325880"/>
          </a:xfrm>
        </p:spPr>
        <p:txBody>
          <a:bodyPr wrap="square" lIns="0" rIns="0" tIns="0" bIns="0">
            <a:noAutofit/>
          </a:bodyPr>
          <a:lstStyle/>
          <a:p>
            <a:pPr algn="l">
              <a:lnSpc>
                <a:spcPct val="112000"/>
              </a:lnSpc>
              <a:spcAft>
                <a:spcPts val="0"/>
              </a:spcAft>
              <a:buNone/>
            </a:pPr>
            <a:r>
              <a:rPr sz="4400" b="0" lang="ja-JP">
                <a:solidFill>
                  <a:srgbClr val="111111"/>
                </a:solidFill>
                <a:latin typeface="游ゴシック Light"/>
                <a:ea typeface="游ゴシック Light"/>
              </a:rPr>
              <a:t>動画全体に適用した結果</a:t>
            </a:r>
          </a:p>
        </p:txBody>
      </p:sp>
      <p:sp>
        <p:nvSpPr>
          <p:cNvPr id="3" name="TextBox 2"/>
          <p:cNvSpPr txBox="1"/>
          <p:nvPr/>
        </p:nvSpPr>
        <p:spPr>
          <a:xfrm>
            <a:off x="10881360" y="6510528"/>
            <a:ext cx="457200" cy="201168"/>
          </a:xfrm>
          <a:prstGeom prst="rect">
            <a:avLst/>
          </a:prstGeom>
          <a:noFill/>
        </p:spPr>
        <p:txBody>
          <a:bodyPr wrap="square" lIns="0" rIns="0" tIns="0" bIns="0">
            <a:noAutofit/>
          </a:bodyPr>
          <a:lstStyle/>
          <a:p>
            <a:pPr algn="r">
              <a:lnSpc>
                <a:spcPct val="112000"/>
              </a:lnSpc>
              <a:spcAft>
                <a:spcPts val="0"/>
              </a:spcAft>
              <a:buNone/>
            </a:pPr>
            <a:r>
              <a:rPr sz="1200" b="0" lang="ja-JP">
                <a:solidFill>
                  <a:srgbClr val="555555"/>
                </a:solidFill>
                <a:latin typeface="游ゴシック"/>
                <a:ea typeface="游ゴシック"/>
              </a:rPr>
              <a:t>5</a:t>
            </a:r>
          </a:p>
        </p:txBody>
      </p:sp>
      <p:sp>
        <p:nvSpPr>
          <p:cNvPr id="4" name="TextBox 3"/>
          <p:cNvSpPr txBox="1"/>
          <p:nvPr/>
        </p:nvSpPr>
        <p:spPr>
          <a:xfrm>
            <a:off x="838504" y="1819656"/>
            <a:ext cx="10515600" cy="457200"/>
          </a:xfrm>
          <a:prstGeom prst="rect">
            <a:avLst/>
          </a:prstGeom>
          <a:noFill/>
        </p:spPr>
        <p:txBody>
          <a:bodyPr wrap="square" lIns="0" rIns="0" tIns="0" bIns="0">
            <a:noAutofit/>
          </a:bodyPr>
          <a:lstStyle/>
          <a:p>
            <a:pPr algn="l">
              <a:lnSpc>
                <a:spcPct val="112000"/>
              </a:lnSpc>
              <a:spcAft>
                <a:spcPts val="1000"/>
              </a:spcAft>
              <a:buNone/>
            </a:pPr>
            <a:r>
              <a:rPr sz="2800" b="0" lang="ja-JP">
                <a:solidFill>
                  <a:srgbClr val="111111"/>
                </a:solidFill>
                <a:latin typeface="游ゴシック"/>
                <a:ea typeface="游ゴシック"/>
              </a:rPr>
              <a:t>投球候補：65区間　→　重複を整理：34候補群</a:t>
            </a:r>
          </a:p>
        </p:txBody>
      </p:sp>
      <p:pic>
        <p:nvPicPr>
          <p:cNvPr id="5" name="Picture 4" descr="integrated_timeline_ja"/>
          <p:cNvPicPr>
            <a:picLocks noChangeAspect="1"/>
          </p:cNvPicPr>
          <p:nvPr/>
        </p:nvPicPr>
        <p:blipFill>
          <a:blip r:embed="rId2"/>
          <a:stretch>
            <a:fillRect/>
          </a:stretch>
        </p:blipFill>
        <p:spPr>
          <a:xfrm>
            <a:off x="838504" y="2221992"/>
            <a:ext cx="10515600" cy="420624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504" y="364845"/>
            <a:ext cx="10515600" cy="1325880"/>
          </a:xfrm>
        </p:spPr>
        <p:txBody>
          <a:bodyPr wrap="square" lIns="0" rIns="0" tIns="0" bIns="0">
            <a:noAutofit/>
          </a:bodyPr>
          <a:lstStyle/>
          <a:p>
            <a:pPr algn="l">
              <a:lnSpc>
                <a:spcPct val="112000"/>
              </a:lnSpc>
              <a:spcAft>
                <a:spcPts val="0"/>
              </a:spcAft>
              <a:buNone/>
            </a:pPr>
            <a:r>
              <a:rPr sz="4400" b="0" lang="ja-JP">
                <a:solidFill>
                  <a:srgbClr val="111111"/>
                </a:solidFill>
                <a:latin typeface="游ゴシック Light"/>
                <a:ea typeface="游ゴシック Light"/>
              </a:rPr>
              <a:t>投球前後の表示を照合した結果</a:t>
            </a:r>
          </a:p>
        </p:txBody>
      </p:sp>
      <p:sp>
        <p:nvSpPr>
          <p:cNvPr id="3" name="TextBox 2"/>
          <p:cNvSpPr txBox="1"/>
          <p:nvPr/>
        </p:nvSpPr>
        <p:spPr>
          <a:xfrm>
            <a:off x="10881360" y="6510528"/>
            <a:ext cx="457200" cy="201168"/>
          </a:xfrm>
          <a:prstGeom prst="rect">
            <a:avLst/>
          </a:prstGeom>
          <a:noFill/>
        </p:spPr>
        <p:txBody>
          <a:bodyPr wrap="square" lIns="0" rIns="0" tIns="0" bIns="0">
            <a:noAutofit/>
          </a:bodyPr>
          <a:lstStyle/>
          <a:p>
            <a:pPr algn="r">
              <a:lnSpc>
                <a:spcPct val="112000"/>
              </a:lnSpc>
              <a:spcAft>
                <a:spcPts val="0"/>
              </a:spcAft>
              <a:buNone/>
            </a:pPr>
            <a:r>
              <a:rPr sz="1200" b="0" lang="ja-JP">
                <a:solidFill>
                  <a:srgbClr val="555555"/>
                </a:solidFill>
                <a:latin typeface="游ゴシック"/>
                <a:ea typeface="游ゴシック"/>
              </a:rPr>
              <a:t>6</a:t>
            </a:r>
          </a:p>
        </p:txBody>
      </p:sp>
      <p:graphicFrame>
        <p:nvGraphicFramePr>
          <p:cNvPr id="4" name="Table 3"/>
          <p:cNvGraphicFramePr>
            <a:graphicFrameLocks noGrp="1"/>
          </p:cNvGraphicFramePr>
          <p:nvPr/>
        </p:nvGraphicFramePr>
        <p:xfrm>
          <a:off x="838504" y="1920240"/>
          <a:ext cx="10515600" cy="3584448"/>
        </p:xfrm>
        <a:graphic>
          <a:graphicData uri="http://schemas.openxmlformats.org/drawingml/2006/table">
            <a:tbl>
              <a:tblPr firstRow="1" bandRow="1">
                <a:tableStyleId>{5C22544A-7EE6-4342-B048-85BDC9FD1C3A}</a:tableStyleId>
              </a:tblPr>
              <a:tblGrid>
                <a:gridCol w="8001000"/>
                <a:gridCol w="2514600"/>
              </a:tblGrid>
              <a:tr h="512064">
                <a:tc>
                  <a:txBody>
                    <a:bodyPr wrap="square" lIns="0" rIns="0" tIns="0" bIns="0">
                      <a:noAutofit/>
                    </a:bodyPr>
                    <a:lstStyle/>
                    <a:p>
                      <a:pPr algn="l">
                        <a:lnSpc>
                          <a:spcPct val="112000"/>
                        </a:lnSpc>
                        <a:spcAft>
                          <a:spcPts val="0"/>
                        </a:spcAft>
                        <a:buNone/>
                      </a:pPr>
                      <a:r>
                        <a:rPr sz="2500" b="1" lang="ja-JP">
                          <a:solidFill>
                            <a:srgbClr val="111111"/>
                          </a:solidFill>
                          <a:latin typeface="游ゴシック"/>
                          <a:ea typeface="游ゴシック"/>
                        </a:rPr>
                        <a:t>照合できた変化・状態</a:t>
                      </a:r>
                    </a:p>
                  </a:txBody>
                  <a:tcPr marL="118872" marR="91440" marT="64008" marB="36576" anchor="ctr">
                    <a:solidFill>
                      <a:srgbClr val="EEEEEE"/>
                    </a:solidFill>
                    <a:lnL w="7000">
                      <a:solidFill>
                        <a:srgbClr val="BFBFBF"/>
                      </a:solidFill>
                    </a:lnL>
                    <a:lnR w="7000">
                      <a:solidFill>
                        <a:srgbClr val="BFBFBF"/>
                      </a:solidFill>
                    </a:lnR>
                    <a:lnT w="7000">
                      <a:solidFill>
                        <a:srgbClr val="BFBFBF"/>
                      </a:solidFill>
                    </a:lnT>
                    <a:lnB w="7000">
                      <a:solidFill>
                        <a:srgbClr val="BFBFBF"/>
                      </a:solidFill>
                    </a:lnB>
                  </a:tcPr>
                </a:tc>
                <a:tc>
                  <a:txBody>
                    <a:bodyPr wrap="square" lIns="0" rIns="0" tIns="0" bIns="0">
                      <a:noAutofit/>
                    </a:bodyPr>
                    <a:lstStyle/>
                    <a:p>
                      <a:pPr algn="l">
                        <a:lnSpc>
                          <a:spcPct val="112000"/>
                        </a:lnSpc>
                        <a:spcAft>
                          <a:spcPts val="0"/>
                        </a:spcAft>
                        <a:buNone/>
                      </a:pPr>
                      <a:r>
                        <a:rPr sz="2500" b="1" lang="ja-JP">
                          <a:solidFill>
                            <a:srgbClr val="111111"/>
                          </a:solidFill>
                          <a:latin typeface="游ゴシック"/>
                          <a:ea typeface="游ゴシック"/>
                        </a:rPr>
                        <a:t>候補群数</a:t>
                      </a:r>
                    </a:p>
                  </a:txBody>
                  <a:tcPr marL="118872" marR="91440" marT="64008" marB="36576" anchor="ctr">
                    <a:solidFill>
                      <a:srgbClr val="EEEEEE"/>
                    </a:solidFill>
                    <a:lnL w="7000">
                      <a:solidFill>
                        <a:srgbClr val="BFBFBF"/>
                      </a:solidFill>
                    </a:lnL>
                    <a:lnR w="7000">
                      <a:solidFill>
                        <a:srgbClr val="BFBFBF"/>
                      </a:solidFill>
                    </a:lnR>
                    <a:lnT w="7000">
                      <a:solidFill>
                        <a:srgbClr val="BFBFBF"/>
                      </a:solidFill>
                    </a:lnT>
                    <a:lnB w="7000">
                      <a:solidFill>
                        <a:srgbClr val="BFBFBF"/>
                      </a:solidFill>
                    </a:lnB>
                  </a:tcPr>
                </a:tc>
              </a:tr>
              <a:tr h="512064">
                <a:tc>
                  <a:txBody>
                    <a:bodyPr wrap="square" lIns="0" rIns="0" tIns="0" bIns="0">
                      <a:noAutofit/>
                    </a:bodyPr>
                    <a:lstStyle/>
                    <a:p>
                      <a:pPr algn="l">
                        <a:lnSpc>
                          <a:spcPct val="112000"/>
                        </a:lnSpc>
                        <a:spcAft>
                          <a:spcPts val="0"/>
                        </a:spcAft>
                        <a:buNone/>
                      </a:pPr>
                      <a:r>
                        <a:rPr sz="2500" b="0" lang="ja-JP">
                          <a:solidFill>
                            <a:srgbClr val="111111"/>
                          </a:solidFill>
                          <a:latin typeface="游ゴシック"/>
                          <a:ea typeface="游ゴシック"/>
                        </a:rPr>
                        <a:t>ストライク表示が増加</a:t>
                      </a:r>
                    </a:p>
                  </a:txBody>
                  <a:tcPr marL="118872" marR="91440" marT="64008" marB="36576" anchor="ctr">
                    <a:solidFill>
                      <a:srgbClr val="FFFFFF"/>
                    </a:solidFill>
                    <a:lnL w="7000">
                      <a:solidFill>
                        <a:srgbClr val="BFBFBF"/>
                      </a:solidFill>
                    </a:lnL>
                    <a:lnR w="7000">
                      <a:solidFill>
                        <a:srgbClr val="BFBFBF"/>
                      </a:solidFill>
                    </a:lnR>
                    <a:lnT w="7000">
                      <a:solidFill>
                        <a:srgbClr val="BFBFBF"/>
                      </a:solidFill>
                    </a:lnT>
                    <a:lnB w="7000">
                      <a:solidFill>
                        <a:srgbClr val="BFBFBF"/>
                      </a:solidFill>
                    </a:lnB>
                  </a:tcPr>
                </a:tc>
                <a:tc>
                  <a:txBody>
                    <a:bodyPr wrap="square" lIns="0" rIns="0" tIns="0" bIns="0">
                      <a:noAutofit/>
                    </a:bodyPr>
                    <a:lstStyle/>
                    <a:p>
                      <a:pPr algn="l">
                        <a:lnSpc>
                          <a:spcPct val="112000"/>
                        </a:lnSpc>
                        <a:spcAft>
                          <a:spcPts val="0"/>
                        </a:spcAft>
                        <a:buNone/>
                      </a:pPr>
                      <a:r>
                        <a:rPr sz="2500" b="0" lang="ja-JP">
                          <a:solidFill>
                            <a:srgbClr val="111111"/>
                          </a:solidFill>
                          <a:latin typeface="游ゴシック"/>
                          <a:ea typeface="游ゴシック"/>
                        </a:rPr>
                        <a:t>3</a:t>
                      </a:r>
                    </a:p>
                  </a:txBody>
                  <a:tcPr marL="118872" marR="91440" marT="64008" marB="36576" anchor="ctr">
                    <a:solidFill>
                      <a:srgbClr val="FFFFFF"/>
                    </a:solidFill>
                    <a:lnL w="7000">
                      <a:solidFill>
                        <a:srgbClr val="BFBFBF"/>
                      </a:solidFill>
                    </a:lnL>
                    <a:lnR w="7000">
                      <a:solidFill>
                        <a:srgbClr val="BFBFBF"/>
                      </a:solidFill>
                    </a:lnR>
                    <a:lnT w="7000">
                      <a:solidFill>
                        <a:srgbClr val="BFBFBF"/>
                      </a:solidFill>
                    </a:lnT>
                    <a:lnB w="7000">
                      <a:solidFill>
                        <a:srgbClr val="BFBFBF"/>
                      </a:solidFill>
                    </a:lnB>
                  </a:tcPr>
                </a:tc>
              </a:tr>
              <a:tr h="512064">
                <a:tc>
                  <a:txBody>
                    <a:bodyPr wrap="square" lIns="0" rIns="0" tIns="0" bIns="0">
                      <a:noAutofit/>
                    </a:bodyPr>
                    <a:lstStyle/>
                    <a:p>
                      <a:pPr algn="l">
                        <a:lnSpc>
                          <a:spcPct val="112000"/>
                        </a:lnSpc>
                        <a:spcAft>
                          <a:spcPts val="0"/>
                        </a:spcAft>
                        <a:buNone/>
                      </a:pPr>
                      <a:r>
                        <a:rPr sz="2500" b="0" lang="ja-JP">
                          <a:solidFill>
                            <a:srgbClr val="111111"/>
                          </a:solidFill>
                          <a:latin typeface="游ゴシック"/>
                          <a:ea typeface="游ゴシック"/>
                        </a:rPr>
                        <a:t>ボール表示が増加</a:t>
                      </a:r>
                    </a:p>
                  </a:txBody>
                  <a:tcPr marL="118872" marR="91440" marT="64008" marB="36576" anchor="ctr">
                    <a:solidFill>
                      <a:srgbClr val="FFFFFF"/>
                    </a:solidFill>
                    <a:lnL w="7000">
                      <a:solidFill>
                        <a:srgbClr val="BFBFBF"/>
                      </a:solidFill>
                    </a:lnL>
                    <a:lnR w="7000">
                      <a:solidFill>
                        <a:srgbClr val="BFBFBF"/>
                      </a:solidFill>
                    </a:lnR>
                    <a:lnT w="7000">
                      <a:solidFill>
                        <a:srgbClr val="BFBFBF"/>
                      </a:solidFill>
                    </a:lnT>
                    <a:lnB w="7000">
                      <a:solidFill>
                        <a:srgbClr val="BFBFBF"/>
                      </a:solidFill>
                    </a:lnB>
                  </a:tcPr>
                </a:tc>
                <a:tc>
                  <a:txBody>
                    <a:bodyPr wrap="square" lIns="0" rIns="0" tIns="0" bIns="0">
                      <a:noAutofit/>
                    </a:bodyPr>
                    <a:lstStyle/>
                    <a:p>
                      <a:pPr algn="l">
                        <a:lnSpc>
                          <a:spcPct val="112000"/>
                        </a:lnSpc>
                        <a:spcAft>
                          <a:spcPts val="0"/>
                        </a:spcAft>
                        <a:buNone/>
                      </a:pPr>
                      <a:r>
                        <a:rPr sz="2500" b="0" lang="ja-JP">
                          <a:solidFill>
                            <a:srgbClr val="111111"/>
                          </a:solidFill>
                          <a:latin typeface="游ゴシック"/>
                          <a:ea typeface="游ゴシック"/>
                        </a:rPr>
                        <a:t>1</a:t>
                      </a:r>
                    </a:p>
                  </a:txBody>
                  <a:tcPr marL="118872" marR="91440" marT="64008" marB="36576" anchor="ctr">
                    <a:solidFill>
                      <a:srgbClr val="FFFFFF"/>
                    </a:solidFill>
                    <a:lnL w="7000">
                      <a:solidFill>
                        <a:srgbClr val="BFBFBF"/>
                      </a:solidFill>
                    </a:lnL>
                    <a:lnR w="7000">
                      <a:solidFill>
                        <a:srgbClr val="BFBFBF"/>
                      </a:solidFill>
                    </a:lnR>
                    <a:lnT w="7000">
                      <a:solidFill>
                        <a:srgbClr val="BFBFBF"/>
                      </a:solidFill>
                    </a:lnT>
                    <a:lnB w="7000">
                      <a:solidFill>
                        <a:srgbClr val="BFBFBF"/>
                      </a:solidFill>
                    </a:lnB>
                  </a:tcPr>
                </a:tc>
              </a:tr>
              <a:tr h="512064">
                <a:tc>
                  <a:txBody>
                    <a:bodyPr wrap="square" lIns="0" rIns="0" tIns="0" bIns="0">
                      <a:noAutofit/>
                    </a:bodyPr>
                    <a:lstStyle/>
                    <a:p>
                      <a:pPr algn="l">
                        <a:lnSpc>
                          <a:spcPct val="112000"/>
                        </a:lnSpc>
                        <a:spcAft>
                          <a:spcPts val="0"/>
                        </a:spcAft>
                        <a:buNone/>
                      </a:pPr>
                      <a:r>
                        <a:rPr sz="2500" b="0" lang="ja-JP">
                          <a:solidFill>
                            <a:srgbClr val="111111"/>
                          </a:solidFill>
                          <a:latin typeface="游ゴシック"/>
                          <a:ea typeface="游ゴシック"/>
                        </a:rPr>
                        <a:t>2ストライク未満でカウント不変</a:t>
                      </a:r>
                    </a:p>
                  </a:txBody>
                  <a:tcPr marL="118872" marR="91440" marT="64008" marB="36576" anchor="ctr">
                    <a:solidFill>
                      <a:srgbClr val="FFFFFF"/>
                    </a:solidFill>
                    <a:lnL w="7000">
                      <a:solidFill>
                        <a:srgbClr val="BFBFBF"/>
                      </a:solidFill>
                    </a:lnL>
                    <a:lnR w="7000">
                      <a:solidFill>
                        <a:srgbClr val="BFBFBF"/>
                      </a:solidFill>
                    </a:lnR>
                    <a:lnT w="7000">
                      <a:solidFill>
                        <a:srgbClr val="BFBFBF"/>
                      </a:solidFill>
                    </a:lnT>
                    <a:lnB w="7000">
                      <a:solidFill>
                        <a:srgbClr val="BFBFBF"/>
                      </a:solidFill>
                    </a:lnB>
                  </a:tcPr>
                </a:tc>
                <a:tc>
                  <a:txBody>
                    <a:bodyPr wrap="square" lIns="0" rIns="0" tIns="0" bIns="0">
                      <a:noAutofit/>
                    </a:bodyPr>
                    <a:lstStyle/>
                    <a:p>
                      <a:pPr algn="l">
                        <a:lnSpc>
                          <a:spcPct val="112000"/>
                        </a:lnSpc>
                        <a:spcAft>
                          <a:spcPts val="0"/>
                        </a:spcAft>
                        <a:buNone/>
                      </a:pPr>
                      <a:r>
                        <a:rPr sz="2500" b="0" lang="ja-JP">
                          <a:solidFill>
                            <a:srgbClr val="111111"/>
                          </a:solidFill>
                          <a:latin typeface="游ゴシック"/>
                          <a:ea typeface="游ゴシック"/>
                        </a:rPr>
                        <a:t>5</a:t>
                      </a:r>
                    </a:p>
                  </a:txBody>
                  <a:tcPr marL="118872" marR="91440" marT="64008" marB="36576" anchor="ctr">
                    <a:solidFill>
                      <a:srgbClr val="FFFFFF"/>
                    </a:solidFill>
                    <a:lnL w="7000">
                      <a:solidFill>
                        <a:srgbClr val="BFBFBF"/>
                      </a:solidFill>
                    </a:lnL>
                    <a:lnR w="7000">
                      <a:solidFill>
                        <a:srgbClr val="BFBFBF"/>
                      </a:solidFill>
                    </a:lnR>
                    <a:lnT w="7000">
                      <a:solidFill>
                        <a:srgbClr val="BFBFBF"/>
                      </a:solidFill>
                    </a:lnT>
                    <a:lnB w="7000">
                      <a:solidFill>
                        <a:srgbClr val="BFBFBF"/>
                      </a:solidFill>
                    </a:lnB>
                  </a:tcPr>
                </a:tc>
              </a:tr>
              <a:tr h="512064">
                <a:tc>
                  <a:txBody>
                    <a:bodyPr wrap="square" lIns="0" rIns="0" tIns="0" bIns="0">
                      <a:noAutofit/>
                    </a:bodyPr>
                    <a:lstStyle/>
                    <a:p>
                      <a:pPr algn="l">
                        <a:lnSpc>
                          <a:spcPct val="112000"/>
                        </a:lnSpc>
                        <a:spcAft>
                          <a:spcPts val="0"/>
                        </a:spcAft>
                        <a:buNone/>
                      </a:pPr>
                      <a:r>
                        <a:rPr sz="2500" b="0" lang="ja-JP">
                          <a:solidFill>
                            <a:srgbClr val="111111"/>
                          </a:solidFill>
                          <a:latin typeface="游ゴシック"/>
                          <a:ea typeface="游ゴシック"/>
                        </a:rPr>
                        <a:t>2ストライクでカウント不変（要確認）</a:t>
                      </a:r>
                    </a:p>
                  </a:txBody>
                  <a:tcPr marL="118872" marR="91440" marT="64008" marB="36576" anchor="ctr">
                    <a:solidFill>
                      <a:srgbClr val="FFF4D8"/>
                    </a:solidFill>
                    <a:lnL w="7000">
                      <a:solidFill>
                        <a:srgbClr val="BFBFBF"/>
                      </a:solidFill>
                    </a:lnL>
                    <a:lnR w="7000">
                      <a:solidFill>
                        <a:srgbClr val="BFBFBF"/>
                      </a:solidFill>
                    </a:lnR>
                    <a:lnT w="7000">
                      <a:solidFill>
                        <a:srgbClr val="BFBFBF"/>
                      </a:solidFill>
                    </a:lnT>
                    <a:lnB w="7000">
                      <a:solidFill>
                        <a:srgbClr val="BFBFBF"/>
                      </a:solidFill>
                    </a:lnB>
                  </a:tcPr>
                </a:tc>
                <a:tc>
                  <a:txBody>
                    <a:bodyPr wrap="square" lIns="0" rIns="0" tIns="0" bIns="0">
                      <a:noAutofit/>
                    </a:bodyPr>
                    <a:lstStyle/>
                    <a:p>
                      <a:pPr algn="l">
                        <a:lnSpc>
                          <a:spcPct val="112000"/>
                        </a:lnSpc>
                        <a:spcAft>
                          <a:spcPts val="0"/>
                        </a:spcAft>
                        <a:buNone/>
                      </a:pPr>
                      <a:r>
                        <a:rPr sz="2500" b="0" lang="ja-JP">
                          <a:solidFill>
                            <a:srgbClr val="111111"/>
                          </a:solidFill>
                          <a:latin typeface="游ゴシック"/>
                          <a:ea typeface="游ゴシック"/>
                        </a:rPr>
                        <a:t>2</a:t>
                      </a:r>
                    </a:p>
                  </a:txBody>
                  <a:tcPr marL="118872" marR="91440" marT="64008" marB="36576" anchor="ctr">
                    <a:solidFill>
                      <a:srgbClr val="FFF4D8"/>
                    </a:solidFill>
                    <a:lnL w="7000">
                      <a:solidFill>
                        <a:srgbClr val="BFBFBF"/>
                      </a:solidFill>
                    </a:lnL>
                    <a:lnR w="7000">
                      <a:solidFill>
                        <a:srgbClr val="BFBFBF"/>
                      </a:solidFill>
                    </a:lnR>
                    <a:lnT w="7000">
                      <a:solidFill>
                        <a:srgbClr val="BFBFBF"/>
                      </a:solidFill>
                    </a:lnT>
                    <a:lnB w="7000">
                      <a:solidFill>
                        <a:srgbClr val="BFBFBF"/>
                      </a:solidFill>
                    </a:lnB>
                  </a:tcPr>
                </a:tc>
              </a:tr>
              <a:tr h="512064">
                <a:tc>
                  <a:txBody>
                    <a:bodyPr wrap="square" lIns="0" rIns="0" tIns="0" bIns="0">
                      <a:noAutofit/>
                    </a:bodyPr>
                    <a:lstStyle/>
                    <a:p>
                      <a:pPr algn="l">
                        <a:lnSpc>
                          <a:spcPct val="112000"/>
                        </a:lnSpc>
                        <a:spcAft>
                          <a:spcPts val="0"/>
                        </a:spcAft>
                        <a:buNone/>
                      </a:pPr>
                      <a:r>
                        <a:rPr sz="2500" b="0" lang="ja-JP">
                          <a:solidFill>
                            <a:srgbClr val="111111"/>
                          </a:solidFill>
                          <a:latin typeface="游ゴシック"/>
                          <a:ea typeface="游ゴシック"/>
                        </a:rPr>
                        <a:t>前後の表示不足で保留</a:t>
                      </a:r>
                    </a:p>
                  </a:txBody>
                  <a:tcPr marL="118872" marR="91440" marT="64008" marB="36576" anchor="ctr">
                    <a:solidFill>
                      <a:srgbClr val="FFFFFF"/>
                    </a:solidFill>
                    <a:lnL w="7000">
                      <a:solidFill>
                        <a:srgbClr val="BFBFBF"/>
                      </a:solidFill>
                    </a:lnL>
                    <a:lnR w="7000">
                      <a:solidFill>
                        <a:srgbClr val="BFBFBF"/>
                      </a:solidFill>
                    </a:lnR>
                    <a:lnT w="7000">
                      <a:solidFill>
                        <a:srgbClr val="BFBFBF"/>
                      </a:solidFill>
                    </a:lnT>
                    <a:lnB w="7000">
                      <a:solidFill>
                        <a:srgbClr val="BFBFBF"/>
                      </a:solidFill>
                    </a:lnB>
                  </a:tcPr>
                </a:tc>
                <a:tc>
                  <a:txBody>
                    <a:bodyPr wrap="square" lIns="0" rIns="0" tIns="0" bIns="0">
                      <a:noAutofit/>
                    </a:bodyPr>
                    <a:lstStyle/>
                    <a:p>
                      <a:pPr algn="l">
                        <a:lnSpc>
                          <a:spcPct val="112000"/>
                        </a:lnSpc>
                        <a:spcAft>
                          <a:spcPts val="0"/>
                        </a:spcAft>
                        <a:buNone/>
                      </a:pPr>
                      <a:r>
                        <a:rPr sz="2500" b="0" lang="ja-JP">
                          <a:solidFill>
                            <a:srgbClr val="111111"/>
                          </a:solidFill>
                          <a:latin typeface="游ゴシック"/>
                          <a:ea typeface="游ゴシック"/>
                        </a:rPr>
                        <a:t>23</a:t>
                      </a:r>
                    </a:p>
                  </a:txBody>
                  <a:tcPr marL="118872" marR="91440" marT="64008" marB="36576" anchor="ctr">
                    <a:solidFill>
                      <a:srgbClr val="FFFFFF"/>
                    </a:solidFill>
                    <a:lnL w="7000">
                      <a:solidFill>
                        <a:srgbClr val="BFBFBF"/>
                      </a:solidFill>
                    </a:lnL>
                    <a:lnR w="7000">
                      <a:solidFill>
                        <a:srgbClr val="BFBFBF"/>
                      </a:solidFill>
                    </a:lnR>
                    <a:lnT w="7000">
                      <a:solidFill>
                        <a:srgbClr val="BFBFBF"/>
                      </a:solidFill>
                    </a:lnT>
                    <a:lnB w="7000">
                      <a:solidFill>
                        <a:srgbClr val="BFBFBF"/>
                      </a:solidFill>
                    </a:lnB>
                  </a:tcPr>
                </a:tc>
              </a:tr>
              <a:tr h="512064">
                <a:tc>
                  <a:txBody>
                    <a:bodyPr wrap="square" lIns="0" rIns="0" tIns="0" bIns="0">
                      <a:noAutofit/>
                    </a:bodyPr>
                    <a:lstStyle/>
                    <a:p>
                      <a:pPr algn="l">
                        <a:lnSpc>
                          <a:spcPct val="112000"/>
                        </a:lnSpc>
                        <a:spcAft>
                          <a:spcPts val="0"/>
                        </a:spcAft>
                        <a:buNone/>
                      </a:pPr>
                      <a:r>
                        <a:rPr sz="2500" b="0" lang="ja-JP">
                          <a:solidFill>
                            <a:srgbClr val="111111"/>
                          </a:solidFill>
                          <a:latin typeface="游ゴシック"/>
                          <a:ea typeface="游ゴシック"/>
                        </a:rPr>
                        <a:t>合計</a:t>
                      </a:r>
                    </a:p>
                  </a:txBody>
                  <a:tcPr marL="118872" marR="91440" marT="64008" marB="36576" anchor="ctr">
                    <a:solidFill>
                      <a:srgbClr val="FFFFFF"/>
                    </a:solidFill>
                    <a:lnL w="7000">
                      <a:solidFill>
                        <a:srgbClr val="BFBFBF"/>
                      </a:solidFill>
                    </a:lnL>
                    <a:lnR w="7000">
                      <a:solidFill>
                        <a:srgbClr val="BFBFBF"/>
                      </a:solidFill>
                    </a:lnR>
                    <a:lnT w="7000">
                      <a:solidFill>
                        <a:srgbClr val="BFBFBF"/>
                      </a:solidFill>
                    </a:lnT>
                    <a:lnB w="7000">
                      <a:solidFill>
                        <a:srgbClr val="BFBFBF"/>
                      </a:solidFill>
                    </a:lnB>
                  </a:tcPr>
                </a:tc>
                <a:tc>
                  <a:txBody>
                    <a:bodyPr wrap="square" lIns="0" rIns="0" tIns="0" bIns="0">
                      <a:noAutofit/>
                    </a:bodyPr>
                    <a:lstStyle/>
                    <a:p>
                      <a:pPr algn="l">
                        <a:lnSpc>
                          <a:spcPct val="112000"/>
                        </a:lnSpc>
                        <a:spcAft>
                          <a:spcPts val="0"/>
                        </a:spcAft>
                        <a:buNone/>
                      </a:pPr>
                      <a:r>
                        <a:rPr sz="2500" b="0" lang="ja-JP">
                          <a:solidFill>
                            <a:srgbClr val="111111"/>
                          </a:solidFill>
                          <a:latin typeface="游ゴシック"/>
                          <a:ea typeface="游ゴシック"/>
                        </a:rPr>
                        <a:t>34</a:t>
                      </a:r>
                    </a:p>
                  </a:txBody>
                  <a:tcPr marL="118872" marR="91440" marT="64008" marB="36576" anchor="ctr">
                    <a:solidFill>
                      <a:srgbClr val="FFFFFF"/>
                    </a:solidFill>
                    <a:lnL w="7000">
                      <a:solidFill>
                        <a:srgbClr val="BFBFBF"/>
                      </a:solidFill>
                    </a:lnL>
                    <a:lnR w="7000">
                      <a:solidFill>
                        <a:srgbClr val="BFBFBF"/>
                      </a:solidFill>
                    </a:lnR>
                    <a:lnT w="7000">
                      <a:solidFill>
                        <a:srgbClr val="BFBFBF"/>
                      </a:solidFill>
                    </a:lnT>
                    <a:lnB w="7000">
                      <a:solidFill>
                        <a:srgbClr val="BFBFBF"/>
                      </a:solidFill>
                    </a:lnB>
                  </a:tcPr>
                </a:tc>
              </a:tr>
            </a:tbl>
          </a:graphicData>
        </a:graphic>
      </p:graphicFrame>
      <p:sp>
        <p:nvSpPr>
          <p:cNvPr id="5" name="TextBox 4"/>
          <p:cNvSpPr txBox="1"/>
          <p:nvPr/>
        </p:nvSpPr>
        <p:spPr>
          <a:xfrm>
            <a:off x="838504" y="5760720"/>
            <a:ext cx="10515600" cy="731520"/>
          </a:xfrm>
          <a:prstGeom prst="rect">
            <a:avLst/>
          </a:prstGeom>
          <a:noFill/>
        </p:spPr>
        <p:txBody>
          <a:bodyPr wrap="square" lIns="0" rIns="0" tIns="0" bIns="0">
            <a:noAutofit/>
          </a:bodyPr>
          <a:lstStyle/>
          <a:p>
            <a:pPr algn="l">
              <a:lnSpc>
                <a:spcPct val="112000"/>
              </a:lnSpc>
              <a:spcAft>
                <a:spcPts val="0"/>
              </a:spcAft>
              <a:buNone/>
            </a:pPr>
            <a:r>
              <a:rPr sz="2500" b="0" lang="ja-JP">
                <a:solidFill>
                  <a:srgbClr val="B02121"/>
                </a:solidFill>
                <a:latin typeface="游ゴシック"/>
                <a:ea typeface="游ゴシック"/>
              </a:rPr>
              <a:t>候補群数は実際の投球数ではない。</a:t>
            </a:r>
            <a:br/>
            <a:r>
              <a:rPr sz="2500" b="0" lang="ja-JP">
                <a:solidFill>
                  <a:srgbClr val="B02121"/>
                </a:solidFill>
                <a:latin typeface="游ゴシック"/>
                <a:ea typeface="游ゴシック"/>
              </a:rPr>
              <a:t>表示変化の整理であり、ファウルの判定精度は未評価。</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504" y="364845"/>
            <a:ext cx="10515600" cy="1325880"/>
          </a:xfrm>
        </p:spPr>
        <p:txBody>
          <a:bodyPr wrap="square" lIns="0" rIns="0" tIns="0" bIns="0">
            <a:noAutofit/>
          </a:bodyPr>
          <a:lstStyle/>
          <a:p>
            <a:pPr algn="l">
              <a:lnSpc>
                <a:spcPct val="112000"/>
              </a:lnSpc>
              <a:spcAft>
                <a:spcPts val="0"/>
              </a:spcAft>
              <a:buNone/>
            </a:pPr>
            <a:r>
              <a:rPr sz="4400" b="0" lang="ja-JP">
                <a:solidFill>
                  <a:srgbClr val="111111"/>
                </a:solidFill>
                <a:latin typeface="游ゴシック Light"/>
                <a:ea typeface="游ゴシック Light"/>
              </a:rPr>
              <a:t>2ストライク後にカウント不変の例</a:t>
            </a:r>
          </a:p>
        </p:txBody>
      </p:sp>
      <p:sp>
        <p:nvSpPr>
          <p:cNvPr id="3" name="TextBox 2"/>
          <p:cNvSpPr txBox="1"/>
          <p:nvPr/>
        </p:nvSpPr>
        <p:spPr>
          <a:xfrm>
            <a:off x="10881360" y="6510528"/>
            <a:ext cx="457200" cy="201168"/>
          </a:xfrm>
          <a:prstGeom prst="rect">
            <a:avLst/>
          </a:prstGeom>
          <a:noFill/>
        </p:spPr>
        <p:txBody>
          <a:bodyPr wrap="square" lIns="0" rIns="0" tIns="0" bIns="0">
            <a:noAutofit/>
          </a:bodyPr>
          <a:lstStyle/>
          <a:p>
            <a:pPr algn="r">
              <a:lnSpc>
                <a:spcPct val="112000"/>
              </a:lnSpc>
              <a:spcAft>
                <a:spcPts val="0"/>
              </a:spcAft>
              <a:buNone/>
            </a:pPr>
            <a:r>
              <a:rPr sz="1200" b="0" lang="ja-JP">
                <a:solidFill>
                  <a:srgbClr val="555555"/>
                </a:solidFill>
                <a:latin typeface="游ゴシック"/>
                <a:ea typeface="游ゴシック"/>
              </a:rPr>
              <a:t>7</a:t>
            </a:r>
          </a:p>
        </p:txBody>
      </p:sp>
      <p:sp>
        <p:nvSpPr>
          <p:cNvPr id="4" name="TextBox 3"/>
          <p:cNvSpPr txBox="1"/>
          <p:nvPr/>
        </p:nvSpPr>
        <p:spPr>
          <a:xfrm>
            <a:off x="838504" y="1819656"/>
            <a:ext cx="10515600" cy="438912"/>
          </a:xfrm>
          <a:prstGeom prst="rect">
            <a:avLst/>
          </a:prstGeom>
          <a:noFill/>
        </p:spPr>
        <p:txBody>
          <a:bodyPr wrap="square" lIns="0" rIns="0" tIns="0" bIns="0">
            <a:noAutofit/>
          </a:bodyPr>
          <a:lstStyle/>
          <a:p>
            <a:pPr algn="l">
              <a:lnSpc>
                <a:spcPct val="112000"/>
              </a:lnSpc>
              <a:spcAft>
                <a:spcPts val="1000"/>
              </a:spcAft>
              <a:buNone/>
            </a:pPr>
            <a:r>
              <a:rPr sz="2600" b="0" lang="ja-JP">
                <a:solidFill>
                  <a:srgbClr val="111111"/>
                </a:solidFill>
                <a:latin typeface="游ゴシック"/>
                <a:ea typeface="游ゴシック"/>
              </a:rPr>
              <a:t>候補8：113.41–115.02秒 ／ 投球検出スコア 0.966</a:t>
            </a:r>
          </a:p>
        </p:txBody>
      </p:sp>
      <p:pic>
        <p:nvPicPr>
          <p:cNvPr id="5" name="Picture 4" descr="candidate_008_contact"/>
          <p:cNvPicPr>
            <a:picLocks noChangeAspect="1"/>
          </p:cNvPicPr>
          <p:nvPr/>
        </p:nvPicPr>
        <p:blipFill>
          <a:blip r:embed="rId2"/>
          <a:stretch>
            <a:fillRect/>
          </a:stretch>
        </p:blipFill>
        <p:spPr>
          <a:xfrm>
            <a:off x="838504" y="2423160"/>
            <a:ext cx="10515600" cy="3724275"/>
          </a:xfrm>
          <a:prstGeom prst="rect">
            <a:avLst/>
          </a:prstGeom>
        </p:spPr>
      </p:pic>
      <p:sp>
        <p:nvSpPr>
          <p:cNvPr id="6" name="TextBox 5"/>
          <p:cNvSpPr txBox="1"/>
          <p:nvPr/>
        </p:nvSpPr>
        <p:spPr>
          <a:xfrm>
            <a:off x="838504" y="6245352"/>
            <a:ext cx="10515600" cy="292608"/>
          </a:xfrm>
          <a:prstGeom prst="rect">
            <a:avLst/>
          </a:prstGeom>
          <a:noFill/>
        </p:spPr>
        <p:txBody>
          <a:bodyPr wrap="square" lIns="0" rIns="0" tIns="0" bIns="0">
            <a:noAutofit/>
          </a:bodyPr>
          <a:lstStyle/>
          <a:p>
            <a:pPr algn="l">
              <a:lnSpc>
                <a:spcPct val="112000"/>
              </a:lnSpc>
              <a:spcAft>
                <a:spcPts val="1000"/>
              </a:spcAft>
              <a:buNone/>
            </a:pPr>
            <a:r>
              <a:rPr sz="2100" b="0" lang="ja-JP">
                <a:solidFill>
                  <a:srgbClr val="B02121"/>
                </a:solidFill>
                <a:latin typeface="游ゴシック"/>
                <a:ea typeface="游ゴシック"/>
              </a:rPr>
              <a:t>同じ条件は候補11にも出現。2候補群ともファウルは未確定。</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504" y="364845"/>
            <a:ext cx="10515600" cy="1325880"/>
          </a:xfrm>
        </p:spPr>
        <p:txBody>
          <a:bodyPr wrap="square" lIns="0" rIns="0" tIns="0" bIns="0">
            <a:noAutofit/>
          </a:bodyPr>
          <a:lstStyle/>
          <a:p>
            <a:pPr algn="l">
              <a:lnSpc>
                <a:spcPct val="112000"/>
              </a:lnSpc>
              <a:spcAft>
                <a:spcPts val="0"/>
              </a:spcAft>
              <a:buNone/>
            </a:pPr>
            <a:r>
              <a:rPr sz="4400" b="0" lang="ja-JP">
                <a:solidFill>
                  <a:srgbClr val="111111"/>
                </a:solidFill>
                <a:latin typeface="游ゴシック Light"/>
                <a:ea typeface="游ゴシック Light"/>
              </a:rPr>
              <a:t>カウント不変だけでは確定できない</a:t>
            </a:r>
          </a:p>
        </p:txBody>
      </p:sp>
      <p:sp>
        <p:nvSpPr>
          <p:cNvPr id="3" name="TextBox 2"/>
          <p:cNvSpPr txBox="1"/>
          <p:nvPr/>
        </p:nvSpPr>
        <p:spPr>
          <a:xfrm>
            <a:off x="10881360" y="6510528"/>
            <a:ext cx="457200" cy="201168"/>
          </a:xfrm>
          <a:prstGeom prst="rect">
            <a:avLst/>
          </a:prstGeom>
          <a:noFill/>
        </p:spPr>
        <p:txBody>
          <a:bodyPr wrap="square" lIns="0" rIns="0" tIns="0" bIns="0">
            <a:noAutofit/>
          </a:bodyPr>
          <a:lstStyle/>
          <a:p>
            <a:pPr algn="r">
              <a:lnSpc>
                <a:spcPct val="112000"/>
              </a:lnSpc>
              <a:spcAft>
                <a:spcPts val="0"/>
              </a:spcAft>
              <a:buNone/>
            </a:pPr>
            <a:r>
              <a:rPr sz="1200" b="0" lang="ja-JP">
                <a:solidFill>
                  <a:srgbClr val="555555"/>
                </a:solidFill>
                <a:latin typeface="游ゴシック"/>
                <a:ea typeface="游ゴシック"/>
              </a:rPr>
              <a:t>8</a:t>
            </a:r>
          </a:p>
        </p:txBody>
      </p:sp>
      <p:pic>
        <p:nvPicPr>
          <p:cNvPr id="4" name="Picture 3" descr="candidate_011_after158"/>
          <p:cNvPicPr>
            <a:picLocks noChangeAspect="1"/>
          </p:cNvPicPr>
          <p:nvPr/>
        </p:nvPicPr>
        <p:blipFill>
          <a:blip r:embed="rId2"/>
          <a:stretch>
            <a:fillRect/>
          </a:stretch>
        </p:blipFill>
        <p:spPr>
          <a:xfrm>
            <a:off x="838504" y="1901952"/>
            <a:ext cx="7132320" cy="4011930"/>
          </a:xfrm>
          <a:prstGeom prst="rect">
            <a:avLst/>
          </a:prstGeom>
        </p:spPr>
      </p:pic>
      <p:sp>
        <p:nvSpPr>
          <p:cNvPr id="5" name="TextBox 4"/>
          <p:cNvSpPr txBox="1"/>
          <p:nvPr/>
        </p:nvSpPr>
        <p:spPr>
          <a:xfrm>
            <a:off x="8229600" y="1901952"/>
            <a:ext cx="3063240" cy="1965960"/>
          </a:xfrm>
          <a:prstGeom prst="rect">
            <a:avLst/>
          </a:prstGeom>
          <a:noFill/>
        </p:spPr>
        <p:txBody>
          <a:bodyPr wrap="square" lIns="0" rIns="0" tIns="0" bIns="0">
            <a:noAutofit/>
          </a:bodyPr>
          <a:lstStyle/>
          <a:p>
            <a:pPr algn="l">
              <a:lnSpc>
                <a:spcPct val="112000"/>
              </a:lnSpc>
              <a:spcAft>
                <a:spcPts val="0"/>
              </a:spcAft>
              <a:buNone/>
            </a:pPr>
            <a:r>
              <a:rPr sz="2600" b="0" lang="ja-JP">
                <a:solidFill>
                  <a:srgbClr val="111111"/>
                </a:solidFill>
                <a:latin typeface="游ゴシック"/>
                <a:ea typeface="游ゴシック"/>
              </a:rPr>
              <a:t>候補11の直後</a:t>
            </a:r>
            <a:br/>
            <a:r>
              <a:rPr sz="2600" b="0" lang="ja-JP">
                <a:solidFill>
                  <a:srgbClr val="111111"/>
                </a:solidFill>
                <a:latin typeface="游ゴシック"/>
                <a:ea typeface="游ゴシック"/>
              </a:rPr>
              <a:t>158.0秒の映像</a:t>
            </a:r>
            <a:br/>
            <a:r>
              <a:rPr sz="2600" b="0" lang="ja-JP">
                <a:solidFill>
                  <a:srgbClr val="111111"/>
                </a:solidFill>
                <a:latin typeface="游ゴシック"/>
                <a:ea typeface="游ゴシック"/>
              </a:rPr>
              <a:t/>
            </a:r>
            <a:br/>
            <a:r>
              <a:rPr sz="2600" b="0" lang="ja-JP">
                <a:solidFill>
                  <a:srgbClr val="111111"/>
                </a:solidFill>
                <a:latin typeface="游ゴシック"/>
                <a:ea typeface="游ゴシック"/>
              </a:rPr>
              <a:t>取得値は</a:t>
            </a:r>
            <a:br/>
            <a:r>
              <a:rPr sz="2600" b="0" lang="ja-JP">
                <a:solidFill>
                  <a:srgbClr val="111111"/>
                </a:solidFill>
                <a:latin typeface="游ゴシック"/>
                <a:ea typeface="游ゴシック"/>
              </a:rPr>
              <a:t>B0 / S2 / O1</a:t>
            </a:r>
          </a:p>
        </p:txBody>
      </p:sp>
      <p:pic>
        <p:nvPicPr>
          <p:cNvPr id="6" name="Picture 5" descr="candidate_011_board"/>
          <p:cNvPicPr>
            <a:picLocks noChangeAspect="1"/>
          </p:cNvPicPr>
          <p:nvPr/>
        </p:nvPicPr>
        <p:blipFill>
          <a:blip r:embed="rId3"/>
          <a:stretch>
            <a:fillRect/>
          </a:stretch>
        </p:blipFill>
        <p:spPr>
          <a:xfrm>
            <a:off x="8229600" y="4251960"/>
            <a:ext cx="3063240" cy="1346853"/>
          </a:xfrm>
          <a:prstGeom prst="rect">
            <a:avLst/>
          </a:prstGeom>
        </p:spPr>
      </p:pic>
      <p:sp>
        <p:nvSpPr>
          <p:cNvPr id="7" name="TextBox 6"/>
          <p:cNvSpPr txBox="1"/>
          <p:nvPr/>
        </p:nvSpPr>
        <p:spPr>
          <a:xfrm>
            <a:off x="8229600" y="5705856"/>
            <a:ext cx="3063240" cy="320040"/>
          </a:xfrm>
          <a:prstGeom prst="rect">
            <a:avLst/>
          </a:prstGeom>
          <a:noFill/>
        </p:spPr>
        <p:txBody>
          <a:bodyPr wrap="square" lIns="0" rIns="0" tIns="0" bIns="0">
            <a:noAutofit/>
          </a:bodyPr>
          <a:lstStyle/>
          <a:p>
            <a:pPr algn="l">
              <a:lnSpc>
                <a:spcPct val="112000"/>
              </a:lnSpc>
              <a:spcAft>
                <a:spcPts val="1000"/>
              </a:spcAft>
              <a:buNone/>
            </a:pPr>
            <a:r>
              <a:rPr sz="2000" b="0" lang="ja-JP">
                <a:solidFill>
                  <a:srgbClr val="111111"/>
                </a:solidFill>
                <a:latin typeface="游ゴシック"/>
                <a:ea typeface="游ゴシック"/>
              </a:rPr>
              <a:t>表示は投球前と同じ</a:t>
            </a:r>
          </a:p>
        </p:txBody>
      </p:sp>
      <p:sp>
        <p:nvSpPr>
          <p:cNvPr id="8" name="TextBox 7"/>
          <p:cNvSpPr txBox="1"/>
          <p:nvPr/>
        </p:nvSpPr>
        <p:spPr>
          <a:xfrm>
            <a:off x="838504" y="6199632"/>
            <a:ext cx="10515600" cy="320040"/>
          </a:xfrm>
          <a:prstGeom prst="rect">
            <a:avLst/>
          </a:prstGeom>
          <a:noFill/>
        </p:spPr>
        <p:txBody>
          <a:bodyPr wrap="square" lIns="0" rIns="0" tIns="0" bIns="0">
            <a:noAutofit/>
          </a:bodyPr>
          <a:lstStyle/>
          <a:p>
            <a:pPr algn="l">
              <a:lnSpc>
                <a:spcPct val="112000"/>
              </a:lnSpc>
              <a:spcAft>
                <a:spcPts val="1000"/>
              </a:spcAft>
              <a:buNone/>
            </a:pPr>
            <a:r>
              <a:rPr sz="2300" b="0" lang="ja-JP">
                <a:solidFill>
                  <a:srgbClr val="B02121"/>
                </a:solidFill>
                <a:latin typeface="游ゴシック"/>
                <a:ea typeface="游ゴシック"/>
              </a:rPr>
              <a:t>打者が走り出す場面を含む。表示更新の遅れも考えられる。</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504" y="364845"/>
            <a:ext cx="10515600" cy="1325880"/>
          </a:xfrm>
        </p:spPr>
        <p:txBody>
          <a:bodyPr wrap="square" lIns="0" rIns="0" tIns="0" bIns="0">
            <a:noAutofit/>
          </a:bodyPr>
          <a:lstStyle/>
          <a:p>
            <a:pPr algn="l">
              <a:lnSpc>
                <a:spcPct val="112000"/>
              </a:lnSpc>
              <a:spcAft>
                <a:spcPts val="0"/>
              </a:spcAft>
              <a:buNone/>
            </a:pPr>
            <a:r>
              <a:rPr sz="4400" b="0" lang="ja-JP">
                <a:solidFill>
                  <a:srgbClr val="111111"/>
                </a:solidFill>
                <a:latin typeface="游ゴシック Light"/>
                <a:ea typeface="游ゴシック Light"/>
              </a:rPr>
              <a:t>得点表示を読み取った例</a:t>
            </a:r>
          </a:p>
        </p:txBody>
      </p:sp>
      <p:sp>
        <p:nvSpPr>
          <p:cNvPr id="3" name="TextBox 2"/>
          <p:cNvSpPr txBox="1"/>
          <p:nvPr/>
        </p:nvSpPr>
        <p:spPr>
          <a:xfrm>
            <a:off x="10881360" y="6510528"/>
            <a:ext cx="457200" cy="201168"/>
          </a:xfrm>
          <a:prstGeom prst="rect">
            <a:avLst/>
          </a:prstGeom>
          <a:noFill/>
        </p:spPr>
        <p:txBody>
          <a:bodyPr wrap="square" lIns="0" rIns="0" tIns="0" bIns="0">
            <a:noAutofit/>
          </a:bodyPr>
          <a:lstStyle/>
          <a:p>
            <a:pPr algn="r">
              <a:lnSpc>
                <a:spcPct val="112000"/>
              </a:lnSpc>
              <a:spcAft>
                <a:spcPts val="0"/>
              </a:spcAft>
              <a:buNone/>
            </a:pPr>
            <a:r>
              <a:rPr sz="1200" b="0" lang="ja-JP">
                <a:solidFill>
                  <a:srgbClr val="555555"/>
                </a:solidFill>
                <a:latin typeface="游ゴシック"/>
                <a:ea typeface="游ゴシック"/>
              </a:rPr>
              <a:t>9</a:t>
            </a:r>
          </a:p>
        </p:txBody>
      </p:sp>
      <p:sp>
        <p:nvSpPr>
          <p:cNvPr id="4" name="TextBox 3"/>
          <p:cNvSpPr txBox="1"/>
          <p:nvPr/>
        </p:nvSpPr>
        <p:spPr>
          <a:xfrm>
            <a:off x="838504" y="1883664"/>
            <a:ext cx="4983480" cy="457200"/>
          </a:xfrm>
          <a:prstGeom prst="rect">
            <a:avLst/>
          </a:prstGeom>
          <a:noFill/>
        </p:spPr>
        <p:txBody>
          <a:bodyPr wrap="square" lIns="0" rIns="0" tIns="0" bIns="0">
            <a:noAutofit/>
          </a:bodyPr>
          <a:lstStyle/>
          <a:p>
            <a:pPr algn="ctr">
              <a:lnSpc>
                <a:spcPct val="112000"/>
              </a:lnSpc>
              <a:spcAft>
                <a:spcPts val="1000"/>
              </a:spcAft>
              <a:buNone/>
            </a:pPr>
            <a:r>
              <a:rPr sz="3200" b="0" lang="ja-JP">
                <a:solidFill>
                  <a:srgbClr val="111111"/>
                </a:solidFill>
                <a:latin typeface="游ゴシック"/>
                <a:ea typeface="游ゴシック"/>
              </a:rPr>
              <a:t>367.0秒：0–0</a:t>
            </a:r>
          </a:p>
        </p:txBody>
      </p:sp>
      <p:sp>
        <p:nvSpPr>
          <p:cNvPr id="5" name="TextBox 4"/>
          <p:cNvSpPr txBox="1"/>
          <p:nvPr/>
        </p:nvSpPr>
        <p:spPr>
          <a:xfrm>
            <a:off x="6370624" y="1883664"/>
            <a:ext cx="4983480" cy="457200"/>
          </a:xfrm>
          <a:prstGeom prst="rect">
            <a:avLst/>
          </a:prstGeom>
          <a:noFill/>
        </p:spPr>
        <p:txBody>
          <a:bodyPr wrap="square" lIns="0" rIns="0" tIns="0" bIns="0">
            <a:noAutofit/>
          </a:bodyPr>
          <a:lstStyle/>
          <a:p>
            <a:pPr algn="ctr">
              <a:lnSpc>
                <a:spcPct val="112000"/>
              </a:lnSpc>
              <a:spcAft>
                <a:spcPts val="1000"/>
              </a:spcAft>
              <a:buNone/>
            </a:pPr>
            <a:r>
              <a:rPr sz="3200" b="0" lang="ja-JP">
                <a:solidFill>
                  <a:srgbClr val="111111"/>
                </a:solidFill>
                <a:latin typeface="游ゴシック"/>
                <a:ea typeface="游ゴシック"/>
              </a:rPr>
              <a:t>434.5秒：0–1</a:t>
            </a:r>
          </a:p>
        </p:txBody>
      </p:sp>
      <p:pic>
        <p:nvPicPr>
          <p:cNvPr id="6" name="Picture 5" descr="score_367"/>
          <p:cNvPicPr>
            <a:picLocks noChangeAspect="1"/>
          </p:cNvPicPr>
          <p:nvPr/>
        </p:nvPicPr>
        <p:blipFill>
          <a:blip r:embed="rId2"/>
          <a:stretch>
            <a:fillRect/>
          </a:stretch>
        </p:blipFill>
        <p:spPr>
          <a:xfrm>
            <a:off x="838504" y="2615184"/>
            <a:ext cx="4983480" cy="2167418"/>
          </a:xfrm>
          <a:prstGeom prst="rect">
            <a:avLst/>
          </a:prstGeom>
        </p:spPr>
      </p:pic>
      <p:pic>
        <p:nvPicPr>
          <p:cNvPr id="7" name="Picture 6" descr="score_434_5"/>
          <p:cNvPicPr>
            <a:picLocks noChangeAspect="1"/>
          </p:cNvPicPr>
          <p:nvPr/>
        </p:nvPicPr>
        <p:blipFill>
          <a:blip r:embed="rId3"/>
          <a:stretch>
            <a:fillRect/>
          </a:stretch>
        </p:blipFill>
        <p:spPr>
          <a:xfrm>
            <a:off x="6370624" y="2615184"/>
            <a:ext cx="4983480" cy="2203015"/>
          </a:xfrm>
          <a:prstGeom prst="rect">
            <a:avLst/>
          </a:prstGeom>
        </p:spPr>
      </p:pic>
      <p:sp>
        <p:nvSpPr>
          <p:cNvPr id="8" name="TextBox 7"/>
          <p:cNvSpPr txBox="1"/>
          <p:nvPr/>
        </p:nvSpPr>
        <p:spPr>
          <a:xfrm>
            <a:off x="5852160" y="3383280"/>
            <a:ext cx="411480" cy="640080"/>
          </a:xfrm>
          <a:prstGeom prst="rect">
            <a:avLst/>
          </a:prstGeom>
          <a:noFill/>
        </p:spPr>
        <p:txBody>
          <a:bodyPr wrap="square" lIns="0" rIns="0" tIns="0" bIns="0">
            <a:noAutofit/>
          </a:bodyPr>
          <a:lstStyle/>
          <a:p>
            <a:pPr algn="ctr">
              <a:lnSpc>
                <a:spcPct val="112000"/>
              </a:lnSpc>
              <a:spcAft>
                <a:spcPts val="1000"/>
              </a:spcAft>
              <a:buNone/>
            </a:pPr>
            <a:r>
              <a:rPr sz="3600" b="0" lang="ja-JP">
                <a:solidFill>
                  <a:srgbClr val="111111"/>
                </a:solidFill>
                <a:latin typeface="游ゴシック"/>
                <a:ea typeface="游ゴシック"/>
              </a:rPr>
              <a:t>→</a:t>
            </a:r>
          </a:p>
        </p:txBody>
      </p:sp>
      <p:sp>
        <p:nvSpPr>
          <p:cNvPr id="9" name="TextBox 8"/>
          <p:cNvSpPr txBox="1"/>
          <p:nvPr/>
        </p:nvSpPr>
        <p:spPr>
          <a:xfrm>
            <a:off x="838504" y="5257800"/>
            <a:ext cx="10515600" cy="1005840"/>
          </a:xfrm>
          <a:prstGeom prst="rect">
            <a:avLst/>
          </a:prstGeom>
          <a:noFill/>
        </p:spPr>
        <p:txBody>
          <a:bodyPr wrap="square" lIns="0" rIns="0" tIns="0" bIns="0">
            <a:noAutofit/>
          </a:bodyPr>
          <a:lstStyle/>
          <a:p>
            <a:pPr algn="l">
              <a:lnSpc>
                <a:spcPct val="112000"/>
              </a:lnSpc>
              <a:spcAft>
                <a:spcPts val="1000"/>
              </a:spcAft>
              <a:buNone/>
            </a:pPr>
            <a:r>
              <a:rPr sz="2600" b="0" lang="ja-JP">
                <a:solidFill>
                  <a:srgbClr val="111111"/>
                </a:solidFill>
                <a:latin typeface="游ゴシック"/>
                <a:ea typeface="游ゴシック"/>
              </a:rPr>
              <a:t>• 取得できた得点表示は、0–0から0–1に変化した</a:t>
            </a:r>
          </a:p>
          <a:p>
            <a:pPr algn="l">
              <a:lnSpc>
                <a:spcPct val="112000"/>
              </a:lnSpc>
              <a:spcAft>
                <a:spcPts val="1000"/>
              </a:spcAft>
              <a:buNone/>
            </a:pPr>
            <a:r>
              <a:rPr sz="2600" b="0" lang="ja-JP">
                <a:solidFill>
                  <a:srgbClr val="111111"/>
                </a:solidFill>
                <a:latin typeface="游ゴシック"/>
                <a:ea typeface="游ゴシック"/>
              </a:rPr>
              <a:t>• 欠測区間があるため、得点した時刻は未特定</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504" y="364845"/>
            <a:ext cx="10515600" cy="1325880"/>
          </a:xfrm>
        </p:spPr>
        <p:txBody>
          <a:bodyPr wrap="square" lIns="0" rIns="0" tIns="0" bIns="0">
            <a:noAutofit/>
          </a:bodyPr>
          <a:lstStyle/>
          <a:p>
            <a:pPr algn="l">
              <a:lnSpc>
                <a:spcPct val="112000"/>
              </a:lnSpc>
              <a:spcAft>
                <a:spcPts val="0"/>
              </a:spcAft>
              <a:buNone/>
            </a:pPr>
            <a:r>
              <a:rPr sz="4400" b="0" lang="ja-JP">
                <a:solidFill>
                  <a:srgbClr val="111111"/>
                </a:solidFill>
                <a:latin typeface="游ゴシック Light"/>
                <a:ea typeface="游ゴシック Light"/>
              </a:rPr>
              <a:t>来週すること</a:t>
            </a:r>
          </a:p>
        </p:txBody>
      </p:sp>
      <p:sp>
        <p:nvSpPr>
          <p:cNvPr id="3" name="TextBox 2"/>
          <p:cNvSpPr txBox="1"/>
          <p:nvPr/>
        </p:nvSpPr>
        <p:spPr>
          <a:xfrm>
            <a:off x="10881360" y="6510528"/>
            <a:ext cx="457200" cy="201168"/>
          </a:xfrm>
          <a:prstGeom prst="rect">
            <a:avLst/>
          </a:prstGeom>
          <a:noFill/>
        </p:spPr>
        <p:txBody>
          <a:bodyPr wrap="square" lIns="0" rIns="0" tIns="0" bIns="0">
            <a:noAutofit/>
          </a:bodyPr>
          <a:lstStyle/>
          <a:p>
            <a:pPr algn="r">
              <a:lnSpc>
                <a:spcPct val="112000"/>
              </a:lnSpc>
              <a:spcAft>
                <a:spcPts val="0"/>
              </a:spcAft>
              <a:buNone/>
            </a:pPr>
            <a:r>
              <a:rPr sz="1200" b="0" lang="ja-JP">
                <a:solidFill>
                  <a:srgbClr val="555555"/>
                </a:solidFill>
                <a:latin typeface="游ゴシック"/>
                <a:ea typeface="游ゴシック"/>
              </a:rPr>
              <a:t>10</a:t>
            </a:r>
          </a:p>
        </p:txBody>
      </p:sp>
      <p:sp>
        <p:nvSpPr>
          <p:cNvPr id="4" name="TextBox 3"/>
          <p:cNvSpPr txBox="1"/>
          <p:nvPr/>
        </p:nvSpPr>
        <p:spPr>
          <a:xfrm>
            <a:off x="838504" y="1819656"/>
            <a:ext cx="10515600" cy="4526280"/>
          </a:xfrm>
          <a:prstGeom prst="rect">
            <a:avLst/>
          </a:prstGeom>
          <a:noFill/>
        </p:spPr>
        <p:txBody>
          <a:bodyPr wrap="square" lIns="0" rIns="0" tIns="0" bIns="0">
            <a:noAutofit/>
          </a:bodyPr>
          <a:lstStyle/>
          <a:p>
            <a:pPr algn="l">
              <a:lnSpc>
                <a:spcPct val="112000"/>
              </a:lnSpc>
              <a:spcAft>
                <a:spcPts val="2200"/>
              </a:spcAft>
              <a:buNone/>
            </a:pPr>
            <a:r>
              <a:rPr sz="2800" b="0" lang="ja-JP">
                <a:solidFill>
                  <a:srgbClr val="111111"/>
                </a:solidFill>
                <a:latin typeface="游ゴシック"/>
                <a:ea typeface="游ゴシック"/>
              </a:rPr>
              <a:t>• 動画全体に、投球区間とファウル等の正解注釈を付ける</a:t>
            </a:r>
          </a:p>
          <a:p>
            <a:pPr algn="l">
              <a:lnSpc>
                <a:spcPct val="112000"/>
              </a:lnSpc>
              <a:spcAft>
                <a:spcPts val="2200"/>
              </a:spcAft>
              <a:buNone/>
            </a:pPr>
            <a:r>
              <a:rPr sz="2800" b="0" lang="ja-JP">
                <a:solidFill>
                  <a:srgbClr val="111111"/>
                </a:solidFill>
                <a:latin typeface="游ゴシック"/>
                <a:ea typeface="游ゴシック"/>
              </a:rPr>
              <a:t>• 表示の更新・再表示を待つ照合方法を検討する</a:t>
            </a:r>
          </a:p>
          <a:p>
            <a:pPr algn="l">
              <a:lnSpc>
                <a:spcPct val="112000"/>
              </a:lnSpc>
              <a:spcAft>
                <a:spcPts val="2200"/>
              </a:spcAft>
              <a:buNone/>
            </a:pPr>
            <a:r>
              <a:rPr sz="2800" b="0" lang="ja-JP">
                <a:solidFill>
                  <a:srgbClr val="111111"/>
                </a:solidFill>
                <a:latin typeface="游ゴシック"/>
                <a:ea typeface="游ゴシック"/>
              </a:rPr>
              <a:t>• 投球検出とイベント判定を分け、見逃し・誤検出を評価する</a:t>
            </a:r>
          </a:p>
          <a:p>
            <a:pPr algn="l">
              <a:lnSpc>
                <a:spcPct val="112000"/>
              </a:lnSpc>
              <a:spcAft>
                <a:spcPts val="2200"/>
              </a:spcAft>
              <a:buNone/>
            </a:pPr>
            <a:r>
              <a:rPr sz="2800" b="0" lang="ja-JP">
                <a:solidFill>
                  <a:srgbClr val="111111"/>
                </a:solidFill>
                <a:latin typeface="游ゴシック"/>
                <a:ea typeface="游ゴシック"/>
              </a:rPr>
              <a:t>• 先行研究を整理し、別動画でも確認する</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504" y="364845"/>
            <a:ext cx="10515600" cy="1325880"/>
          </a:xfrm>
        </p:spPr>
        <p:txBody>
          <a:bodyPr wrap="square" lIns="0" rIns="0" tIns="0" bIns="0">
            <a:noAutofit/>
          </a:bodyPr>
          <a:lstStyle/>
          <a:p>
            <a:pPr algn="l">
              <a:lnSpc>
                <a:spcPct val="112000"/>
              </a:lnSpc>
              <a:spcAft>
                <a:spcPts val="0"/>
              </a:spcAft>
              <a:buNone/>
            </a:pPr>
            <a:r>
              <a:rPr sz="4400" b="0" lang="ja-JP">
                <a:solidFill>
                  <a:srgbClr val="111111"/>
                </a:solidFill>
                <a:latin typeface="游ゴシック Light"/>
                <a:ea typeface="游ゴシック Light"/>
              </a:rPr>
              <a:t>補足：前回の結果との違い</a:t>
            </a:r>
          </a:p>
        </p:txBody>
      </p:sp>
      <p:sp>
        <p:nvSpPr>
          <p:cNvPr id="3" name="TextBox 2"/>
          <p:cNvSpPr txBox="1"/>
          <p:nvPr/>
        </p:nvSpPr>
        <p:spPr>
          <a:xfrm>
            <a:off x="10881360" y="6510528"/>
            <a:ext cx="457200" cy="201168"/>
          </a:xfrm>
          <a:prstGeom prst="rect">
            <a:avLst/>
          </a:prstGeom>
          <a:noFill/>
        </p:spPr>
        <p:txBody>
          <a:bodyPr wrap="square" lIns="0" rIns="0" tIns="0" bIns="0">
            <a:noAutofit/>
          </a:bodyPr>
          <a:lstStyle/>
          <a:p>
            <a:pPr algn="r">
              <a:lnSpc>
                <a:spcPct val="112000"/>
              </a:lnSpc>
              <a:spcAft>
                <a:spcPts val="0"/>
              </a:spcAft>
              <a:buNone/>
            </a:pPr>
            <a:r>
              <a:rPr sz="1200" b="0" lang="ja-JP">
                <a:solidFill>
                  <a:srgbClr val="555555"/>
                </a:solidFill>
                <a:latin typeface="游ゴシック"/>
                <a:ea typeface="游ゴシック"/>
              </a:rPr>
              <a:t>11</a:t>
            </a:r>
          </a:p>
        </p:txBody>
      </p:sp>
      <p:sp>
        <p:nvSpPr>
          <p:cNvPr id="4" name="TextBox 3"/>
          <p:cNvSpPr txBox="1"/>
          <p:nvPr/>
        </p:nvSpPr>
        <p:spPr>
          <a:xfrm>
            <a:off x="838504" y="1819656"/>
            <a:ext cx="10515600" cy="457200"/>
          </a:xfrm>
          <a:prstGeom prst="rect">
            <a:avLst/>
          </a:prstGeom>
          <a:noFill/>
        </p:spPr>
        <p:txBody>
          <a:bodyPr wrap="square" lIns="0" rIns="0" tIns="0" bIns="0">
            <a:noAutofit/>
          </a:bodyPr>
          <a:lstStyle/>
          <a:p>
            <a:pPr algn="l">
              <a:lnSpc>
                <a:spcPct val="112000"/>
              </a:lnSpc>
              <a:spcAft>
                <a:spcPts val="1000"/>
              </a:spcAft>
              <a:buNone/>
            </a:pPr>
            <a:r>
              <a:rPr sz="2600" b="0" lang="ja-JP">
                <a:solidFill>
                  <a:srgbClr val="111111"/>
                </a:solidFill>
                <a:latin typeface="游ゴシック"/>
                <a:ea typeface="游ゴシック"/>
              </a:rPr>
              <a:t>前回の平均tIoUを、今回の統合精度として扱わない。</a:t>
            </a:r>
          </a:p>
        </p:txBody>
      </p:sp>
      <p:graphicFrame>
        <p:nvGraphicFramePr>
          <p:cNvPr id="5" name="Table 4"/>
          <p:cNvGraphicFramePr>
            <a:graphicFrameLocks noGrp="1"/>
          </p:cNvGraphicFramePr>
          <p:nvPr/>
        </p:nvGraphicFramePr>
        <p:xfrm>
          <a:off x="838504" y="2560320"/>
          <a:ext cx="10515600" cy="3108960"/>
        </p:xfrm>
        <a:graphic>
          <a:graphicData uri="http://schemas.openxmlformats.org/drawingml/2006/table">
            <a:tbl>
              <a:tblPr firstRow="1" bandRow="1">
                <a:tableStyleId>{5C22544A-7EE6-4342-B048-85BDC9FD1C3A}</a:tableStyleId>
              </a:tblPr>
              <a:tblGrid>
                <a:gridCol w="1920240"/>
                <a:gridCol w="4297680"/>
                <a:gridCol w="4297680"/>
              </a:tblGrid>
              <a:tr h="621792">
                <a:tc>
                  <a:txBody>
                    <a:bodyPr wrap="square" lIns="0" rIns="0" tIns="0" bIns="0">
                      <a:noAutofit/>
                    </a:bodyPr>
                    <a:lstStyle/>
                    <a:p>
                      <a:pPr algn="l">
                        <a:lnSpc>
                          <a:spcPct val="112000"/>
                        </a:lnSpc>
                        <a:spcAft>
                          <a:spcPts val="0"/>
                        </a:spcAft>
                        <a:buNone/>
                      </a:pPr>
                      <a:r>
                        <a:rPr sz="2200" b="1" lang="ja-JP">
                          <a:solidFill>
                            <a:srgbClr val="111111"/>
                          </a:solidFill>
                          <a:latin typeface="游ゴシック"/>
                          <a:ea typeface="游ゴシック"/>
                        </a:rPr>
                        <a:t>項目</a:t>
                      </a:r>
                    </a:p>
                  </a:txBody>
                  <a:tcPr marL="118872" marR="91440" marT="64008" marB="36576" anchor="ctr">
                    <a:solidFill>
                      <a:srgbClr val="EEEEEE"/>
                    </a:solidFill>
                    <a:lnL w="7000">
                      <a:solidFill>
                        <a:srgbClr val="BFBFBF"/>
                      </a:solidFill>
                    </a:lnL>
                    <a:lnR w="7000">
                      <a:solidFill>
                        <a:srgbClr val="BFBFBF"/>
                      </a:solidFill>
                    </a:lnR>
                    <a:lnT w="7000">
                      <a:solidFill>
                        <a:srgbClr val="BFBFBF"/>
                      </a:solidFill>
                    </a:lnT>
                    <a:lnB w="7000">
                      <a:solidFill>
                        <a:srgbClr val="BFBFBF"/>
                      </a:solidFill>
                    </a:lnB>
                  </a:tcPr>
                </a:tc>
                <a:tc>
                  <a:txBody>
                    <a:bodyPr wrap="square" lIns="0" rIns="0" tIns="0" bIns="0">
                      <a:noAutofit/>
                    </a:bodyPr>
                    <a:lstStyle/>
                    <a:p>
                      <a:pPr algn="l">
                        <a:lnSpc>
                          <a:spcPct val="112000"/>
                        </a:lnSpc>
                        <a:spcAft>
                          <a:spcPts val="0"/>
                        </a:spcAft>
                        <a:buNone/>
                      </a:pPr>
                      <a:r>
                        <a:rPr sz="2200" b="1" lang="ja-JP">
                          <a:solidFill>
                            <a:srgbClr val="111111"/>
                          </a:solidFill>
                          <a:latin typeface="游ゴシック"/>
                          <a:ea typeface="游ゴシック"/>
                        </a:rPr>
                        <a:t>前回：10/23の報告</a:t>
                      </a:r>
                    </a:p>
                  </a:txBody>
                  <a:tcPr marL="118872" marR="91440" marT="64008" marB="36576" anchor="ctr">
                    <a:solidFill>
                      <a:srgbClr val="EEEEEE"/>
                    </a:solidFill>
                    <a:lnL w="7000">
                      <a:solidFill>
                        <a:srgbClr val="BFBFBF"/>
                      </a:solidFill>
                    </a:lnL>
                    <a:lnR w="7000">
                      <a:solidFill>
                        <a:srgbClr val="BFBFBF"/>
                      </a:solidFill>
                    </a:lnR>
                    <a:lnT w="7000">
                      <a:solidFill>
                        <a:srgbClr val="BFBFBF"/>
                      </a:solidFill>
                    </a:lnT>
                    <a:lnB w="7000">
                      <a:solidFill>
                        <a:srgbClr val="BFBFBF"/>
                      </a:solidFill>
                    </a:lnB>
                  </a:tcPr>
                </a:tc>
                <a:tc>
                  <a:txBody>
                    <a:bodyPr wrap="square" lIns="0" rIns="0" tIns="0" bIns="0">
                      <a:noAutofit/>
                    </a:bodyPr>
                    <a:lstStyle/>
                    <a:p>
                      <a:pPr algn="l">
                        <a:lnSpc>
                          <a:spcPct val="112000"/>
                        </a:lnSpc>
                        <a:spcAft>
                          <a:spcPts val="0"/>
                        </a:spcAft>
                        <a:buNone/>
                      </a:pPr>
                      <a:r>
                        <a:rPr sz="2200" b="1" lang="ja-JP">
                          <a:solidFill>
                            <a:srgbClr val="111111"/>
                          </a:solidFill>
                          <a:latin typeface="游ゴシック"/>
                          <a:ea typeface="游ゴシック"/>
                        </a:rPr>
                        <a:t>今回：10/30の統合実験</a:t>
                      </a:r>
                    </a:p>
                  </a:txBody>
                  <a:tcPr marL="118872" marR="91440" marT="64008" marB="36576" anchor="ctr">
                    <a:solidFill>
                      <a:srgbClr val="EEEEEE"/>
                    </a:solidFill>
                    <a:lnL w="7000">
                      <a:solidFill>
                        <a:srgbClr val="BFBFBF"/>
                      </a:solidFill>
                    </a:lnL>
                    <a:lnR w="7000">
                      <a:solidFill>
                        <a:srgbClr val="BFBFBF"/>
                      </a:solidFill>
                    </a:lnR>
                    <a:lnT w="7000">
                      <a:solidFill>
                        <a:srgbClr val="BFBFBF"/>
                      </a:solidFill>
                    </a:lnT>
                    <a:lnB w="7000">
                      <a:solidFill>
                        <a:srgbClr val="BFBFBF"/>
                      </a:solidFill>
                    </a:lnB>
                  </a:tcPr>
                </a:tc>
              </a:tr>
              <a:tr h="621792">
                <a:tc>
                  <a:txBody>
                    <a:bodyPr wrap="square" lIns="0" rIns="0" tIns="0" bIns="0">
                      <a:noAutofit/>
                    </a:bodyPr>
                    <a:lstStyle/>
                    <a:p>
                      <a:pPr algn="l">
                        <a:lnSpc>
                          <a:spcPct val="112000"/>
                        </a:lnSpc>
                        <a:spcAft>
                          <a:spcPts val="0"/>
                        </a:spcAft>
                        <a:buNone/>
                      </a:pPr>
                      <a:r>
                        <a:rPr sz="2200" b="0" lang="ja-JP">
                          <a:solidFill>
                            <a:srgbClr val="111111"/>
                          </a:solidFill>
                          <a:latin typeface="游ゴシック"/>
                          <a:ea typeface="游ゴシック"/>
                        </a:rPr>
                        <a:t>対象</a:t>
                      </a:r>
                    </a:p>
                  </a:txBody>
                  <a:tcPr marL="118872" marR="91440" marT="64008" marB="36576" anchor="ctr">
                    <a:solidFill>
                      <a:srgbClr val="FFFFFF"/>
                    </a:solidFill>
                    <a:lnL w="7000">
                      <a:solidFill>
                        <a:srgbClr val="BFBFBF"/>
                      </a:solidFill>
                    </a:lnL>
                    <a:lnR w="7000">
                      <a:solidFill>
                        <a:srgbClr val="BFBFBF"/>
                      </a:solidFill>
                    </a:lnR>
                    <a:lnT w="7000">
                      <a:solidFill>
                        <a:srgbClr val="BFBFBF"/>
                      </a:solidFill>
                    </a:lnT>
                    <a:lnB w="7000">
                      <a:solidFill>
                        <a:srgbClr val="BFBFBF"/>
                      </a:solidFill>
                    </a:lnB>
                  </a:tcPr>
                </a:tc>
                <a:tc>
                  <a:txBody>
                    <a:bodyPr wrap="square" lIns="0" rIns="0" tIns="0" bIns="0">
                      <a:noAutofit/>
                    </a:bodyPr>
                    <a:lstStyle/>
                    <a:p>
                      <a:pPr algn="l">
                        <a:lnSpc>
                          <a:spcPct val="112000"/>
                        </a:lnSpc>
                        <a:spcAft>
                          <a:spcPts val="0"/>
                        </a:spcAft>
                        <a:buNone/>
                      </a:pPr>
                      <a:r>
                        <a:rPr sz="2200" b="0" lang="ja-JP">
                          <a:solidFill>
                            <a:srgbClr val="111111"/>
                          </a:solidFill>
                          <a:latin typeface="游ゴシック"/>
                          <a:ea typeface="游ゴシック"/>
                        </a:rPr>
                        <a:t>短編10動画・24球</a:t>
                      </a:r>
                    </a:p>
                  </a:txBody>
                  <a:tcPr marL="118872" marR="91440" marT="64008" marB="36576" anchor="ctr">
                    <a:solidFill>
                      <a:srgbClr val="FFFFFF"/>
                    </a:solidFill>
                    <a:lnL w="7000">
                      <a:solidFill>
                        <a:srgbClr val="BFBFBF"/>
                      </a:solidFill>
                    </a:lnL>
                    <a:lnR w="7000">
                      <a:solidFill>
                        <a:srgbClr val="BFBFBF"/>
                      </a:solidFill>
                    </a:lnR>
                    <a:lnT w="7000">
                      <a:solidFill>
                        <a:srgbClr val="BFBFBF"/>
                      </a:solidFill>
                    </a:lnT>
                    <a:lnB w="7000">
                      <a:solidFill>
                        <a:srgbClr val="BFBFBF"/>
                      </a:solidFill>
                    </a:lnB>
                  </a:tcPr>
                </a:tc>
                <a:tc>
                  <a:txBody>
                    <a:bodyPr wrap="square" lIns="0" rIns="0" tIns="0" bIns="0">
                      <a:noAutofit/>
                    </a:bodyPr>
                    <a:lstStyle/>
                    <a:p>
                      <a:pPr algn="l">
                        <a:lnSpc>
                          <a:spcPct val="112000"/>
                        </a:lnSpc>
                        <a:spcAft>
                          <a:spcPts val="0"/>
                        </a:spcAft>
                        <a:buNone/>
                      </a:pPr>
                      <a:r>
                        <a:rPr sz="2200" b="0" lang="ja-JP">
                          <a:solidFill>
                            <a:srgbClr val="111111"/>
                          </a:solidFill>
                          <a:latin typeface="游ゴシック"/>
                          <a:ea typeface="游ゴシック"/>
                        </a:rPr>
                        <a:t>5回ウラ全体・530.2秒</a:t>
                      </a:r>
                    </a:p>
                  </a:txBody>
                  <a:tcPr marL="118872" marR="91440" marT="64008" marB="36576" anchor="ctr">
                    <a:solidFill>
                      <a:srgbClr val="FFFFFF"/>
                    </a:solidFill>
                    <a:lnL w="7000">
                      <a:solidFill>
                        <a:srgbClr val="BFBFBF"/>
                      </a:solidFill>
                    </a:lnL>
                    <a:lnR w="7000">
                      <a:solidFill>
                        <a:srgbClr val="BFBFBF"/>
                      </a:solidFill>
                    </a:lnR>
                    <a:lnT w="7000">
                      <a:solidFill>
                        <a:srgbClr val="BFBFBF"/>
                      </a:solidFill>
                    </a:lnT>
                    <a:lnB w="7000">
                      <a:solidFill>
                        <a:srgbClr val="BFBFBF"/>
                      </a:solidFill>
                    </a:lnB>
                  </a:tcPr>
                </a:tc>
              </a:tr>
              <a:tr h="621792">
                <a:tc>
                  <a:txBody>
                    <a:bodyPr wrap="square" lIns="0" rIns="0" tIns="0" bIns="0">
                      <a:noAutofit/>
                    </a:bodyPr>
                    <a:lstStyle/>
                    <a:p>
                      <a:pPr algn="l">
                        <a:lnSpc>
                          <a:spcPct val="112000"/>
                        </a:lnSpc>
                        <a:spcAft>
                          <a:spcPts val="0"/>
                        </a:spcAft>
                        <a:buNone/>
                      </a:pPr>
                      <a:r>
                        <a:rPr sz="2200" b="0" lang="ja-JP">
                          <a:solidFill>
                            <a:srgbClr val="111111"/>
                          </a:solidFill>
                          <a:latin typeface="游ゴシック"/>
                          <a:ea typeface="游ゴシック"/>
                        </a:rPr>
                        <a:t>正解区間</a:t>
                      </a:r>
                    </a:p>
                  </a:txBody>
                  <a:tcPr marL="118872" marR="91440" marT="64008" marB="36576" anchor="ctr">
                    <a:solidFill>
                      <a:srgbClr val="FFFFFF"/>
                    </a:solidFill>
                    <a:lnL w="7000">
                      <a:solidFill>
                        <a:srgbClr val="BFBFBF"/>
                      </a:solidFill>
                    </a:lnL>
                    <a:lnR w="7000">
                      <a:solidFill>
                        <a:srgbClr val="BFBFBF"/>
                      </a:solidFill>
                    </a:lnR>
                    <a:lnT w="7000">
                      <a:solidFill>
                        <a:srgbClr val="BFBFBF"/>
                      </a:solidFill>
                    </a:lnT>
                    <a:lnB w="7000">
                      <a:solidFill>
                        <a:srgbClr val="BFBFBF"/>
                      </a:solidFill>
                    </a:lnB>
                  </a:tcPr>
                </a:tc>
                <a:tc>
                  <a:txBody>
                    <a:bodyPr wrap="square" lIns="0" rIns="0" tIns="0" bIns="0">
                      <a:noAutofit/>
                    </a:bodyPr>
                    <a:lstStyle/>
                    <a:p>
                      <a:pPr algn="l">
                        <a:lnSpc>
                          <a:spcPct val="112000"/>
                        </a:lnSpc>
                        <a:spcAft>
                          <a:spcPts val="0"/>
                        </a:spcAft>
                        <a:buNone/>
                      </a:pPr>
                      <a:r>
                        <a:rPr sz="2200" b="0" lang="ja-JP">
                          <a:solidFill>
                            <a:srgbClr val="111111"/>
                          </a:solidFill>
                          <a:latin typeface="游ゴシック"/>
                          <a:ea typeface="游ゴシック"/>
                        </a:rPr>
                        <a:t>目視による参考区間あり</a:t>
                      </a:r>
                    </a:p>
                  </a:txBody>
                  <a:tcPr marL="118872" marR="91440" marT="64008" marB="36576" anchor="ctr">
                    <a:solidFill>
                      <a:srgbClr val="FFFFFF"/>
                    </a:solidFill>
                    <a:lnL w="7000">
                      <a:solidFill>
                        <a:srgbClr val="BFBFBF"/>
                      </a:solidFill>
                    </a:lnL>
                    <a:lnR w="7000">
                      <a:solidFill>
                        <a:srgbClr val="BFBFBF"/>
                      </a:solidFill>
                    </a:lnR>
                    <a:lnT w="7000">
                      <a:solidFill>
                        <a:srgbClr val="BFBFBF"/>
                      </a:solidFill>
                    </a:lnT>
                    <a:lnB w="7000">
                      <a:solidFill>
                        <a:srgbClr val="BFBFBF"/>
                      </a:solidFill>
                    </a:lnB>
                  </a:tcPr>
                </a:tc>
                <a:tc>
                  <a:txBody>
                    <a:bodyPr wrap="square" lIns="0" rIns="0" tIns="0" bIns="0">
                      <a:noAutofit/>
                    </a:bodyPr>
                    <a:lstStyle/>
                    <a:p>
                      <a:pPr algn="l">
                        <a:lnSpc>
                          <a:spcPct val="112000"/>
                        </a:lnSpc>
                        <a:spcAft>
                          <a:spcPts val="0"/>
                        </a:spcAft>
                        <a:buNone/>
                      </a:pPr>
                      <a:r>
                        <a:rPr sz="2200" b="0" lang="ja-JP">
                          <a:solidFill>
                            <a:srgbClr val="111111"/>
                          </a:solidFill>
                          <a:latin typeface="游ゴシック"/>
                          <a:ea typeface="游ゴシック"/>
                        </a:rPr>
                        <a:t>まだ作成していない</a:t>
                      </a:r>
                    </a:p>
                  </a:txBody>
                  <a:tcPr marL="118872" marR="91440" marT="64008" marB="36576" anchor="ctr">
                    <a:solidFill>
                      <a:srgbClr val="FFFFFF"/>
                    </a:solidFill>
                    <a:lnL w="7000">
                      <a:solidFill>
                        <a:srgbClr val="BFBFBF"/>
                      </a:solidFill>
                    </a:lnL>
                    <a:lnR w="7000">
                      <a:solidFill>
                        <a:srgbClr val="BFBFBF"/>
                      </a:solidFill>
                    </a:lnR>
                    <a:lnT w="7000">
                      <a:solidFill>
                        <a:srgbClr val="BFBFBF"/>
                      </a:solidFill>
                    </a:lnT>
                    <a:lnB w="7000">
                      <a:solidFill>
                        <a:srgbClr val="BFBFBF"/>
                      </a:solidFill>
                    </a:lnB>
                  </a:tcPr>
                </a:tc>
              </a:tr>
              <a:tr h="621792">
                <a:tc>
                  <a:txBody>
                    <a:bodyPr wrap="square" lIns="0" rIns="0" tIns="0" bIns="0">
                      <a:noAutofit/>
                    </a:bodyPr>
                    <a:lstStyle/>
                    <a:p>
                      <a:pPr algn="l">
                        <a:lnSpc>
                          <a:spcPct val="112000"/>
                        </a:lnSpc>
                        <a:spcAft>
                          <a:spcPts val="0"/>
                        </a:spcAft>
                        <a:buNone/>
                      </a:pPr>
                      <a:r>
                        <a:rPr sz="2200" b="0" lang="ja-JP">
                          <a:solidFill>
                            <a:srgbClr val="111111"/>
                          </a:solidFill>
                          <a:latin typeface="游ゴシック"/>
                          <a:ea typeface="游ゴシック"/>
                        </a:rPr>
                        <a:t>評価</a:t>
                      </a:r>
                    </a:p>
                  </a:txBody>
                  <a:tcPr marL="118872" marR="91440" marT="64008" marB="36576" anchor="ctr">
                    <a:solidFill>
                      <a:srgbClr val="FFFFFF"/>
                    </a:solidFill>
                    <a:lnL w="7000">
                      <a:solidFill>
                        <a:srgbClr val="BFBFBF"/>
                      </a:solidFill>
                    </a:lnL>
                    <a:lnR w="7000">
                      <a:solidFill>
                        <a:srgbClr val="BFBFBF"/>
                      </a:solidFill>
                    </a:lnR>
                    <a:lnT w="7000">
                      <a:solidFill>
                        <a:srgbClr val="BFBFBF"/>
                      </a:solidFill>
                    </a:lnT>
                    <a:lnB w="7000">
                      <a:solidFill>
                        <a:srgbClr val="BFBFBF"/>
                      </a:solidFill>
                    </a:lnB>
                  </a:tcPr>
                </a:tc>
                <a:tc>
                  <a:txBody>
                    <a:bodyPr wrap="square" lIns="0" rIns="0" tIns="0" bIns="0">
                      <a:noAutofit/>
                    </a:bodyPr>
                    <a:lstStyle/>
                    <a:p>
                      <a:pPr algn="l">
                        <a:lnSpc>
                          <a:spcPct val="112000"/>
                        </a:lnSpc>
                        <a:spcAft>
                          <a:spcPts val="0"/>
                        </a:spcAft>
                        <a:buNone/>
                      </a:pPr>
                      <a:r>
                        <a:rPr sz="2200" b="0" lang="ja-JP">
                          <a:solidFill>
                            <a:srgbClr val="111111"/>
                          </a:solidFill>
                          <a:latin typeface="游ゴシック"/>
                          <a:ea typeface="游ゴシック"/>
                        </a:rPr>
                        <a:t>平均tIoU：0.711</a:t>
                      </a:r>
                    </a:p>
                  </a:txBody>
                  <a:tcPr marL="118872" marR="91440" marT="64008" marB="36576" anchor="ctr">
                    <a:solidFill>
                      <a:srgbClr val="FFFFFF"/>
                    </a:solidFill>
                    <a:lnL w="7000">
                      <a:solidFill>
                        <a:srgbClr val="BFBFBF"/>
                      </a:solidFill>
                    </a:lnL>
                    <a:lnR w="7000">
                      <a:solidFill>
                        <a:srgbClr val="BFBFBF"/>
                      </a:solidFill>
                    </a:lnR>
                    <a:lnT w="7000">
                      <a:solidFill>
                        <a:srgbClr val="BFBFBF"/>
                      </a:solidFill>
                    </a:lnT>
                    <a:lnB w="7000">
                      <a:solidFill>
                        <a:srgbClr val="BFBFBF"/>
                      </a:solidFill>
                    </a:lnB>
                  </a:tcPr>
                </a:tc>
                <a:tc>
                  <a:txBody>
                    <a:bodyPr wrap="square" lIns="0" rIns="0" tIns="0" bIns="0">
                      <a:noAutofit/>
                    </a:bodyPr>
                    <a:lstStyle/>
                    <a:p>
                      <a:pPr algn="l">
                        <a:lnSpc>
                          <a:spcPct val="112000"/>
                        </a:lnSpc>
                        <a:spcAft>
                          <a:spcPts val="0"/>
                        </a:spcAft>
                        <a:buNone/>
                      </a:pPr>
                      <a:r>
                        <a:rPr sz="2200" b="0" lang="ja-JP">
                          <a:solidFill>
                            <a:srgbClr val="111111"/>
                          </a:solidFill>
                          <a:latin typeface="游ゴシック"/>
                          <a:ea typeface="游ゴシック"/>
                        </a:rPr>
                        <a:t>精度・tIoUは未算出</a:t>
                      </a:r>
                    </a:p>
                  </a:txBody>
                  <a:tcPr marL="118872" marR="91440" marT="64008" marB="36576" anchor="ctr">
                    <a:solidFill>
                      <a:srgbClr val="FFFFFF"/>
                    </a:solidFill>
                    <a:lnL w="7000">
                      <a:solidFill>
                        <a:srgbClr val="BFBFBF"/>
                      </a:solidFill>
                    </a:lnL>
                    <a:lnR w="7000">
                      <a:solidFill>
                        <a:srgbClr val="BFBFBF"/>
                      </a:solidFill>
                    </a:lnR>
                    <a:lnT w="7000">
                      <a:solidFill>
                        <a:srgbClr val="BFBFBF"/>
                      </a:solidFill>
                    </a:lnT>
                    <a:lnB w="7000">
                      <a:solidFill>
                        <a:srgbClr val="BFBFBF"/>
                      </a:solidFill>
                    </a:lnB>
                  </a:tcPr>
                </a:tc>
              </a:tr>
              <a:tr h="621792">
                <a:tc>
                  <a:txBody>
                    <a:bodyPr wrap="square" lIns="0" rIns="0" tIns="0" bIns="0">
                      <a:noAutofit/>
                    </a:bodyPr>
                    <a:lstStyle/>
                    <a:p>
                      <a:pPr algn="l">
                        <a:lnSpc>
                          <a:spcPct val="112000"/>
                        </a:lnSpc>
                        <a:spcAft>
                          <a:spcPts val="0"/>
                        </a:spcAft>
                        <a:buNone/>
                      </a:pPr>
                      <a:r>
                        <a:rPr sz="2200" b="0" lang="ja-JP">
                          <a:solidFill>
                            <a:srgbClr val="111111"/>
                          </a:solidFill>
                          <a:latin typeface="游ゴシック"/>
                          <a:ea typeface="游ゴシック"/>
                        </a:rPr>
                        <a:t>注意点</a:t>
                      </a:r>
                    </a:p>
                  </a:txBody>
                  <a:tcPr marL="118872" marR="91440" marT="64008" marB="36576" anchor="ctr">
                    <a:solidFill>
                      <a:srgbClr val="FFFFFF"/>
                    </a:solidFill>
                    <a:lnL w="7000">
                      <a:solidFill>
                        <a:srgbClr val="BFBFBF"/>
                      </a:solidFill>
                    </a:lnL>
                    <a:lnR w="7000">
                      <a:solidFill>
                        <a:srgbClr val="BFBFBF"/>
                      </a:solidFill>
                    </a:lnR>
                    <a:lnT w="7000">
                      <a:solidFill>
                        <a:srgbClr val="BFBFBF"/>
                      </a:solidFill>
                    </a:lnT>
                    <a:lnB w="7000">
                      <a:solidFill>
                        <a:srgbClr val="BFBFBF"/>
                      </a:solidFill>
                    </a:lnB>
                  </a:tcPr>
                </a:tc>
                <a:tc>
                  <a:txBody>
                    <a:bodyPr wrap="square" lIns="0" rIns="0" tIns="0" bIns="0">
                      <a:noAutofit/>
                    </a:bodyPr>
                    <a:lstStyle/>
                    <a:p>
                      <a:pPr algn="l">
                        <a:lnSpc>
                          <a:spcPct val="112000"/>
                        </a:lnSpc>
                        <a:spcAft>
                          <a:spcPts val="0"/>
                        </a:spcAft>
                        <a:buNone/>
                      </a:pPr>
                      <a:r>
                        <a:rPr sz="2200" b="0" lang="ja-JP">
                          <a:solidFill>
                            <a:srgbClr val="111111"/>
                          </a:solidFill>
                          <a:latin typeface="游ゴシック"/>
                          <a:ea typeface="游ゴシック"/>
                        </a:rPr>
                        <a:t>余分な候補は評価に未反映</a:t>
                      </a:r>
                    </a:p>
                  </a:txBody>
                  <a:tcPr marL="118872" marR="91440" marT="64008" marB="36576" anchor="ctr">
                    <a:solidFill>
                      <a:srgbClr val="FFFFFF"/>
                    </a:solidFill>
                    <a:lnL w="7000">
                      <a:solidFill>
                        <a:srgbClr val="BFBFBF"/>
                      </a:solidFill>
                    </a:lnL>
                    <a:lnR w="7000">
                      <a:solidFill>
                        <a:srgbClr val="BFBFBF"/>
                      </a:solidFill>
                    </a:lnR>
                    <a:lnT w="7000">
                      <a:solidFill>
                        <a:srgbClr val="BFBFBF"/>
                      </a:solidFill>
                    </a:lnT>
                    <a:lnB w="7000">
                      <a:solidFill>
                        <a:srgbClr val="BFBFBF"/>
                      </a:solidFill>
                    </a:lnB>
                  </a:tcPr>
                </a:tc>
                <a:tc>
                  <a:txBody>
                    <a:bodyPr wrap="square" lIns="0" rIns="0" tIns="0" bIns="0">
                      <a:noAutofit/>
                    </a:bodyPr>
                    <a:lstStyle/>
                    <a:p>
                      <a:pPr algn="l">
                        <a:lnSpc>
                          <a:spcPct val="112000"/>
                        </a:lnSpc>
                        <a:spcAft>
                          <a:spcPts val="0"/>
                        </a:spcAft>
                        <a:buNone/>
                      </a:pPr>
                      <a:r>
                        <a:rPr sz="2200" b="0" lang="ja-JP">
                          <a:solidFill>
                            <a:srgbClr val="111111"/>
                          </a:solidFill>
                          <a:latin typeface="游ゴシック"/>
                          <a:ea typeface="游ゴシック"/>
                        </a:rPr>
                        <a:t>投球数・ファウル数は未確定</a:t>
                      </a:r>
                    </a:p>
                  </a:txBody>
                  <a:tcPr marL="118872" marR="91440" marT="64008" marB="36576" anchor="ctr">
                    <a:solidFill>
                      <a:srgbClr val="FFFFFF"/>
                    </a:solidFill>
                    <a:lnL w="7000">
                      <a:solidFill>
                        <a:srgbClr val="BFBFBF"/>
                      </a:solidFill>
                    </a:lnL>
                    <a:lnR w="7000">
                      <a:solidFill>
                        <a:srgbClr val="BFBFBF"/>
                      </a:solidFill>
                    </a:lnR>
                    <a:lnT w="7000">
                      <a:solidFill>
                        <a:srgbClr val="BFBFBF"/>
                      </a:solidFill>
                    </a:lnT>
                    <a:lnB w="7000">
                      <a:solidFill>
                        <a:srgbClr val="BFBFBF"/>
                      </a:solidFill>
                    </a:lnB>
                  </a:tcPr>
                </a:tc>
              </a:tr>
            </a:tbl>
          </a:graphicData>
        </a:graphic>
      </p:graphicFrame>
      <p:sp>
        <p:nvSpPr>
          <p:cNvPr id="6" name="TextBox 5"/>
          <p:cNvSpPr txBox="1"/>
          <p:nvPr/>
        </p:nvSpPr>
        <p:spPr>
          <a:xfrm>
            <a:off x="838504" y="5943600"/>
            <a:ext cx="10515600" cy="384048"/>
          </a:xfrm>
          <a:prstGeom prst="rect">
            <a:avLst/>
          </a:prstGeom>
          <a:noFill/>
        </p:spPr>
        <p:txBody>
          <a:bodyPr wrap="square" lIns="0" rIns="0" tIns="0" bIns="0">
            <a:noAutofit/>
          </a:bodyPr>
          <a:lstStyle/>
          <a:p>
            <a:pPr algn="l">
              <a:lnSpc>
                <a:spcPct val="112000"/>
              </a:lnSpc>
              <a:spcAft>
                <a:spcPts val="1000"/>
              </a:spcAft>
              <a:buNone/>
            </a:pPr>
            <a:r>
              <a:rPr sz="2300" b="0" lang="ja-JP">
                <a:solidFill>
                  <a:srgbClr val="B02121"/>
                </a:solidFill>
                <a:latin typeface="游ゴシック"/>
                <a:ea typeface="游ゴシック"/>
              </a:rPr>
              <a:t>平均tIoUは、検出全体の正解率やファウル判定精度ではない。</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504" y="364845"/>
            <a:ext cx="10515600" cy="1325880"/>
          </a:xfrm>
        </p:spPr>
        <p:txBody>
          <a:bodyPr wrap="square" lIns="0" rIns="0" tIns="0" bIns="0">
            <a:noAutofit/>
          </a:bodyPr>
          <a:lstStyle/>
          <a:p>
            <a:pPr algn="l">
              <a:lnSpc>
                <a:spcPct val="112000"/>
              </a:lnSpc>
              <a:spcAft>
                <a:spcPts val="0"/>
              </a:spcAft>
              <a:buNone/>
            </a:pPr>
            <a:r>
              <a:rPr sz="4400" b="0" lang="ja-JP">
                <a:solidFill>
                  <a:srgbClr val="111111"/>
                </a:solidFill>
                <a:latin typeface="游ゴシック Light"/>
                <a:ea typeface="游ゴシック Light"/>
              </a:rPr>
              <a:t>補足：今回の処理条件</a:t>
            </a:r>
          </a:p>
        </p:txBody>
      </p:sp>
      <p:sp>
        <p:nvSpPr>
          <p:cNvPr id="3" name="TextBox 2"/>
          <p:cNvSpPr txBox="1"/>
          <p:nvPr/>
        </p:nvSpPr>
        <p:spPr>
          <a:xfrm>
            <a:off x="10881360" y="6510528"/>
            <a:ext cx="457200" cy="201168"/>
          </a:xfrm>
          <a:prstGeom prst="rect">
            <a:avLst/>
          </a:prstGeom>
          <a:noFill/>
        </p:spPr>
        <p:txBody>
          <a:bodyPr wrap="square" lIns="0" rIns="0" tIns="0" bIns="0">
            <a:noAutofit/>
          </a:bodyPr>
          <a:lstStyle/>
          <a:p>
            <a:pPr algn="r">
              <a:lnSpc>
                <a:spcPct val="112000"/>
              </a:lnSpc>
              <a:spcAft>
                <a:spcPts val="0"/>
              </a:spcAft>
              <a:buNone/>
            </a:pPr>
            <a:r>
              <a:rPr sz="1200" b="0" lang="ja-JP">
                <a:solidFill>
                  <a:srgbClr val="555555"/>
                </a:solidFill>
                <a:latin typeface="游ゴシック"/>
                <a:ea typeface="游ゴシック"/>
              </a:rPr>
              <a:t>12</a:t>
            </a:r>
          </a:p>
        </p:txBody>
      </p:sp>
      <p:graphicFrame>
        <p:nvGraphicFramePr>
          <p:cNvPr id="4" name="Table 3"/>
          <p:cNvGraphicFramePr>
            <a:graphicFrameLocks noGrp="1"/>
          </p:cNvGraphicFramePr>
          <p:nvPr/>
        </p:nvGraphicFramePr>
        <p:xfrm>
          <a:off x="838504" y="1810512"/>
          <a:ext cx="10515600" cy="4361688"/>
        </p:xfrm>
        <a:graphic>
          <a:graphicData uri="http://schemas.openxmlformats.org/drawingml/2006/table">
            <a:tbl>
              <a:tblPr firstRow="1" bandRow="1">
                <a:tableStyleId>{5C22544A-7EE6-4342-B048-85BDC9FD1C3A}</a:tableStyleId>
              </a:tblPr>
              <a:tblGrid>
                <a:gridCol w="2743200"/>
                <a:gridCol w="7772400"/>
              </a:tblGrid>
              <a:tr h="484632">
                <a:tc>
                  <a:txBody>
                    <a:bodyPr wrap="square" lIns="0" rIns="0" tIns="0" bIns="0">
                      <a:noAutofit/>
                    </a:bodyPr>
                    <a:lstStyle/>
                    <a:p>
                      <a:pPr algn="l">
                        <a:lnSpc>
                          <a:spcPct val="112000"/>
                        </a:lnSpc>
                        <a:spcAft>
                          <a:spcPts val="0"/>
                        </a:spcAft>
                        <a:buNone/>
                      </a:pPr>
                      <a:r>
                        <a:rPr sz="2000" b="1" lang="ja-JP">
                          <a:solidFill>
                            <a:srgbClr val="111111"/>
                          </a:solidFill>
                          <a:latin typeface="游ゴシック"/>
                          <a:ea typeface="游ゴシック"/>
                        </a:rPr>
                        <a:t>項目</a:t>
                      </a:r>
                    </a:p>
                  </a:txBody>
                  <a:tcPr marL="118872" marR="91440" marT="64008" marB="36576" anchor="ctr">
                    <a:solidFill>
                      <a:srgbClr val="EEEEEE"/>
                    </a:solidFill>
                    <a:lnL w="7000">
                      <a:solidFill>
                        <a:srgbClr val="BFBFBF"/>
                      </a:solidFill>
                    </a:lnL>
                    <a:lnR w="7000">
                      <a:solidFill>
                        <a:srgbClr val="BFBFBF"/>
                      </a:solidFill>
                    </a:lnR>
                    <a:lnT w="7000">
                      <a:solidFill>
                        <a:srgbClr val="BFBFBF"/>
                      </a:solidFill>
                    </a:lnT>
                    <a:lnB w="7000">
                      <a:solidFill>
                        <a:srgbClr val="BFBFBF"/>
                      </a:solidFill>
                    </a:lnB>
                  </a:tcPr>
                </a:tc>
                <a:tc>
                  <a:txBody>
                    <a:bodyPr wrap="square" lIns="0" rIns="0" tIns="0" bIns="0">
                      <a:noAutofit/>
                    </a:bodyPr>
                    <a:lstStyle/>
                    <a:p>
                      <a:pPr algn="l">
                        <a:lnSpc>
                          <a:spcPct val="112000"/>
                        </a:lnSpc>
                        <a:spcAft>
                          <a:spcPts val="0"/>
                        </a:spcAft>
                        <a:buNone/>
                      </a:pPr>
                      <a:r>
                        <a:rPr sz="2000" b="1" lang="ja-JP">
                          <a:solidFill>
                            <a:srgbClr val="111111"/>
                          </a:solidFill>
                          <a:latin typeface="游ゴシック"/>
                          <a:ea typeface="游ゴシック"/>
                        </a:rPr>
                        <a:t>設定</a:t>
                      </a:r>
                    </a:p>
                  </a:txBody>
                  <a:tcPr marL="118872" marR="91440" marT="64008" marB="36576" anchor="ctr">
                    <a:solidFill>
                      <a:srgbClr val="EEEEEE"/>
                    </a:solidFill>
                    <a:lnL w="7000">
                      <a:solidFill>
                        <a:srgbClr val="BFBFBF"/>
                      </a:solidFill>
                    </a:lnL>
                    <a:lnR w="7000">
                      <a:solidFill>
                        <a:srgbClr val="BFBFBF"/>
                      </a:solidFill>
                    </a:lnR>
                    <a:lnT w="7000">
                      <a:solidFill>
                        <a:srgbClr val="BFBFBF"/>
                      </a:solidFill>
                    </a:lnT>
                    <a:lnB w="7000">
                      <a:solidFill>
                        <a:srgbClr val="BFBFBF"/>
                      </a:solidFill>
                    </a:lnB>
                  </a:tcPr>
                </a:tc>
              </a:tr>
              <a:tr h="484632">
                <a:tc>
                  <a:txBody>
                    <a:bodyPr wrap="square" lIns="0" rIns="0" tIns="0" bIns="0">
                      <a:noAutofit/>
                    </a:bodyPr>
                    <a:lstStyle/>
                    <a:p>
                      <a:pPr algn="l">
                        <a:lnSpc>
                          <a:spcPct val="112000"/>
                        </a:lnSpc>
                        <a:spcAft>
                          <a:spcPts val="0"/>
                        </a:spcAft>
                        <a:buNone/>
                      </a:pPr>
                      <a:r>
                        <a:rPr sz="2000" b="0" lang="ja-JP">
                          <a:solidFill>
                            <a:srgbClr val="111111"/>
                          </a:solidFill>
                          <a:latin typeface="游ゴシック"/>
                          <a:ea typeface="游ゴシック"/>
                        </a:rPr>
                        <a:t>表示の観測</a:t>
                      </a:r>
                    </a:p>
                  </a:txBody>
                  <a:tcPr marL="118872" marR="91440" marT="64008" marB="36576" anchor="ctr">
                    <a:solidFill>
                      <a:srgbClr val="FFFFFF"/>
                    </a:solidFill>
                    <a:lnL w="7000">
                      <a:solidFill>
                        <a:srgbClr val="BFBFBF"/>
                      </a:solidFill>
                    </a:lnL>
                    <a:lnR w="7000">
                      <a:solidFill>
                        <a:srgbClr val="BFBFBF"/>
                      </a:solidFill>
                    </a:lnR>
                    <a:lnT w="7000">
                      <a:solidFill>
                        <a:srgbClr val="BFBFBF"/>
                      </a:solidFill>
                    </a:lnT>
                    <a:lnB w="7000">
                      <a:solidFill>
                        <a:srgbClr val="BFBFBF"/>
                      </a:solidFill>
                    </a:lnB>
                  </a:tcPr>
                </a:tc>
                <a:tc>
                  <a:txBody>
                    <a:bodyPr wrap="square" lIns="0" rIns="0" tIns="0" bIns="0">
                      <a:noAutofit/>
                    </a:bodyPr>
                    <a:lstStyle/>
                    <a:p>
                      <a:pPr algn="l">
                        <a:lnSpc>
                          <a:spcPct val="112000"/>
                        </a:lnSpc>
                        <a:spcAft>
                          <a:spcPts val="0"/>
                        </a:spcAft>
                        <a:buNone/>
                      </a:pPr>
                      <a:r>
                        <a:rPr sz="2000" b="0" lang="ja-JP">
                          <a:solidFill>
                            <a:srgbClr val="111111"/>
                          </a:solidFill>
                          <a:latin typeface="游ゴシック"/>
                          <a:ea typeface="游ゴシック"/>
                        </a:rPr>
                        <a:t>0.5秒間隔（1,061観測）</a:t>
                      </a:r>
                    </a:p>
                  </a:txBody>
                  <a:tcPr marL="118872" marR="91440" marT="64008" marB="36576" anchor="ctr">
                    <a:solidFill>
                      <a:srgbClr val="FFFFFF"/>
                    </a:solidFill>
                    <a:lnL w="7000">
                      <a:solidFill>
                        <a:srgbClr val="BFBFBF"/>
                      </a:solidFill>
                    </a:lnL>
                    <a:lnR w="7000">
                      <a:solidFill>
                        <a:srgbClr val="BFBFBF"/>
                      </a:solidFill>
                    </a:lnR>
                    <a:lnT w="7000">
                      <a:solidFill>
                        <a:srgbClr val="BFBFBF"/>
                      </a:solidFill>
                    </a:lnT>
                    <a:lnB w="7000">
                      <a:solidFill>
                        <a:srgbClr val="BFBFBF"/>
                      </a:solidFill>
                    </a:lnB>
                  </a:tcPr>
                </a:tc>
              </a:tr>
              <a:tr h="484632">
                <a:tc>
                  <a:txBody>
                    <a:bodyPr wrap="square" lIns="0" rIns="0" tIns="0" bIns="0">
                      <a:noAutofit/>
                    </a:bodyPr>
                    <a:lstStyle/>
                    <a:p>
                      <a:pPr algn="l">
                        <a:lnSpc>
                          <a:spcPct val="112000"/>
                        </a:lnSpc>
                        <a:spcAft>
                          <a:spcPts val="0"/>
                        </a:spcAft>
                        <a:buNone/>
                      </a:pPr>
                      <a:r>
                        <a:rPr sz="2000" b="0" lang="ja-JP">
                          <a:solidFill>
                            <a:srgbClr val="111111"/>
                          </a:solidFill>
                          <a:latin typeface="游ゴシック"/>
                          <a:ea typeface="游ゴシック"/>
                        </a:rPr>
                        <a:t>OCR</a:t>
                      </a:r>
                    </a:p>
                  </a:txBody>
                  <a:tcPr marL="118872" marR="91440" marT="64008" marB="36576" anchor="ctr">
                    <a:solidFill>
                      <a:srgbClr val="FFFFFF"/>
                    </a:solidFill>
                    <a:lnL w="7000">
                      <a:solidFill>
                        <a:srgbClr val="BFBFBF"/>
                      </a:solidFill>
                    </a:lnL>
                    <a:lnR w="7000">
                      <a:solidFill>
                        <a:srgbClr val="BFBFBF"/>
                      </a:solidFill>
                    </a:lnR>
                    <a:lnT w="7000">
                      <a:solidFill>
                        <a:srgbClr val="BFBFBF"/>
                      </a:solidFill>
                    </a:lnT>
                    <a:lnB w="7000">
                      <a:solidFill>
                        <a:srgbClr val="BFBFBF"/>
                      </a:solidFill>
                    </a:lnB>
                  </a:tcPr>
                </a:tc>
                <a:tc>
                  <a:txBody>
                    <a:bodyPr wrap="square" lIns="0" rIns="0" tIns="0" bIns="0">
                      <a:noAutofit/>
                    </a:bodyPr>
                    <a:lstStyle/>
                    <a:p>
                      <a:pPr algn="l">
                        <a:lnSpc>
                          <a:spcPct val="112000"/>
                        </a:lnSpc>
                        <a:spcAft>
                          <a:spcPts val="0"/>
                        </a:spcAft>
                        <a:buNone/>
                      </a:pPr>
                      <a:r>
                        <a:rPr sz="2000" b="0" lang="ja-JP">
                          <a:solidFill>
                            <a:srgbClr val="111111"/>
                          </a:solidFill>
                          <a:latin typeface="游ゴシック"/>
                          <a:ea typeface="游ゴシック"/>
                        </a:rPr>
                        <a:t>表示があるとき、原則2秒以上の間隔</a:t>
                      </a:r>
                    </a:p>
                  </a:txBody>
                  <a:tcPr marL="118872" marR="91440" marT="64008" marB="36576" anchor="ctr">
                    <a:solidFill>
                      <a:srgbClr val="FFFFFF"/>
                    </a:solidFill>
                    <a:lnL w="7000">
                      <a:solidFill>
                        <a:srgbClr val="BFBFBF"/>
                      </a:solidFill>
                    </a:lnL>
                    <a:lnR w="7000">
                      <a:solidFill>
                        <a:srgbClr val="BFBFBF"/>
                      </a:solidFill>
                    </a:lnR>
                    <a:lnT w="7000">
                      <a:solidFill>
                        <a:srgbClr val="BFBFBF"/>
                      </a:solidFill>
                    </a:lnT>
                    <a:lnB w="7000">
                      <a:solidFill>
                        <a:srgbClr val="BFBFBF"/>
                      </a:solidFill>
                    </a:lnB>
                  </a:tcPr>
                </a:tc>
              </a:tr>
              <a:tr h="484632">
                <a:tc>
                  <a:txBody>
                    <a:bodyPr wrap="square" lIns="0" rIns="0" tIns="0" bIns="0">
                      <a:noAutofit/>
                    </a:bodyPr>
                    <a:lstStyle/>
                    <a:p>
                      <a:pPr algn="l">
                        <a:lnSpc>
                          <a:spcPct val="112000"/>
                        </a:lnSpc>
                        <a:spcAft>
                          <a:spcPts val="0"/>
                        </a:spcAft>
                        <a:buNone/>
                      </a:pPr>
                      <a:r>
                        <a:rPr sz="2000" b="0" lang="ja-JP">
                          <a:solidFill>
                            <a:srgbClr val="111111"/>
                          </a:solidFill>
                          <a:latin typeface="游ゴシック"/>
                          <a:ea typeface="游ゴシック"/>
                        </a:rPr>
                        <a:t>VideoMAE</a:t>
                      </a:r>
                    </a:p>
                  </a:txBody>
                  <a:tcPr marL="118872" marR="91440" marT="64008" marB="36576" anchor="ctr">
                    <a:solidFill>
                      <a:srgbClr val="FFFFFF"/>
                    </a:solidFill>
                    <a:lnL w="7000">
                      <a:solidFill>
                        <a:srgbClr val="BFBFBF"/>
                      </a:solidFill>
                    </a:lnL>
                    <a:lnR w="7000">
                      <a:solidFill>
                        <a:srgbClr val="BFBFBF"/>
                      </a:solidFill>
                    </a:lnR>
                    <a:lnT w="7000">
                      <a:solidFill>
                        <a:srgbClr val="BFBFBF"/>
                      </a:solidFill>
                    </a:lnT>
                    <a:lnB w="7000">
                      <a:solidFill>
                        <a:srgbClr val="BFBFBF"/>
                      </a:solidFill>
                    </a:lnB>
                  </a:tcPr>
                </a:tc>
                <a:tc>
                  <a:txBody>
                    <a:bodyPr wrap="square" lIns="0" rIns="0" tIns="0" bIns="0">
                      <a:noAutofit/>
                    </a:bodyPr>
                    <a:lstStyle/>
                    <a:p>
                      <a:pPr algn="l">
                        <a:lnSpc>
                          <a:spcPct val="112000"/>
                        </a:lnSpc>
                        <a:spcAft>
                          <a:spcPts val="0"/>
                        </a:spcAft>
                        <a:buNone/>
                      </a:pPr>
                      <a:r>
                        <a:rPr sz="2000" b="0" lang="ja-JP">
                          <a:solidFill>
                            <a:srgbClr val="111111"/>
                          </a:solidFill>
                          <a:latin typeface="游ゴシック"/>
                          <a:ea typeface="游ゴシック"/>
                        </a:rPr>
                        <a:t>16フレーム窓 ／ 8フレーム間隔 ／ 768次元</a:t>
                      </a:r>
                    </a:p>
                  </a:txBody>
                  <a:tcPr marL="118872" marR="91440" marT="64008" marB="36576" anchor="ctr">
                    <a:solidFill>
                      <a:srgbClr val="FFFFFF"/>
                    </a:solidFill>
                    <a:lnL w="7000">
                      <a:solidFill>
                        <a:srgbClr val="BFBFBF"/>
                      </a:solidFill>
                    </a:lnL>
                    <a:lnR w="7000">
                      <a:solidFill>
                        <a:srgbClr val="BFBFBF"/>
                      </a:solidFill>
                    </a:lnR>
                    <a:lnT w="7000">
                      <a:solidFill>
                        <a:srgbClr val="BFBFBF"/>
                      </a:solidFill>
                    </a:lnT>
                    <a:lnB w="7000">
                      <a:solidFill>
                        <a:srgbClr val="BFBFBF"/>
                      </a:solidFill>
                    </a:lnB>
                  </a:tcPr>
                </a:tc>
              </a:tr>
              <a:tr h="484632">
                <a:tc>
                  <a:txBody>
                    <a:bodyPr wrap="square" lIns="0" rIns="0" tIns="0" bIns="0">
                      <a:noAutofit/>
                    </a:bodyPr>
                    <a:lstStyle/>
                    <a:p>
                      <a:pPr algn="l">
                        <a:lnSpc>
                          <a:spcPct val="112000"/>
                        </a:lnSpc>
                        <a:spcAft>
                          <a:spcPts val="0"/>
                        </a:spcAft>
                        <a:buNone/>
                      </a:pPr>
                      <a:r>
                        <a:rPr sz="2000" b="0" lang="ja-JP">
                          <a:solidFill>
                            <a:srgbClr val="111111"/>
                          </a:solidFill>
                          <a:latin typeface="游ゴシック"/>
                          <a:ea typeface="游ゴシック"/>
                        </a:rPr>
                        <a:t>区間検出</a:t>
                      </a:r>
                    </a:p>
                  </a:txBody>
                  <a:tcPr marL="118872" marR="91440" marT="64008" marB="36576" anchor="ctr">
                    <a:solidFill>
                      <a:srgbClr val="FFFFFF"/>
                    </a:solidFill>
                    <a:lnL w="7000">
                      <a:solidFill>
                        <a:srgbClr val="BFBFBF"/>
                      </a:solidFill>
                    </a:lnL>
                    <a:lnR w="7000">
                      <a:solidFill>
                        <a:srgbClr val="BFBFBF"/>
                      </a:solidFill>
                    </a:lnR>
                    <a:lnT w="7000">
                      <a:solidFill>
                        <a:srgbClr val="BFBFBF"/>
                      </a:solidFill>
                    </a:lnT>
                    <a:lnB w="7000">
                      <a:solidFill>
                        <a:srgbClr val="BFBFBF"/>
                      </a:solidFill>
                    </a:lnB>
                  </a:tcPr>
                </a:tc>
                <a:tc>
                  <a:txBody>
                    <a:bodyPr wrap="square" lIns="0" rIns="0" tIns="0" bIns="0">
                      <a:noAutofit/>
                    </a:bodyPr>
                    <a:lstStyle/>
                    <a:p>
                      <a:pPr algn="l">
                        <a:lnSpc>
                          <a:spcPct val="112000"/>
                        </a:lnSpc>
                        <a:spcAft>
                          <a:spcPts val="0"/>
                        </a:spcAft>
                        <a:buNone/>
                      </a:pPr>
                      <a:r>
                        <a:rPr sz="2000" b="0" lang="ja-JP">
                          <a:solidFill>
                            <a:srgbClr val="111111"/>
                          </a:solidFill>
                          <a:latin typeface="游ゴシック"/>
                          <a:ea typeface="游ゴシック"/>
                        </a:rPr>
                        <a:t>以前 inning1t で学習した Compact ActionFormer</a:t>
                      </a:r>
                    </a:p>
                  </a:txBody>
                  <a:tcPr marL="118872" marR="91440" marT="64008" marB="36576" anchor="ctr">
                    <a:solidFill>
                      <a:srgbClr val="FFFFFF"/>
                    </a:solidFill>
                    <a:lnL w="7000">
                      <a:solidFill>
                        <a:srgbClr val="BFBFBF"/>
                      </a:solidFill>
                    </a:lnL>
                    <a:lnR w="7000">
                      <a:solidFill>
                        <a:srgbClr val="BFBFBF"/>
                      </a:solidFill>
                    </a:lnR>
                    <a:lnT w="7000">
                      <a:solidFill>
                        <a:srgbClr val="BFBFBF"/>
                      </a:solidFill>
                    </a:lnT>
                    <a:lnB w="7000">
                      <a:solidFill>
                        <a:srgbClr val="BFBFBF"/>
                      </a:solidFill>
                    </a:lnB>
                  </a:tcPr>
                </a:tc>
              </a:tr>
              <a:tr h="484632">
                <a:tc>
                  <a:txBody>
                    <a:bodyPr wrap="square" lIns="0" rIns="0" tIns="0" bIns="0">
                      <a:noAutofit/>
                    </a:bodyPr>
                    <a:lstStyle/>
                    <a:p>
                      <a:pPr algn="l">
                        <a:lnSpc>
                          <a:spcPct val="112000"/>
                        </a:lnSpc>
                        <a:spcAft>
                          <a:spcPts val="0"/>
                        </a:spcAft>
                        <a:buNone/>
                      </a:pPr>
                      <a:r>
                        <a:rPr sz="2000" b="0" lang="ja-JP">
                          <a:solidFill>
                            <a:srgbClr val="111111"/>
                          </a:solidFill>
                          <a:latin typeface="游ゴシック"/>
                          <a:ea typeface="游ゴシック"/>
                        </a:rPr>
                        <a:t>Soft-NMS</a:t>
                      </a:r>
                    </a:p>
                  </a:txBody>
                  <a:tcPr marL="118872" marR="91440" marT="64008" marB="36576" anchor="ctr">
                    <a:solidFill>
                      <a:srgbClr val="FFFFFF"/>
                    </a:solidFill>
                    <a:lnL w="7000">
                      <a:solidFill>
                        <a:srgbClr val="BFBFBF"/>
                      </a:solidFill>
                    </a:lnL>
                    <a:lnR w="7000">
                      <a:solidFill>
                        <a:srgbClr val="BFBFBF"/>
                      </a:solidFill>
                    </a:lnR>
                    <a:lnT w="7000">
                      <a:solidFill>
                        <a:srgbClr val="BFBFBF"/>
                      </a:solidFill>
                    </a:lnT>
                    <a:lnB w="7000">
                      <a:solidFill>
                        <a:srgbClr val="BFBFBF"/>
                      </a:solidFill>
                    </a:lnB>
                  </a:tcPr>
                </a:tc>
                <a:tc>
                  <a:txBody>
                    <a:bodyPr wrap="square" lIns="0" rIns="0" tIns="0" bIns="0">
                      <a:noAutofit/>
                    </a:bodyPr>
                    <a:lstStyle/>
                    <a:p>
                      <a:pPr algn="l">
                        <a:lnSpc>
                          <a:spcPct val="112000"/>
                        </a:lnSpc>
                        <a:spcAft>
                          <a:spcPts val="0"/>
                        </a:spcAft>
                        <a:buNone/>
                      </a:pPr>
                      <a:r>
                        <a:rPr sz="2000" b="0" lang="ja-JP">
                          <a:solidFill>
                            <a:srgbClr val="111111"/>
                          </a:solidFill>
                          <a:latin typeface="游ゴシック"/>
                          <a:ea typeface="游ゴシック"/>
                        </a:rPr>
                        <a:t>σ＝0.5 ／ 処理後のスコア0.15以上を保持</a:t>
                      </a:r>
                    </a:p>
                  </a:txBody>
                  <a:tcPr marL="118872" marR="91440" marT="64008" marB="36576" anchor="ctr">
                    <a:solidFill>
                      <a:srgbClr val="FFFFFF"/>
                    </a:solidFill>
                    <a:lnL w="7000">
                      <a:solidFill>
                        <a:srgbClr val="BFBFBF"/>
                      </a:solidFill>
                    </a:lnL>
                    <a:lnR w="7000">
                      <a:solidFill>
                        <a:srgbClr val="BFBFBF"/>
                      </a:solidFill>
                    </a:lnR>
                    <a:lnT w="7000">
                      <a:solidFill>
                        <a:srgbClr val="BFBFBF"/>
                      </a:solidFill>
                    </a:lnT>
                    <a:lnB w="7000">
                      <a:solidFill>
                        <a:srgbClr val="BFBFBF"/>
                      </a:solidFill>
                    </a:lnB>
                  </a:tcPr>
                </a:tc>
              </a:tr>
              <a:tr h="484632">
                <a:tc>
                  <a:txBody>
                    <a:bodyPr wrap="square" lIns="0" rIns="0" tIns="0" bIns="0">
                      <a:noAutofit/>
                    </a:bodyPr>
                    <a:lstStyle/>
                    <a:p>
                      <a:pPr algn="l">
                        <a:lnSpc>
                          <a:spcPct val="112000"/>
                        </a:lnSpc>
                        <a:spcAft>
                          <a:spcPts val="0"/>
                        </a:spcAft>
                        <a:buNone/>
                      </a:pPr>
                      <a:r>
                        <a:rPr sz="2000" b="0" lang="ja-JP">
                          <a:solidFill>
                            <a:srgbClr val="111111"/>
                          </a:solidFill>
                          <a:latin typeface="游ゴシック"/>
                          <a:ea typeface="游ゴシック"/>
                        </a:rPr>
                        <a:t>表示用の候補群</a:t>
                      </a:r>
                    </a:p>
                  </a:txBody>
                  <a:tcPr marL="118872" marR="91440" marT="64008" marB="36576" anchor="ctr">
                    <a:solidFill>
                      <a:srgbClr val="FFFFFF"/>
                    </a:solidFill>
                    <a:lnL w="7000">
                      <a:solidFill>
                        <a:srgbClr val="BFBFBF"/>
                      </a:solidFill>
                    </a:lnL>
                    <a:lnR w="7000">
                      <a:solidFill>
                        <a:srgbClr val="BFBFBF"/>
                      </a:solidFill>
                    </a:lnR>
                    <a:lnT w="7000">
                      <a:solidFill>
                        <a:srgbClr val="BFBFBF"/>
                      </a:solidFill>
                    </a:lnT>
                    <a:lnB w="7000">
                      <a:solidFill>
                        <a:srgbClr val="BFBFBF"/>
                      </a:solidFill>
                    </a:lnB>
                  </a:tcPr>
                </a:tc>
                <a:tc>
                  <a:txBody>
                    <a:bodyPr wrap="square" lIns="0" rIns="0" tIns="0" bIns="0">
                      <a:noAutofit/>
                    </a:bodyPr>
                    <a:lstStyle/>
                    <a:p>
                      <a:pPr algn="l">
                        <a:lnSpc>
                          <a:spcPct val="112000"/>
                        </a:lnSpc>
                        <a:spcAft>
                          <a:spcPts val="0"/>
                        </a:spcAft>
                        <a:buNone/>
                      </a:pPr>
                      <a:r>
                        <a:rPr sz="2000" b="0" lang="ja-JP">
                          <a:solidFill>
                            <a:srgbClr val="111111"/>
                          </a:solidFill>
                          <a:latin typeface="游ゴシック"/>
                          <a:ea typeface="游ゴシック"/>
                        </a:rPr>
                        <a:t>最高スコア候補との時間的IoU 0.25以上で整理</a:t>
                      </a:r>
                    </a:p>
                  </a:txBody>
                  <a:tcPr marL="118872" marR="91440" marT="64008" marB="36576" anchor="ctr">
                    <a:solidFill>
                      <a:srgbClr val="FFFFFF"/>
                    </a:solidFill>
                    <a:lnL w="7000">
                      <a:solidFill>
                        <a:srgbClr val="BFBFBF"/>
                      </a:solidFill>
                    </a:lnL>
                    <a:lnR w="7000">
                      <a:solidFill>
                        <a:srgbClr val="BFBFBF"/>
                      </a:solidFill>
                    </a:lnR>
                    <a:lnT w="7000">
                      <a:solidFill>
                        <a:srgbClr val="BFBFBF"/>
                      </a:solidFill>
                    </a:lnT>
                    <a:lnB w="7000">
                      <a:solidFill>
                        <a:srgbClr val="BFBFBF"/>
                      </a:solidFill>
                    </a:lnB>
                  </a:tcPr>
                </a:tc>
              </a:tr>
              <a:tr h="484632">
                <a:tc>
                  <a:txBody>
                    <a:bodyPr wrap="square" lIns="0" rIns="0" tIns="0" bIns="0">
                      <a:noAutofit/>
                    </a:bodyPr>
                    <a:lstStyle/>
                    <a:p>
                      <a:pPr algn="l">
                        <a:lnSpc>
                          <a:spcPct val="112000"/>
                        </a:lnSpc>
                        <a:spcAft>
                          <a:spcPts val="0"/>
                        </a:spcAft>
                        <a:buNone/>
                      </a:pPr>
                      <a:r>
                        <a:rPr sz="2000" b="0" lang="ja-JP">
                          <a:solidFill>
                            <a:srgbClr val="111111"/>
                          </a:solidFill>
                          <a:latin typeface="游ゴシック"/>
                          <a:ea typeface="游ゴシック"/>
                        </a:rPr>
                        <a:t>カウントの安定</a:t>
                      </a:r>
                    </a:p>
                  </a:txBody>
                  <a:tcPr marL="118872" marR="91440" marT="64008" marB="36576" anchor="ctr">
                    <a:solidFill>
                      <a:srgbClr val="FFFFFF"/>
                    </a:solidFill>
                    <a:lnL w="7000">
                      <a:solidFill>
                        <a:srgbClr val="BFBFBF"/>
                      </a:solidFill>
                    </a:lnL>
                    <a:lnR w="7000">
                      <a:solidFill>
                        <a:srgbClr val="BFBFBF"/>
                      </a:solidFill>
                    </a:lnR>
                    <a:lnT w="7000">
                      <a:solidFill>
                        <a:srgbClr val="BFBFBF"/>
                      </a:solidFill>
                    </a:lnT>
                    <a:lnB w="7000">
                      <a:solidFill>
                        <a:srgbClr val="BFBFBF"/>
                      </a:solidFill>
                    </a:lnB>
                  </a:tcPr>
                </a:tc>
                <a:tc>
                  <a:txBody>
                    <a:bodyPr wrap="square" lIns="0" rIns="0" tIns="0" bIns="0">
                      <a:noAutofit/>
                    </a:bodyPr>
                    <a:lstStyle/>
                    <a:p>
                      <a:pPr algn="l">
                        <a:lnSpc>
                          <a:spcPct val="112000"/>
                        </a:lnSpc>
                        <a:spcAft>
                          <a:spcPts val="0"/>
                        </a:spcAft>
                        <a:buNone/>
                      </a:pPr>
                      <a:r>
                        <a:rPr sz="2000" b="0" lang="ja-JP">
                          <a:solidFill>
                            <a:srgbClr val="111111"/>
                          </a:solidFill>
                          <a:latin typeface="游ゴシック"/>
                          <a:ea typeface="游ゴシック"/>
                        </a:rPr>
                        <a:t>同じB/S/Oが連続2観測以上</a:t>
                      </a:r>
                    </a:p>
                  </a:txBody>
                  <a:tcPr marL="118872" marR="91440" marT="64008" marB="36576" anchor="ctr">
                    <a:solidFill>
                      <a:srgbClr val="FFFFFF"/>
                    </a:solidFill>
                    <a:lnL w="7000">
                      <a:solidFill>
                        <a:srgbClr val="BFBFBF"/>
                      </a:solidFill>
                    </a:lnL>
                    <a:lnR w="7000">
                      <a:solidFill>
                        <a:srgbClr val="BFBFBF"/>
                      </a:solidFill>
                    </a:lnR>
                    <a:lnT w="7000">
                      <a:solidFill>
                        <a:srgbClr val="BFBFBF"/>
                      </a:solidFill>
                    </a:lnT>
                    <a:lnB w="7000">
                      <a:solidFill>
                        <a:srgbClr val="BFBFBF"/>
                      </a:solidFill>
                    </a:lnB>
                  </a:tcPr>
                </a:tc>
              </a:tr>
              <a:tr h="484632">
                <a:tc>
                  <a:txBody>
                    <a:bodyPr wrap="square" lIns="0" rIns="0" tIns="0" bIns="0">
                      <a:noAutofit/>
                    </a:bodyPr>
                    <a:lstStyle/>
                    <a:p>
                      <a:pPr algn="l">
                        <a:lnSpc>
                          <a:spcPct val="112000"/>
                        </a:lnSpc>
                        <a:spcAft>
                          <a:spcPts val="0"/>
                        </a:spcAft>
                        <a:buNone/>
                      </a:pPr>
                      <a:r>
                        <a:rPr sz="2000" b="0" lang="ja-JP">
                          <a:solidFill>
                            <a:srgbClr val="111111"/>
                          </a:solidFill>
                          <a:latin typeface="游ゴシック"/>
                          <a:ea typeface="游ゴシック"/>
                        </a:rPr>
                        <a:t>数値計算</a:t>
                      </a:r>
                    </a:p>
                  </a:txBody>
                  <a:tcPr marL="118872" marR="91440" marT="64008" marB="36576" anchor="ctr">
                    <a:solidFill>
                      <a:srgbClr val="FFFFFF"/>
                    </a:solidFill>
                    <a:lnL w="7000">
                      <a:solidFill>
                        <a:srgbClr val="BFBFBF"/>
                      </a:solidFill>
                    </a:lnL>
                    <a:lnR w="7000">
                      <a:solidFill>
                        <a:srgbClr val="BFBFBF"/>
                      </a:solidFill>
                    </a:lnR>
                    <a:lnT w="7000">
                      <a:solidFill>
                        <a:srgbClr val="BFBFBF"/>
                      </a:solidFill>
                    </a:lnT>
                    <a:lnB w="7000">
                      <a:solidFill>
                        <a:srgbClr val="BFBFBF"/>
                      </a:solidFill>
                    </a:lnB>
                  </a:tcPr>
                </a:tc>
                <a:tc>
                  <a:txBody>
                    <a:bodyPr wrap="square" lIns="0" rIns="0" tIns="0" bIns="0">
                      <a:noAutofit/>
                    </a:bodyPr>
                    <a:lstStyle/>
                    <a:p>
                      <a:pPr algn="l">
                        <a:lnSpc>
                          <a:spcPct val="112000"/>
                        </a:lnSpc>
                        <a:spcAft>
                          <a:spcPts val="0"/>
                        </a:spcAft>
                        <a:buNone/>
                      </a:pPr>
                      <a:r>
                        <a:rPr sz="2000" b="0" lang="ja-JP">
                          <a:solidFill>
                            <a:srgbClr val="111111"/>
                          </a:solidFill>
                          <a:latin typeface="游ゴシック"/>
                          <a:ea typeface="游ゴシック"/>
                        </a:rPr>
                        <a:t>CPU ／ エンコーダーBF16・区間検出器FP32</a:t>
                      </a:r>
                    </a:p>
                  </a:txBody>
                  <a:tcPr marL="118872" marR="91440" marT="64008" marB="36576" anchor="ctr">
                    <a:solidFill>
                      <a:srgbClr val="FFFFFF"/>
                    </a:solidFill>
                    <a:lnL w="7000">
                      <a:solidFill>
                        <a:srgbClr val="BFBFBF"/>
                      </a:solidFill>
                    </a:lnL>
                    <a:lnR w="7000">
                      <a:solidFill>
                        <a:srgbClr val="BFBFBF"/>
                      </a:solidFill>
                    </a:lnR>
                    <a:lnT w="7000">
                      <a:solidFill>
                        <a:srgbClr val="BFBFBF"/>
                      </a:solidFill>
                    </a:lnT>
                    <a:lnB w="7000">
                      <a:solidFill>
                        <a:srgbClr val="BFBFBF"/>
                      </a:solidFill>
                    </a:lnB>
                  </a:tcPr>
                </a:tc>
              </a:tr>
            </a:tbl>
          </a:graphicData>
        </a:graphic>
      </p:graphicFrame>
      <p:sp>
        <p:nvSpPr>
          <p:cNvPr id="5" name="TextBox 4"/>
          <p:cNvSpPr txBox="1"/>
          <p:nvPr/>
        </p:nvSpPr>
        <p:spPr>
          <a:xfrm>
            <a:off x="838504" y="6318504"/>
            <a:ext cx="10515600" cy="365760"/>
          </a:xfrm>
          <a:prstGeom prst="rect">
            <a:avLst/>
          </a:prstGeom>
          <a:noFill/>
        </p:spPr>
        <p:txBody>
          <a:bodyPr wrap="square" lIns="0" rIns="0" tIns="0" bIns="0">
            <a:noAutofit/>
          </a:bodyPr>
          <a:lstStyle/>
          <a:p>
            <a:pPr algn="l">
              <a:lnSpc>
                <a:spcPct val="112000"/>
              </a:lnSpc>
              <a:spcAft>
                <a:spcPts val="1000"/>
              </a:spcAft>
              <a:buNone/>
            </a:pPr>
            <a:r>
              <a:rPr sz="2000" b="0" lang="ja-JP">
                <a:solidFill>
                  <a:srgbClr val="111111"/>
                </a:solidFill>
                <a:latin typeface="游ゴシック"/>
                <a:ea typeface="游ゴシック"/>
              </a:rPr>
              <a:t>B/S/O取得：541観測。取得できない時刻は、0で補っていない。</a:t>
            </a:r>
          </a:p>
        </p:txBody>
      </p:sp>
    </p:spTree>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407</TotalTime>
  <Words>1045</Words>
  <Application>Microsoft Office PowerPoint</Application>
  <PresentationFormat>ワイド画面</PresentationFormat>
  <Paragraphs>64</Paragraphs>
  <Slides>9</Slides>
  <Notes>9</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9</vt:i4>
      </vt:variant>
    </vt:vector>
  </HeadingPairs>
  <TitlesOfParts>
    <vt:vector size="13" baseType="lpstr">
      <vt:lpstr>游ゴシック</vt:lpstr>
      <vt:lpstr>游ゴシック Light</vt:lpstr>
      <vt:lpstr>Arial</vt:lpstr>
      <vt:lpstr>Office テーマ</vt:lpstr>
      <vt:lpstr>スコアボード認識と投球検出による野球イベント検出</vt:lpstr>
      <vt:lpstr>今週したこと</vt:lpstr>
      <vt:lpstr>2回表の2ストライク後のファウル</vt:lpstr>
      <vt:lpstr>4回表の2ストライク後のファウル</vt:lpstr>
      <vt:lpstr>4回表の誤検出のシーン</vt:lpstr>
      <vt:lpstr>8回ウラの誤検出のシーン</vt:lpstr>
      <vt:lpstr>4回ウラの2ストライク後のファウル</vt:lpstr>
      <vt:lpstr>5回表の2ストライク後のファウル</vt:lpstr>
      <vt:lpstr>来週すること</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スコアボード認識と投球検出による野球イベント検出 — 2026年10月30日</dc:title>
  <dc:creator>棚橋 悠</dc:creator>
  <cp:lastModifiedBy>棚橋 悠</cp:lastModifiedBy>
  <cp:revision>1</cp:revision>
  <dcterms:created xsi:type="dcterms:W3CDTF">2026-10-23T02:03:11Z</dcterms:created>
  <dcterms:modified xsi:type="dcterms:W3CDTF">2026-10-28T05:50:54Z</dcterms:modified>
  <dc:subject>YOLO・PaddleOCR・VideoMAEの統合と5回裏全体への適用</dc:subject>
  <cp:keywords>本編10枚、補足2枚、読み上げ用ノート付き</cp:keywords>
</cp:coreProperties>
</file>