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10"/>
    <p:sldId id="259" r:id="rId9"/>
    <p:sldId id="260" r:id="rId8"/>
    <p:sldId id="261" r:id="rId7"/>
    <p:sldId id="262" r:id="rId6"/>
    <p:sldId id="263" r:id="rId5"/>
    <p:sldId id="264" r:id="rId4"/>
    <p:sldId id="265" r:id="rId3"/>
    <p:sldId id="266" r:id="rId18"/>
    <p:sldId id="267" r:id="rId19"/>
    <p:sldId id="268" r:id="rId20"/>
    <p:sldId id="269"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BE2869-E403-47DB-89D0-83537AE937C6}" v="19" dt="2026-10-28T05:50:45.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131" autoAdjust="0"/>
  </p:normalViewPr>
  <p:slideViewPr>
    <p:cSldViewPr snapToGrid="0">
      <p:cViewPr varScale="1">
        <p:scale>
          <a:sx n="62" d="100"/>
          <a:sy n="62" d="100"/>
        </p:scale>
        <p:origin x="14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棚橋 悠" userId="f3c09411-34a9-4835-8e43-5684b6f51eff" providerId="ADAL" clId="{DED865D9-4E0A-4155-974A-B1204924A961}"/>
    <pc:docChg chg="custSel addSld delSld modSld">
      <pc:chgData name="棚橋 悠" userId="f3c09411-34a9-4835-8e43-5684b6f51eff" providerId="ADAL" clId="{DED865D9-4E0A-4155-974A-B1204924A961}" dt="2026-10-28T05:50:47.306" v="270" actId="47"/>
      <pc:docMkLst>
        <pc:docMk/>
      </pc:docMkLst>
      <pc:sldChg chg="addSp modSp modNotesTx">
        <pc:chgData name="棚橋 悠" userId="f3c09411-34a9-4835-8e43-5684b6f51eff" providerId="ADAL" clId="{DED865D9-4E0A-4155-974A-B1204924A961}" dt="2026-10-23T06:56:07.433" v="19" actId="20577"/>
        <pc:sldMkLst>
          <pc:docMk/>
          <pc:sldMk cId="3248727996" sldId="259"/>
        </pc:sldMkLst>
        <pc:spChg chg="mod">
          <ac:chgData name="棚橋 悠" userId="f3c09411-34a9-4835-8e43-5684b6f51eff" providerId="ADAL" clId="{DED865D9-4E0A-4155-974A-B1204924A961}" dt="2026-10-23T04:21:37.464" v="0"/>
          <ac:spMkLst>
            <pc:docMk/>
            <pc:sldMk cId="3248727996" sldId="259"/>
            <ac:spMk id="3" creationId="{993F4BF6-BEF4-BF6E-7FCF-9CCE590F1935}"/>
          </ac:spMkLst>
        </pc:spChg>
        <pc:picChg chg="add">
          <ac:chgData name="棚橋 悠" userId="f3c09411-34a9-4835-8e43-5684b6f51eff" providerId="ADAL" clId="{DED865D9-4E0A-4155-974A-B1204924A961}" dt="2026-10-23T04:22:03.145" v="1"/>
          <ac:picMkLst>
            <pc:docMk/>
            <pc:sldMk cId="3248727996" sldId="259"/>
            <ac:picMk id="5" creationId="{B122516F-ED5C-1973-B359-9DF2F04B9D2E}"/>
          </ac:picMkLst>
        </pc:picChg>
      </pc:sldChg>
      <pc:sldChg chg="addSp modSp modNotesTx">
        <pc:chgData name="棚橋 悠" userId="f3c09411-34a9-4835-8e43-5684b6f51eff" providerId="ADAL" clId="{DED865D9-4E0A-4155-974A-B1204924A961}" dt="2026-10-23T06:56:31.424" v="21" actId="20577"/>
        <pc:sldMkLst>
          <pc:docMk/>
          <pc:sldMk cId="518683289" sldId="260"/>
        </pc:sldMkLst>
        <pc:spChg chg="mod">
          <ac:chgData name="棚橋 悠" userId="f3c09411-34a9-4835-8e43-5684b6f51eff" providerId="ADAL" clId="{DED865D9-4E0A-4155-974A-B1204924A961}" dt="2026-10-23T04:46:17.443" v="2"/>
          <ac:spMkLst>
            <pc:docMk/>
            <pc:sldMk cId="518683289" sldId="260"/>
            <ac:spMk id="2" creationId="{A958D60C-C334-DF40-8091-65D2B325280A}"/>
          </ac:spMkLst>
        </pc:spChg>
        <pc:picChg chg="add">
          <ac:chgData name="棚橋 悠" userId="f3c09411-34a9-4835-8e43-5684b6f51eff" providerId="ADAL" clId="{DED865D9-4E0A-4155-974A-B1204924A961}" dt="2026-10-23T04:50:28.528" v="3"/>
          <ac:picMkLst>
            <pc:docMk/>
            <pc:sldMk cId="518683289" sldId="260"/>
            <ac:picMk id="5" creationId="{B86F0373-7813-8E3F-8E62-D021E83C8AAA}"/>
          </ac:picMkLst>
        </pc:picChg>
      </pc:sldChg>
      <pc:sldChg chg="addSp delSp modSp modNotesTx">
        <pc:chgData name="棚橋 悠" userId="f3c09411-34a9-4835-8e43-5684b6f51eff" providerId="ADAL" clId="{DED865D9-4E0A-4155-974A-B1204924A961}" dt="2026-10-23T06:56:51.585" v="27" actId="20577"/>
        <pc:sldMkLst>
          <pc:docMk/>
          <pc:sldMk cId="3320858306" sldId="261"/>
        </pc:sldMkLst>
        <pc:picChg chg="add mod">
          <ac:chgData name="棚橋 悠" userId="f3c09411-34a9-4835-8e43-5684b6f51eff" providerId="ADAL" clId="{DED865D9-4E0A-4155-974A-B1204924A961}" dt="2026-10-23T04:51:01.133" v="4"/>
          <ac:picMkLst>
            <pc:docMk/>
            <pc:sldMk cId="3320858306" sldId="261"/>
            <ac:picMk id="5" creationId="{DF7ECB40-15F1-919E-B22F-D24E75141D09}"/>
          </ac:picMkLst>
        </pc:picChg>
      </pc:sldChg>
      <pc:sldChg chg="addSp modSp modNotesTx">
        <pc:chgData name="棚橋 悠" userId="f3c09411-34a9-4835-8e43-5684b6f51eff" providerId="ADAL" clId="{DED865D9-4E0A-4155-974A-B1204924A961}" dt="2026-10-23T06:57:51.307" v="34" actId="20577"/>
        <pc:sldMkLst>
          <pc:docMk/>
          <pc:sldMk cId="3261200730" sldId="262"/>
        </pc:sldMkLst>
        <pc:spChg chg="mod">
          <ac:chgData name="棚橋 悠" userId="f3c09411-34a9-4835-8e43-5684b6f51eff" providerId="ADAL" clId="{DED865D9-4E0A-4155-974A-B1204924A961}" dt="2026-10-23T05:06:58.692" v="5"/>
          <ac:spMkLst>
            <pc:docMk/>
            <pc:sldMk cId="3261200730" sldId="262"/>
            <ac:spMk id="2" creationId="{36280A13-882F-3F19-F41A-DE9B5AD25B3F}"/>
          </ac:spMkLst>
        </pc:spChg>
        <pc:picChg chg="add">
          <ac:chgData name="棚橋 悠" userId="f3c09411-34a9-4835-8e43-5684b6f51eff" providerId="ADAL" clId="{DED865D9-4E0A-4155-974A-B1204924A961}" dt="2026-10-23T05:12:06.592" v="6"/>
          <ac:picMkLst>
            <pc:docMk/>
            <pc:sldMk cId="3261200730" sldId="262"/>
            <ac:picMk id="5" creationId="{5D939A76-AD5E-5385-4D74-04C0E3430B93}"/>
          </ac:picMkLst>
        </pc:picChg>
      </pc:sldChg>
      <pc:sldChg chg="addSp modSp modNotesTx">
        <pc:chgData name="棚橋 悠" userId="f3c09411-34a9-4835-8e43-5684b6f51eff" providerId="ADAL" clId="{DED865D9-4E0A-4155-974A-B1204924A961}" dt="2026-10-23T09:00:49.246" v="268" actId="20577"/>
        <pc:sldMkLst>
          <pc:docMk/>
          <pc:sldMk cId="240626316" sldId="263"/>
        </pc:sldMkLst>
        <pc:spChg chg="mod">
          <ac:chgData name="棚橋 悠" userId="f3c09411-34a9-4835-8e43-5684b6f51eff" providerId="ADAL" clId="{DED865D9-4E0A-4155-974A-B1204924A961}" dt="2026-10-23T05:42:56.319" v="7"/>
          <ac:spMkLst>
            <pc:docMk/>
            <pc:sldMk cId="240626316" sldId="263"/>
            <ac:spMk id="2" creationId="{132D0B27-DE30-521B-F3B4-6E267DC0694F}"/>
          </ac:spMkLst>
        </pc:spChg>
        <pc:spChg chg="mod">
          <ac:chgData name="棚橋 悠" userId="f3c09411-34a9-4835-8e43-5684b6f51eff" providerId="ADAL" clId="{DED865D9-4E0A-4155-974A-B1204924A961}" dt="2026-10-23T05:45:52.141" v="9"/>
          <ac:spMkLst>
            <pc:docMk/>
            <pc:sldMk cId="240626316" sldId="263"/>
            <ac:spMk id="3" creationId="{55E2C91E-31E6-BBA5-5A12-7E19B05716A1}"/>
          </ac:spMkLst>
        </pc:spChg>
        <pc:picChg chg="add">
          <ac:chgData name="棚橋 悠" userId="f3c09411-34a9-4835-8e43-5684b6f51eff" providerId="ADAL" clId="{DED865D9-4E0A-4155-974A-B1204924A961}" dt="2026-10-23T05:46:52.219" v="10"/>
          <ac:picMkLst>
            <pc:docMk/>
            <pc:sldMk cId="240626316" sldId="263"/>
            <ac:picMk id="5" creationId="{0105924B-C93B-D457-CEB6-5DA4864588FF}"/>
          </ac:picMkLst>
        </pc:picChg>
      </pc:sldChg>
      <pc:sldChg chg="modSp modNotesTx">
        <pc:chgData name="棚橋 悠" userId="f3c09411-34a9-4835-8e43-5684b6f51eff" providerId="ADAL" clId="{DED865D9-4E0A-4155-974A-B1204924A961}" dt="2026-10-23T06:57:18.266" v="33" actId="20577"/>
        <pc:sldMkLst>
          <pc:docMk/>
          <pc:sldMk cId="1926280842" sldId="265"/>
        </pc:sldMkLst>
        <pc:spChg chg="mod">
          <ac:chgData name="棚橋 悠" userId="f3c09411-34a9-4835-8e43-5684b6f51eff" providerId="ADAL" clId="{DED865D9-4E0A-4155-974A-B1204924A961}" dt="2026-10-23T06:42:38.632" v="11"/>
          <ac:spMkLst>
            <pc:docMk/>
            <pc:sldMk cId="1926280842" sldId="265"/>
            <ac:spMk id="2" creationId="{408EB29E-58D0-5B07-6649-20EF26D1BFE1}"/>
          </ac:spMkLst>
        </pc:spChg>
      </pc:sldChg>
      <pc:sldChg chg="add del">
        <pc:chgData name="棚橋 悠" userId="f3c09411-34a9-4835-8e43-5684b6f51eff" providerId="ADAL" clId="{DED865D9-4E0A-4155-974A-B1204924A961}" dt="2026-10-28T05:50:47.306" v="270" actId="47"/>
        <pc:sldMkLst>
          <pc:docMk/>
          <pc:sldMk cId="231164087"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11F1D5-E74B-45F3-85C5-E5DB6784AACD}"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09318C-E642-4546-9687-319ACDBB0ECC}" type="slidenum">
              <a:rPr kumimoji="1" lang="ja-JP" altLang="en-US" smtClean="0"/>
              <a:t>‹#›</a:t>
            </a:fld>
            <a:endParaRPr kumimoji="1" lang="ja-JP" altLang="en-US"/>
          </a:p>
        </p:txBody>
      </p:sp>
    </p:spTree>
    <p:extLst>
      <p:ext uri="{BB962C8B-B14F-4D97-AF65-F5344CB8AC3E}">
        <p14:creationId xmlns:p14="http://schemas.microsoft.com/office/powerpoint/2010/main" val="200177667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今週は、これまでに実装してきたスコアボード認識と投球区間の検出を、5回裏の同じ動画全体に適用しました。今回は、全部を適用してどのような状況を投球に対応付けられたかと、そこで残った課題を報告します。</a:t>
            </a:r>
          </a:p>
        </p:txBody>
      </p:sp>
      <p:sp>
        <p:nvSpPr>
          <p:cNvPr id="4" name="スライド番号プレースホルダー 3"/>
          <p:cNvSpPr>
            <a:spLocks noGrp="1"/>
          </p:cNvSpPr>
          <p:nvPr>
            <p:ph type="sldNum" sz="quarter" idx="5"/>
          </p:nvPr>
        </p:nvSpPr>
        <p:spPr/>
        <p:txBody>
          <a:bodyPr/>
          <a:lstStyle/>
          <a:p>
            <a:fld id="{5318FE2C-F947-4DA5-B094-AF85F882C6C1}" type="slidenum">
              <a:rPr kumimoji="1" lang="ja-JP" altLang="en-US" smtClean="0"/>
              <a:t>1</a:t>
            </a:fld>
            <a:endParaRPr kumimoji="1" lang="ja-JP" altLang="en-US"/>
          </a:p>
        </p:txBody>
      </p:sp>
    </p:spTree>
    <p:extLst>
      <p:ext uri="{BB962C8B-B14F-4D97-AF65-F5344CB8AC3E}">
        <p14:creationId xmlns:p14="http://schemas.microsoft.com/office/powerpoint/2010/main" val="217327575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これまでは、YOLOでカウントと走者を検出し、PaddleOCRでイニングと得点を認識してきました。9月には、表示の変化を使ったイベントの推定とCSVへの出力も行っています。その後、VideoMAEの特徴量とCompact ActionFormerを使い、投球区間を確認してきました。今週は、これらの処理を5回裏全体にまとめて適用し、投球候補と、カウント、走者、回、得点を同じ動画の時刻で対応付けました。投球と各状況を一緒に照合した結果が、今回の報告の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対象は5ura.mp4の全体、530.2秒です。既存の学習済みモデルを使い、今回の動画での追加学習はしていません。YOLOでB/S/Oと走者、PaddleOCRで回と得点を読み、VideoMAEとCompact ActionFormerで投球区間の候補を出しました。投球候補の前後で同じB/S/Oが連続して得られる範囲を探し、状況を対応付けました。現行の照合では、投球後に最初に得られた安定状態を使っています。この表示の採用時刻が、後で説明する課題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適用結果です。投球区間の候補は65区間で、重なりを表示上まとめると34候補群でした。34は実際の投球数を確定した値ではありません。上から、投球区間候補、B/S/O、走者、得点を同じ時刻で並べています。走者欄の黄色はあり、灰色はなしと認識した時刻で、白は未取得です。このように、投球だけでなく、その付近の試合状況も同じ時系列で追える形にしました。読み取れない場所は、0や走者なし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候補群のうち、前後のB/S/Oを照合できたものは11候補群でした。そのうち9候補群では、B/S/Oに加えて、回と表裏、両チームの得点、各塁の走者の認識値も前後で揃いました。残りの2候補群は、OCRの項目が一部取得できていません。前後のB/S/Oが不足したものは23候補群でした。これは、全処理を適用したときに必要な項目が揃った数であり、9候補群で正しくイベントを判定できた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項目を対応付けた例です。293.11秒から294.85秒に投球候補があり、その前後は5回裏、0対0、一塁走者あり、2アウトという状況でした。投球前の291.5秒では2ボール0ストライク、投球後に表示を取得した297.5秒では2ボール1ストライクです。回、得点、走者が変わらず、ストライク表示が増えたことを、この投球候補に対応付けられました。投球区間だけを出す場合や、表示の変化だけを見る場合よりも、どの状況の投球で表示が変わったかまで記録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別の例では、候補26の区間内にある367.0秒で、5回裏、0対0、3ボール2ストライク2アウト、二塁走者ありという値を取得しました。一方、候補31の直後の436.5秒では、5回裏、0対1、0ボール0ストライク2アウト、一塁走者ありでした。得点だけでなく、投球候補と、その付近のカウントや走者を一緒に記録できています。ただし、間の表示が不足しているため、候補26が得点につながった投球だった、あるいは何秒で得点した、という対応までは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月に考えた、2ストライクで投球の前後の状況が変わらない場面という条件を、今回は検出した投球区間の前後に適用しました。現行の最初の安定状態を使う照合では、113.41秒から115.02秒と、155.31秒から157.27秒の2候補群が、B/S/O不変として残りました。どちらも0ボール2ストライク1アウトです。ただし、これは自動処理が確認対象として残した数で、ファウルを2件正しく検出できたという意味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候補11について、投球後の表示を続けて確認しました。投球前の154.5秒と、直後の158.0秒は、どちらも0ボール2ストライク1アウトです。しかし、その後の161.5秒では、1ボール2ストライク1アウトを取得しています。元の照合は、158.0秒から158.5秒の最初の安定状態を採用したため、不変と整理されていました。同じ認識記録でも、その後の値を確認すると、ボールが増えた状態になります。このため、直後の古い表示で判定していないかを確認する必要があります。認識値の違いを示したもので、実際の投球結果の正解判定は別に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週新たに確認した点は、投球区間に、カウント、走者、回、得点をまとめて付与できたことです。前後の全項目が揃ったのは9候補群でした。また、表示変化の時刻だけではなく、それに対応する投球候補まで示せるようになりました。一方、前後の表示が不足する23候補群があり、取得できても採用する時刻によって不変という整理が変わる例がありました。各認識処理の結果を並べるだけでなく、どの時点の表示を投球に対応付けるかが、イベント判定に必要だと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5回裏全体に、実際の投球区間と、ファウルなどの結果の正解注釈を付けます。そのうえで、表示の更新や再表示を待つ方法と、前後の採用値の決め方を検討します。投球区間の見逃しや誤検出の評価と、その投球へ正しい状況や結果を対応付けたかの評価は分けて行います。今回の動画を使った調整の後には、別の動画でも確認します。今週は、全部を適用した結果を取得する段階から、投球と状況の対応付けを評価するための具体的な課題まで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ほかの全項目が揃った例では、19.86秒から22.01秒と、44.07秒から46.34秒に対応してストライク表示が増え、33.66秒から35.91秒ではボール表示が増えました。前後のB/S/Oを照合できた11候補群の内訳は、ストライク表示増加3、ボール表示増加1、2ストライク未満で不変5、2ストライクで不変2です。最後の不変2は元の最初の安定状態を使った整理で、後の時刻を追うと候補11ではボール表示が増えています。これは結果の一貫性を調べた追加確認で、正解注釈に基づく分類精度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月には静止画上のカウントや走者を対象に適合率と再現率を確認しました。10月の短編10動画24球では、目視の参考区間に対する選んだ投球候補の平均tIoUが0.711でした。今回の9候補群や23候補群は、同じ動画に全処理を適用したときの項目の取得状況を数えたものです。対象や数えているものが異なるため、前の精度より良くなったか悪くなったかは比較できません。今回の正解注釈を作り、投球区間とイベントの対応付けをそれぞれ評価する必要があり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69C2F7-32A7-E77D-FF89-AEB39C10344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900B1C6-8266-7636-2BBB-5B1E796A10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6295C5E-634A-BC18-9431-03C076813920}"/>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761E5B27-8E78-98A3-3DF9-AA87D46AF2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A0144E-1D81-9787-A84B-A9BB5101374A}"/>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425214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C46081-6D08-89DC-F2BB-AFB1AA9E59C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E9D522-28F3-567C-38FC-5A83558FC6B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03D133A-AEA8-E84E-0074-C44808188044}"/>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4C30F6DF-734E-7FAF-7A84-435456ACDD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7C636B-F67B-2B5C-C9D2-31E9937AC93D}"/>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3233790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8EA028-BF06-B8C9-36B3-81F30E60961A}"/>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2474DC-44B6-4A6B-3207-D65FFBE897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CAC68B4-5F82-D34C-E554-E9FF46A646D5}"/>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8FEF8979-440B-3283-E884-694F6569B5A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CB13F6-3F3E-4B82-5DCD-A6D29C9AB436}"/>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2676003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4E7875-0E5F-028A-88E4-C9598B26FA2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96DBAEE-3523-B4BE-3DC9-9CC01F1E65F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D305D08-F027-9C45-51A9-6F414AE725A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86AD949-D9EA-285D-2C61-F5962E3A4DA7}"/>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6" name="フッター プレースホルダー 5">
            <a:extLst>
              <a:ext uri="{FF2B5EF4-FFF2-40B4-BE49-F238E27FC236}">
                <a16:creationId xmlns:a16="http://schemas.microsoft.com/office/drawing/2014/main" id="{5F048EC2-8399-00EE-CF05-CFB49C138B2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785F390-05B4-82BE-C568-9F526A2D40C3}"/>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2158946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BEACA1-6C9C-9F7B-2052-A3968C9D6A8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7844591-B8E4-696B-39AB-50B33B042B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37212C0-50F2-D17F-D8CA-0A2EF52941D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20E4089-1298-5F02-9DF6-57342C5837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5A97BBA-81FF-7770-1280-B597C004A1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B2938882-06E9-F165-48CA-EE710557409D}"/>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8" name="フッター プレースホルダー 7">
            <a:extLst>
              <a:ext uri="{FF2B5EF4-FFF2-40B4-BE49-F238E27FC236}">
                <a16:creationId xmlns:a16="http://schemas.microsoft.com/office/drawing/2014/main" id="{1D334443-9F0C-E088-615F-FC339749AF6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45D031A-9544-3674-DDED-19E6187A9D61}"/>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1187262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622EEA-B043-888A-BA74-84BB885744D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B93EF72-DF15-FAD0-E4A7-6E54B26A3813}"/>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4" name="フッター プレースホルダー 3">
            <a:extLst>
              <a:ext uri="{FF2B5EF4-FFF2-40B4-BE49-F238E27FC236}">
                <a16:creationId xmlns:a16="http://schemas.microsoft.com/office/drawing/2014/main" id="{296B4984-8CE5-B5D7-4990-6A789BE5B33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6727F94-0B3E-7FD7-1CBE-AB73B3EB0AB8}"/>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1465893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28AEA0A-BB00-9A3A-CECC-04E1444942A4}"/>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3" name="フッター プレースホルダー 2">
            <a:extLst>
              <a:ext uri="{FF2B5EF4-FFF2-40B4-BE49-F238E27FC236}">
                <a16:creationId xmlns:a16="http://schemas.microsoft.com/office/drawing/2014/main" id="{4254C64C-3CDF-FE97-681F-75F41DBA8C6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07302B4-CAA2-E904-34C5-BC9FD68A30AC}"/>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3410848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BBFB6C-7E87-C45E-FFF3-01F76E99B06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17F6483-0005-FCB6-DE1F-D7F35ED151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060B0F9-D639-7D7C-BD93-B61335313A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B0C63F1-B7AE-8557-4D1A-85D0610B53F8}"/>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6" name="フッター プレースホルダー 5">
            <a:extLst>
              <a:ext uri="{FF2B5EF4-FFF2-40B4-BE49-F238E27FC236}">
                <a16:creationId xmlns:a16="http://schemas.microsoft.com/office/drawing/2014/main" id="{016D7DA5-5F02-C004-FE74-286D19F9BEE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1EDA062-F436-B9D9-A584-2D7EFE891BE3}"/>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3252831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2CD828-6C5E-0D92-FD28-FCEE37FA10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7B9AB6F-BFA1-9133-6714-3954CC6877A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132F5A7-BC59-603B-0694-00FF16BAE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B655756-3546-A3D1-0E3C-F3C454AEC38B}"/>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6" name="フッター プレースホルダー 5">
            <a:extLst>
              <a:ext uri="{FF2B5EF4-FFF2-40B4-BE49-F238E27FC236}">
                <a16:creationId xmlns:a16="http://schemas.microsoft.com/office/drawing/2014/main" id="{3A2AE3AA-992F-CF1F-E679-50893F7E41F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A2BB58C-BCE9-E721-E438-E7B433809FE2}"/>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2056219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E5A192-9651-912F-B5D3-257E3ED7BA8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D00C90-F3E2-1A15-0344-684E216E34E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8CCFFF9-F9C2-0B17-0F54-70E3A2FB53FB}"/>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CC3215A8-C079-2557-D2C2-B54AC6D13A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F1F95C-920E-F31F-B069-039C73B60FDA}"/>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1500216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DF7A6D4-B82D-BC03-0623-B78B1AB6250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CE3B51F-C567-44B3-BC1F-92D495C3F26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EDFE21-2853-AB31-0BCA-4899A0795574}"/>
              </a:ext>
            </a:extLst>
          </p:cNvPr>
          <p:cNvSpPr>
            <a:spLocks noGrp="1"/>
          </p:cNvSpPr>
          <p:nvPr>
            <p:ph type="dt" sz="half" idx="10"/>
          </p:nvPr>
        </p:nvSpPr>
        <p:spPr/>
        <p:txBody>
          <a:body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435CEDD9-CC60-F519-BE56-8D67246466B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480AE5-6D29-55C1-8C1E-9776E7B13496}"/>
              </a:ext>
            </a:extLst>
          </p:cNvPr>
          <p:cNvSpPr>
            <a:spLocks noGrp="1"/>
          </p:cNvSpPr>
          <p:nvPr>
            <p:ph type="sldNum" sz="quarter" idx="12"/>
          </p:nvPr>
        </p:nvSpPr>
        <p:spPr/>
        <p:txBody>
          <a:body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6417737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E28B1A-3E60-681A-B458-1B3B4AD045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C92784F-7EB8-5402-A44B-B425DFDC7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323E6AC-8F3F-A0D6-0078-BC58297EE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9CD4CD-63DC-47E3-9026-82609E09E688}" type="datetimeFigureOut">
              <a:rPr kumimoji="1" lang="ja-JP" altLang="en-US" smtClean="0"/>
              <a:t>2026/10/28</a:t>
            </a:fld>
            <a:endParaRPr kumimoji="1" lang="ja-JP" altLang="en-US"/>
          </a:p>
        </p:txBody>
      </p:sp>
      <p:sp>
        <p:nvSpPr>
          <p:cNvPr id="5" name="フッター プレースホルダー 4">
            <a:extLst>
              <a:ext uri="{FF2B5EF4-FFF2-40B4-BE49-F238E27FC236}">
                <a16:creationId xmlns:a16="http://schemas.microsoft.com/office/drawing/2014/main" id="{FD77183C-FB49-4729-5983-A6BBEF71E7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FF78425-F716-1C3A-F7F6-E10F31CBD6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93102B-6B7E-479D-9673-218ADEF0265B}" type="slidenum">
              <a:rPr kumimoji="1" lang="ja-JP" altLang="en-US" smtClean="0"/>
              <a:t>‹#›</a:t>
            </a:fld>
            <a:endParaRPr kumimoji="1" lang="ja-JP" altLang="en-US"/>
          </a:p>
        </p:txBody>
      </p:sp>
    </p:spTree>
    <p:extLst>
      <p:ext uri="{BB962C8B-B14F-4D97-AF65-F5344CB8AC3E}">
        <p14:creationId xmlns:p14="http://schemas.microsoft.com/office/powerpoint/2010/main" val="3410974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030126-9B1A-C5A7-9268-0D4073AE0F8B}"/>
              </a:ext>
            </a:extLst>
          </p:cNvPr>
          <p:cNvSpPr>
            <a:spLocks noGrp="1"/>
          </p:cNvSpPr>
          <p:nvPr>
            <p:ph type="ctrTitle"/>
          </p:nvPr>
        </p:nvSpPr>
        <p:spPr/>
        <p:txBody>
          <a:bodyPr>
            <a:normAutofit fontScale="90000"/>
          </a:bodyPr>
          <a:lstStyle/>
          <a:p>
            <a:r>
              <a:rPr lang="ja-JP" altLang="ja-JP" dirty="0"/>
              <a:t>スコアボード</a:t>
            </a:r>
            <a:r>
              <a:rPr lang="ja-JP" altLang="en-US" dirty="0"/>
              <a:t>認識と投球検出</a:t>
            </a:r>
            <a:r>
              <a:rPr lang="ja-JP" altLang="ja-JP" dirty="0"/>
              <a:t>による野球</a:t>
            </a:r>
            <a:r>
              <a:rPr lang="ja-JP" altLang="en-US" dirty="0"/>
              <a:t>イベント検出</a:t>
            </a:r>
            <a:endParaRPr kumimoji="1" lang="ja-JP" altLang="en-US" dirty="0"/>
          </a:p>
        </p:txBody>
      </p:sp>
      <p:sp>
        <p:nvSpPr>
          <p:cNvPr id="3" name="字幕 2">
            <a:extLst>
              <a:ext uri="{FF2B5EF4-FFF2-40B4-BE49-F238E27FC236}">
                <a16:creationId xmlns:a16="http://schemas.microsoft.com/office/drawing/2014/main" id="{FEF54972-8310-AAD1-B9A6-00AE02AF2D4A}"/>
              </a:ext>
            </a:extLst>
          </p:cNvPr>
          <p:cNvSpPr>
            <a:spLocks noGrp="1"/>
          </p:cNvSpPr>
          <p:nvPr>
            <p:ph type="subTitle" idx="1"/>
          </p:nvPr>
        </p:nvSpPr>
        <p:spPr>
          <a:xfrm>
            <a:off x="1536357" y="3602038"/>
            <a:ext cx="9144000" cy="1655762"/>
          </a:xfrm>
        </p:spPr>
        <p:txBody>
          <a:bodyPr wrap="square" lIns="0" rIns="0" tIns="0" bIns="0">
            <a:noAutofit/>
          </a:bodyPr>
          <a:lstStyle/>
          <a:p>
            <a:pPr algn="ctr">
              <a:lnSpc>
                <a:spcPct val="112000"/>
              </a:lnSpc>
              <a:spcAft>
                <a:spcPts val="1000"/>
              </a:spcAft>
              <a:buNone/>
            </a:pPr>
            <a:r>
              <a:rPr sz="2400" b="0" lang="ja-JP">
                <a:solidFill>
                  <a:srgbClr val="111111"/>
                </a:solidFill>
                <a:latin typeface="游ゴシック"/>
                <a:ea typeface="游ゴシック"/>
              </a:rPr>
              <a:t>37023492 棚橋 悠</a:t>
            </a:r>
          </a:p>
          <a:p>
            <a:pPr algn="ctr">
              <a:lnSpc>
                <a:spcPct val="112000"/>
              </a:lnSpc>
              <a:spcAft>
                <a:spcPts val="1000"/>
              </a:spcAft>
              <a:buNone/>
            </a:pPr>
            <a:r>
              <a:rPr sz="2400" b="0" lang="ja-JP">
                <a:solidFill>
                  <a:srgbClr val="111111"/>
                </a:solidFill>
                <a:latin typeface="游ゴシック"/>
                <a:ea typeface="游ゴシック"/>
              </a:rPr>
              <a:t>2026年10月30日</a:t>
            </a:r>
          </a:p>
        </p:txBody>
      </p:sp>
    </p:spTree>
    <p:extLst>
      <p:ext uri="{BB962C8B-B14F-4D97-AF65-F5344CB8AC3E}">
        <p14:creationId xmlns:p14="http://schemas.microsoft.com/office/powerpoint/2010/main" val="3811169503"/>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これまでの研究と今週の位置付け</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2</a:t>
            </a:r>
          </a:p>
        </p:txBody>
      </p:sp>
      <p:graphicFrame>
        <p:nvGraphicFramePr>
          <p:cNvPr id="4" name="Table 3"/>
          <p:cNvGraphicFramePr>
            <a:graphicFrameLocks noGrp="1"/>
          </p:cNvGraphicFramePr>
          <p:nvPr/>
        </p:nvGraphicFramePr>
        <p:xfrm>
          <a:off x="838504" y="1856231"/>
          <a:ext cx="10515600" cy="2962656"/>
        </p:xfrm>
        <a:graphic>
          <a:graphicData uri="http://schemas.openxmlformats.org/drawingml/2006/table">
            <a:tbl>
              <a:tblPr firstRow="1" bandRow="1">
                <a:tableStyleId>{5C22544A-7EE6-4342-B048-85BDC9FD1C3A}</a:tableStyleId>
              </a:tblPr>
              <a:tblGrid>
                <a:gridCol w="1828800"/>
                <a:gridCol w="3657600"/>
                <a:gridCol w="5029200"/>
              </a:tblGrid>
              <a:tr h="740664">
                <a:tc>
                  <a:txBody>
                    <a:bodyPr wrap="square" lIns="0" rIns="0" tIns="0" bIns="0">
                      <a:noAutofit/>
                    </a:bodyPr>
                    <a:lstStyle/>
                    <a:p>
                      <a:pPr algn="l">
                        <a:lnSpc>
                          <a:spcPct val="112000"/>
                        </a:lnSpc>
                        <a:spcAft>
                          <a:spcPts val="0"/>
                        </a:spcAft>
                        <a:buNone/>
                      </a:pPr>
                      <a:r>
                        <a:rPr sz="2400" b="1" lang="ja-JP">
                          <a:solidFill>
                            <a:srgbClr val="111111"/>
                          </a:solidFill>
                          <a:latin typeface="游ゴシック"/>
                          <a:ea typeface="游ゴシック"/>
                        </a:rPr>
                        <a:t>時期</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1" lang="ja-JP">
                          <a:solidFill>
                            <a:srgbClr val="111111"/>
                          </a:solidFill>
                          <a:latin typeface="游ゴシック"/>
                          <a:ea typeface="游ゴシック"/>
                        </a:rPr>
                        <a:t>取り組んだ処理</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1" lang="ja-JP">
                          <a:solidFill>
                            <a:srgbClr val="111111"/>
                          </a:solidFill>
                          <a:latin typeface="游ゴシック"/>
                          <a:ea typeface="游ゴシック"/>
                        </a:rPr>
                        <a:t>確認してきたこと</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r>
              <a:tr h="740664">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5〜9月</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YOLO ＋ PaddleOCR</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表示の認識とCSV化</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740664">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10月</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VideoMAE ＋ 区間検出</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短編10動画24球の投球区間</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740664">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今週</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全処理を統合適用</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投球と各状況の対応付け</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r>
            </a:tbl>
          </a:graphicData>
        </a:graphic>
      </p:graphicFrame>
      <p:sp>
        <p:nvSpPr>
          <p:cNvPr id="5" name="TextBox 4"/>
          <p:cNvSpPr txBox="1"/>
          <p:nvPr/>
        </p:nvSpPr>
        <p:spPr>
          <a:xfrm>
            <a:off x="838504" y="5148072"/>
            <a:ext cx="10515600" cy="1143000"/>
          </a:xfrm>
          <a:prstGeom prst="rect">
            <a:avLst/>
          </a:prstGeom>
          <a:noFill/>
        </p:spPr>
        <p:txBody>
          <a:bodyPr wrap="square" lIns="0" rIns="0" tIns="0" bIns="0">
            <a:noAutofit/>
          </a:bodyPr>
          <a:lstStyle/>
          <a:p>
            <a:pPr algn="l">
              <a:lnSpc>
                <a:spcPct val="112000"/>
              </a:lnSpc>
              <a:spcAft>
                <a:spcPts val="1400"/>
              </a:spcAft>
              <a:buNone/>
            </a:pPr>
            <a:r>
              <a:rPr sz="2600" b="0" lang="ja-JP">
                <a:solidFill>
                  <a:srgbClr val="111111"/>
                </a:solidFill>
                <a:latin typeface="游ゴシック"/>
                <a:ea typeface="游ゴシック"/>
              </a:rPr>
              <a:t>• 対象は5回ウラ全体（530.2秒）</a:t>
            </a:r>
          </a:p>
          <a:p>
            <a:pPr algn="l">
              <a:lnSpc>
                <a:spcPct val="112000"/>
              </a:lnSpc>
              <a:spcAft>
                <a:spcPts val="1400"/>
              </a:spcAft>
              <a:buNone/>
            </a:pPr>
            <a:r>
              <a:rPr sz="2600" b="0" lang="ja-JP">
                <a:solidFill>
                  <a:srgbClr val="111111"/>
                </a:solidFill>
                <a:latin typeface="游ゴシック"/>
                <a:ea typeface="游ゴシック"/>
              </a:rPr>
              <a:t>• 各手法の確認から、投球と状況の対応付けの確認へ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今週まとめて適用した内容</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3</a:t>
            </a:r>
          </a:p>
        </p:txBody>
      </p:sp>
      <p:sp>
        <p:nvSpPr>
          <p:cNvPr id="4" name="TextBox 3"/>
          <p:cNvSpPr txBox="1"/>
          <p:nvPr/>
        </p:nvSpPr>
        <p:spPr>
          <a:xfrm>
            <a:off x="838504" y="1810512"/>
            <a:ext cx="10515600" cy="411480"/>
          </a:xfrm>
          <a:prstGeom prst="rect">
            <a:avLst/>
          </a:prstGeom>
          <a:noFill/>
        </p:spPr>
        <p:txBody>
          <a:bodyPr wrap="square" lIns="0" rIns="0" tIns="0" bIns="0">
            <a:noAutofit/>
          </a:bodyPr>
          <a:lstStyle/>
          <a:p>
            <a:pPr algn="l">
              <a:lnSpc>
                <a:spcPct val="112000"/>
              </a:lnSpc>
              <a:spcAft>
                <a:spcPts val="1000"/>
              </a:spcAft>
              <a:buNone/>
            </a:pPr>
            <a:r>
              <a:rPr sz="2600" b="0" lang="ja-JP">
                <a:solidFill>
                  <a:srgbClr val="111111"/>
                </a:solidFill>
                <a:latin typeface="游ゴシック"/>
                <a:ea typeface="游ゴシック"/>
              </a:rPr>
              <a:t>入力：5ura.mp4全体 ／ 30 fps ／ 追加学習なし</a:t>
            </a:r>
          </a:p>
        </p:txBody>
      </p:sp>
      <p:sp>
        <p:nvSpPr>
          <p:cNvPr id="5" name="Rectangle 4"/>
          <p:cNvSpPr/>
          <p:nvPr/>
        </p:nvSpPr>
        <p:spPr>
          <a:xfrm>
            <a:off x="868680" y="2697480"/>
            <a:ext cx="3200400" cy="1234440"/>
          </a:xfrm>
          <a:prstGeom prst="rect">
            <a:avLst/>
          </a:prstGeom>
          <a:solidFill>
            <a:srgbClr val="F5F5F5"/>
          </a:solidFill>
          <a:ln w="12700">
            <a:solidFill>
              <a:srgbClr val="777777"/>
            </a:solidFill>
          </a:ln>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ctr">
              <a:lnSpc>
                <a:spcPct val="112000"/>
              </a:lnSpc>
              <a:spcAft>
                <a:spcPts val="0"/>
              </a:spcAft>
              <a:buNone/>
            </a:pPr>
            <a:r>
              <a:rPr sz="2500" b="0" lang="ja-JP">
                <a:solidFill>
                  <a:srgbClr val="111111"/>
                </a:solidFill>
                <a:latin typeface="游ゴシック"/>
                <a:ea typeface="游ゴシック"/>
              </a:rPr>
              <a:t>YOLO</a:t>
            </a:r>
            <a:br/>
            <a:r>
              <a:rPr sz="2500" b="0" lang="ja-JP">
                <a:solidFill>
                  <a:srgbClr val="111111"/>
                </a:solidFill>
                <a:latin typeface="游ゴシック"/>
                <a:ea typeface="游ゴシック"/>
              </a:rPr>
              <a:t>B/S/O・各塁の走者</a:t>
            </a:r>
          </a:p>
        </p:txBody>
      </p:sp>
      <p:sp>
        <p:nvSpPr>
          <p:cNvPr id="6" name="Rectangle 5"/>
          <p:cNvSpPr/>
          <p:nvPr/>
        </p:nvSpPr>
        <p:spPr>
          <a:xfrm>
            <a:off x="4434840" y="2697480"/>
            <a:ext cx="3154680" cy="1234440"/>
          </a:xfrm>
          <a:prstGeom prst="rect">
            <a:avLst/>
          </a:prstGeom>
          <a:solidFill>
            <a:srgbClr val="F5F5F5"/>
          </a:solidFill>
          <a:ln w="12700">
            <a:solidFill>
              <a:srgbClr val="777777"/>
            </a:solidFill>
          </a:ln>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ctr">
              <a:lnSpc>
                <a:spcPct val="112000"/>
              </a:lnSpc>
              <a:spcAft>
                <a:spcPts val="0"/>
              </a:spcAft>
              <a:buNone/>
            </a:pPr>
            <a:r>
              <a:rPr sz="2400" b="0" lang="ja-JP">
                <a:solidFill>
                  <a:srgbClr val="111111"/>
                </a:solidFill>
                <a:latin typeface="游ゴシック"/>
                <a:ea typeface="游ゴシック"/>
              </a:rPr>
              <a:t>PaddleOCR</a:t>
            </a:r>
            <a:br/>
            <a:r>
              <a:rPr sz="2400" b="0" lang="ja-JP">
                <a:solidFill>
                  <a:srgbClr val="111111"/>
                </a:solidFill>
                <a:latin typeface="游ゴシック"/>
                <a:ea typeface="游ゴシック"/>
              </a:rPr>
              <a:t>回・表裏・両チーム得点</a:t>
            </a:r>
          </a:p>
        </p:txBody>
      </p:sp>
      <p:sp>
        <p:nvSpPr>
          <p:cNvPr id="7" name="Rectangle 6"/>
          <p:cNvSpPr/>
          <p:nvPr/>
        </p:nvSpPr>
        <p:spPr>
          <a:xfrm>
            <a:off x="8001000" y="2697480"/>
            <a:ext cx="3337560" cy="1234440"/>
          </a:xfrm>
          <a:prstGeom prst="rect">
            <a:avLst/>
          </a:prstGeom>
          <a:solidFill>
            <a:srgbClr val="F5F5F5"/>
          </a:solidFill>
          <a:ln w="12700">
            <a:solidFill>
              <a:srgbClr val="777777"/>
            </a:solidFill>
          </a:ln>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ctr">
              <a:lnSpc>
                <a:spcPct val="112000"/>
              </a:lnSpc>
              <a:spcAft>
                <a:spcPts val="0"/>
              </a:spcAft>
              <a:buNone/>
            </a:pPr>
            <a:r>
              <a:rPr sz="2100" b="0" lang="ja-JP">
                <a:solidFill>
                  <a:srgbClr val="111111"/>
                </a:solidFill>
                <a:latin typeface="游ゴシック"/>
                <a:ea typeface="游ゴシック"/>
              </a:rPr>
              <a:t>VideoMAE ＋</a:t>
            </a:r>
            <a:br/>
            <a:r>
              <a:rPr sz="2100" b="0" lang="ja-JP">
                <a:solidFill>
                  <a:srgbClr val="111111"/>
                </a:solidFill>
                <a:latin typeface="游ゴシック"/>
                <a:ea typeface="游ゴシック"/>
              </a:rPr>
              <a:t>Compact ActionFormer</a:t>
            </a:r>
            <a:br/>
            <a:r>
              <a:rPr sz="2100" b="0" lang="ja-JP">
                <a:solidFill>
                  <a:srgbClr val="111111"/>
                </a:solidFill>
                <a:latin typeface="游ゴシック"/>
                <a:ea typeface="游ゴシック"/>
              </a:rPr>
              <a:t>投球区間の候補</a:t>
            </a:r>
          </a:p>
        </p:txBody>
      </p:sp>
      <p:cxnSp>
        <p:nvCxnSpPr>
          <p:cNvPr id="8" name="Connector 7"/>
          <p:cNvCxnSpPr/>
          <p:nvPr/>
        </p:nvCxnSpPr>
        <p:spPr>
          <a:xfrm>
            <a:off x="4069080" y="3291840"/>
            <a:ext cx="365760" cy="0"/>
          </a:xfrm>
          <a:prstGeom prst="line">
            <a:avLst/>
          </a:prstGeom>
          <a:ln w="20320">
            <a:solidFill>
              <a:srgbClr val="555555"/>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68880" y="3931920"/>
            <a:ext cx="0" cy="347472"/>
          </a:xfrm>
          <a:prstGeom prst="line">
            <a:avLst/>
          </a:prstGeom>
          <a:ln w="2032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12180" y="3931920"/>
            <a:ext cx="0" cy="347472"/>
          </a:xfrm>
          <a:prstGeom prst="line">
            <a:avLst/>
          </a:prstGeom>
          <a:ln w="2032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69780" y="3931920"/>
            <a:ext cx="0" cy="347472"/>
          </a:xfrm>
          <a:prstGeom prst="line">
            <a:avLst/>
          </a:prstGeom>
          <a:ln w="2032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68880" y="4279392"/>
            <a:ext cx="7200900" cy="0"/>
          </a:xfrm>
          <a:prstGeom prst="line">
            <a:avLst/>
          </a:prstGeom>
          <a:ln w="2032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12180" y="4279392"/>
            <a:ext cx="0" cy="274320"/>
          </a:xfrm>
          <a:prstGeom prst="line">
            <a:avLst/>
          </a:prstGeom>
          <a:ln w="20320">
            <a:solidFill>
              <a:srgbClr val="555555"/>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68680" y="4553712"/>
            <a:ext cx="10469880" cy="777240"/>
          </a:xfrm>
          <a:prstGeom prst="rect">
            <a:avLst/>
          </a:prstGeom>
          <a:solidFill>
            <a:srgbClr val="FFFFFF"/>
          </a:solidFill>
          <a:ln w="12700">
            <a:solidFill>
              <a:srgbClr val="777777"/>
            </a:solidFill>
          </a:ln>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ctr">
              <a:lnSpc>
                <a:spcPct val="112000"/>
              </a:lnSpc>
              <a:spcAft>
                <a:spcPts val="0"/>
              </a:spcAft>
              <a:buNone/>
            </a:pPr>
            <a:r>
              <a:rPr sz="2600" b="0" lang="ja-JP">
                <a:solidFill>
                  <a:srgbClr val="111111"/>
                </a:solidFill>
                <a:latin typeface="游ゴシック"/>
                <a:ea typeface="游ゴシック"/>
              </a:rPr>
              <a:t>1候補ごとに、投球区間と前後の全項目を対応付ける</a:t>
            </a:r>
          </a:p>
        </p:txBody>
      </p:sp>
      <p:sp>
        <p:nvSpPr>
          <p:cNvPr id="15" name="TextBox 14"/>
          <p:cNvSpPr txBox="1"/>
          <p:nvPr/>
        </p:nvSpPr>
        <p:spPr>
          <a:xfrm>
            <a:off x="868680" y="5605272"/>
            <a:ext cx="10469880" cy="777240"/>
          </a:xfrm>
          <a:prstGeom prst="rect">
            <a:avLst/>
          </a:prstGeom>
          <a:noFill/>
        </p:spPr>
        <p: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B/S/Oが連続2観測で同じなら「安定」として採用</a:t>
            </a:r>
            <a:br/>
            <a:r>
              <a:rPr sz="2500" b="0" lang="ja-JP">
                <a:solidFill>
                  <a:srgbClr val="111111"/>
                </a:solidFill>
                <a:latin typeface="游ゴシック"/>
                <a:ea typeface="游ゴシック"/>
              </a:rPr>
              <a:t>現行ルールは、投球後の最初の安定状態を使う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全処理を動画全体に適用した結果</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4</a:t>
            </a:r>
          </a:p>
        </p:txBody>
      </p:sp>
      <p:sp>
        <p:nvSpPr>
          <p:cNvPr id="4" name="TextBox 3"/>
          <p:cNvSpPr txBox="1"/>
          <p:nvPr/>
        </p:nvSpPr>
        <p:spPr>
          <a:xfrm>
            <a:off x="838504" y="1810512"/>
            <a:ext cx="10515600" cy="411480"/>
          </a:xfrm>
          <a:prstGeom prst="rect">
            <a:avLst/>
          </a:prstGeom>
          <a:noFill/>
        </p:spPr>
        <p:txBody>
          <a:bodyPr wrap="square" lIns="0" rIns="0" tIns="0" bIns="0">
            <a:noAutofit/>
          </a:bodyPr>
          <a:lstStyle/>
          <a:p>
            <a:pPr algn="l">
              <a:lnSpc>
                <a:spcPct val="112000"/>
              </a:lnSpc>
              <a:spcAft>
                <a:spcPts val="1000"/>
              </a:spcAft>
              <a:buNone/>
            </a:pPr>
            <a:r>
              <a:rPr sz="2600" b="0" lang="ja-JP">
                <a:solidFill>
                  <a:srgbClr val="111111"/>
                </a:solidFill>
                <a:latin typeface="游ゴシック"/>
                <a:ea typeface="游ゴシック"/>
              </a:rPr>
              <a:t>65区間 → 34候補群 ／ 各手法の認識値を同じ時刻で表示</a:t>
            </a:r>
          </a:p>
        </p:txBody>
      </p:sp>
      <p:pic>
        <p:nvPicPr>
          <p:cNvPr id="5" name="Picture 4" descr="integrated_all_fields"/>
          <p:cNvPicPr>
            <a:picLocks noChangeAspect="1"/>
          </p:cNvPicPr>
          <p:nvPr/>
        </p:nvPicPr>
        <p:blipFill>
          <a:blip r:embed="rId2"/>
          <a:stretch>
            <a:fillRect/>
          </a:stretch>
        </p:blipFill>
        <p:spPr>
          <a:xfrm>
            <a:off x="838504" y="2221992"/>
            <a:ext cx="10515600" cy="4206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前後の全項目が揃ったのは9候補群</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5</a:t>
            </a:r>
          </a:p>
        </p:txBody>
      </p:sp>
      <p:graphicFrame>
        <p:nvGraphicFramePr>
          <p:cNvPr id="4" name="Table 3"/>
          <p:cNvGraphicFramePr>
            <a:graphicFrameLocks noGrp="1"/>
          </p:cNvGraphicFramePr>
          <p:nvPr/>
        </p:nvGraphicFramePr>
        <p:xfrm>
          <a:off x="838504" y="1920240"/>
          <a:ext cx="10515600" cy="3154680"/>
        </p:xfrm>
        <a:graphic>
          <a:graphicData uri="http://schemas.openxmlformats.org/drawingml/2006/table">
            <a:tbl>
              <a:tblPr firstRow="1" bandRow="1">
                <a:tableStyleId>{5C22544A-7EE6-4342-B048-85BDC9FD1C3A}</a:tableStyleId>
              </a:tblPr>
              <a:tblGrid>
                <a:gridCol w="8046720"/>
                <a:gridCol w="2468880"/>
              </a:tblGrid>
              <a:tr h="630936">
                <a:tc>
                  <a:txBody>
                    <a:bodyPr wrap="square" lIns="0" rIns="0" tIns="0" bIns="0">
                      <a:noAutofit/>
                    </a:bodyPr>
                    <a:lstStyle/>
                    <a:p>
                      <a:pPr algn="l">
                        <a:lnSpc>
                          <a:spcPct val="112000"/>
                        </a:lnSpc>
                        <a:spcAft>
                          <a:spcPts val="0"/>
                        </a:spcAft>
                        <a:buNone/>
                      </a:pPr>
                      <a:r>
                        <a:rPr sz="2500" b="1" lang="ja-JP">
                          <a:solidFill>
                            <a:srgbClr val="111111"/>
                          </a:solidFill>
                          <a:latin typeface="游ゴシック"/>
                          <a:ea typeface="游ゴシック"/>
                        </a:rPr>
                        <a:t>前後の認識値の取得状況</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500" b="1" lang="ja-JP">
                          <a:solidFill>
                            <a:srgbClr val="111111"/>
                          </a:solidFill>
                          <a:latin typeface="游ゴシック"/>
                          <a:ea typeface="游ゴシック"/>
                        </a:rPr>
                        <a:t>候補群数</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r>
              <a:tr h="630936">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B/S/O・走者・回・表裏・両チーム得点が揃う</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9</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r>
              <a:tr h="630936">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B/S/Oは揃うが、OCRの項目が一部不足</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630936">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前後どちらかのB/S/Oが不足</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23</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630936">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合計</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34</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bl>
          </a:graphicData>
        </a:graphic>
      </p:graphicFrame>
      <p:sp>
        <p:nvSpPr>
          <p:cNvPr id="5" name="TextBox 4"/>
          <p:cNvSpPr txBox="1"/>
          <p:nvPr/>
        </p:nvSpPr>
        <p:spPr>
          <a:xfrm>
            <a:off x="838504" y="5449824"/>
            <a:ext cx="10515600" cy="1005840"/>
          </a:xfrm>
          <a:prstGeom prst="rect">
            <a:avLst/>
          </a:prstGeom>
          <a:noFill/>
        </p:spPr>
        <p:txBody>
          <a:bodyPr wrap="square" lIns="0" rIns="0" tIns="0" bIns="0">
            <a:noAutofit/>
          </a:bodyPr>
          <a:lstStyle/>
          <a:p>
            <a:pPr algn="l">
              <a:lnSpc>
                <a:spcPct val="112000"/>
              </a:lnSpc>
              <a:spcAft>
                <a:spcPts val="0"/>
              </a:spcAft>
              <a:buNone/>
            </a:pPr>
            <a:r>
              <a:rPr sz="2500" b="0" lang="ja-JP">
                <a:solidFill>
                  <a:srgbClr val="B02121"/>
                </a:solidFill>
                <a:latin typeface="游ゴシック"/>
                <a:ea typeface="游ゴシック"/>
              </a:rPr>
              <a:t>前後のB/S/Oを照合できたのは11候補群。</a:t>
            </a:r>
            <a:br/>
            <a:r>
              <a:rPr sz="2500" b="0" lang="ja-JP">
                <a:solidFill>
                  <a:srgbClr val="B02121"/>
                </a:solidFill>
                <a:latin typeface="游ゴシック"/>
                <a:ea typeface="游ゴシック"/>
              </a:rPr>
              <a:t>全項目の取得は、イベント判定の成功や正解率とは異なる。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投球にカウントと走者・得点を付与</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6</a:t>
            </a:r>
          </a:p>
        </p:txBody>
      </p:sp>
      <p:sp>
        <p:nvSpPr>
          <p:cNvPr id="4" name="TextBox 3"/>
          <p:cNvSpPr txBox="1"/>
          <p:nvPr/>
        </p:nvSpPr>
        <p:spPr>
          <a:xfrm>
            <a:off x="838504" y="1810512"/>
            <a:ext cx="10515600" cy="749808"/>
          </a:xfrm>
          <a:prstGeom prst="rect">
            <a:avLst/>
          </a:prstGeom>
          <a:noFill/>
        </p:spPr>
        <p:txBody>
          <a:bodyPr wrap="square" lIns="0" rIns="0" tIns="0" bIns="0">
            <a:noAutofit/>
          </a:bodyPr>
          <a:lstStyle/>
          <a:p>
            <a:pPr algn="l">
              <a:lnSpc>
                <a:spcPct val="112000"/>
              </a:lnSpc>
              <a:spcAft>
                <a:spcPts val="0"/>
              </a:spcAft>
              <a:buNone/>
            </a:pPr>
            <a:r>
              <a:rPr sz="2500" b="0" lang="ja-JP">
                <a:solidFill>
                  <a:srgbClr val="111111"/>
                </a:solidFill>
                <a:latin typeface="游ゴシック"/>
                <a:ea typeface="游ゴシック"/>
              </a:rPr>
              <a:t>候補22：293.11–294.85秒</a:t>
            </a:r>
            <a:br/>
            <a:r>
              <a:rPr sz="2500" b="0" lang="ja-JP">
                <a:solidFill>
                  <a:srgbClr val="111111"/>
                </a:solidFill>
                <a:latin typeface="游ゴシック"/>
                <a:ea typeface="游ゴシック"/>
              </a:rPr>
              <a:t>5回ウラ ／ 0–0 ／ 一塁走者あり ／ 2アウト</a:t>
            </a:r>
          </a:p>
        </p:txBody>
      </p:sp>
      <p:pic>
        <p:nvPicPr>
          <p:cNvPr id="5" name="Picture 4" descr="joint_case22"/>
          <p:cNvPicPr>
            <a:picLocks noChangeAspect="1"/>
          </p:cNvPicPr>
          <p:nvPr/>
        </p:nvPicPr>
        <p:blipFill>
          <a:blip r:embed="rId2"/>
          <a:stretch>
            <a:fillRect/>
          </a:stretch>
        </p:blipFill>
        <p:spPr>
          <a:xfrm>
            <a:off x="838504" y="2633472"/>
            <a:ext cx="10515600" cy="372427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得点・走者の異なる状況も記録</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7</a:t>
            </a:r>
          </a:p>
        </p:txBody>
      </p:sp>
      <p:sp>
        <p:nvSpPr>
          <p:cNvPr id="4" name="TextBox 3"/>
          <p:cNvSpPr txBox="1"/>
          <p:nvPr/>
        </p:nvSpPr>
        <p:spPr>
          <a:xfrm>
            <a:off x="838504" y="1810512"/>
            <a:ext cx="4983480" cy="384048"/>
          </a:xfrm>
          <a:prstGeom prst="rect">
            <a:avLst/>
          </a:prstGeom>
          <a:noFill/>
        </p:spPr>
        <p:txBody>
          <a:bodyPr wrap="square" lIns="0" rIns="0" tIns="0" bIns="0">
            <a:noAutofit/>
          </a:bodyPr>
          <a:lstStyle/>
          <a:p>
            <a:pPr algn="ctr">
              <a:lnSpc>
                <a:spcPct val="112000"/>
              </a:lnSpc>
              <a:spcAft>
                <a:spcPts val="1000"/>
              </a:spcAft>
              <a:buNone/>
            </a:pPr>
            <a:r>
              <a:rPr sz="2400" b="0" lang="ja-JP">
                <a:solidFill>
                  <a:srgbClr val="111111"/>
                </a:solidFill>
                <a:latin typeface="游ゴシック"/>
                <a:ea typeface="游ゴシック"/>
              </a:rPr>
              <a:t>候補26：366.49–368.30秒</a:t>
            </a:r>
          </a:p>
        </p:txBody>
      </p:sp>
      <p:sp>
        <p:nvSpPr>
          <p:cNvPr id="5" name="TextBox 4"/>
          <p:cNvSpPr txBox="1"/>
          <p:nvPr/>
        </p:nvSpPr>
        <p:spPr>
          <a:xfrm>
            <a:off x="838504" y="2286000"/>
            <a:ext cx="4983480" cy="365760"/>
          </a:xfrm>
          <a:prstGeom prst="rect">
            <a:avLst/>
          </a:prstGeom>
          <a:noFill/>
        </p:spPr>
        <p:txBody>
          <a:bodyPr wrap="square" lIns="0" rIns="0" tIns="0" bIns="0">
            <a:noAutofit/>
          </a:bodyPr>
          <a:lstStyle/>
          <a:p>
            <a:pPr algn="ctr">
              <a:lnSpc>
                <a:spcPct val="112000"/>
              </a:lnSpc>
              <a:spcAft>
                <a:spcPts val="1000"/>
              </a:spcAft>
              <a:buNone/>
            </a:pPr>
            <a:r>
              <a:rPr sz="2200" b="0" lang="ja-JP">
                <a:solidFill>
                  <a:srgbClr val="111111"/>
                </a:solidFill>
                <a:latin typeface="游ゴシック"/>
                <a:ea typeface="游ゴシック"/>
              </a:rPr>
              <a:t>367.0秒（区間内の表示）</a:t>
            </a:r>
          </a:p>
        </p:txBody>
      </p:sp>
      <p:pic>
        <p:nvPicPr>
          <p:cNvPr id="6" name="Picture 5" descr="context_367"/>
          <p:cNvPicPr>
            <a:picLocks noChangeAspect="1"/>
          </p:cNvPicPr>
          <p:nvPr/>
        </p:nvPicPr>
        <p:blipFill>
          <a:blip r:embed="rId2"/>
          <a:stretch>
            <a:fillRect/>
          </a:stretch>
        </p:blipFill>
        <p:spPr>
          <a:xfrm>
            <a:off x="838504" y="2788920"/>
            <a:ext cx="4983480" cy="2167418"/>
          </a:xfrm>
          <a:prstGeom prst="rect">
            <a:avLst/>
          </a:prstGeom>
        </p:spPr>
      </p:pic>
      <p:sp>
        <p:nvSpPr>
          <p:cNvPr id="7" name="TextBox 6"/>
          <p:cNvSpPr txBox="1"/>
          <p:nvPr/>
        </p:nvSpPr>
        <p:spPr>
          <a:xfrm>
            <a:off x="838504" y="5166360"/>
            <a:ext cx="4983480" cy="777240"/>
          </a:xfrm>
          <a:prstGeom prst="rect">
            <a:avLst/>
          </a:prstGeom>
          <a:noFill/>
        </p:spPr>
        <p: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5回ウラ ／ 0–0</a:t>
            </a:r>
            <a:br/>
            <a:r>
              <a:rPr sz="2400" b="0" lang="ja-JP">
                <a:solidFill>
                  <a:srgbClr val="111111"/>
                </a:solidFill>
                <a:latin typeface="游ゴシック"/>
                <a:ea typeface="游ゴシック"/>
              </a:rPr>
              <a:t>B3 S2 O2 ／ 二塁走者あり</a:t>
            </a:r>
          </a:p>
        </p:txBody>
      </p:sp>
      <p:sp>
        <p:nvSpPr>
          <p:cNvPr id="8" name="TextBox 7"/>
          <p:cNvSpPr txBox="1"/>
          <p:nvPr/>
        </p:nvSpPr>
        <p:spPr>
          <a:xfrm>
            <a:off x="6370624" y="1810512"/>
            <a:ext cx="4983480" cy="384048"/>
          </a:xfrm>
          <a:prstGeom prst="rect">
            <a:avLst/>
          </a:prstGeom>
          <a:noFill/>
        </p:spPr>
        <p:txBody>
          <a:bodyPr wrap="square" lIns="0" rIns="0" tIns="0" bIns="0">
            <a:noAutofit/>
          </a:bodyPr>
          <a:lstStyle/>
          <a:p>
            <a:pPr algn="ctr">
              <a:lnSpc>
                <a:spcPct val="112000"/>
              </a:lnSpc>
              <a:spcAft>
                <a:spcPts val="1000"/>
              </a:spcAft>
              <a:buNone/>
            </a:pPr>
            <a:r>
              <a:rPr sz="2400" b="0" lang="ja-JP">
                <a:solidFill>
                  <a:srgbClr val="111111"/>
                </a:solidFill>
                <a:latin typeface="游ゴシック"/>
                <a:ea typeface="游ゴシック"/>
              </a:rPr>
              <a:t>候補31：434.51–436.22秒</a:t>
            </a:r>
          </a:p>
        </p:txBody>
      </p:sp>
      <p:sp>
        <p:nvSpPr>
          <p:cNvPr id="9" name="TextBox 8"/>
          <p:cNvSpPr txBox="1"/>
          <p:nvPr/>
        </p:nvSpPr>
        <p:spPr>
          <a:xfrm>
            <a:off x="6370624" y="2286000"/>
            <a:ext cx="4983480" cy="365760"/>
          </a:xfrm>
          <a:prstGeom prst="rect">
            <a:avLst/>
          </a:prstGeom>
          <a:noFill/>
        </p:spPr>
        <p:txBody>
          <a:bodyPr wrap="square" lIns="0" rIns="0" tIns="0" bIns="0">
            <a:noAutofit/>
          </a:bodyPr>
          <a:lstStyle/>
          <a:p>
            <a:pPr algn="ctr">
              <a:lnSpc>
                <a:spcPct val="112000"/>
              </a:lnSpc>
              <a:spcAft>
                <a:spcPts val="1000"/>
              </a:spcAft>
              <a:buNone/>
            </a:pPr>
            <a:r>
              <a:rPr sz="2200" b="0" lang="ja-JP">
                <a:solidFill>
                  <a:srgbClr val="111111"/>
                </a:solidFill>
                <a:latin typeface="游ゴシック"/>
                <a:ea typeface="游ゴシック"/>
              </a:rPr>
              <a:t>436.5秒（区間直後の表示）</a:t>
            </a:r>
          </a:p>
        </p:txBody>
      </p:sp>
      <p:pic>
        <p:nvPicPr>
          <p:cNvPr id="10" name="Picture 9" descr="context_436_5"/>
          <p:cNvPicPr>
            <a:picLocks noChangeAspect="1"/>
          </p:cNvPicPr>
          <p:nvPr/>
        </p:nvPicPr>
        <p:blipFill>
          <a:blip r:embed="rId3"/>
          <a:stretch>
            <a:fillRect/>
          </a:stretch>
        </p:blipFill>
        <p:spPr>
          <a:xfrm>
            <a:off x="6370624" y="2788920"/>
            <a:ext cx="4983480" cy="2203015"/>
          </a:xfrm>
          <a:prstGeom prst="rect">
            <a:avLst/>
          </a:prstGeom>
        </p:spPr>
      </p:pic>
      <p:sp>
        <p:nvSpPr>
          <p:cNvPr id="11" name="TextBox 10"/>
          <p:cNvSpPr txBox="1"/>
          <p:nvPr/>
        </p:nvSpPr>
        <p:spPr>
          <a:xfrm>
            <a:off x="6370624" y="5166360"/>
            <a:ext cx="4983480" cy="777240"/>
          </a:xfrm>
          <a:prstGeom prst="rect">
            <a:avLst/>
          </a:prstGeom>
          <a:noFill/>
        </p:spPr>
        <p:txBody>
          <a:bodyPr wrap="square" lIns="0" rIns="0" tIns="0" bIns="0">
            <a:noAutofit/>
          </a:bodyPr>
          <a:lstStyle/>
          <a:p>
            <a:pPr algn="l">
              <a:lnSpc>
                <a:spcPct val="112000"/>
              </a:lnSpc>
              <a:spcAft>
                <a:spcPts val="0"/>
              </a:spcAft>
              <a:buNone/>
            </a:pPr>
            <a:r>
              <a:rPr sz="2400" b="0" lang="ja-JP">
                <a:solidFill>
                  <a:srgbClr val="111111"/>
                </a:solidFill>
                <a:latin typeface="游ゴシック"/>
                <a:ea typeface="游ゴシック"/>
              </a:rPr>
              <a:t>5回ウラ ／ 0–1</a:t>
            </a:r>
            <a:br/>
            <a:r>
              <a:rPr sz="2400" b="0" lang="ja-JP">
                <a:solidFill>
                  <a:srgbClr val="111111"/>
                </a:solidFill>
                <a:latin typeface="游ゴシック"/>
                <a:ea typeface="游ゴシック"/>
              </a:rPr>
              <a:t>B0 S0 O2 ／ 一塁走者あり</a:t>
            </a:r>
          </a:p>
        </p:txBody>
      </p:sp>
      <p:sp>
        <p:nvSpPr>
          <p:cNvPr id="12" name="TextBox 11"/>
          <p:cNvSpPr txBox="1"/>
          <p:nvPr/>
        </p:nvSpPr>
        <p:spPr>
          <a:xfrm>
            <a:off x="838504" y="6190488"/>
            <a:ext cx="10515600" cy="356616"/>
          </a:xfrm>
          <a:prstGeom prst="rect">
            <a:avLst/>
          </a:prstGeom>
          <a:noFill/>
        </p:spPr>
        <p:txBody>
          <a:bodyPr wrap="square" lIns="0" rIns="0" tIns="0" bIns="0">
            <a:noAutofit/>
          </a:bodyPr>
          <a:lstStyle/>
          <a:p>
            <a:pPr algn="l">
              <a:lnSpc>
                <a:spcPct val="112000"/>
              </a:lnSpc>
              <a:spcAft>
                <a:spcPts val="1000"/>
              </a:spcAft>
              <a:buNone/>
            </a:pPr>
            <a:r>
              <a:rPr sz="2100" b="0" lang="ja-JP">
                <a:solidFill>
                  <a:srgbClr val="B02121"/>
                </a:solidFill>
                <a:latin typeface="游ゴシック"/>
                <a:ea typeface="游ゴシック"/>
              </a:rPr>
              <a:t>状況を投球付近に付与。得点に至った投球や、得点時刻は未確定。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2ストライク後の条件を投球に適用</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8</a:t>
            </a:r>
          </a:p>
        </p:txBody>
      </p:sp>
      <p:sp>
        <p:nvSpPr>
          <p:cNvPr id="4" name="TextBox 3"/>
          <p:cNvSpPr txBox="1"/>
          <p:nvPr/>
        </p:nvSpPr>
        <p:spPr>
          <a:xfrm>
            <a:off x="838504" y="1810512"/>
            <a:ext cx="10515600" cy="777240"/>
          </a:xfrm>
          <a:prstGeom prst="rect">
            <a:avLst/>
          </a:prstGeom>
          <a:noFill/>
        </p:spPr>
        <p:txBody>
          <a:bodyPr wrap="square" lIns="0" rIns="0" tIns="0" bIns="0">
            <a:noAutofit/>
          </a:bodyPr>
          <a:lstStyle/>
          <a:p>
            <a:pPr algn="l">
              <a:lnSpc>
                <a:spcPct val="112000"/>
              </a:lnSpc>
              <a:spcAft>
                <a:spcPts val="0"/>
              </a:spcAft>
              <a:buNone/>
            </a:pPr>
            <a:r>
              <a:rPr sz="2600" b="0" lang="ja-JP">
                <a:solidFill>
                  <a:srgbClr val="111111"/>
                </a:solidFill>
                <a:latin typeface="游ゴシック"/>
                <a:ea typeface="游ゴシック"/>
              </a:rPr>
              <a:t>9月に考えた「2ストライク後の不変」という条件を、</a:t>
            </a:r>
            <a:br/>
            <a:r>
              <a:rPr sz="2600" b="0" lang="ja-JP">
                <a:solidFill>
                  <a:srgbClr val="111111"/>
                </a:solidFill>
                <a:latin typeface="游ゴシック"/>
                <a:ea typeface="游ゴシック"/>
              </a:rPr>
              <a:t>検出した投球区間の前後に適用した。</a:t>
            </a:r>
          </a:p>
        </p:txBody>
      </p:sp>
      <p:graphicFrame>
        <p:nvGraphicFramePr>
          <p:cNvPr id="5" name="Table 4"/>
          <p:cNvGraphicFramePr>
            <a:graphicFrameLocks noGrp="1"/>
          </p:cNvGraphicFramePr>
          <p:nvPr/>
        </p:nvGraphicFramePr>
        <p:xfrm>
          <a:off x="838504" y="2834640"/>
          <a:ext cx="10515600" cy="2002536"/>
        </p:xfrm>
        <a:graphic>
          <a:graphicData uri="http://schemas.openxmlformats.org/drawingml/2006/table">
            <a:tbl>
              <a:tblPr firstRow="1" bandRow="1">
                <a:tableStyleId>{5C22544A-7EE6-4342-B048-85BDC9FD1C3A}</a:tableStyleId>
              </a:tblPr>
              <a:tblGrid>
                <a:gridCol w="1188720"/>
                <a:gridCol w="3108960"/>
                <a:gridCol w="2286000"/>
                <a:gridCol w="2286000"/>
                <a:gridCol w="1645920"/>
              </a:tblGrid>
              <a:tr h="667512">
                <a:tc>
                  <a:txBody>
                    <a:bodyPr wrap="square" lIns="0" rIns="0" tIns="0" bIns="0">
                      <a:noAutofit/>
                    </a:bodyPr>
                    <a:lstStyle/>
                    <a:p>
                      <a:pPr algn="l">
                        <a:lnSpc>
                          <a:spcPct val="112000"/>
                        </a:lnSpc>
                        <a:spcAft>
                          <a:spcPts val="0"/>
                        </a:spcAft>
                        <a:buNone/>
                      </a:pPr>
                      <a:r>
                        <a:rPr sz="2300" b="1" lang="ja-JP">
                          <a:solidFill>
                            <a:srgbClr val="111111"/>
                          </a:solidFill>
                          <a:latin typeface="游ゴシック"/>
                          <a:ea typeface="游ゴシック"/>
                        </a:rPr>
                        <a:t>候補群</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1" lang="ja-JP">
                          <a:solidFill>
                            <a:srgbClr val="111111"/>
                          </a:solidFill>
                          <a:latin typeface="游ゴシック"/>
                          <a:ea typeface="游ゴシック"/>
                        </a:rPr>
                        <a:t>投球候補［秒］</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1" lang="ja-JP">
                          <a:solidFill>
                            <a:srgbClr val="111111"/>
                          </a:solidFill>
                          <a:latin typeface="游ゴシック"/>
                          <a:ea typeface="游ゴシック"/>
                        </a:rPr>
                        <a:t>前 B/S/O</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1" lang="ja-JP">
                          <a:solidFill>
                            <a:srgbClr val="111111"/>
                          </a:solidFill>
                          <a:latin typeface="游ゴシック"/>
                          <a:ea typeface="游ゴシック"/>
                        </a:rPr>
                        <a:t>直後 B/S/O</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1" lang="ja-JP">
                          <a:solidFill>
                            <a:srgbClr val="111111"/>
                          </a:solidFill>
                          <a:latin typeface="游ゴシック"/>
                          <a:ea typeface="游ゴシック"/>
                        </a:rPr>
                        <a:t>スコア</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r>
              <a:tr h="667512">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8</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113.41–115.02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 / 2 / 1</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 / 2 / 1</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0.966</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667512">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11</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155.31–157.27</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 / 2 / 1</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 / 2 / 1</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0.969</a:t>
                      </a:r>
                    </a:p>
                  </a:txBody>
                  <a:tcPr marL="118872" marR="91440" marT="64008" marB="36576" anchor="ctr">
                    <a:solidFill>
                      <a:srgbClr val="FFF4D8"/>
                    </a:solidFill>
                    <a:lnL w="7000">
                      <a:solidFill>
                        <a:srgbClr val="BFBFBF"/>
                      </a:solidFill>
                    </a:lnL>
                    <a:lnR w="7000">
                      <a:solidFill>
                        <a:srgbClr val="BFBFBF"/>
                      </a:solidFill>
                    </a:lnR>
                    <a:lnT w="7000">
                      <a:solidFill>
                        <a:srgbClr val="BFBFBF"/>
                      </a:solidFill>
                    </a:lnT>
                    <a:lnB w="7000">
                      <a:solidFill>
                        <a:srgbClr val="BFBFBF"/>
                      </a:solidFill>
                    </a:lnB>
                  </a:tcPr>
                </a:tc>
              </a:tr>
            </a:tbl>
          </a:graphicData>
        </a:graphic>
      </p:graphicFrame>
      <p:sp>
        <p:nvSpPr>
          <p:cNvPr id="6" name="TextBox 5"/>
          <p:cNvSpPr txBox="1"/>
          <p:nvPr/>
        </p:nvSpPr>
        <p:spPr>
          <a:xfrm>
            <a:off x="838504" y="5148072"/>
            <a:ext cx="10515600" cy="1115568"/>
          </a:xfrm>
          <a:prstGeom prst="rect">
            <a:avLst/>
          </a:prstGeom>
          <a:noFill/>
        </p:spPr>
        <p:txBody>
          <a:bodyPr wrap="square" lIns="0" rIns="0" tIns="0" bIns="0">
            <a:noAutofit/>
          </a:bodyPr>
          <a:lstStyle/>
          <a:p>
            <a:pPr algn="l">
              <a:lnSpc>
                <a:spcPct val="112000"/>
              </a:lnSpc>
              <a:spcAft>
                <a:spcPts val="0"/>
              </a:spcAft>
              <a:buNone/>
            </a:pPr>
            <a:r>
              <a:rPr sz="2500" b="0" lang="ja-JP">
                <a:solidFill>
                  <a:srgbClr val="B02121"/>
                </a:solidFill>
                <a:latin typeface="游ゴシック"/>
                <a:ea typeface="游ゴシック"/>
              </a:rPr>
              <a:t>元の自動照合では、2候補群を「カウント不変」と整理。</a:t>
            </a:r>
            <a:br/>
            <a:r>
              <a:rPr sz="2500" b="0" lang="ja-JP">
                <a:solidFill>
                  <a:srgbClr val="B02121"/>
                </a:solidFill>
                <a:latin typeface="游ゴシック"/>
                <a:ea typeface="游ゴシック"/>
              </a:rPr>
              <a:t>ファウルを2件正しく判定できたという意味ではない。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表示の採用時刻で照合結果が変わる</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9</a:t>
            </a:r>
          </a:p>
        </p:txBody>
      </p:sp>
      <p:sp>
        <p:nvSpPr>
          <p:cNvPr id="4" name="TextBox 3"/>
          <p:cNvSpPr txBox="1"/>
          <p:nvPr/>
        </p:nvSpPr>
        <p:spPr>
          <a:xfrm>
            <a:off x="838504" y="1810512"/>
            <a:ext cx="10515600" cy="411480"/>
          </a:xfrm>
          <a:prstGeom prst="rect">
            <a:avLst/>
          </a:prstGeom>
          <a:noFill/>
        </p:spPr>
        <p:txBody>
          <a:bodyPr wrap="square" lIns="0" rIns="0" tIns="0" bIns="0">
            <a:noAutofit/>
          </a:bodyPr>
          <a:lstStyle/>
          <a:p>
            <a:pPr algn="l">
              <a:lnSpc>
                <a:spcPct val="112000"/>
              </a:lnSpc>
              <a:spcAft>
                <a:spcPts val="1000"/>
              </a:spcAft>
              <a:buNone/>
            </a:pPr>
            <a:r>
              <a:rPr sz="2600" b="0" lang="ja-JP">
                <a:solidFill>
                  <a:srgbClr val="111111"/>
                </a:solidFill>
                <a:latin typeface="游ゴシック"/>
                <a:ea typeface="游ゴシック"/>
              </a:rPr>
              <a:t>候補11：155.31–157.27秒 ／ 後の取得値も確認</a:t>
            </a:r>
          </a:p>
        </p:txBody>
      </p:sp>
      <p:pic>
        <p:nvPicPr>
          <p:cNvPr id="5" name="Picture 4" descr="lag_case11"/>
          <p:cNvPicPr>
            <a:picLocks noChangeAspect="1"/>
          </p:cNvPicPr>
          <p:nvPr/>
        </p:nvPicPr>
        <p:blipFill>
          <a:blip r:embed="rId2"/>
          <a:stretch>
            <a:fillRect/>
          </a:stretch>
        </p:blipFill>
        <p:spPr>
          <a:xfrm>
            <a:off x="838504" y="2386584"/>
            <a:ext cx="10515600" cy="3724275"/>
          </a:xfrm>
          <a:prstGeom prst="rect">
            <a:avLst/>
          </a:prstGeom>
        </p:spPr>
      </p:pic>
      <p:sp>
        <p:nvSpPr>
          <p:cNvPr id="6" name="TextBox 5"/>
          <p:cNvSpPr txBox="1"/>
          <p:nvPr/>
        </p:nvSpPr>
        <p:spPr>
          <a:xfrm>
            <a:off x="838504" y="6254496"/>
            <a:ext cx="10515600" cy="292608"/>
          </a:xfrm>
          <a:prstGeom prst="rect">
            <a:avLst/>
          </a:prstGeom>
          <a:noFill/>
        </p:spPr>
        <p:txBody>
          <a:bodyPr wrap="square" lIns="0" rIns="0" tIns="0" bIns="0">
            <a:noAutofit/>
          </a:bodyPr>
          <a:lstStyle/>
          <a:p>
            <a:pPr algn="l">
              <a:lnSpc>
                <a:spcPct val="112000"/>
              </a:lnSpc>
              <a:spcAft>
                <a:spcPts val="1000"/>
              </a:spcAft>
              <a:buNone/>
            </a:pPr>
            <a:r>
              <a:rPr sz="2100" b="0" lang="ja-JP">
                <a:solidFill>
                  <a:srgbClr val="B02121"/>
                </a:solidFill>
                <a:latin typeface="游ゴシック"/>
                <a:ea typeface="游ゴシック"/>
              </a:rPr>
              <a:t>158.0秒：B0 → 161.5秒：B1　直後の表示だけでは不変となる。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全処理の適用で分かったこと</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10</a:t>
            </a:r>
          </a:p>
        </p:txBody>
      </p:sp>
      <p:sp>
        <p:nvSpPr>
          <p:cNvPr id="4" name="TextBox 3"/>
          <p:cNvSpPr txBox="1"/>
          <p:nvPr/>
        </p:nvSpPr>
        <p:spPr>
          <a:xfrm>
            <a:off x="838504" y="1819656"/>
            <a:ext cx="10515600" cy="4526280"/>
          </a:xfrm>
          <a:prstGeom prst="rect">
            <a:avLst/>
          </a:prstGeom>
          <a:noFill/>
        </p:spPr>
        <p:txBody>
          <a:bodyPr wrap="square" lIns="0" rIns="0" tIns="0" bIns="0">
            <a:noAutofit/>
          </a:bodyPr>
          <a:lstStyle/>
          <a:p>
            <a:pPr algn="l">
              <a:lnSpc>
                <a:spcPct val="112000"/>
              </a:lnSpc>
              <a:spcAft>
                <a:spcPts val="1900"/>
              </a:spcAft>
              <a:buNone/>
            </a:pPr>
            <a:r>
              <a:rPr sz="2700" b="0" lang="ja-JP">
                <a:solidFill>
                  <a:srgbClr val="111111"/>
                </a:solidFill>
                <a:latin typeface="游ゴシック"/>
                <a:ea typeface="游ゴシック"/>
              </a:rPr>
              <a:t>• 投球候補に、B/S/O・走者・回・得点を対応付けられた</a:t>
            </a:r>
            <a:br/>
            <a:r>
              <a:rPr sz="2700" b="0" lang="ja-JP">
                <a:solidFill>
                  <a:srgbClr val="111111"/>
                </a:solidFill>
                <a:latin typeface="游ゴシック"/>
                <a:ea typeface="游ゴシック"/>
              </a:rPr>
              <a:t>　前後の全項目が揃ったものは9候補群</a:t>
            </a:r>
          </a:p>
          <a:p>
            <a:pPr algn="l">
              <a:lnSpc>
                <a:spcPct val="112000"/>
              </a:lnSpc>
              <a:spcAft>
                <a:spcPts val="1900"/>
              </a:spcAft>
              <a:buNone/>
            </a:pPr>
            <a:r>
              <a:rPr sz="2700" b="0" lang="ja-JP">
                <a:solidFill>
                  <a:srgbClr val="111111"/>
                </a:solidFill>
                <a:latin typeface="游ゴシック"/>
                <a:ea typeface="游ゴシック"/>
              </a:rPr>
              <a:t>• 表示変化を投球候補に対応付けられた</a:t>
            </a:r>
            <a:br/>
            <a:r>
              <a:rPr sz="2700" b="0" lang="ja-JP">
                <a:solidFill>
                  <a:srgbClr val="111111"/>
                </a:solidFill>
                <a:latin typeface="游ゴシック"/>
                <a:ea typeface="游ゴシック"/>
              </a:rPr>
              <a:t>　現行の整理：ストライク表示増加3群、ボール表示増加1群</a:t>
            </a:r>
          </a:p>
          <a:p>
            <a:pPr algn="l">
              <a:lnSpc>
                <a:spcPct val="112000"/>
              </a:lnSpc>
              <a:spcAft>
                <a:spcPts val="1900"/>
              </a:spcAft>
              <a:buNone/>
            </a:pPr>
            <a:r>
              <a:rPr sz="2700" b="0" lang="ja-JP">
                <a:solidFill>
                  <a:srgbClr val="111111"/>
                </a:solidFill>
                <a:latin typeface="游ゴシック"/>
                <a:ea typeface="游ゴシック"/>
              </a:rPr>
              <a:t>• 表示の取得不足と、採用時刻による違いを確認した</a:t>
            </a:r>
            <a:br/>
            <a:r>
              <a:rPr sz="2700" b="0" lang="ja-JP">
                <a:solidFill>
                  <a:srgbClr val="111111"/>
                </a:solidFill>
                <a:latin typeface="游ゴシック"/>
                <a:ea typeface="游ゴシック"/>
              </a:rPr>
              <a:t>　投球と表示をどう対応付けるかが、次の検討課題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来週すること</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11</a:t>
            </a:r>
          </a:p>
        </p:txBody>
      </p:sp>
      <p:sp>
        <p:nvSpPr>
          <p:cNvPr id="4" name="TextBox 3"/>
          <p:cNvSpPr txBox="1"/>
          <p:nvPr/>
        </p:nvSpPr>
        <p:spPr>
          <a:xfrm>
            <a:off x="838504" y="1819656"/>
            <a:ext cx="10515600" cy="4389120"/>
          </a:xfrm>
          <a:prstGeom prst="rect">
            <a:avLst/>
          </a:prstGeom>
          <a:noFill/>
        </p:spPr>
        <p:txBody>
          <a:bodyPr wrap="square" lIns="0" rIns="0" tIns="0" bIns="0">
            <a:noAutofit/>
          </a:bodyPr>
          <a:lstStyle/>
          <a:p>
            <a:pPr algn="l">
              <a:lnSpc>
                <a:spcPct val="112000"/>
              </a:lnSpc>
              <a:spcAft>
                <a:spcPts val="2200"/>
              </a:spcAft>
              <a:buNone/>
            </a:pPr>
            <a:r>
              <a:rPr sz="2800" b="0" lang="ja-JP">
                <a:solidFill>
                  <a:srgbClr val="111111"/>
                </a:solidFill>
                <a:latin typeface="游ゴシック"/>
                <a:ea typeface="游ゴシック"/>
              </a:rPr>
              <a:t>• 5回ウラ全体に、投球区間と結果の正解注釈を付ける</a:t>
            </a:r>
          </a:p>
          <a:p>
            <a:pPr algn="l">
              <a:lnSpc>
                <a:spcPct val="112000"/>
              </a:lnSpc>
              <a:spcAft>
                <a:spcPts val="2200"/>
              </a:spcAft>
              <a:buNone/>
            </a:pPr>
            <a:r>
              <a:rPr sz="2800" b="0" lang="ja-JP">
                <a:solidFill>
                  <a:srgbClr val="111111"/>
                </a:solidFill>
                <a:latin typeface="游ゴシック"/>
                <a:ea typeface="游ゴシック"/>
              </a:rPr>
              <a:t>• 表示の更新・再表示を確認し、前後の採用値を決める</a:t>
            </a:r>
          </a:p>
          <a:p>
            <a:pPr algn="l">
              <a:lnSpc>
                <a:spcPct val="112000"/>
              </a:lnSpc>
              <a:spcAft>
                <a:spcPts val="2200"/>
              </a:spcAft>
              <a:buNone/>
            </a:pPr>
            <a:r>
              <a:rPr sz="2800" b="0" lang="ja-JP">
                <a:solidFill>
                  <a:srgbClr val="111111"/>
                </a:solidFill>
                <a:latin typeface="游ゴシック"/>
                <a:ea typeface="游ゴシック"/>
              </a:rPr>
              <a:t>• 投球検出と、状況・結果の対応付けを分けて評価する</a:t>
            </a:r>
          </a:p>
          <a:p>
            <a:pPr algn="l">
              <a:lnSpc>
                <a:spcPct val="112000"/>
              </a:lnSpc>
              <a:spcAft>
                <a:spcPts val="2200"/>
              </a:spcAft>
              <a:buNone/>
            </a:pPr>
            <a:r>
              <a:rPr sz="2800" b="0" lang="ja-JP">
                <a:solidFill>
                  <a:srgbClr val="111111"/>
                </a:solidFill>
                <a:latin typeface="游ゴシック"/>
                <a:ea typeface="游ゴシック"/>
              </a:rPr>
              <a:t>• 今回の動画で検討した後、別動画でも確認する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補足：他の照合例と結果の内訳</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12</a:t>
            </a:r>
          </a:p>
        </p:txBody>
      </p:sp>
      <p:sp>
        <p:nvSpPr>
          <p:cNvPr id="4" name="TextBox 3"/>
          <p:cNvSpPr txBox="1"/>
          <p:nvPr/>
        </p:nvSpPr>
        <p:spPr>
          <a:xfrm>
            <a:off x="838504" y="1819656"/>
            <a:ext cx="10515600" cy="411480"/>
          </a:xfrm>
          <a:prstGeom prst="rect">
            <a:avLst/>
          </a:prstGeom>
          <a:noFill/>
        </p:spPr>
        <p:txBody>
          <a:bodyPr wrap="square" lIns="0" rIns="0" tIns="0" bIns="0">
            <a:noAutofit/>
          </a:bodyPr>
          <a:lstStyle/>
          <a:p>
            <a:pPr algn="l">
              <a:lnSpc>
                <a:spcPct val="112000"/>
              </a:lnSpc>
              <a:spcAft>
                <a:spcPts val="1000"/>
              </a:spcAft>
              <a:buNone/>
            </a:pPr>
            <a:r>
              <a:rPr sz="2600" b="0" lang="ja-JP">
                <a:solidFill>
                  <a:srgbClr val="111111"/>
                </a:solidFill>
                <a:latin typeface="游ゴシック"/>
                <a:ea typeface="游ゴシック"/>
              </a:rPr>
              <a:t>回・得点・走者も前後で取得できた候補群の例</a:t>
            </a:r>
          </a:p>
        </p:txBody>
      </p:sp>
      <p:graphicFrame>
        <p:nvGraphicFramePr>
          <p:cNvPr id="5" name="Table 4"/>
          <p:cNvGraphicFramePr>
            <a:graphicFrameLocks noGrp="1"/>
          </p:cNvGraphicFramePr>
          <p:nvPr/>
        </p:nvGraphicFramePr>
        <p:xfrm>
          <a:off x="838504" y="2523744"/>
          <a:ext cx="10515600" cy="2880360"/>
        </p:xfrm>
        <a:graphic>
          <a:graphicData uri="http://schemas.openxmlformats.org/drawingml/2006/table">
            <a:tbl>
              <a:tblPr firstRow="1" bandRow="1">
                <a:tableStyleId>{5C22544A-7EE6-4342-B048-85BDC9FD1C3A}</a:tableStyleId>
              </a:tblPr>
              <a:tblGrid>
                <a:gridCol w="914400"/>
                <a:gridCol w="2468880"/>
                <a:gridCol w="1554480"/>
                <a:gridCol w="1554480"/>
                <a:gridCol w="1463040"/>
                <a:gridCol w="2560320"/>
              </a:tblGrid>
              <a:tr h="576072">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候補</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区間［秒］</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前 B/S/O</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後 B/S/O</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走者</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1" lang="ja-JP">
                          <a:solidFill>
                            <a:srgbClr val="111111"/>
                          </a:solidFill>
                          <a:latin typeface="游ゴシック"/>
                          <a:ea typeface="游ゴシック"/>
                        </a:rPr>
                        <a:t>回・得点</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r>
              <a:tr h="576072">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19.86–22.01</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1 / 0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1 / 1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なし</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5回ウラ 0–0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576072">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3</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33.66–35.91</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1 / 1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 / 1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なし</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5回ウラ 0–0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576072">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4</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44.07–46.34</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 / 1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 / 2 / 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なし</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5回ウラ 0–0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576072">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293.11–294.85</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 / 0 / 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2 / 1 / 2</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一塁</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000" b="0" lang="ja-JP">
                          <a:solidFill>
                            <a:srgbClr val="111111"/>
                          </a:solidFill>
                          <a:latin typeface="游ゴシック"/>
                          <a:ea typeface="游ゴシック"/>
                        </a:rPr>
                        <a:t>5回ウラ 0–0</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bl>
          </a:graphicData>
        </a:graphic>
      </p:graphicFrame>
      <p:sp>
        <p:nvSpPr>
          <p:cNvPr id="6" name="TextBox 5"/>
          <p:cNvSpPr txBox="1"/>
          <p:nvPr/>
        </p:nvSpPr>
        <p:spPr>
          <a:xfrm>
            <a:off x="838504" y="5623560"/>
            <a:ext cx="10515600" cy="822960"/>
          </a:xfrm>
          <a:prstGeom prst="rect">
            <a:avLst/>
          </a:prstGeom>
          <a:noFill/>
        </p:spPr>
        <p:txBody>
          <a:bodyPr wrap="square" lIns="0" rIns="0" tIns="0" bIns="0">
            <a:noAutofit/>
          </a:bodyPr>
          <a:lstStyle/>
          <a:p>
            <a:pPr algn="l">
              <a:lnSpc>
                <a:spcPct val="112000"/>
              </a:lnSpc>
              <a:spcAft>
                <a:spcPts val="0"/>
              </a:spcAft>
              <a:buNone/>
            </a:pPr>
            <a:r>
              <a:rPr sz="2300" b="0" lang="ja-JP">
                <a:solidFill>
                  <a:srgbClr val="111111"/>
                </a:solidFill>
                <a:latin typeface="游ゴシック"/>
                <a:ea typeface="游ゴシック"/>
              </a:rPr>
              <a:t>B/S/O照合11群の内訳：S増3・B増1・不変7（うち2S不変2）</a:t>
            </a:r>
            <a:br/>
            <a:r>
              <a:rPr sz="2300" b="0" lang="ja-JP">
                <a:solidFill>
                  <a:srgbClr val="111111"/>
                </a:solidFill>
                <a:latin typeface="游ゴシック"/>
                <a:ea typeface="游ゴシック"/>
              </a:rPr>
              <a:t>不変2は、最初の安定状態を採用した元の照合結果。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38504" y="364845"/>
            <a:ext cx="10515600" cy="1325880"/>
          </a:xfrm>
        </p:spPr>
        <p:txBody>
          <a:bodyPr wrap="square" lIns="0" rIns="0" tIns="0" bIns="0">
            <a:noAutofit/>
          </a:bodyPr>
          <a:lstStyle/>
          <a:p>
            <a:pPr algn="l">
              <a:lnSpc>
                <a:spcPct val="112000"/>
              </a:lnSpc>
              <a:spcAft>
                <a:spcPts val="0"/>
              </a:spcAft>
              <a:buNone/>
            </a:pPr>
            <a:r>
              <a:rPr sz="4400" b="0" lang="ja-JP">
                <a:solidFill>
                  <a:srgbClr val="111111"/>
                </a:solidFill>
                <a:latin typeface="游ゴシック Light"/>
                <a:ea typeface="游ゴシック Light"/>
              </a:rPr>
              <a:t>補足：従来の精度評価との違い</a:t>
            </a:r>
          </a:p>
        </p:txBody>
      </p:sp>
      <p:sp>
        <p:nvSpPr>
          <p:cNvPr id="3" name="TextBox 2"/>
          <p:cNvSpPr txBox="1"/>
          <p:nvPr/>
        </p:nvSpPr>
        <p:spPr>
          <a:xfrm>
            <a:off x="10881360" y="6510528"/>
            <a:ext cx="457200" cy="201168"/>
          </a:xfrm>
          <a:prstGeom prst="rect">
            <a:avLst/>
          </a:prstGeom>
          <a:noFill/>
        </p:spPr>
        <p:txBody>
          <a:bodyPr wrap="square" lIns="0" rIns="0" tIns="0" bIns="0">
            <a:noAutofit/>
          </a:bodyPr>
          <a:lstStyle/>
          <a:p>
            <a:pPr algn="r">
              <a:lnSpc>
                <a:spcPct val="112000"/>
              </a:lnSpc>
              <a:spcAft>
                <a:spcPts val="0"/>
              </a:spcAft>
              <a:buNone/>
            </a:pPr>
            <a:r>
              <a:rPr sz="1200" b="0" lang="ja-JP">
                <a:solidFill>
                  <a:srgbClr val="555555"/>
                </a:solidFill>
                <a:latin typeface="游ゴシック"/>
                <a:ea typeface="游ゴシック"/>
              </a:rPr>
              <a:t>13</a:t>
            </a:r>
          </a:p>
        </p:txBody>
      </p:sp>
      <p:graphicFrame>
        <p:nvGraphicFramePr>
          <p:cNvPr id="4" name="Table 3"/>
          <p:cNvGraphicFramePr>
            <a:graphicFrameLocks noGrp="1"/>
          </p:cNvGraphicFramePr>
          <p:nvPr/>
        </p:nvGraphicFramePr>
        <p:xfrm>
          <a:off x="838504" y="1920240"/>
          <a:ext cx="10515600" cy="3072384"/>
        </p:xfrm>
        <a:graphic>
          <a:graphicData uri="http://schemas.openxmlformats.org/drawingml/2006/table">
            <a:tbl>
              <a:tblPr firstRow="1" bandRow="1">
                <a:tableStyleId>{5C22544A-7EE6-4342-B048-85BDC9FD1C3A}</a:tableStyleId>
              </a:tblPr>
              <a:tblGrid>
                <a:gridCol w="1920240"/>
                <a:gridCol w="4297680"/>
                <a:gridCol w="4297680"/>
              </a:tblGrid>
              <a:tr h="768096">
                <a:tc>
                  <a:txBody>
                    <a:bodyPr wrap="square" lIns="0" rIns="0" tIns="0" bIns="0">
                      <a:noAutofit/>
                    </a:bodyPr>
                    <a:lstStyle/>
                    <a:p>
                      <a:pPr algn="l">
                        <a:lnSpc>
                          <a:spcPct val="112000"/>
                        </a:lnSpc>
                        <a:spcAft>
                          <a:spcPts val="0"/>
                        </a:spcAft>
                        <a:buNone/>
                      </a:pPr>
                      <a:r>
                        <a:rPr sz="2200" b="1" lang="ja-JP">
                          <a:solidFill>
                            <a:srgbClr val="111111"/>
                          </a:solidFill>
                          <a:latin typeface="游ゴシック"/>
                          <a:ea typeface="游ゴシック"/>
                        </a:rPr>
                        <a:t>時期</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1" lang="ja-JP">
                          <a:solidFill>
                            <a:srgbClr val="111111"/>
                          </a:solidFill>
                          <a:latin typeface="游ゴシック"/>
                          <a:ea typeface="游ゴシック"/>
                        </a:rPr>
                        <a:t>評価・集計した対象</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1" lang="ja-JP">
                          <a:solidFill>
                            <a:srgbClr val="111111"/>
                          </a:solidFill>
                          <a:latin typeface="游ゴシック"/>
                          <a:ea typeface="游ゴシック"/>
                        </a:rPr>
                        <a:t>数値の意味</a:t>
                      </a:r>
                    </a:p>
                  </a:txBody>
                  <a:tcPr marL="118872" marR="91440" marT="64008" marB="36576" anchor="ctr">
                    <a:solidFill>
                      <a:srgbClr val="EEEEEE"/>
                    </a:solidFill>
                    <a:lnL w="7000">
                      <a:solidFill>
                        <a:srgbClr val="BFBFBF"/>
                      </a:solidFill>
                    </a:lnL>
                    <a:lnR w="7000">
                      <a:solidFill>
                        <a:srgbClr val="BFBFBF"/>
                      </a:solidFill>
                    </a:lnR>
                    <a:lnT w="7000">
                      <a:solidFill>
                        <a:srgbClr val="BFBFBF"/>
                      </a:solidFill>
                    </a:lnT>
                    <a:lnB w="7000">
                      <a:solidFill>
                        <a:srgbClr val="BFBFBF"/>
                      </a:solidFill>
                    </a:lnB>
                  </a:tcPr>
                </a:tc>
              </a:tr>
              <a:tr h="768096">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7月</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静止画上のB/S/O・走者</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適合率・再現率</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768096">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10月の短編</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10動画24球と目視の参考区間</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選んだ候補の平均tIoU 0.711</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r h="768096">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今週</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同じ動画の投球候補と各状況</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c>
                  <a:txBody>
                    <a:bodyPr wrap="square" lIns="0" rIns="0" tIns="0" bIns="0">
                      <a:noAutofit/>
                    </a:bodyPr>
                    <a:lstStyle/>
                    <a:p>
                      <a:pPr algn="l">
                        <a:lnSpc>
                          <a:spcPct val="112000"/>
                        </a:lnSpc>
                        <a:spcAft>
                          <a:spcPts val="0"/>
                        </a:spcAft>
                        <a:buNone/>
                      </a:pPr>
                      <a:r>
                        <a:rPr sz="2200" b="0" lang="ja-JP">
                          <a:solidFill>
                            <a:srgbClr val="111111"/>
                          </a:solidFill>
                          <a:latin typeface="游ゴシック"/>
                          <a:ea typeface="游ゴシック"/>
                        </a:rPr>
                        <a:t>前後の全項目：9群／34群</a:t>
                      </a:r>
                    </a:p>
                  </a:txBody>
                  <a:tcPr marL="118872" marR="91440" marT="64008" marB="36576" anchor="ctr">
                    <a:solidFill>
                      <a:srgbClr val="FFFFFF"/>
                    </a:solidFill>
                    <a:lnL w="7000">
                      <a:solidFill>
                        <a:srgbClr val="BFBFBF"/>
                      </a:solidFill>
                    </a:lnL>
                    <a:lnR w="7000">
                      <a:solidFill>
                        <a:srgbClr val="BFBFBF"/>
                      </a:solidFill>
                    </a:lnR>
                    <a:lnT w="7000">
                      <a:solidFill>
                        <a:srgbClr val="BFBFBF"/>
                      </a:solidFill>
                    </a:lnT>
                    <a:lnB w="7000">
                      <a:solidFill>
                        <a:srgbClr val="BFBFBF"/>
                      </a:solidFill>
                    </a:lnB>
                  </a:tcPr>
                </a:tc>
              </a:tr>
            </a:tbl>
          </a:graphicData>
        </a:graphic>
      </p:graphicFrame>
      <p:sp>
        <p:nvSpPr>
          <p:cNvPr id="5" name="TextBox 4"/>
          <p:cNvSpPr txBox="1"/>
          <p:nvPr/>
        </p:nvSpPr>
        <p:spPr>
          <a:xfrm>
            <a:off x="838504" y="5367528"/>
            <a:ext cx="10515600" cy="1005840"/>
          </a:xfrm>
          <a:prstGeom prst="rect">
            <a:avLst/>
          </a:prstGeom>
          <a:noFill/>
        </p:spPr>
        <p:txBody>
          <a:bodyPr wrap="square" lIns="0" rIns="0" tIns="0" bIns="0">
            <a:noAutofit/>
          </a:bodyPr>
          <a:lstStyle/>
          <a:p>
            <a:pPr algn="l">
              <a:lnSpc>
                <a:spcPct val="112000"/>
              </a:lnSpc>
              <a:spcAft>
                <a:spcPts val="0"/>
              </a:spcAft>
              <a:buNone/>
            </a:pPr>
            <a:r>
              <a:rPr sz="2500" b="0" lang="ja-JP">
                <a:solidFill>
                  <a:srgbClr val="B02121"/>
                </a:solidFill>
                <a:latin typeface="游ゴシック"/>
                <a:ea typeface="游ゴシック"/>
              </a:rPr>
              <a:t>対象と数えているものが違うため、精度の改善とは比較できない。</a:t>
            </a:r>
            <a:br/>
            <a:r>
              <a:rPr sz="2500" b="0" lang="ja-JP">
                <a:solidFill>
                  <a:srgbClr val="B02121"/>
                </a:solidFill>
                <a:latin typeface="游ゴシック"/>
                <a:ea typeface="游ゴシック"/>
              </a:rPr>
              <a:t>今回の正解注釈による、投球検出・イベント判定の評価は未実施。</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1045</Words>
  <Application>Microsoft Office PowerPoint</Application>
  <PresentationFormat>ワイド画面</PresentationFormat>
  <Paragraphs>64</Paragraphs>
  <Slides>9</Slides>
  <Notes>9</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スコアボード認識と投球検出による野球イベント検出</vt:lpstr>
      <vt:lpstr>今週したこと</vt:lpstr>
      <vt:lpstr>2回表の2ストライク後のファウル</vt:lpstr>
      <vt:lpstr>4回表の2ストライク後のファウル</vt:lpstr>
      <vt:lpstr>4回表の誤検出のシーン</vt:lpstr>
      <vt:lpstr>8回ウラの誤検出のシーン</vt:lpstr>
      <vt:lpstr>4回ウラの2ストライク後のファウル</vt:lpstr>
      <vt:lpstr>5回表の2ストライク後のファウル</vt:lpstr>
      <vt:lpstr>来週すること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スコアボード認識と投球検出による野球イベント検出 — 全処理の適用結果</dc:title>
  <dc:creator>棚橋 悠</dc:creator>
  <cp:lastModifiedBy>棚橋 悠</cp:lastModifiedBy>
  <cp:revision>1</cp:revision>
  <dcterms:created xsi:type="dcterms:W3CDTF">2026-10-23T02:03:11Z</dcterms:created>
  <dcterms:modified xsi:type="dcterms:W3CDTF">2026-10-28T05:50:54Z</dcterms:modified>
  <dc:subject>これまでの研究を踏まえた2026年10月30日の改訂報告</dc:subject>
  <cp:keywords>本編11枚、補足2枚、投球と状況の対応付け</cp:keywords>
</cp:coreProperties>
</file>